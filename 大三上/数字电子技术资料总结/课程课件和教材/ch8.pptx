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0" r:id="rId3"/>
    <p:sldId id="271" r:id="rId5"/>
    <p:sldId id="392" r:id="rId6"/>
    <p:sldId id="259" r:id="rId7"/>
    <p:sldId id="263" r:id="rId8"/>
    <p:sldId id="267" r:id="rId9"/>
    <p:sldId id="274" r:id="rId10"/>
    <p:sldId id="280" r:id="rId11"/>
    <p:sldId id="284" r:id="rId12"/>
    <p:sldId id="294" r:id="rId13"/>
    <p:sldId id="296" r:id="rId14"/>
    <p:sldId id="304" r:id="rId15"/>
    <p:sldId id="305" r:id="rId16"/>
    <p:sldId id="307" r:id="rId17"/>
    <p:sldId id="308" r:id="rId18"/>
    <p:sldId id="310" r:id="rId19"/>
    <p:sldId id="312" r:id="rId20"/>
    <p:sldId id="313" r:id="rId21"/>
    <p:sldId id="316" r:id="rId22"/>
    <p:sldId id="317" r:id="rId23"/>
    <p:sldId id="318" r:id="rId24"/>
    <p:sldId id="319" r:id="rId25"/>
    <p:sldId id="320" r:id="rId26"/>
    <p:sldId id="321" r:id="rId27"/>
    <p:sldId id="322" r:id="rId28"/>
    <p:sldId id="324" r:id="rId29"/>
    <p:sldId id="333" r:id="rId30"/>
    <p:sldId id="335" r:id="rId31"/>
    <p:sldId id="347" r:id="rId32"/>
    <p:sldId id="356" r:id="rId33"/>
    <p:sldId id="357" r:id="rId34"/>
    <p:sldId id="358" r:id="rId35"/>
    <p:sldId id="359" r:id="rId36"/>
    <p:sldId id="361" r:id="rId37"/>
    <p:sldId id="362" r:id="rId38"/>
    <p:sldId id="393" r:id="rId39"/>
    <p:sldId id="363" r:id="rId40"/>
    <p:sldId id="364" r:id="rId41"/>
    <p:sldId id="365" r:id="rId42"/>
    <p:sldId id="394" r:id="rId43"/>
    <p:sldId id="395" r:id="rId44"/>
    <p:sldId id="368" r:id="rId45"/>
    <p:sldId id="369" r:id="rId46"/>
    <p:sldId id="371" r:id="rId47"/>
    <p:sldId id="373" r:id="rId48"/>
    <p:sldId id="374" r:id="rId49"/>
    <p:sldId id="375" r:id="rId50"/>
    <p:sldId id="376" r:id="rId51"/>
    <p:sldId id="391" r:id="rId52"/>
    <p:sldId id="377" r:id="rId53"/>
    <p:sldId id="378" r:id="rId54"/>
    <p:sldId id="379" r:id="rId55"/>
    <p:sldId id="380" r:id="rId56"/>
    <p:sldId id="381" r:id="rId57"/>
    <p:sldId id="382" r:id="rId58"/>
    <p:sldId id="383" r:id="rId59"/>
    <p:sldId id="384" r:id="rId60"/>
    <p:sldId id="385" r:id="rId61"/>
    <p:sldId id="386" r:id="rId62"/>
    <p:sldId id="388" r:id="rId63"/>
    <p:sldId id="396" r:id="rId64"/>
    <p:sldId id="397" r:id="rId65"/>
    <p:sldId id="399" r:id="rId66"/>
    <p:sldId id="400" r:id="rId67"/>
    <p:sldId id="401" r:id="rId68"/>
    <p:sldId id="402" r:id="rId69"/>
    <p:sldId id="389" r:id="rId70"/>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576" userDrawn="1">
          <p15:clr>
            <a:srgbClr val="A4A3A4"/>
          </p15:clr>
        </p15:guide>
        <p15:guide id="2" pos="17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FFFF66"/>
    <a:srgbClr val="FF0000"/>
    <a:srgbClr val="FF33CC"/>
    <a:srgbClr val="990033"/>
    <a:srgbClr val="000099"/>
    <a:srgbClr val="008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2786"/>
    <p:restoredTop sz="90929"/>
  </p:normalViewPr>
  <p:slideViewPr>
    <p:cSldViewPr showGuides="1">
      <p:cViewPr varScale="1">
        <p:scale>
          <a:sx n="114" d="100"/>
          <a:sy n="114" d="100"/>
        </p:scale>
        <p:origin x="424" y="60"/>
      </p:cViewPr>
      <p:guideLst>
        <p:guide orient="horz" pos="576"/>
        <p:guide pos="177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3.vml.rels><?xml version="1.0" encoding="UTF-8" standalone="yes"?>
<Relationships xmlns="http://schemas.openxmlformats.org/package/2006/relationships"><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wmf"/><Relationship Id="rId1" Type="http://schemas.openxmlformats.org/officeDocument/2006/relationships/image" Target="../media/image16.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3.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4.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7.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8.png"/></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image" Target="../media/image29.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2.png"/></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image" Target="../media/image34.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6.png"/></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7.png"/></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image" Target="../media/image39.png"/></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image" Target="../media/image41.png"/></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4.png"/></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5.png"/></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48.png"/></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49.png"/></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50.png"/></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51.png"/></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52.png"/></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53.png"/></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54.png"/></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55.png"/></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56.png"/></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57.png"/></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58.png"/></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6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945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45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2"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946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1" fontAlgn="base" latinLnBrk="0" hangingPunct="1">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1" fontAlgn="base" latinLnBrk="0" hangingPunct="1">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1" fontAlgn="base" latinLnBrk="0" hangingPunct="1">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1" fontAlgn="base" latinLnBrk="0" hangingPunct="1">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46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46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0C6FF809-2EDF-4205-8453-D22F4F2783DB}" type="slidenum">
              <a:rPr kumimoji="1"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4099" name="Rectangle 2"/>
          <p:cNvSpPr>
            <a:spLocks noTextEdit="1"/>
          </p:cNvSpPr>
          <p:nvPr>
            <p:ph type="sldImg"/>
          </p:nvPr>
        </p:nvSpPr>
        <p:spPr>
          <a:ln/>
        </p:spPr>
      </p:sp>
      <p:sp>
        <p:nvSpPr>
          <p:cNvPr id="4100"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11267" name="Rectangle 2"/>
          <p:cNvSpPr>
            <a:spLocks noTextEdit="1"/>
          </p:cNvSpPr>
          <p:nvPr>
            <p:ph type="sldImg"/>
          </p:nvPr>
        </p:nvSpPr>
        <p:spPr>
          <a:ln/>
        </p:spPr>
      </p:sp>
      <p:sp>
        <p:nvSpPr>
          <p:cNvPr id="11268"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13315" name="Rectangle 2"/>
          <p:cNvSpPr>
            <a:spLocks noTextEdit="1"/>
          </p:cNvSpPr>
          <p:nvPr>
            <p:ph type="sldImg"/>
          </p:nvPr>
        </p:nvSpPr>
        <p:spPr>
          <a:ln/>
        </p:spPr>
      </p:sp>
      <p:sp>
        <p:nvSpPr>
          <p:cNvPr id="13316"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C3AE728-8CA6-4E58-8BB8-D34DC7866E22}"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C3AE728-8CA6-4E58-8BB8-D34DC7866E22}"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C3AE728-8CA6-4E58-8BB8-D34DC7866E22}"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85800" y="1981200"/>
            <a:ext cx="3810000" cy="41148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981200"/>
            <a:ext cx="3810000" cy="41148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C3AE728-8CA6-4E58-8BB8-D34DC7866E22}"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C3AE728-8CA6-4E58-8BB8-D34DC7866E22}"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C3AE728-8CA6-4E58-8BB8-D34DC7866E22}"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C3AE728-8CA6-4E58-8BB8-D34DC7866E22}"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C3AE728-8CA6-4E58-8BB8-D34DC7866E22}"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1"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C3AE728-8CA6-4E58-8BB8-D34DC7866E22}"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C3AE728-8CA6-4E58-8BB8-D34DC7866E22}"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85800" y="609600"/>
            <a:ext cx="5676900" cy="5486400"/>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C3AE728-8CA6-4E58-8BB8-D34DC7866E22}"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blipFill>
        <a:effectLst/>
      </p:bgPr>
    </p:bg>
    <p:spTree>
      <p:nvGrpSpPr>
        <p:cNvPr id="1" name=""/>
        <p:cNvGrpSpPr/>
        <p:nvPr/>
      </p:nvGrpSpPr>
      <p:grpSpPr/>
      <p:sp>
        <p:nvSpPr>
          <p:cNvPr id="1026" name="Rectangle 2"/>
          <p:cNvSpPr>
            <a:spLocks noGrp="1"/>
          </p:cNvSpPr>
          <p:nvPr>
            <p:ph type="title"/>
          </p:nvPr>
        </p:nvSpPr>
        <p:spPr>
          <a:xfrm>
            <a:off x="685800" y="609600"/>
            <a:ext cx="77724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3"/>
          <p:cNvSpPr>
            <a:spLocks noGrp="1"/>
          </p:cNvSpPr>
          <p:nvPr>
            <p:ph type="body" idx="1"/>
          </p:nvPr>
        </p:nvSpPr>
        <p:spPr>
          <a:xfrm>
            <a:off x="685800" y="1981200"/>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8C3AE728-8CA6-4E58-8BB8-D34DC7866E22}"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 Target="slide53.xml"/><Relationship Id="rId8" Type="http://schemas.openxmlformats.org/officeDocument/2006/relationships/image" Target="../media/image2.wmf"/><Relationship Id="rId7" Type="http://schemas.openxmlformats.org/officeDocument/2006/relationships/hyperlink" Target="&#23553;&#39029;1.ppt" TargetMode="External"/><Relationship Id="rId6" Type="http://schemas.openxmlformats.org/officeDocument/2006/relationships/slide" Target="slide49.xml"/><Relationship Id="rId5" Type="http://schemas.openxmlformats.org/officeDocument/2006/relationships/slide" Target="slide31.xml"/><Relationship Id="rId4" Type="http://schemas.openxmlformats.org/officeDocument/2006/relationships/slide" Target="slide21.xml"/><Relationship Id="rId3" Type="http://schemas.openxmlformats.org/officeDocument/2006/relationships/slide" Target="slide14.xml"/><Relationship Id="rId2" Type="http://schemas.openxmlformats.org/officeDocument/2006/relationships/slide" Target="slide4.xml"/><Relationship Id="rId13" Type="http://schemas.openxmlformats.org/officeDocument/2006/relationships/notesSlide" Target="../notesSlides/notesSlide1.xml"/><Relationship Id="rId12" Type="http://schemas.openxmlformats.org/officeDocument/2006/relationships/slideLayout" Target="../slideLayouts/slideLayout2.xml"/><Relationship Id="rId11" Type="http://schemas.openxmlformats.org/officeDocument/2006/relationships/slide" Target="slide67.xml"/><Relationship Id="rId10" Type="http://schemas.openxmlformats.org/officeDocument/2006/relationships/slide" Target="slide56.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oleObject" Target="../embeddings/oleObject2.bin"/><Relationship Id="rId2" Type="http://schemas.openxmlformats.org/officeDocument/2006/relationships/image" Target="../media/image5.png"/><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1.wmf"/><Relationship Id="rId7" Type="http://schemas.openxmlformats.org/officeDocument/2006/relationships/oleObject" Target="../embeddings/oleObject7.bin"/><Relationship Id="rId6" Type="http://schemas.openxmlformats.org/officeDocument/2006/relationships/image" Target="../media/image10.wmf"/><Relationship Id="rId5" Type="http://schemas.openxmlformats.org/officeDocument/2006/relationships/oleObject" Target="../embeddings/oleObject6.bin"/><Relationship Id="rId4" Type="http://schemas.openxmlformats.org/officeDocument/2006/relationships/image" Target="../media/image9.wmf"/><Relationship Id="rId3" Type="http://schemas.openxmlformats.org/officeDocument/2006/relationships/oleObject" Target="../embeddings/oleObject5.bin"/><Relationship Id="rId2" Type="http://schemas.openxmlformats.org/officeDocument/2006/relationships/image" Target="../media/image8.png"/><Relationship Id="rId11" Type="http://schemas.openxmlformats.org/officeDocument/2006/relationships/notesSlide" Target="../notesSlides/notesSlide2.xml"/><Relationship Id="rId10" Type="http://schemas.openxmlformats.org/officeDocument/2006/relationships/vmlDrawing" Target="../drawings/vmlDrawing3.vml"/><Relationship Id="rId1"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oleObject" Target="../embeddings/oleObject10.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5.wmf"/><Relationship Id="rId1" Type="http://schemas.openxmlformats.org/officeDocument/2006/relationships/oleObject" Target="../embeddings/oleObject1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9.png"/><Relationship Id="rId7" Type="http://schemas.openxmlformats.org/officeDocument/2006/relationships/oleObject" Target="../embeddings/oleObject15.bin"/><Relationship Id="rId6" Type="http://schemas.openxmlformats.org/officeDocument/2006/relationships/image" Target="../media/image18.png"/><Relationship Id="rId5" Type="http://schemas.openxmlformats.org/officeDocument/2006/relationships/oleObject" Target="../embeddings/oleObject14.bin"/><Relationship Id="rId4" Type="http://schemas.openxmlformats.org/officeDocument/2006/relationships/image" Target="../media/image17.wmf"/><Relationship Id="rId3" Type="http://schemas.openxmlformats.org/officeDocument/2006/relationships/oleObject" Target="../embeddings/oleObject13.bin"/><Relationship Id="rId2" Type="http://schemas.openxmlformats.org/officeDocument/2006/relationships/image" Target="../media/image16.png"/><Relationship Id="rId10" Type="http://schemas.openxmlformats.org/officeDocument/2006/relationships/vmlDrawing" Target="../drawings/vmlDrawing8.vml"/><Relationship Id="rId1" Type="http://schemas.openxmlformats.org/officeDocument/2006/relationships/oleObject" Target="../embeddings/oleObject12.bin"/></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oleObject" Target="../embeddings/oleObject16.bin"/></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jpeg"/><Relationship Id="rId1" Type="http://schemas.openxmlformats.org/officeDocument/2006/relationships/image" Target="../media/image21.jpeg"/></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oleObject" Target="../embeddings/oleObject17.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oleObject" Target="../embeddings/oleObject18.bin"/></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oleObject" Target="../embeddings/oleObject19.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oleObject" Target="../embeddings/oleObject20.bin"/></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oleObject" Target="../embeddings/oleObject21.bin"/></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oleObject" Target="../embeddings/oleObject22.bin"/></Relationships>
</file>

<file path=ppt/slides/_rels/slide25.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2.xml"/><Relationship Id="rId4" Type="http://schemas.openxmlformats.org/officeDocument/2006/relationships/image" Target="../media/image30.png"/><Relationship Id="rId3" Type="http://schemas.openxmlformats.org/officeDocument/2006/relationships/oleObject" Target="../embeddings/oleObject24.bin"/><Relationship Id="rId2" Type="http://schemas.openxmlformats.org/officeDocument/2006/relationships/image" Target="../media/image29.png"/><Relationship Id="rId1" Type="http://schemas.openxmlformats.org/officeDocument/2006/relationships/oleObject" Target="../embeddings/oleObject23.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2.xml"/><Relationship Id="rId2" Type="http://schemas.openxmlformats.org/officeDocument/2006/relationships/image" Target="../media/image31.wmf"/><Relationship Id="rId1" Type="http://schemas.openxmlformats.org/officeDocument/2006/relationships/oleObject" Target="../embeddings/oleObject25.bin"/></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oleObject" Target="../embeddings/oleObject26.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6" Type="http://schemas.openxmlformats.org/officeDocument/2006/relationships/vmlDrawing" Target="../drawings/vmlDrawing19.vml"/><Relationship Id="rId5" Type="http://schemas.openxmlformats.org/officeDocument/2006/relationships/slideLayout" Target="../slideLayouts/slideLayout2.xml"/><Relationship Id="rId4" Type="http://schemas.openxmlformats.org/officeDocument/2006/relationships/image" Target="../media/image34.wmf"/><Relationship Id="rId3" Type="http://schemas.openxmlformats.org/officeDocument/2006/relationships/oleObject" Target="../embeddings/oleObject28.bin"/><Relationship Id="rId2" Type="http://schemas.openxmlformats.org/officeDocument/2006/relationships/image" Target="../media/image33.wmf"/><Relationship Id="rId1" Type="http://schemas.openxmlformats.org/officeDocument/2006/relationships/oleObject" Target="../embeddings/oleObject27.bin"/></Relationships>
</file>

<file path=ppt/slides/_rels/slide30.xml.rels><?xml version="1.0" encoding="UTF-8" standalone="yes"?>
<Relationships xmlns="http://schemas.openxmlformats.org/package/2006/relationships"><Relationship Id="rId6" Type="http://schemas.openxmlformats.org/officeDocument/2006/relationships/vmlDrawing" Target="../drawings/vmlDrawing20.vml"/><Relationship Id="rId5" Type="http://schemas.openxmlformats.org/officeDocument/2006/relationships/slideLayout" Target="../slideLayouts/slideLayout2.xml"/><Relationship Id="rId4" Type="http://schemas.openxmlformats.org/officeDocument/2006/relationships/image" Target="../media/image35.png"/><Relationship Id="rId3" Type="http://schemas.openxmlformats.org/officeDocument/2006/relationships/oleObject" Target="../embeddings/oleObject30.bin"/><Relationship Id="rId2" Type="http://schemas.openxmlformats.org/officeDocument/2006/relationships/image" Target="../media/image34.wmf"/><Relationship Id="rId1" Type="http://schemas.openxmlformats.org/officeDocument/2006/relationships/oleObject" Target="../embeddings/oleObject29.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oleObject" Target="../embeddings/oleObject31.bin"/></Relationships>
</file>

<file path=ppt/slides/_rels/slide33.xml.rels><?xml version="1.0" encoding="UTF-8" standalone="yes"?>
<Relationships xmlns="http://schemas.openxmlformats.org/package/2006/relationships"><Relationship Id="rId5" Type="http://schemas.openxmlformats.org/officeDocument/2006/relationships/vmlDrawing" Target="../drawings/vmlDrawing22.vml"/><Relationship Id="rId4" Type="http://schemas.openxmlformats.org/officeDocument/2006/relationships/slideLayout" Target="../slideLayouts/slideLayout2.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oleObject" Target="../embeddings/oleObject32.bin"/></Relationships>
</file>

<file path=ppt/slides/_rels/slide34.xml.rels><?xml version="1.0" encoding="UTF-8" standalone="yes"?>
<Relationships xmlns="http://schemas.openxmlformats.org/package/2006/relationships"><Relationship Id="rId6" Type="http://schemas.openxmlformats.org/officeDocument/2006/relationships/vmlDrawing" Target="../drawings/vmlDrawing23.vml"/><Relationship Id="rId5" Type="http://schemas.openxmlformats.org/officeDocument/2006/relationships/slideLayout" Target="../slideLayouts/slideLayout2.xml"/><Relationship Id="rId4" Type="http://schemas.openxmlformats.org/officeDocument/2006/relationships/image" Target="../media/image40.png"/><Relationship Id="rId3" Type="http://schemas.openxmlformats.org/officeDocument/2006/relationships/oleObject" Target="../embeddings/oleObject34.bin"/><Relationship Id="rId2" Type="http://schemas.openxmlformats.org/officeDocument/2006/relationships/image" Target="../media/image39.png"/><Relationship Id="rId1" Type="http://schemas.openxmlformats.org/officeDocument/2006/relationships/oleObject" Target="../embeddings/oleObject33.bin"/></Relationships>
</file>

<file path=ppt/slides/_rels/slide35.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2.xml"/><Relationship Id="rId4" Type="http://schemas.openxmlformats.org/officeDocument/2006/relationships/image" Target="../media/image42.png"/><Relationship Id="rId3" Type="http://schemas.openxmlformats.org/officeDocument/2006/relationships/oleObject" Target="../embeddings/oleObject36.bin"/><Relationship Id="rId2" Type="http://schemas.openxmlformats.org/officeDocument/2006/relationships/image" Target="../media/image41.png"/><Relationship Id="rId1" Type="http://schemas.openxmlformats.org/officeDocument/2006/relationships/oleObject" Target="../embeddings/oleObject35.bin"/></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oleObject" Target="../embeddings/oleObject37.bin"/></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oleObject" Target="../embeddings/oleObject38.bin"/></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27.vml"/><Relationship Id="rId3" Type="http://schemas.openxmlformats.org/officeDocument/2006/relationships/slideLayout" Target="../slideLayouts/slideLayout7.xml"/><Relationship Id="rId2" Type="http://schemas.openxmlformats.org/officeDocument/2006/relationships/image" Target="../media/image46.wmf"/><Relationship Id="rId1" Type="http://schemas.openxmlformats.org/officeDocument/2006/relationships/oleObject" Target="../embeddings/oleObject39.bin"/></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28.vml"/><Relationship Id="rId3" Type="http://schemas.openxmlformats.org/officeDocument/2006/relationships/slideLayout" Target="../slideLayouts/slideLayout7.xml"/><Relationship Id="rId2" Type="http://schemas.openxmlformats.org/officeDocument/2006/relationships/image" Target="../media/image47.wmf"/><Relationship Id="rId1" Type="http://schemas.openxmlformats.org/officeDocument/2006/relationships/oleObject" Target="../embeddings/oleObject40.bin"/></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29.vml"/><Relationship Id="rId3" Type="http://schemas.openxmlformats.org/officeDocument/2006/relationships/slideLayout" Target="../slideLayouts/slideLayout2.xml"/><Relationship Id="rId2" Type="http://schemas.openxmlformats.org/officeDocument/2006/relationships/image" Target="../media/image48.png"/><Relationship Id="rId1" Type="http://schemas.openxmlformats.org/officeDocument/2006/relationships/oleObject" Target="../embeddings/oleObject41.bin"/></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30.vml"/><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oleObject" Target="../embeddings/oleObject42.bin"/></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31.vml"/><Relationship Id="rId3" Type="http://schemas.openxmlformats.org/officeDocument/2006/relationships/slideLayout" Target="../slideLayouts/slideLayout2.xml"/><Relationship Id="rId2" Type="http://schemas.openxmlformats.org/officeDocument/2006/relationships/image" Target="../media/image50.png"/><Relationship Id="rId1" Type="http://schemas.openxmlformats.org/officeDocument/2006/relationships/oleObject" Target="../embeddings/oleObject43.bin"/></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32.vml"/><Relationship Id="rId3" Type="http://schemas.openxmlformats.org/officeDocument/2006/relationships/slideLayout" Target="../slideLayouts/slideLayout2.xml"/><Relationship Id="rId2" Type="http://schemas.openxmlformats.org/officeDocument/2006/relationships/image" Target="../media/image51.png"/><Relationship Id="rId1" Type="http://schemas.openxmlformats.org/officeDocument/2006/relationships/oleObject" Target="../embeddings/oleObject44.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33.vml"/><Relationship Id="rId3" Type="http://schemas.openxmlformats.org/officeDocument/2006/relationships/slideLayout" Target="../slideLayouts/slideLayout2.xml"/><Relationship Id="rId2" Type="http://schemas.openxmlformats.org/officeDocument/2006/relationships/image" Target="../media/image52.png"/><Relationship Id="rId1" Type="http://schemas.openxmlformats.org/officeDocument/2006/relationships/oleObject" Target="../embeddings/oleObject45.bin"/></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34.vml"/><Relationship Id="rId3" Type="http://schemas.openxmlformats.org/officeDocument/2006/relationships/slideLayout" Target="../slideLayouts/slideLayout2.xml"/><Relationship Id="rId2" Type="http://schemas.openxmlformats.org/officeDocument/2006/relationships/image" Target="../media/image53.png"/><Relationship Id="rId1" Type="http://schemas.openxmlformats.org/officeDocument/2006/relationships/oleObject" Target="../embeddings/oleObject46.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35.vml"/><Relationship Id="rId3" Type="http://schemas.openxmlformats.org/officeDocument/2006/relationships/slideLayout" Target="../slideLayouts/slideLayout2.xml"/><Relationship Id="rId2" Type="http://schemas.openxmlformats.org/officeDocument/2006/relationships/image" Target="../media/image54.png"/><Relationship Id="rId1" Type="http://schemas.openxmlformats.org/officeDocument/2006/relationships/oleObject" Target="../embeddings/oleObject47.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36.vml"/><Relationship Id="rId3" Type="http://schemas.openxmlformats.org/officeDocument/2006/relationships/slideLayout" Target="../slideLayouts/slideLayout2.xml"/><Relationship Id="rId2" Type="http://schemas.openxmlformats.org/officeDocument/2006/relationships/image" Target="../media/image55.png"/><Relationship Id="rId1" Type="http://schemas.openxmlformats.org/officeDocument/2006/relationships/oleObject" Target="../embeddings/oleObject48.bin"/></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37.vml"/><Relationship Id="rId3" Type="http://schemas.openxmlformats.org/officeDocument/2006/relationships/slideLayout" Target="../slideLayouts/slideLayout2.xml"/><Relationship Id="rId2" Type="http://schemas.openxmlformats.org/officeDocument/2006/relationships/image" Target="../media/image56.png"/><Relationship Id="rId1" Type="http://schemas.openxmlformats.org/officeDocument/2006/relationships/oleObject" Target="../embeddings/oleObject49.bin"/></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38.vml"/><Relationship Id="rId3" Type="http://schemas.openxmlformats.org/officeDocument/2006/relationships/slideLayout" Target="../slideLayouts/slideLayout2.xml"/><Relationship Id="rId2" Type="http://schemas.openxmlformats.org/officeDocument/2006/relationships/image" Target="../media/image57.png"/><Relationship Id="rId1" Type="http://schemas.openxmlformats.org/officeDocument/2006/relationships/oleObject" Target="../embeddings/oleObject50.bin"/></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39.vml"/><Relationship Id="rId3" Type="http://schemas.openxmlformats.org/officeDocument/2006/relationships/slideLayout" Target="../slideLayouts/slideLayout2.xml"/><Relationship Id="rId2" Type="http://schemas.openxmlformats.org/officeDocument/2006/relationships/image" Target="../media/image58.png"/><Relationship Id="rId1" Type="http://schemas.openxmlformats.org/officeDocument/2006/relationships/oleObject" Target="../embeddings/oleObject51.bin"/></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40.vml"/><Relationship Id="rId3" Type="http://schemas.openxmlformats.org/officeDocument/2006/relationships/slideLayout" Target="../slideLayouts/slideLayout7.xml"/><Relationship Id="rId2" Type="http://schemas.openxmlformats.org/officeDocument/2006/relationships/image" Target="../media/image60.wmf"/><Relationship Id="rId1" Type="http://schemas.openxmlformats.org/officeDocument/2006/relationships/oleObject" Target="../embeddings/oleObject52.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4" Type="http://schemas.openxmlformats.org/officeDocument/2006/relationships/vmlDrawing" Target="../drawings/vmlDrawing41.vml"/><Relationship Id="rId3" Type="http://schemas.openxmlformats.org/officeDocument/2006/relationships/slideLayout" Target="../slideLayouts/slideLayout7.xml"/><Relationship Id="rId2" Type="http://schemas.openxmlformats.org/officeDocument/2006/relationships/image" Target="../media/image61.wmf"/><Relationship Id="rId1" Type="http://schemas.openxmlformats.org/officeDocument/2006/relationships/oleObject" Target="../embeddings/oleObject53.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39" name="Rectangle 31"/>
          <p:cNvSpPr>
            <a:spLocks noGrp="1"/>
          </p:cNvSpPr>
          <p:nvPr>
            <p:ph type="title"/>
          </p:nvPr>
        </p:nvSpPr>
        <p:spPr>
          <a:xfrm>
            <a:off x="685800" y="609600"/>
            <a:ext cx="8153400" cy="762000"/>
          </a:xfrm>
          <a:solidFill>
            <a:srgbClr val="FF0000">
              <a:alpha val="100000"/>
            </a:srgbClr>
          </a:solidFill>
          <a:ln/>
          <a:scene3d>
            <a:camera prst="legacyObliqueBottomLeft">
              <a:rot lat="0" lon="0" rev="0"/>
            </a:camera>
            <a:lightRig rig="legacyFlat3" dir="t"/>
          </a:scene3d>
          <a:sp3d extrusionH="430200" prstMaterial="legacyMatte">
            <a:bevelT w="13500" h="13500" prst="angle"/>
            <a:bevelB w="13500" h="13500" prst="angle"/>
            <a:extrusionClr>
              <a:srgbClr val="FF0000"/>
            </a:extrusionClr>
          </a:sp3d>
        </p:spPr>
        <p:txBody>
          <a:bodyPr vert="horz" wrap="square" lIns="91440" tIns="45720" rIns="91440" bIns="45720" anchor="ctr" anchorCtr="0">
            <a:flatTx/>
          </a:bodyPr>
          <a:p>
            <a:pPr eaLnBrk="1" hangingPunct="1"/>
            <a:r>
              <a:rPr lang="zh-CN" altLang="en-US" b="1" dirty="0">
                <a:solidFill>
                  <a:srgbClr val="FFCC00"/>
                </a:solidFill>
              </a:rPr>
              <a:t>第八章   可编程逻辑器件</a:t>
            </a:r>
            <a:r>
              <a:rPr lang="en-US" altLang="zh-CN" b="1" dirty="0">
                <a:solidFill>
                  <a:srgbClr val="FFCC00"/>
                </a:solidFill>
              </a:rPr>
              <a:t>PLD</a:t>
            </a:r>
            <a:endParaRPr lang="en-US" altLang="zh-CN" sz="4800" b="1" dirty="0">
              <a:solidFill>
                <a:srgbClr val="FFCC00"/>
              </a:solidFill>
            </a:endParaRPr>
          </a:p>
        </p:txBody>
      </p:sp>
      <p:sp>
        <p:nvSpPr>
          <p:cNvPr id="17441" name="Oval 33">
            <a:hlinkClick r:id="rId1" action="ppaction://hlinksldjump"/>
          </p:cNvPr>
          <p:cNvSpPr/>
          <p:nvPr/>
        </p:nvSpPr>
        <p:spPr>
          <a:xfrm>
            <a:off x="838200" y="1892300"/>
            <a:ext cx="381000" cy="381000"/>
          </a:xfrm>
          <a:prstGeom prst="ellipse">
            <a:avLst/>
          </a:prstGeom>
          <a:gradFill rotWithShape="0">
            <a:gsLst>
              <a:gs pos="0">
                <a:srgbClr val="76762F"/>
              </a:gs>
              <a:gs pos="50000">
                <a:srgbClr val="FFFF66"/>
              </a:gs>
              <a:gs pos="100000">
                <a:srgbClr val="76762F"/>
              </a:gs>
            </a:gsLst>
            <a:lin ang="5400000" scaled="1"/>
            <a:tileRect/>
          </a:gradFill>
          <a:ln w="9525">
            <a:noFill/>
          </a:ln>
          <a:effectLst>
            <a:outerShdw sy="50000" kx="2453608" algn="bl" rotWithShape="0">
              <a:schemeClr val="bg2"/>
            </a:outerShdw>
          </a:effectLst>
        </p:spPr>
        <p:txBody>
          <a:bodyPr wrap="none" anchor="ctr" anchorCtr="0"/>
          <a:p>
            <a:pPr algn="ctr" eaLnBrk="1" hangingPunct="1"/>
            <a:endParaRPr lang="zh-CN" altLang="en-US" dirty="0">
              <a:latin typeface="Times New Roman" panose="02020603050405020304" pitchFamily="18" charset="0"/>
            </a:endParaRPr>
          </a:p>
        </p:txBody>
      </p:sp>
      <p:sp>
        <p:nvSpPr>
          <p:cNvPr id="17442" name="Text Box 34"/>
          <p:cNvSpPr txBox="1"/>
          <p:nvPr/>
        </p:nvSpPr>
        <p:spPr>
          <a:xfrm>
            <a:off x="1562100" y="1816100"/>
            <a:ext cx="800100" cy="457200"/>
          </a:xfrm>
          <a:prstGeom prst="rect">
            <a:avLst/>
          </a:prstGeom>
          <a:noFill/>
          <a:ln w="9525">
            <a:noFill/>
          </a:ln>
        </p:spPr>
        <p:txBody>
          <a:bodyPr wrap="none">
            <a:spAutoFit/>
          </a:bodyPr>
          <a:p>
            <a:pPr algn="ctr" eaLnBrk="1" hangingPunct="1"/>
            <a:r>
              <a:rPr lang="zh-CN" altLang="en-US" sz="2400" b="1" dirty="0">
                <a:latin typeface="Times New Roman" panose="02020603050405020304" pitchFamily="18" charset="0"/>
              </a:rPr>
              <a:t>简介</a:t>
            </a:r>
            <a:endParaRPr lang="zh-CN" altLang="en-US" sz="2400" b="1" dirty="0">
              <a:latin typeface="Times New Roman" panose="02020603050405020304" pitchFamily="18" charset="0"/>
            </a:endParaRPr>
          </a:p>
        </p:txBody>
      </p:sp>
      <p:sp>
        <p:nvSpPr>
          <p:cNvPr id="17443" name="Oval 35">
            <a:hlinkClick r:id="rId2" action="ppaction://hlinksldjump"/>
          </p:cNvPr>
          <p:cNvSpPr/>
          <p:nvPr/>
        </p:nvSpPr>
        <p:spPr>
          <a:xfrm>
            <a:off x="838200" y="2425700"/>
            <a:ext cx="381000" cy="381000"/>
          </a:xfrm>
          <a:prstGeom prst="ellipse">
            <a:avLst/>
          </a:prstGeom>
          <a:gradFill rotWithShape="0">
            <a:gsLst>
              <a:gs pos="0">
                <a:srgbClr val="76762F"/>
              </a:gs>
              <a:gs pos="50000">
                <a:srgbClr val="FFFF66"/>
              </a:gs>
              <a:gs pos="100000">
                <a:srgbClr val="76762F"/>
              </a:gs>
            </a:gsLst>
            <a:lin ang="5400000" scaled="1"/>
            <a:tileRect/>
          </a:gradFill>
          <a:ln w="9525">
            <a:noFill/>
          </a:ln>
          <a:effectLst>
            <a:outerShdw sy="50000" kx="2453608" algn="bl" rotWithShape="0">
              <a:schemeClr val="bg2"/>
            </a:outerShdw>
          </a:effectLst>
        </p:spPr>
        <p:txBody>
          <a:bodyPr wrap="none" anchor="ctr" anchorCtr="0"/>
          <a:p>
            <a:pPr algn="ctr" eaLnBrk="1" hangingPunct="1"/>
            <a:endParaRPr lang="zh-CN" altLang="en-US" dirty="0">
              <a:latin typeface="Times New Roman" panose="02020603050405020304" pitchFamily="18" charset="0"/>
            </a:endParaRPr>
          </a:p>
        </p:txBody>
      </p:sp>
      <p:sp>
        <p:nvSpPr>
          <p:cNvPr id="17444" name="Text Box 36"/>
          <p:cNvSpPr txBox="1"/>
          <p:nvPr/>
        </p:nvSpPr>
        <p:spPr>
          <a:xfrm>
            <a:off x="1441450" y="2349500"/>
            <a:ext cx="4451350" cy="457200"/>
          </a:xfrm>
          <a:prstGeom prst="rect">
            <a:avLst/>
          </a:prstGeom>
          <a:noFill/>
          <a:ln w="9525">
            <a:noFill/>
          </a:ln>
        </p:spPr>
        <p:txBody>
          <a:bodyPr wrap="none">
            <a:spAutoFit/>
          </a:bodyPr>
          <a:p>
            <a:pPr algn="ctr" eaLnBrk="1" hangingPunct="1"/>
            <a:r>
              <a:rPr lang="en-US" altLang="zh-CN" sz="2400" b="1" dirty="0">
                <a:latin typeface="宋体" panose="02010600030101010101" pitchFamily="2" charset="-122"/>
              </a:rPr>
              <a:t>§8-1  </a:t>
            </a:r>
            <a:r>
              <a:rPr lang="zh-CN" altLang="en-US" sz="2400" b="1" dirty="0">
                <a:latin typeface="宋体" panose="02010600030101010101" pitchFamily="2" charset="-122"/>
              </a:rPr>
              <a:t>可编程逻辑器件</a:t>
            </a:r>
            <a:r>
              <a:rPr lang="en-US" altLang="zh-CN" sz="2400" b="1" dirty="0">
                <a:latin typeface="宋体" panose="02010600030101010101" pitchFamily="2" charset="-122"/>
              </a:rPr>
              <a:t>PLD</a:t>
            </a:r>
            <a:r>
              <a:rPr lang="zh-CN" altLang="en-US" sz="2400" b="1" dirty="0">
                <a:latin typeface="宋体" panose="02010600030101010101" pitchFamily="2" charset="-122"/>
              </a:rPr>
              <a:t>概述</a:t>
            </a:r>
            <a:endParaRPr lang="zh-CN" altLang="en-US" sz="2400" b="1" dirty="0">
              <a:latin typeface="宋体" panose="02010600030101010101" pitchFamily="2" charset="-122"/>
            </a:endParaRPr>
          </a:p>
        </p:txBody>
      </p:sp>
      <p:sp>
        <p:nvSpPr>
          <p:cNvPr id="17445" name="Oval 37">
            <a:hlinkClick r:id="rId3" action="ppaction://hlinksldjump"/>
          </p:cNvPr>
          <p:cNvSpPr/>
          <p:nvPr/>
        </p:nvSpPr>
        <p:spPr>
          <a:xfrm>
            <a:off x="838200" y="2959100"/>
            <a:ext cx="381000" cy="381000"/>
          </a:xfrm>
          <a:prstGeom prst="ellipse">
            <a:avLst/>
          </a:prstGeom>
          <a:gradFill rotWithShape="0">
            <a:gsLst>
              <a:gs pos="0">
                <a:srgbClr val="76762F"/>
              </a:gs>
              <a:gs pos="50000">
                <a:srgbClr val="FFFF66"/>
              </a:gs>
              <a:gs pos="100000">
                <a:srgbClr val="76762F"/>
              </a:gs>
            </a:gsLst>
            <a:lin ang="5400000" scaled="1"/>
            <a:tileRect/>
          </a:gradFill>
          <a:ln w="9525">
            <a:noFill/>
          </a:ln>
          <a:effectLst>
            <a:outerShdw sy="50000" kx="2453608" algn="bl" rotWithShape="0">
              <a:schemeClr val="bg2"/>
            </a:outerShdw>
          </a:effectLst>
        </p:spPr>
        <p:txBody>
          <a:bodyPr wrap="none" anchor="ctr" anchorCtr="0"/>
          <a:p>
            <a:pPr algn="ctr" eaLnBrk="1" hangingPunct="1"/>
            <a:endParaRPr lang="zh-CN" altLang="en-US" dirty="0">
              <a:latin typeface="Times New Roman" panose="02020603050405020304" pitchFamily="18" charset="0"/>
            </a:endParaRPr>
          </a:p>
        </p:txBody>
      </p:sp>
      <p:sp>
        <p:nvSpPr>
          <p:cNvPr id="17446" name="Text Box 38"/>
          <p:cNvSpPr txBox="1"/>
          <p:nvPr/>
        </p:nvSpPr>
        <p:spPr>
          <a:xfrm>
            <a:off x="1443038" y="2882900"/>
            <a:ext cx="5365750" cy="457200"/>
          </a:xfrm>
          <a:prstGeom prst="rect">
            <a:avLst/>
          </a:prstGeom>
          <a:noFill/>
          <a:ln w="9525">
            <a:noFill/>
          </a:ln>
        </p:spPr>
        <p:txBody>
          <a:bodyPr wrap="none">
            <a:spAutoFit/>
          </a:bodyPr>
          <a:p>
            <a:pPr algn="ctr" eaLnBrk="1" hangingPunct="1"/>
            <a:r>
              <a:rPr lang="en-US" altLang="zh-CN" sz="2400" b="1" dirty="0">
                <a:latin typeface="宋体" panose="02010600030101010101" pitchFamily="2" charset="-122"/>
              </a:rPr>
              <a:t>§8-2  </a:t>
            </a:r>
            <a:r>
              <a:rPr lang="zh-CN" altLang="en-US" sz="2400" b="1" dirty="0">
                <a:latin typeface="宋体" panose="02010600030101010101" pitchFamily="2" charset="-122"/>
              </a:rPr>
              <a:t>可编程逻辑器件</a:t>
            </a:r>
            <a:r>
              <a:rPr lang="en-US" altLang="zh-CN" sz="2400" b="1" dirty="0">
                <a:latin typeface="宋体" panose="02010600030101010101" pitchFamily="2" charset="-122"/>
              </a:rPr>
              <a:t>PLD</a:t>
            </a:r>
            <a:r>
              <a:rPr lang="zh-CN" altLang="en-US" sz="2400" b="1" dirty="0">
                <a:latin typeface="宋体" panose="02010600030101010101" pitchFamily="2" charset="-122"/>
              </a:rPr>
              <a:t>的基本单元</a:t>
            </a:r>
            <a:endParaRPr lang="zh-CN" altLang="en-US" sz="2400" b="1" dirty="0">
              <a:latin typeface="宋体" panose="02010600030101010101" pitchFamily="2" charset="-122"/>
            </a:endParaRPr>
          </a:p>
        </p:txBody>
      </p:sp>
      <p:sp>
        <p:nvSpPr>
          <p:cNvPr id="17447" name="Oval 39">
            <a:hlinkClick r:id="rId4" action="ppaction://hlinksldjump"/>
          </p:cNvPr>
          <p:cNvSpPr/>
          <p:nvPr/>
        </p:nvSpPr>
        <p:spPr>
          <a:xfrm>
            <a:off x="838200" y="3492500"/>
            <a:ext cx="381000" cy="381000"/>
          </a:xfrm>
          <a:prstGeom prst="ellipse">
            <a:avLst/>
          </a:prstGeom>
          <a:gradFill rotWithShape="0">
            <a:gsLst>
              <a:gs pos="0">
                <a:srgbClr val="76762F"/>
              </a:gs>
              <a:gs pos="50000">
                <a:srgbClr val="FFFF66"/>
              </a:gs>
              <a:gs pos="100000">
                <a:srgbClr val="76762F"/>
              </a:gs>
            </a:gsLst>
            <a:lin ang="5400000" scaled="1"/>
            <a:tileRect/>
          </a:gradFill>
          <a:ln w="9525">
            <a:noFill/>
          </a:ln>
          <a:effectLst>
            <a:outerShdw sy="50000" kx="2453608" algn="bl" rotWithShape="0">
              <a:schemeClr val="bg2"/>
            </a:outerShdw>
          </a:effectLst>
        </p:spPr>
        <p:txBody>
          <a:bodyPr wrap="none" anchor="ctr" anchorCtr="0"/>
          <a:p>
            <a:pPr algn="ctr" eaLnBrk="1" hangingPunct="1"/>
            <a:endParaRPr lang="zh-CN" altLang="en-US" dirty="0">
              <a:latin typeface="Times New Roman" panose="02020603050405020304" pitchFamily="18" charset="0"/>
            </a:endParaRPr>
          </a:p>
        </p:txBody>
      </p:sp>
      <p:sp>
        <p:nvSpPr>
          <p:cNvPr id="17448" name="Text Box 40"/>
          <p:cNvSpPr txBox="1"/>
          <p:nvPr/>
        </p:nvSpPr>
        <p:spPr>
          <a:xfrm>
            <a:off x="1371600" y="3429000"/>
            <a:ext cx="7010400" cy="457200"/>
          </a:xfrm>
          <a:prstGeom prst="rect">
            <a:avLst/>
          </a:prstGeom>
          <a:noFill/>
          <a:ln w="9525">
            <a:noFill/>
          </a:ln>
        </p:spPr>
        <p:txBody>
          <a:bodyPr>
            <a:spAutoFit/>
          </a:bodyPr>
          <a:p>
            <a:pPr algn="ctr" eaLnBrk="1" hangingPunct="1"/>
            <a:r>
              <a:rPr lang="en-US" altLang="zh-CN" sz="2400" b="1" dirty="0">
                <a:latin typeface="宋体" panose="02010600030101010101" pitchFamily="2" charset="-122"/>
              </a:rPr>
              <a:t>§8-3  </a:t>
            </a:r>
            <a:r>
              <a:rPr lang="zh-CN" altLang="en-US" sz="2400" b="1" dirty="0">
                <a:latin typeface="宋体" panose="02010600030101010101" pitchFamily="2" charset="-122"/>
              </a:rPr>
              <a:t>可编程只读存储</a:t>
            </a:r>
            <a:r>
              <a:rPr lang="en-US" altLang="zh-CN" sz="2400" b="1" dirty="0">
                <a:latin typeface="宋体" panose="02010600030101010101" pitchFamily="2" charset="-122"/>
              </a:rPr>
              <a:t>PROM</a:t>
            </a:r>
            <a:r>
              <a:rPr lang="zh-CN" altLang="en-US" sz="2400" b="1" dirty="0">
                <a:latin typeface="宋体" panose="02010600030101010101" pitchFamily="2" charset="-122"/>
              </a:rPr>
              <a:t>和可编程逻辑阵列</a:t>
            </a:r>
            <a:r>
              <a:rPr lang="en-US" altLang="zh-CN" sz="2400" b="1" dirty="0">
                <a:latin typeface="宋体" panose="02010600030101010101" pitchFamily="2" charset="-122"/>
              </a:rPr>
              <a:t>PLA</a:t>
            </a:r>
            <a:endParaRPr lang="en-US" altLang="zh-CN" sz="2400" b="1" dirty="0">
              <a:latin typeface="宋体" panose="02010600030101010101" pitchFamily="2" charset="-122"/>
            </a:endParaRPr>
          </a:p>
        </p:txBody>
      </p:sp>
      <p:sp>
        <p:nvSpPr>
          <p:cNvPr id="17449" name="Oval 41">
            <a:hlinkClick r:id="rId5" action="ppaction://hlinksldjump"/>
          </p:cNvPr>
          <p:cNvSpPr/>
          <p:nvPr/>
        </p:nvSpPr>
        <p:spPr>
          <a:xfrm>
            <a:off x="838200" y="4025900"/>
            <a:ext cx="381000" cy="381000"/>
          </a:xfrm>
          <a:prstGeom prst="ellipse">
            <a:avLst/>
          </a:prstGeom>
          <a:gradFill rotWithShape="0">
            <a:gsLst>
              <a:gs pos="0">
                <a:srgbClr val="76762F"/>
              </a:gs>
              <a:gs pos="50000">
                <a:srgbClr val="FFFF66"/>
              </a:gs>
              <a:gs pos="100000">
                <a:srgbClr val="76762F"/>
              </a:gs>
            </a:gsLst>
            <a:lin ang="5400000" scaled="1"/>
            <a:tileRect/>
          </a:gradFill>
          <a:ln w="9525">
            <a:noFill/>
          </a:ln>
          <a:effectLst>
            <a:outerShdw sy="50000" kx="2453608" algn="bl" rotWithShape="0">
              <a:schemeClr val="bg2"/>
            </a:outerShdw>
          </a:effectLst>
        </p:spPr>
        <p:txBody>
          <a:bodyPr wrap="none" anchor="ctr" anchorCtr="0"/>
          <a:p>
            <a:pPr algn="ctr" eaLnBrk="1" hangingPunct="1"/>
            <a:endParaRPr lang="zh-CN" altLang="en-US" dirty="0">
              <a:latin typeface="Times New Roman" panose="02020603050405020304" pitchFamily="18" charset="0"/>
            </a:endParaRPr>
          </a:p>
        </p:txBody>
      </p:sp>
      <p:sp>
        <p:nvSpPr>
          <p:cNvPr id="17450" name="Text Box 42"/>
          <p:cNvSpPr txBox="1"/>
          <p:nvPr/>
        </p:nvSpPr>
        <p:spPr>
          <a:xfrm>
            <a:off x="1143000" y="3962400"/>
            <a:ext cx="7010400" cy="457200"/>
          </a:xfrm>
          <a:prstGeom prst="rect">
            <a:avLst/>
          </a:prstGeom>
          <a:noFill/>
          <a:ln w="9525">
            <a:noFill/>
          </a:ln>
        </p:spPr>
        <p:txBody>
          <a:bodyPr>
            <a:spAutoFit/>
          </a:bodyPr>
          <a:p>
            <a:pPr algn="ctr" eaLnBrk="1" hangingPunct="1"/>
            <a:r>
              <a:rPr lang="en-US" altLang="zh-CN" sz="2400" b="1" dirty="0">
                <a:latin typeface="宋体" panose="02010600030101010101" pitchFamily="2" charset="-122"/>
              </a:rPr>
              <a:t>§8-4  </a:t>
            </a:r>
            <a:r>
              <a:rPr lang="zh-CN" altLang="en-US" sz="2400" b="1" dirty="0">
                <a:latin typeface="宋体" panose="02010600030101010101" pitchFamily="2" charset="-122"/>
              </a:rPr>
              <a:t>可编程逻辑器件</a:t>
            </a:r>
            <a:r>
              <a:rPr lang="en-US" altLang="zh-CN" sz="2400" b="1" dirty="0">
                <a:latin typeface="宋体" panose="02010600030101010101" pitchFamily="2" charset="-122"/>
              </a:rPr>
              <a:t>PAL</a:t>
            </a:r>
            <a:r>
              <a:rPr lang="zh-CN" altLang="en-US" sz="2400" b="1" dirty="0">
                <a:latin typeface="宋体" panose="02010600030101010101" pitchFamily="2" charset="-122"/>
              </a:rPr>
              <a:t>和通用逻辑阵列</a:t>
            </a:r>
            <a:r>
              <a:rPr lang="en-US" altLang="zh-CN" sz="2400" b="1" dirty="0">
                <a:latin typeface="宋体" panose="02010600030101010101" pitchFamily="2" charset="-122"/>
              </a:rPr>
              <a:t>GAL</a:t>
            </a:r>
            <a:endParaRPr lang="en-US" altLang="zh-CN" sz="2400" b="1" dirty="0">
              <a:latin typeface="宋体" panose="02010600030101010101" pitchFamily="2" charset="-122"/>
            </a:endParaRPr>
          </a:p>
        </p:txBody>
      </p:sp>
      <p:sp>
        <p:nvSpPr>
          <p:cNvPr id="17451" name="Oval 43">
            <a:hlinkClick r:id="rId6" action="ppaction://hlinksldjump"/>
          </p:cNvPr>
          <p:cNvSpPr/>
          <p:nvPr/>
        </p:nvSpPr>
        <p:spPr>
          <a:xfrm>
            <a:off x="838200" y="4559300"/>
            <a:ext cx="381000" cy="381000"/>
          </a:xfrm>
          <a:prstGeom prst="ellipse">
            <a:avLst/>
          </a:prstGeom>
          <a:gradFill rotWithShape="0">
            <a:gsLst>
              <a:gs pos="0">
                <a:srgbClr val="76762F"/>
              </a:gs>
              <a:gs pos="50000">
                <a:srgbClr val="FFFF66"/>
              </a:gs>
              <a:gs pos="100000">
                <a:srgbClr val="76762F"/>
              </a:gs>
            </a:gsLst>
            <a:lin ang="5400000" scaled="1"/>
            <a:tileRect/>
          </a:gradFill>
          <a:ln w="9525">
            <a:noFill/>
          </a:ln>
          <a:effectLst>
            <a:outerShdw sy="50000" kx="2453608" algn="bl" rotWithShape="0">
              <a:schemeClr val="bg2"/>
            </a:outerShdw>
          </a:effectLst>
        </p:spPr>
        <p:txBody>
          <a:bodyPr wrap="none" anchor="ctr" anchorCtr="0"/>
          <a:p>
            <a:pPr algn="ctr" eaLnBrk="1" hangingPunct="1"/>
            <a:endParaRPr lang="zh-CN" altLang="en-US" dirty="0">
              <a:latin typeface="Times New Roman" panose="02020603050405020304" pitchFamily="18" charset="0"/>
            </a:endParaRPr>
          </a:p>
        </p:txBody>
      </p:sp>
      <p:pic>
        <p:nvPicPr>
          <p:cNvPr id="3086" name="Picture 45" descr="MEETING">
            <a:hlinkClick r:id="rId7"/>
          </p:cNvPr>
          <p:cNvPicPr>
            <a:picLocks noChangeAspect="1"/>
          </p:cNvPicPr>
          <p:nvPr/>
        </p:nvPicPr>
        <p:blipFill>
          <a:blip r:embed="rId8"/>
          <a:stretch>
            <a:fillRect/>
          </a:stretch>
        </p:blipFill>
        <p:spPr>
          <a:xfrm>
            <a:off x="6553200" y="5410200"/>
            <a:ext cx="2362200" cy="1295400"/>
          </a:xfrm>
          <a:prstGeom prst="rect">
            <a:avLst/>
          </a:prstGeom>
          <a:noFill/>
          <a:ln w="9525">
            <a:noFill/>
          </a:ln>
        </p:spPr>
      </p:pic>
      <p:sp>
        <p:nvSpPr>
          <p:cNvPr id="17455" name="Text Box 47"/>
          <p:cNvSpPr txBox="1"/>
          <p:nvPr/>
        </p:nvSpPr>
        <p:spPr>
          <a:xfrm>
            <a:off x="1450975" y="4495800"/>
            <a:ext cx="6915150" cy="457200"/>
          </a:xfrm>
          <a:prstGeom prst="rect">
            <a:avLst/>
          </a:prstGeom>
          <a:noFill/>
          <a:ln w="9525">
            <a:noFill/>
          </a:ln>
        </p:spPr>
        <p:txBody>
          <a:bodyPr wrap="none">
            <a:spAutoFit/>
          </a:bodyPr>
          <a:p>
            <a:pPr algn="ctr" eaLnBrk="1" hangingPunct="1"/>
            <a:r>
              <a:rPr lang="en-US" altLang="zh-CN" sz="2400" b="1" dirty="0">
                <a:latin typeface="Times New Roman" panose="02020603050405020304" pitchFamily="18" charset="0"/>
              </a:rPr>
              <a:t>§8-5     </a:t>
            </a:r>
            <a:r>
              <a:rPr lang="zh-CN" altLang="en-US" sz="2400" b="1" dirty="0">
                <a:latin typeface="Times New Roman" panose="02020603050405020304" pitchFamily="18" charset="0"/>
              </a:rPr>
              <a:t>高密度可编程逻辑器件</a:t>
            </a:r>
            <a:r>
              <a:rPr lang="en-US" altLang="zh-CN" sz="2400" b="1" dirty="0">
                <a:latin typeface="Times New Roman" panose="02020603050405020304" pitchFamily="18" charset="0"/>
              </a:rPr>
              <a:t>HDPLD</a:t>
            </a:r>
            <a:r>
              <a:rPr lang="zh-CN" altLang="en-US" sz="2400" b="1" dirty="0">
                <a:latin typeface="Times New Roman" panose="02020603050405020304" pitchFamily="18" charset="0"/>
              </a:rPr>
              <a:t>原理及应用</a:t>
            </a:r>
            <a:endParaRPr lang="zh-CN" altLang="en-US" sz="2400" b="1" dirty="0">
              <a:latin typeface="Times New Roman" panose="02020603050405020304" pitchFamily="18" charset="0"/>
            </a:endParaRPr>
          </a:p>
        </p:txBody>
      </p:sp>
      <p:sp>
        <p:nvSpPr>
          <p:cNvPr id="17456" name="Text Box 48"/>
          <p:cNvSpPr txBox="1"/>
          <p:nvPr/>
        </p:nvSpPr>
        <p:spPr>
          <a:xfrm>
            <a:off x="1295400" y="5029200"/>
            <a:ext cx="4724400" cy="457200"/>
          </a:xfrm>
          <a:prstGeom prst="rect">
            <a:avLst/>
          </a:prstGeom>
          <a:noFill/>
          <a:ln w="9525">
            <a:noFill/>
          </a:ln>
        </p:spPr>
        <p:txBody>
          <a:bodyPr>
            <a:spAutoFit/>
          </a:bodyPr>
          <a:p>
            <a:pPr algn="ctr" eaLnBrk="1" hangingPunct="1"/>
            <a:r>
              <a:rPr lang="en-US" altLang="zh-CN" sz="2400" b="1" dirty="0">
                <a:latin typeface="Times New Roman" panose="02020603050405020304" pitchFamily="18" charset="0"/>
              </a:rPr>
              <a:t>§8-6    </a:t>
            </a:r>
            <a:r>
              <a:rPr lang="zh-CN" altLang="en-US" sz="2400" b="1" dirty="0">
                <a:latin typeface="Times New Roman" panose="02020603050405020304" pitchFamily="18" charset="0"/>
              </a:rPr>
              <a:t>现场可编程门阵列</a:t>
            </a:r>
            <a:r>
              <a:rPr lang="en-US" altLang="zh-CN" sz="2400" b="1" dirty="0">
                <a:latin typeface="Times New Roman" panose="02020603050405020304" pitchFamily="18" charset="0"/>
              </a:rPr>
              <a:t>FPGA</a:t>
            </a:r>
            <a:endParaRPr lang="en-US" altLang="zh-CN" sz="2400" b="1" dirty="0">
              <a:latin typeface="Times New Roman" panose="02020603050405020304" pitchFamily="18" charset="0"/>
            </a:endParaRPr>
          </a:p>
        </p:txBody>
      </p:sp>
      <p:sp>
        <p:nvSpPr>
          <p:cNvPr id="17457" name="Text Box 49"/>
          <p:cNvSpPr txBox="1"/>
          <p:nvPr/>
        </p:nvSpPr>
        <p:spPr>
          <a:xfrm>
            <a:off x="1460500" y="5562600"/>
            <a:ext cx="4918075" cy="457200"/>
          </a:xfrm>
          <a:prstGeom prst="rect">
            <a:avLst/>
          </a:prstGeom>
          <a:noFill/>
          <a:ln w="9525">
            <a:noFill/>
          </a:ln>
        </p:spPr>
        <p:txBody>
          <a:bodyPr wrap="none">
            <a:spAutoFit/>
          </a:bodyPr>
          <a:p>
            <a:pPr algn="ctr" eaLnBrk="1" hangingPunct="1"/>
            <a:r>
              <a:rPr lang="en-US" altLang="zh-CN" sz="2400" b="1" dirty="0">
                <a:latin typeface="Times New Roman" panose="02020603050405020304" pitchFamily="18" charset="0"/>
              </a:rPr>
              <a:t>§8-7     </a:t>
            </a:r>
            <a:r>
              <a:rPr lang="zh-CN" altLang="en-US" sz="2400" b="1" dirty="0">
                <a:latin typeface="Times New Roman" panose="02020603050405020304" pitchFamily="18" charset="0"/>
              </a:rPr>
              <a:t>随机存取存储器（</a:t>
            </a:r>
            <a:r>
              <a:rPr lang="en-US" altLang="zh-CN" sz="2400" b="1" dirty="0">
                <a:latin typeface="Times New Roman" panose="02020603050405020304" pitchFamily="18" charset="0"/>
              </a:rPr>
              <a:t>SRAM</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17458" name="Oval 50">
            <a:hlinkClick r:id="rId9" action="ppaction://hlinksldjump"/>
          </p:cNvPr>
          <p:cNvSpPr/>
          <p:nvPr/>
        </p:nvSpPr>
        <p:spPr>
          <a:xfrm>
            <a:off x="838200" y="5029200"/>
            <a:ext cx="381000" cy="381000"/>
          </a:xfrm>
          <a:prstGeom prst="ellipse">
            <a:avLst/>
          </a:prstGeom>
          <a:gradFill rotWithShape="0">
            <a:gsLst>
              <a:gs pos="0">
                <a:srgbClr val="76762F"/>
              </a:gs>
              <a:gs pos="50000">
                <a:srgbClr val="FFFF66"/>
              </a:gs>
              <a:gs pos="100000">
                <a:srgbClr val="76762F"/>
              </a:gs>
            </a:gsLst>
            <a:lin ang="5400000" scaled="1"/>
            <a:tileRect/>
          </a:gradFill>
          <a:ln w="9525">
            <a:noFill/>
          </a:ln>
          <a:effectLst>
            <a:outerShdw sy="50000" kx="2453608" algn="bl" rotWithShape="0">
              <a:schemeClr val="bg2"/>
            </a:outerShdw>
          </a:effectLst>
        </p:spPr>
        <p:txBody>
          <a:bodyPr wrap="none" anchor="ctr" anchorCtr="0"/>
          <a:p>
            <a:pPr algn="ctr" eaLnBrk="1" hangingPunct="1"/>
            <a:endParaRPr lang="zh-CN" altLang="en-US" dirty="0">
              <a:latin typeface="Times New Roman" panose="02020603050405020304" pitchFamily="18" charset="0"/>
            </a:endParaRPr>
          </a:p>
        </p:txBody>
      </p:sp>
      <p:sp>
        <p:nvSpPr>
          <p:cNvPr id="17459" name="Oval 51">
            <a:hlinkClick r:id="rId10" action="ppaction://hlinksldjump"/>
          </p:cNvPr>
          <p:cNvSpPr/>
          <p:nvPr/>
        </p:nvSpPr>
        <p:spPr>
          <a:xfrm>
            <a:off x="838200" y="5562600"/>
            <a:ext cx="381000" cy="381000"/>
          </a:xfrm>
          <a:prstGeom prst="ellipse">
            <a:avLst/>
          </a:prstGeom>
          <a:gradFill rotWithShape="0">
            <a:gsLst>
              <a:gs pos="0">
                <a:srgbClr val="76762F"/>
              </a:gs>
              <a:gs pos="50000">
                <a:srgbClr val="FFFF66"/>
              </a:gs>
              <a:gs pos="100000">
                <a:srgbClr val="76762F"/>
              </a:gs>
            </a:gsLst>
            <a:lin ang="5400000" scaled="1"/>
            <a:tileRect/>
          </a:gradFill>
          <a:ln w="9525">
            <a:noFill/>
          </a:ln>
          <a:effectLst>
            <a:outerShdw sy="50000" kx="2453608" algn="bl" rotWithShape="0">
              <a:schemeClr val="bg2"/>
            </a:outerShdw>
          </a:effectLst>
        </p:spPr>
        <p:txBody>
          <a:bodyPr wrap="none" anchor="ctr" anchorCtr="0"/>
          <a:p>
            <a:pPr algn="ctr" eaLnBrk="1" hangingPunct="1"/>
            <a:endParaRPr lang="zh-CN" altLang="en-US" dirty="0">
              <a:latin typeface="Times New Roman" panose="02020603050405020304" pitchFamily="18" charset="0"/>
            </a:endParaRPr>
          </a:p>
        </p:txBody>
      </p:sp>
      <p:sp>
        <p:nvSpPr>
          <p:cNvPr id="17460" name="Oval 52">
            <a:hlinkClick r:id="rId11" action="ppaction://hlinksldjump"/>
          </p:cNvPr>
          <p:cNvSpPr/>
          <p:nvPr/>
        </p:nvSpPr>
        <p:spPr>
          <a:xfrm>
            <a:off x="838200" y="6096000"/>
            <a:ext cx="381000" cy="381000"/>
          </a:xfrm>
          <a:prstGeom prst="ellipse">
            <a:avLst/>
          </a:prstGeom>
          <a:gradFill rotWithShape="0">
            <a:gsLst>
              <a:gs pos="0">
                <a:srgbClr val="76762F"/>
              </a:gs>
              <a:gs pos="50000">
                <a:srgbClr val="FFFF66"/>
              </a:gs>
              <a:gs pos="100000">
                <a:srgbClr val="76762F"/>
              </a:gs>
            </a:gsLst>
            <a:lin ang="5400000" scaled="1"/>
            <a:tileRect/>
          </a:gradFill>
          <a:ln w="9525">
            <a:noFill/>
          </a:ln>
          <a:effectLst>
            <a:outerShdw sy="50000" kx="2453608" algn="bl" rotWithShape="0">
              <a:schemeClr val="bg2"/>
            </a:outerShdw>
          </a:effectLst>
        </p:spPr>
        <p:txBody>
          <a:bodyPr wrap="none" anchor="ctr" anchorCtr="0"/>
          <a:p>
            <a:pPr algn="ctr" eaLnBrk="1" hangingPunct="1"/>
            <a:endParaRPr lang="zh-CN" altLang="en-US" dirty="0">
              <a:latin typeface="Times New Roman" panose="02020603050405020304" pitchFamily="18" charset="0"/>
            </a:endParaRPr>
          </a:p>
        </p:txBody>
      </p:sp>
      <p:sp>
        <p:nvSpPr>
          <p:cNvPr id="17461" name="Text Box 53"/>
          <p:cNvSpPr txBox="1"/>
          <p:nvPr/>
        </p:nvSpPr>
        <p:spPr>
          <a:xfrm>
            <a:off x="1562100" y="6019800"/>
            <a:ext cx="800100" cy="457200"/>
          </a:xfrm>
          <a:prstGeom prst="rect">
            <a:avLst/>
          </a:prstGeom>
          <a:noFill/>
          <a:ln w="9525">
            <a:noFill/>
          </a:ln>
        </p:spPr>
        <p:txBody>
          <a:bodyPr wrap="none">
            <a:spAutoFit/>
          </a:bodyPr>
          <a:p>
            <a:pPr algn="ctr" eaLnBrk="1" hangingPunct="1"/>
            <a:r>
              <a:rPr lang="zh-CN" altLang="en-US" sz="2400" b="1" dirty="0">
                <a:latin typeface="Times New Roman" panose="02020603050405020304" pitchFamily="18" charset="0"/>
              </a:rPr>
              <a:t>小结</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7439"/>
                                        </p:tgtEl>
                                        <p:attrNameLst>
                                          <p:attrName>style.visibility</p:attrName>
                                        </p:attrNameLst>
                                      </p:cBhvr>
                                      <p:to>
                                        <p:strVal val="visible"/>
                                      </p:to>
                                    </p:set>
                                    <p:animEffect transition="in" filter="barn(outHorizontal)">
                                      <p:cBhvr>
                                        <p:cTn id="7" dur="500"/>
                                        <p:tgtEl>
                                          <p:spTgt spid="1743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7441"/>
                                        </p:tgtEl>
                                        <p:attrNameLst>
                                          <p:attrName>style.visibility</p:attrName>
                                        </p:attrNameLst>
                                      </p:cBhvr>
                                      <p:to>
                                        <p:strVal val="visible"/>
                                      </p:to>
                                    </p:set>
                                    <p:anim calcmode="lin" valueType="num">
                                      <p:cBhvr additive="base">
                                        <p:cTn id="12" dur="500" fill="hold"/>
                                        <p:tgtEl>
                                          <p:spTgt spid="17441"/>
                                        </p:tgtEl>
                                        <p:attrNameLst>
                                          <p:attrName>ppt_x</p:attrName>
                                        </p:attrNameLst>
                                      </p:cBhvr>
                                      <p:tavLst>
                                        <p:tav tm="0">
                                          <p:val>
                                            <p:strVal val="0-#ppt_w/2"/>
                                          </p:val>
                                        </p:tav>
                                        <p:tav tm="100000">
                                          <p:val>
                                            <p:strVal val="#ppt_x"/>
                                          </p:val>
                                        </p:tav>
                                      </p:tavLst>
                                    </p:anim>
                                    <p:anim calcmode="lin" valueType="num">
                                      <p:cBhvr additive="base">
                                        <p:cTn id="13" dur="500" fill="hold"/>
                                        <p:tgtEl>
                                          <p:spTgt spid="17441"/>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17442"/>
                                        </p:tgtEl>
                                        <p:attrNameLst>
                                          <p:attrName>style.visibility</p:attrName>
                                        </p:attrNameLst>
                                      </p:cBhvr>
                                      <p:to>
                                        <p:strVal val="visible"/>
                                      </p:to>
                                    </p:set>
                                    <p:animEffect transition="in" filter="wipe(left)">
                                      <p:cBhvr>
                                        <p:cTn id="17" dur="500"/>
                                        <p:tgtEl>
                                          <p:spTgt spid="1744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7443"/>
                                        </p:tgtEl>
                                        <p:attrNameLst>
                                          <p:attrName>style.visibility</p:attrName>
                                        </p:attrNameLst>
                                      </p:cBhvr>
                                      <p:to>
                                        <p:strVal val="visible"/>
                                      </p:to>
                                    </p:set>
                                    <p:anim calcmode="lin" valueType="num">
                                      <p:cBhvr additive="base">
                                        <p:cTn id="22" dur="500" fill="hold"/>
                                        <p:tgtEl>
                                          <p:spTgt spid="17443"/>
                                        </p:tgtEl>
                                        <p:attrNameLst>
                                          <p:attrName>ppt_x</p:attrName>
                                        </p:attrNameLst>
                                      </p:cBhvr>
                                      <p:tavLst>
                                        <p:tav tm="0">
                                          <p:val>
                                            <p:strVal val="0-#ppt_w/2"/>
                                          </p:val>
                                        </p:tav>
                                        <p:tav tm="100000">
                                          <p:val>
                                            <p:strVal val="#ppt_x"/>
                                          </p:val>
                                        </p:tav>
                                      </p:tavLst>
                                    </p:anim>
                                    <p:anim calcmode="lin" valueType="num">
                                      <p:cBhvr additive="base">
                                        <p:cTn id="23" dur="500" fill="hold"/>
                                        <p:tgtEl>
                                          <p:spTgt spid="17443"/>
                                        </p:tgtEl>
                                        <p:attrNameLst>
                                          <p:attrName>ppt_y</p:attrName>
                                        </p:attrNameLst>
                                      </p:cBhvr>
                                      <p:tavLst>
                                        <p:tav tm="0">
                                          <p:val>
                                            <p:strVal val="#ppt_y"/>
                                          </p:val>
                                        </p:tav>
                                        <p:tav tm="100000">
                                          <p:val>
                                            <p:strVal val="#ppt_y"/>
                                          </p:val>
                                        </p:tav>
                                      </p:tavLst>
                                    </p:anim>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17444"/>
                                        </p:tgtEl>
                                        <p:attrNameLst>
                                          <p:attrName>style.visibility</p:attrName>
                                        </p:attrNameLst>
                                      </p:cBhvr>
                                      <p:to>
                                        <p:strVal val="visible"/>
                                      </p:to>
                                    </p:set>
                                    <p:animEffect transition="in" filter="wipe(left)">
                                      <p:cBhvr>
                                        <p:cTn id="27" dur="500"/>
                                        <p:tgtEl>
                                          <p:spTgt spid="17444"/>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7445"/>
                                        </p:tgtEl>
                                        <p:attrNameLst>
                                          <p:attrName>style.visibility</p:attrName>
                                        </p:attrNameLst>
                                      </p:cBhvr>
                                      <p:to>
                                        <p:strVal val="visible"/>
                                      </p:to>
                                    </p:set>
                                    <p:anim calcmode="lin" valueType="num">
                                      <p:cBhvr additive="base">
                                        <p:cTn id="32" dur="500" fill="hold"/>
                                        <p:tgtEl>
                                          <p:spTgt spid="17445"/>
                                        </p:tgtEl>
                                        <p:attrNameLst>
                                          <p:attrName>ppt_x</p:attrName>
                                        </p:attrNameLst>
                                      </p:cBhvr>
                                      <p:tavLst>
                                        <p:tav tm="0">
                                          <p:val>
                                            <p:strVal val="0-#ppt_w/2"/>
                                          </p:val>
                                        </p:tav>
                                        <p:tav tm="100000">
                                          <p:val>
                                            <p:strVal val="#ppt_x"/>
                                          </p:val>
                                        </p:tav>
                                      </p:tavLst>
                                    </p:anim>
                                    <p:anim calcmode="lin" valueType="num">
                                      <p:cBhvr additive="base">
                                        <p:cTn id="33" dur="500" fill="hold"/>
                                        <p:tgtEl>
                                          <p:spTgt spid="17445"/>
                                        </p:tgtEl>
                                        <p:attrNameLst>
                                          <p:attrName>ppt_y</p:attrName>
                                        </p:attrNameLst>
                                      </p:cBhvr>
                                      <p:tavLst>
                                        <p:tav tm="0">
                                          <p:val>
                                            <p:strVal val="#ppt_y"/>
                                          </p:val>
                                        </p:tav>
                                        <p:tav tm="100000">
                                          <p:val>
                                            <p:strVal val="#ppt_y"/>
                                          </p:val>
                                        </p:tav>
                                      </p:tavLst>
                                    </p:anim>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17446"/>
                                        </p:tgtEl>
                                        <p:attrNameLst>
                                          <p:attrName>style.visibility</p:attrName>
                                        </p:attrNameLst>
                                      </p:cBhvr>
                                      <p:to>
                                        <p:strVal val="visible"/>
                                      </p:to>
                                    </p:set>
                                    <p:animEffect transition="in" filter="wipe(left)">
                                      <p:cBhvr>
                                        <p:cTn id="37" dur="500"/>
                                        <p:tgtEl>
                                          <p:spTgt spid="17446"/>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17447"/>
                                        </p:tgtEl>
                                        <p:attrNameLst>
                                          <p:attrName>style.visibility</p:attrName>
                                        </p:attrNameLst>
                                      </p:cBhvr>
                                      <p:to>
                                        <p:strVal val="visible"/>
                                      </p:to>
                                    </p:set>
                                    <p:anim calcmode="lin" valueType="num">
                                      <p:cBhvr additive="base">
                                        <p:cTn id="42" dur="500" fill="hold"/>
                                        <p:tgtEl>
                                          <p:spTgt spid="17447"/>
                                        </p:tgtEl>
                                        <p:attrNameLst>
                                          <p:attrName>ppt_x</p:attrName>
                                        </p:attrNameLst>
                                      </p:cBhvr>
                                      <p:tavLst>
                                        <p:tav tm="0">
                                          <p:val>
                                            <p:strVal val="0-#ppt_w/2"/>
                                          </p:val>
                                        </p:tav>
                                        <p:tav tm="100000">
                                          <p:val>
                                            <p:strVal val="#ppt_x"/>
                                          </p:val>
                                        </p:tav>
                                      </p:tavLst>
                                    </p:anim>
                                    <p:anim calcmode="lin" valueType="num">
                                      <p:cBhvr additive="base">
                                        <p:cTn id="43" dur="500" fill="hold"/>
                                        <p:tgtEl>
                                          <p:spTgt spid="17447"/>
                                        </p:tgtEl>
                                        <p:attrNameLst>
                                          <p:attrName>ppt_y</p:attrName>
                                        </p:attrNameLst>
                                      </p:cBhvr>
                                      <p:tavLst>
                                        <p:tav tm="0">
                                          <p:val>
                                            <p:strVal val="#ppt_y"/>
                                          </p:val>
                                        </p:tav>
                                        <p:tav tm="100000">
                                          <p:val>
                                            <p:strVal val="#ppt_y"/>
                                          </p:val>
                                        </p:tav>
                                      </p:tavLst>
                                    </p:anim>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17448"/>
                                        </p:tgtEl>
                                        <p:attrNameLst>
                                          <p:attrName>style.visibility</p:attrName>
                                        </p:attrNameLst>
                                      </p:cBhvr>
                                      <p:to>
                                        <p:strVal val="visible"/>
                                      </p:to>
                                    </p:set>
                                    <p:animEffect transition="in" filter="wipe(left)">
                                      <p:cBhvr>
                                        <p:cTn id="47" dur="500"/>
                                        <p:tgtEl>
                                          <p:spTgt spid="17448"/>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17449"/>
                                        </p:tgtEl>
                                        <p:attrNameLst>
                                          <p:attrName>style.visibility</p:attrName>
                                        </p:attrNameLst>
                                      </p:cBhvr>
                                      <p:to>
                                        <p:strVal val="visible"/>
                                      </p:to>
                                    </p:set>
                                    <p:anim calcmode="lin" valueType="num">
                                      <p:cBhvr additive="base">
                                        <p:cTn id="52" dur="500" fill="hold"/>
                                        <p:tgtEl>
                                          <p:spTgt spid="17449"/>
                                        </p:tgtEl>
                                        <p:attrNameLst>
                                          <p:attrName>ppt_x</p:attrName>
                                        </p:attrNameLst>
                                      </p:cBhvr>
                                      <p:tavLst>
                                        <p:tav tm="0">
                                          <p:val>
                                            <p:strVal val="0-#ppt_w/2"/>
                                          </p:val>
                                        </p:tav>
                                        <p:tav tm="100000">
                                          <p:val>
                                            <p:strVal val="#ppt_x"/>
                                          </p:val>
                                        </p:tav>
                                      </p:tavLst>
                                    </p:anim>
                                    <p:anim calcmode="lin" valueType="num">
                                      <p:cBhvr additive="base">
                                        <p:cTn id="53" dur="500" fill="hold"/>
                                        <p:tgtEl>
                                          <p:spTgt spid="17449"/>
                                        </p:tgtEl>
                                        <p:attrNameLst>
                                          <p:attrName>ppt_y</p:attrName>
                                        </p:attrNameLst>
                                      </p:cBhvr>
                                      <p:tavLst>
                                        <p:tav tm="0">
                                          <p:val>
                                            <p:strVal val="#ppt_y"/>
                                          </p:val>
                                        </p:tav>
                                        <p:tav tm="100000">
                                          <p:val>
                                            <p:strVal val="#ppt_y"/>
                                          </p:val>
                                        </p:tav>
                                      </p:tavLst>
                                    </p:anim>
                                  </p:childTnLst>
                                </p:cTn>
                              </p:par>
                            </p:childTnLst>
                          </p:cTn>
                        </p:par>
                        <p:par>
                          <p:cTn id="54" fill="hold">
                            <p:stCondLst>
                              <p:cond delay="500"/>
                            </p:stCondLst>
                            <p:childTnLst>
                              <p:par>
                                <p:cTn id="55" presetID="22" presetClass="entr" presetSubtype="8" fill="hold" grpId="0" nodeType="afterEffect">
                                  <p:stCondLst>
                                    <p:cond delay="0"/>
                                  </p:stCondLst>
                                  <p:childTnLst>
                                    <p:set>
                                      <p:cBhvr>
                                        <p:cTn id="56" dur="1" fill="hold">
                                          <p:stCondLst>
                                            <p:cond delay="0"/>
                                          </p:stCondLst>
                                        </p:cTn>
                                        <p:tgtEl>
                                          <p:spTgt spid="17450"/>
                                        </p:tgtEl>
                                        <p:attrNameLst>
                                          <p:attrName>style.visibility</p:attrName>
                                        </p:attrNameLst>
                                      </p:cBhvr>
                                      <p:to>
                                        <p:strVal val="visible"/>
                                      </p:to>
                                    </p:set>
                                    <p:animEffect transition="in" filter="wipe(left)">
                                      <p:cBhvr>
                                        <p:cTn id="57" dur="500"/>
                                        <p:tgtEl>
                                          <p:spTgt spid="17450"/>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17451"/>
                                        </p:tgtEl>
                                        <p:attrNameLst>
                                          <p:attrName>style.visibility</p:attrName>
                                        </p:attrNameLst>
                                      </p:cBhvr>
                                      <p:to>
                                        <p:strVal val="visible"/>
                                      </p:to>
                                    </p:set>
                                    <p:anim calcmode="lin" valueType="num">
                                      <p:cBhvr additive="base">
                                        <p:cTn id="62" dur="500" fill="hold"/>
                                        <p:tgtEl>
                                          <p:spTgt spid="17451"/>
                                        </p:tgtEl>
                                        <p:attrNameLst>
                                          <p:attrName>ppt_x</p:attrName>
                                        </p:attrNameLst>
                                      </p:cBhvr>
                                      <p:tavLst>
                                        <p:tav tm="0">
                                          <p:val>
                                            <p:strVal val="0-#ppt_w/2"/>
                                          </p:val>
                                        </p:tav>
                                        <p:tav tm="100000">
                                          <p:val>
                                            <p:strVal val="#ppt_x"/>
                                          </p:val>
                                        </p:tav>
                                      </p:tavLst>
                                    </p:anim>
                                    <p:anim calcmode="lin" valueType="num">
                                      <p:cBhvr additive="base">
                                        <p:cTn id="63" dur="500" fill="hold"/>
                                        <p:tgtEl>
                                          <p:spTgt spid="17451"/>
                                        </p:tgtEl>
                                        <p:attrNameLst>
                                          <p:attrName>ppt_y</p:attrName>
                                        </p:attrNameLst>
                                      </p:cBhvr>
                                      <p:tavLst>
                                        <p:tav tm="0">
                                          <p:val>
                                            <p:strVal val="#ppt_y"/>
                                          </p:val>
                                        </p:tav>
                                        <p:tav tm="100000">
                                          <p:val>
                                            <p:strVal val="#ppt_y"/>
                                          </p:val>
                                        </p:tav>
                                      </p:tavLst>
                                    </p:anim>
                                  </p:childTnLst>
                                </p:cTn>
                              </p:par>
                            </p:childTnLst>
                          </p:cTn>
                        </p:par>
                        <p:par>
                          <p:cTn id="64" fill="hold">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17455"/>
                                        </p:tgtEl>
                                        <p:attrNameLst>
                                          <p:attrName>style.visibility</p:attrName>
                                        </p:attrNameLst>
                                      </p:cBhvr>
                                      <p:to>
                                        <p:strVal val="visible"/>
                                      </p:to>
                                    </p:set>
                                    <p:animEffect transition="in" filter="wipe(left)">
                                      <p:cBhvr>
                                        <p:cTn id="67" dur="500"/>
                                        <p:tgtEl>
                                          <p:spTgt spid="17455"/>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8" fill="hold" nodeType="clickEffect">
                                  <p:stCondLst>
                                    <p:cond delay="0"/>
                                  </p:stCondLst>
                                  <p:childTnLst>
                                    <p:set>
                                      <p:cBhvr>
                                        <p:cTn id="71" dur="1" fill="hold">
                                          <p:stCondLst>
                                            <p:cond delay="0"/>
                                          </p:stCondLst>
                                        </p:cTn>
                                        <p:tgtEl>
                                          <p:spTgt spid="17458"/>
                                        </p:tgtEl>
                                        <p:attrNameLst>
                                          <p:attrName>style.visibility</p:attrName>
                                        </p:attrNameLst>
                                      </p:cBhvr>
                                      <p:to>
                                        <p:strVal val="visible"/>
                                      </p:to>
                                    </p:set>
                                    <p:anim calcmode="lin" valueType="num">
                                      <p:cBhvr additive="base">
                                        <p:cTn id="72" dur="500" fill="hold"/>
                                        <p:tgtEl>
                                          <p:spTgt spid="17458"/>
                                        </p:tgtEl>
                                        <p:attrNameLst>
                                          <p:attrName>ppt_x</p:attrName>
                                        </p:attrNameLst>
                                      </p:cBhvr>
                                      <p:tavLst>
                                        <p:tav tm="0">
                                          <p:val>
                                            <p:strVal val="0-#ppt_w/2"/>
                                          </p:val>
                                        </p:tav>
                                        <p:tav tm="100000">
                                          <p:val>
                                            <p:strVal val="#ppt_x"/>
                                          </p:val>
                                        </p:tav>
                                      </p:tavLst>
                                    </p:anim>
                                    <p:anim calcmode="lin" valueType="num">
                                      <p:cBhvr additive="base">
                                        <p:cTn id="73" dur="500" fill="hold"/>
                                        <p:tgtEl>
                                          <p:spTgt spid="17458"/>
                                        </p:tgtEl>
                                        <p:attrNameLst>
                                          <p:attrName>ppt_y</p:attrName>
                                        </p:attrNameLst>
                                      </p:cBhvr>
                                      <p:tavLst>
                                        <p:tav tm="0">
                                          <p:val>
                                            <p:strVal val="#ppt_y"/>
                                          </p:val>
                                        </p:tav>
                                        <p:tav tm="100000">
                                          <p:val>
                                            <p:strVal val="#ppt_y"/>
                                          </p:val>
                                        </p:tav>
                                      </p:tavLst>
                                    </p:anim>
                                  </p:childTnLst>
                                </p:cTn>
                              </p:par>
                            </p:childTnLst>
                          </p:cTn>
                        </p:par>
                        <p:par>
                          <p:cTn id="74" fill="hold">
                            <p:stCondLst>
                              <p:cond delay="500"/>
                            </p:stCondLst>
                            <p:childTnLst>
                              <p:par>
                                <p:cTn id="75" presetID="22" presetClass="entr" presetSubtype="8" fill="hold" grpId="0" nodeType="afterEffect">
                                  <p:stCondLst>
                                    <p:cond delay="0"/>
                                  </p:stCondLst>
                                  <p:childTnLst>
                                    <p:set>
                                      <p:cBhvr>
                                        <p:cTn id="76" dur="1" fill="hold">
                                          <p:stCondLst>
                                            <p:cond delay="0"/>
                                          </p:stCondLst>
                                        </p:cTn>
                                        <p:tgtEl>
                                          <p:spTgt spid="17456"/>
                                        </p:tgtEl>
                                        <p:attrNameLst>
                                          <p:attrName>style.visibility</p:attrName>
                                        </p:attrNameLst>
                                      </p:cBhvr>
                                      <p:to>
                                        <p:strVal val="visible"/>
                                      </p:to>
                                    </p:set>
                                    <p:animEffect transition="in" filter="wipe(left)">
                                      <p:cBhvr>
                                        <p:cTn id="77" dur="500"/>
                                        <p:tgtEl>
                                          <p:spTgt spid="17456"/>
                                        </p:tgtEl>
                                      </p:cBhvr>
                                    </p:animEffect>
                                  </p:childTnLst>
                                </p:cTn>
                              </p:par>
                            </p:childTnLst>
                          </p:cTn>
                        </p:par>
                      </p:childTnLst>
                    </p:cTn>
                  </p:par>
                  <p:par>
                    <p:cTn id="78" fill="hold">
                      <p:stCondLst>
                        <p:cond delay="indefinite"/>
                      </p:stCondLst>
                      <p:childTnLst>
                        <p:par>
                          <p:cTn id="79" fill="hold">
                            <p:stCondLst>
                              <p:cond delay="0"/>
                            </p:stCondLst>
                            <p:childTnLst>
                              <p:par>
                                <p:cTn id="80" presetID="2" presetClass="entr" presetSubtype="8" fill="hold" nodeType="clickEffect">
                                  <p:stCondLst>
                                    <p:cond delay="0"/>
                                  </p:stCondLst>
                                  <p:childTnLst>
                                    <p:set>
                                      <p:cBhvr>
                                        <p:cTn id="81" dur="1" fill="hold">
                                          <p:stCondLst>
                                            <p:cond delay="0"/>
                                          </p:stCondLst>
                                        </p:cTn>
                                        <p:tgtEl>
                                          <p:spTgt spid="17459"/>
                                        </p:tgtEl>
                                        <p:attrNameLst>
                                          <p:attrName>style.visibility</p:attrName>
                                        </p:attrNameLst>
                                      </p:cBhvr>
                                      <p:to>
                                        <p:strVal val="visible"/>
                                      </p:to>
                                    </p:set>
                                    <p:anim calcmode="lin" valueType="num">
                                      <p:cBhvr additive="base">
                                        <p:cTn id="82" dur="500" fill="hold"/>
                                        <p:tgtEl>
                                          <p:spTgt spid="17459"/>
                                        </p:tgtEl>
                                        <p:attrNameLst>
                                          <p:attrName>ppt_x</p:attrName>
                                        </p:attrNameLst>
                                      </p:cBhvr>
                                      <p:tavLst>
                                        <p:tav tm="0">
                                          <p:val>
                                            <p:strVal val="0-#ppt_w/2"/>
                                          </p:val>
                                        </p:tav>
                                        <p:tav tm="100000">
                                          <p:val>
                                            <p:strVal val="#ppt_x"/>
                                          </p:val>
                                        </p:tav>
                                      </p:tavLst>
                                    </p:anim>
                                    <p:anim calcmode="lin" valueType="num">
                                      <p:cBhvr additive="base">
                                        <p:cTn id="83" dur="500" fill="hold"/>
                                        <p:tgtEl>
                                          <p:spTgt spid="17459"/>
                                        </p:tgtEl>
                                        <p:attrNameLst>
                                          <p:attrName>ppt_y</p:attrName>
                                        </p:attrNameLst>
                                      </p:cBhvr>
                                      <p:tavLst>
                                        <p:tav tm="0">
                                          <p:val>
                                            <p:strVal val="#ppt_y"/>
                                          </p:val>
                                        </p:tav>
                                        <p:tav tm="100000">
                                          <p:val>
                                            <p:strVal val="#ppt_y"/>
                                          </p:val>
                                        </p:tav>
                                      </p:tavLst>
                                    </p:anim>
                                  </p:childTnLst>
                                </p:cTn>
                              </p:par>
                            </p:childTnLst>
                          </p:cTn>
                        </p:par>
                        <p:par>
                          <p:cTn id="84" fill="hold">
                            <p:stCondLst>
                              <p:cond delay="500"/>
                            </p:stCondLst>
                            <p:childTnLst>
                              <p:par>
                                <p:cTn id="85" presetID="22" presetClass="entr" presetSubtype="8" fill="hold" grpId="0" nodeType="afterEffect">
                                  <p:stCondLst>
                                    <p:cond delay="0"/>
                                  </p:stCondLst>
                                  <p:childTnLst>
                                    <p:set>
                                      <p:cBhvr>
                                        <p:cTn id="86" dur="1" fill="hold">
                                          <p:stCondLst>
                                            <p:cond delay="0"/>
                                          </p:stCondLst>
                                        </p:cTn>
                                        <p:tgtEl>
                                          <p:spTgt spid="17457"/>
                                        </p:tgtEl>
                                        <p:attrNameLst>
                                          <p:attrName>style.visibility</p:attrName>
                                        </p:attrNameLst>
                                      </p:cBhvr>
                                      <p:to>
                                        <p:strVal val="visible"/>
                                      </p:to>
                                    </p:set>
                                    <p:animEffect transition="in" filter="wipe(left)">
                                      <p:cBhvr>
                                        <p:cTn id="87" dur="500"/>
                                        <p:tgtEl>
                                          <p:spTgt spid="17457"/>
                                        </p:tgtEl>
                                      </p:cBhvr>
                                    </p:animEffect>
                                  </p:childTnLst>
                                </p:cTn>
                              </p:par>
                            </p:childTnLst>
                          </p:cTn>
                        </p:par>
                      </p:childTnLst>
                    </p:cTn>
                  </p:par>
                  <p:par>
                    <p:cTn id="88" fill="hold">
                      <p:stCondLst>
                        <p:cond delay="indefinite"/>
                      </p:stCondLst>
                      <p:childTnLst>
                        <p:par>
                          <p:cTn id="89" fill="hold">
                            <p:stCondLst>
                              <p:cond delay="0"/>
                            </p:stCondLst>
                            <p:childTnLst>
                              <p:par>
                                <p:cTn id="90" presetID="2" presetClass="entr" presetSubtype="8" fill="hold" nodeType="clickEffect">
                                  <p:stCondLst>
                                    <p:cond delay="0"/>
                                  </p:stCondLst>
                                  <p:childTnLst>
                                    <p:set>
                                      <p:cBhvr>
                                        <p:cTn id="91" dur="1" fill="hold">
                                          <p:stCondLst>
                                            <p:cond delay="0"/>
                                          </p:stCondLst>
                                        </p:cTn>
                                        <p:tgtEl>
                                          <p:spTgt spid="17460"/>
                                        </p:tgtEl>
                                        <p:attrNameLst>
                                          <p:attrName>style.visibility</p:attrName>
                                        </p:attrNameLst>
                                      </p:cBhvr>
                                      <p:to>
                                        <p:strVal val="visible"/>
                                      </p:to>
                                    </p:set>
                                    <p:anim calcmode="lin" valueType="num">
                                      <p:cBhvr additive="base">
                                        <p:cTn id="92" dur="500" fill="hold"/>
                                        <p:tgtEl>
                                          <p:spTgt spid="17460"/>
                                        </p:tgtEl>
                                        <p:attrNameLst>
                                          <p:attrName>ppt_x</p:attrName>
                                        </p:attrNameLst>
                                      </p:cBhvr>
                                      <p:tavLst>
                                        <p:tav tm="0">
                                          <p:val>
                                            <p:strVal val="0-#ppt_w/2"/>
                                          </p:val>
                                        </p:tav>
                                        <p:tav tm="100000">
                                          <p:val>
                                            <p:strVal val="#ppt_x"/>
                                          </p:val>
                                        </p:tav>
                                      </p:tavLst>
                                    </p:anim>
                                    <p:anim calcmode="lin" valueType="num">
                                      <p:cBhvr additive="base">
                                        <p:cTn id="93" dur="500" fill="hold"/>
                                        <p:tgtEl>
                                          <p:spTgt spid="17460"/>
                                        </p:tgtEl>
                                        <p:attrNameLst>
                                          <p:attrName>ppt_y</p:attrName>
                                        </p:attrNameLst>
                                      </p:cBhvr>
                                      <p:tavLst>
                                        <p:tav tm="0">
                                          <p:val>
                                            <p:strVal val="#ppt_y"/>
                                          </p:val>
                                        </p:tav>
                                        <p:tav tm="100000">
                                          <p:val>
                                            <p:strVal val="#ppt_y"/>
                                          </p:val>
                                        </p:tav>
                                      </p:tavLst>
                                    </p:anim>
                                  </p:childTnLst>
                                </p:cTn>
                              </p:par>
                            </p:childTnLst>
                          </p:cTn>
                        </p:par>
                        <p:par>
                          <p:cTn id="94" fill="hold">
                            <p:stCondLst>
                              <p:cond delay="500"/>
                            </p:stCondLst>
                            <p:childTnLst>
                              <p:par>
                                <p:cTn id="95" presetID="22" presetClass="entr" presetSubtype="8" fill="hold" grpId="0" nodeType="afterEffect">
                                  <p:stCondLst>
                                    <p:cond delay="0"/>
                                  </p:stCondLst>
                                  <p:childTnLst>
                                    <p:set>
                                      <p:cBhvr>
                                        <p:cTn id="96" dur="1" fill="hold">
                                          <p:stCondLst>
                                            <p:cond delay="0"/>
                                          </p:stCondLst>
                                        </p:cTn>
                                        <p:tgtEl>
                                          <p:spTgt spid="17461"/>
                                        </p:tgtEl>
                                        <p:attrNameLst>
                                          <p:attrName>style.visibility</p:attrName>
                                        </p:attrNameLst>
                                      </p:cBhvr>
                                      <p:to>
                                        <p:strVal val="visible"/>
                                      </p:to>
                                    </p:set>
                                    <p:animEffect transition="in" filter="wipe(left)">
                                      <p:cBhvr>
                                        <p:cTn id="97" dur="500"/>
                                        <p:tgtEl>
                                          <p:spTgt spid="17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39" grpId="0" animBg="1"/>
      <p:bldP spid="17442" grpId="0"/>
      <p:bldP spid="17444" grpId="0"/>
      <p:bldP spid="17446" grpId="0"/>
      <p:bldP spid="17448" grpId="0"/>
      <p:bldP spid="17450" grpId="0"/>
      <p:bldP spid="17455" grpId="0"/>
      <p:bldP spid="17456" grpId="0"/>
      <p:bldP spid="17457" grpId="0"/>
      <p:bldP spid="1746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52" name="Picture 20" descr="P0001019"/>
          <p:cNvPicPr>
            <a:picLocks noChangeAspect="1"/>
          </p:cNvPicPr>
          <p:nvPr/>
        </p:nvPicPr>
        <p:blipFill>
          <a:blip r:embed="rId1"/>
          <a:stretch>
            <a:fillRect/>
          </a:stretch>
        </p:blipFill>
        <p:spPr>
          <a:xfrm>
            <a:off x="-76200" y="1371600"/>
            <a:ext cx="9144000" cy="5562600"/>
          </a:xfrm>
          <a:prstGeom prst="rect">
            <a:avLst/>
          </a:prstGeom>
          <a:noFill/>
          <a:ln w="9525">
            <a:noFill/>
          </a:ln>
        </p:spPr>
      </p:pic>
      <p:sp>
        <p:nvSpPr>
          <p:cNvPr id="18461" name="AutoShape 29"/>
          <p:cNvSpPr/>
          <p:nvPr/>
        </p:nvSpPr>
        <p:spPr>
          <a:xfrm>
            <a:off x="2971800" y="1905000"/>
            <a:ext cx="2438400" cy="990600"/>
          </a:xfrm>
          <a:prstGeom prst="wedgeRoundRectCallout">
            <a:avLst>
              <a:gd name="adj1" fmla="val -57815"/>
              <a:gd name="adj2" fmla="val 62338"/>
              <a:gd name="adj3" fmla="val 16667"/>
            </a:avLst>
          </a:prstGeom>
          <a:gradFill rotWithShape="0">
            <a:gsLst>
              <a:gs pos="0">
                <a:srgbClr val="767647"/>
              </a:gs>
              <a:gs pos="50000">
                <a:srgbClr val="FFFF99"/>
              </a:gs>
              <a:gs pos="100000">
                <a:srgbClr val="767647"/>
              </a:gs>
            </a:gsLst>
            <a:lin ang="5400000" scaled="1"/>
            <a:tileRect/>
          </a:gradFill>
          <a:ln w="9525" cap="flat" cmpd="sng">
            <a:solidFill>
              <a:srgbClr val="990033"/>
            </a:solidFill>
            <a:prstDash val="solid"/>
            <a:miter/>
            <a:headEnd type="none" w="med" len="med"/>
            <a:tailEnd type="none" w="med" len="med"/>
          </a:ln>
        </p:spPr>
        <p:txBody>
          <a:bodyPr wrap="none" anchor="ctr" anchorCtr="0"/>
          <a:p>
            <a:pPr algn="ctr" eaLnBrk="1" hangingPunct="1"/>
            <a:r>
              <a:rPr lang="zh-CN" altLang="en-US" sz="2400" b="1" dirty="0">
                <a:solidFill>
                  <a:srgbClr val="990033"/>
                </a:solidFill>
                <a:latin typeface="Times New Roman" panose="02020603050405020304" pitchFamily="18" charset="0"/>
              </a:rPr>
              <a:t>连接线与点增多</a:t>
            </a:r>
            <a:endParaRPr lang="zh-CN" altLang="en-US" sz="2400" b="1" dirty="0">
              <a:solidFill>
                <a:srgbClr val="990033"/>
              </a:solidFill>
              <a:latin typeface="Times New Roman" panose="02020603050405020304" pitchFamily="18" charset="0"/>
            </a:endParaRPr>
          </a:p>
          <a:p>
            <a:pPr algn="ctr" eaLnBrk="1" hangingPunct="1"/>
            <a:r>
              <a:rPr lang="zh-CN" altLang="en-US" sz="2400" b="1" dirty="0">
                <a:solidFill>
                  <a:srgbClr val="990033"/>
                </a:solidFill>
                <a:latin typeface="Times New Roman" panose="02020603050405020304" pitchFamily="18" charset="0"/>
              </a:rPr>
              <a:t>抗干扰下降</a:t>
            </a:r>
            <a:endParaRPr lang="zh-CN" altLang="en-US" sz="2400" b="1" dirty="0">
              <a:solidFill>
                <a:srgbClr val="990033"/>
              </a:solidFill>
              <a:latin typeface="Times New Roman" panose="02020603050405020304" pitchFamily="18" charset="0"/>
            </a:endParaRPr>
          </a:p>
        </p:txBody>
      </p:sp>
      <p:grpSp>
        <p:nvGrpSpPr>
          <p:cNvPr id="18465" name="Group 33"/>
          <p:cNvGrpSpPr/>
          <p:nvPr/>
        </p:nvGrpSpPr>
        <p:grpSpPr>
          <a:xfrm>
            <a:off x="2133600" y="3048000"/>
            <a:ext cx="1143000" cy="76200"/>
            <a:chOff x="1344" y="1920"/>
            <a:chExt cx="720" cy="48"/>
          </a:xfrm>
        </p:grpSpPr>
        <p:grpSp>
          <p:nvGrpSpPr>
            <p:cNvPr id="5131" name="Group 32"/>
            <p:cNvGrpSpPr/>
            <p:nvPr/>
          </p:nvGrpSpPr>
          <p:grpSpPr>
            <a:xfrm>
              <a:off x="1344" y="1920"/>
              <a:ext cx="624" cy="48"/>
              <a:chOff x="1344" y="1920"/>
              <a:chExt cx="624" cy="48"/>
            </a:xfrm>
          </p:grpSpPr>
          <p:sp>
            <p:nvSpPr>
              <p:cNvPr id="5133" name="Line 25"/>
              <p:cNvSpPr/>
              <p:nvPr/>
            </p:nvSpPr>
            <p:spPr>
              <a:xfrm>
                <a:off x="1440" y="1920"/>
                <a:ext cx="528" cy="0"/>
              </a:xfrm>
              <a:prstGeom prst="line">
                <a:avLst/>
              </a:prstGeom>
              <a:ln w="57150" cap="flat" cmpd="sng">
                <a:solidFill>
                  <a:srgbClr val="FF0000"/>
                </a:solidFill>
                <a:prstDash val="solid"/>
                <a:headEnd type="none" w="med" len="med"/>
                <a:tailEnd type="none" w="med" len="med"/>
              </a:ln>
            </p:spPr>
          </p:sp>
          <p:sp>
            <p:nvSpPr>
              <p:cNvPr id="5134" name="Line 26"/>
              <p:cNvSpPr/>
              <p:nvPr/>
            </p:nvSpPr>
            <p:spPr>
              <a:xfrm flipV="1">
                <a:off x="1344" y="1920"/>
                <a:ext cx="96" cy="48"/>
              </a:xfrm>
              <a:prstGeom prst="line">
                <a:avLst/>
              </a:prstGeom>
              <a:ln w="57150" cap="flat" cmpd="sng">
                <a:solidFill>
                  <a:srgbClr val="FF0000"/>
                </a:solidFill>
                <a:prstDash val="solid"/>
                <a:headEnd type="none" w="med" len="med"/>
                <a:tailEnd type="none" w="med" len="med"/>
              </a:ln>
            </p:spPr>
          </p:sp>
        </p:grpSp>
        <p:sp>
          <p:nvSpPr>
            <p:cNvPr id="5132" name="Line 31"/>
            <p:cNvSpPr/>
            <p:nvPr/>
          </p:nvSpPr>
          <p:spPr>
            <a:xfrm flipH="1" flipV="1">
              <a:off x="1968" y="1920"/>
              <a:ext cx="96" cy="48"/>
            </a:xfrm>
            <a:prstGeom prst="line">
              <a:avLst/>
            </a:prstGeom>
            <a:ln w="57150" cap="flat" cmpd="sng">
              <a:solidFill>
                <a:srgbClr val="FF0000"/>
              </a:solidFill>
              <a:prstDash val="solid"/>
              <a:headEnd type="none" w="med" len="med"/>
              <a:tailEnd type="none" w="med" len="med"/>
            </a:ln>
          </p:spPr>
        </p:sp>
      </p:grpSp>
      <p:sp>
        <p:nvSpPr>
          <p:cNvPr id="18466" name="Text Box 34"/>
          <p:cNvSpPr txBox="1"/>
          <p:nvPr/>
        </p:nvSpPr>
        <p:spPr>
          <a:xfrm>
            <a:off x="546100" y="609600"/>
            <a:ext cx="4483100" cy="822325"/>
          </a:xfrm>
          <a:prstGeom prst="rect">
            <a:avLst/>
          </a:prstGeom>
          <a:noFill/>
          <a:ln w="9525">
            <a:noFill/>
          </a:ln>
        </p:spPr>
        <p:txBody>
          <a:bodyPr wrap="none">
            <a:spAutoFit/>
          </a:bodyPr>
          <a:p>
            <a:pPr eaLnBrk="1" hangingPunct="1"/>
            <a:r>
              <a:rPr lang="zh-CN" altLang="en-US" sz="2400" b="1" dirty="0">
                <a:latin typeface="Times New Roman" panose="02020603050405020304" pitchFamily="18" charset="0"/>
              </a:rPr>
              <a:t>传统的逻辑系统，当规模增大时</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   （</a:t>
            </a:r>
            <a:r>
              <a:rPr lang="en-US" altLang="en-US" sz="2400" b="1" dirty="0">
                <a:latin typeface="Times New Roman" panose="02020603050405020304" pitchFamily="18" charset="0"/>
              </a:rPr>
              <a:t>SSI MSI)</a:t>
            </a:r>
            <a:endParaRPr lang="en-US" altLang="zh-CN" sz="2400" b="1" dirty="0">
              <a:latin typeface="Times New Roman" panose="02020603050405020304" pitchFamily="18" charset="0"/>
            </a:endParaRPr>
          </a:p>
        </p:txBody>
      </p:sp>
      <p:sp>
        <p:nvSpPr>
          <p:cNvPr id="18467" name="AutoShape 35"/>
          <p:cNvSpPr/>
          <p:nvPr/>
        </p:nvSpPr>
        <p:spPr>
          <a:xfrm>
            <a:off x="5029200" y="152400"/>
            <a:ext cx="228600" cy="1447800"/>
          </a:xfrm>
          <a:prstGeom prst="leftBrace">
            <a:avLst>
              <a:gd name="adj1" fmla="val 52777"/>
              <a:gd name="adj2" fmla="val 50000"/>
            </a:avLst>
          </a:prstGeom>
          <a:noFill/>
          <a:ln w="38100" cap="flat" cmpd="sng">
            <a:solidFill>
              <a:schemeClr val="tx1"/>
            </a:solidFill>
            <a:prstDash val="solid"/>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18469" name="Text Box 37"/>
          <p:cNvSpPr txBox="1"/>
          <p:nvPr/>
        </p:nvSpPr>
        <p:spPr>
          <a:xfrm>
            <a:off x="5246688" y="76200"/>
            <a:ext cx="2924175" cy="457200"/>
          </a:xfrm>
          <a:prstGeom prst="rect">
            <a:avLst/>
          </a:prstGeom>
          <a:noFill/>
          <a:ln w="9525">
            <a:noFill/>
          </a:ln>
        </p:spPr>
        <p:txBody>
          <a:bodyPr wrap="none">
            <a:spAutoFit/>
          </a:bodyPr>
          <a:p>
            <a:pPr algn="ctr" eaLnBrk="1" hangingPunct="1"/>
            <a:r>
              <a:rPr lang="zh-CN" altLang="en-US" sz="2400" b="1" dirty="0">
                <a:latin typeface="Times New Roman" panose="02020603050405020304" pitchFamily="18" charset="0"/>
              </a:rPr>
              <a:t>焊点多，可靠性下降</a:t>
            </a:r>
            <a:endParaRPr lang="zh-CN" altLang="en-US" sz="2400" b="1" dirty="0">
              <a:latin typeface="Times New Roman" panose="02020603050405020304" pitchFamily="18" charset="0"/>
            </a:endParaRPr>
          </a:p>
        </p:txBody>
      </p:sp>
      <p:sp>
        <p:nvSpPr>
          <p:cNvPr id="18470" name="Text Box 38"/>
          <p:cNvSpPr txBox="1"/>
          <p:nvPr/>
        </p:nvSpPr>
        <p:spPr>
          <a:xfrm>
            <a:off x="5181600" y="457200"/>
            <a:ext cx="3257550" cy="457200"/>
          </a:xfrm>
          <a:prstGeom prst="rect">
            <a:avLst/>
          </a:prstGeom>
          <a:noFill/>
          <a:ln w="9525">
            <a:noFill/>
          </a:ln>
        </p:spPr>
        <p:txBody>
          <a:bodyPr wrap="none">
            <a:spAutoFit/>
          </a:bodyPr>
          <a:p>
            <a:pPr algn="ctr" eaLnBrk="1" hangingPunct="1"/>
            <a:r>
              <a:rPr lang="zh-CN" altLang="en-US" sz="2400" b="1" dirty="0">
                <a:latin typeface="Times New Roman" panose="02020603050405020304" pitchFamily="18" charset="0"/>
              </a:rPr>
              <a:t>系统规模增加成本升高</a:t>
            </a:r>
            <a:endParaRPr lang="zh-CN" altLang="en-US" sz="2400" b="1" dirty="0">
              <a:latin typeface="Times New Roman" panose="02020603050405020304" pitchFamily="18" charset="0"/>
            </a:endParaRPr>
          </a:p>
        </p:txBody>
      </p:sp>
      <p:sp>
        <p:nvSpPr>
          <p:cNvPr id="18471" name="Text Box 39"/>
          <p:cNvSpPr txBox="1"/>
          <p:nvPr/>
        </p:nvSpPr>
        <p:spPr>
          <a:xfrm>
            <a:off x="5181600" y="895350"/>
            <a:ext cx="1416050" cy="457200"/>
          </a:xfrm>
          <a:prstGeom prst="rect">
            <a:avLst/>
          </a:prstGeom>
          <a:noFill/>
          <a:ln w="9525">
            <a:noFill/>
          </a:ln>
        </p:spPr>
        <p:txBody>
          <a:bodyPr wrap="none">
            <a:spAutoFit/>
          </a:bodyPr>
          <a:p>
            <a:pPr algn="ctr" eaLnBrk="1" hangingPunct="1"/>
            <a:r>
              <a:rPr lang="zh-CN" altLang="en-US" sz="2400" b="1" dirty="0">
                <a:latin typeface="Times New Roman" panose="02020603050405020304" pitchFamily="18" charset="0"/>
              </a:rPr>
              <a:t>功耗增加</a:t>
            </a:r>
            <a:endParaRPr lang="zh-CN" altLang="en-US" sz="2400" b="1" dirty="0">
              <a:latin typeface="Times New Roman" panose="02020603050405020304" pitchFamily="18" charset="0"/>
            </a:endParaRPr>
          </a:p>
        </p:txBody>
      </p:sp>
      <p:sp>
        <p:nvSpPr>
          <p:cNvPr id="18472" name="Text Box 40"/>
          <p:cNvSpPr txBox="1"/>
          <p:nvPr/>
        </p:nvSpPr>
        <p:spPr>
          <a:xfrm>
            <a:off x="5194300" y="1295400"/>
            <a:ext cx="2025650" cy="457200"/>
          </a:xfrm>
          <a:prstGeom prst="rect">
            <a:avLst/>
          </a:prstGeom>
          <a:noFill/>
          <a:ln w="9525">
            <a:noFill/>
          </a:ln>
        </p:spPr>
        <p:txBody>
          <a:bodyPr wrap="none">
            <a:spAutoFit/>
          </a:bodyPr>
          <a:p>
            <a:pPr algn="ctr" eaLnBrk="1" hangingPunct="1"/>
            <a:r>
              <a:rPr lang="zh-CN" altLang="en-US" sz="2400" b="1" dirty="0">
                <a:latin typeface="Times New Roman" panose="02020603050405020304" pitchFamily="18" charset="0"/>
              </a:rPr>
              <a:t>占用空间扩大</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66"/>
                                        </p:tgtEl>
                                        <p:attrNameLst>
                                          <p:attrName>style.visibility</p:attrName>
                                        </p:attrNameLst>
                                      </p:cBhvr>
                                      <p:to>
                                        <p:strVal val="visible"/>
                                      </p:to>
                                    </p:set>
                                    <p:animEffect transition="in" filter="wipe(left)">
                                      <p:cBhvr>
                                        <p:cTn id="7" dur="500"/>
                                        <p:tgtEl>
                                          <p:spTgt spid="184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467"/>
                                        </p:tgtEl>
                                        <p:attrNameLst>
                                          <p:attrName>style.visibility</p:attrName>
                                        </p:attrNameLst>
                                      </p:cBhvr>
                                      <p:to>
                                        <p:strVal val="visible"/>
                                      </p:to>
                                    </p:set>
                                    <p:animEffect transition="in" filter="wipe(left)">
                                      <p:cBhvr>
                                        <p:cTn id="12" dur="500"/>
                                        <p:tgtEl>
                                          <p:spTgt spid="184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469"/>
                                        </p:tgtEl>
                                        <p:attrNameLst>
                                          <p:attrName>style.visibility</p:attrName>
                                        </p:attrNameLst>
                                      </p:cBhvr>
                                      <p:to>
                                        <p:strVal val="visible"/>
                                      </p:to>
                                    </p:set>
                                    <p:animEffect transition="in" filter="wipe(left)">
                                      <p:cBhvr>
                                        <p:cTn id="17" dur="500"/>
                                        <p:tgtEl>
                                          <p:spTgt spid="1846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470"/>
                                        </p:tgtEl>
                                        <p:attrNameLst>
                                          <p:attrName>style.visibility</p:attrName>
                                        </p:attrNameLst>
                                      </p:cBhvr>
                                      <p:to>
                                        <p:strVal val="visible"/>
                                      </p:to>
                                    </p:set>
                                    <p:animEffect transition="in" filter="wipe(left)">
                                      <p:cBhvr>
                                        <p:cTn id="22" dur="500"/>
                                        <p:tgtEl>
                                          <p:spTgt spid="184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471"/>
                                        </p:tgtEl>
                                        <p:attrNameLst>
                                          <p:attrName>style.visibility</p:attrName>
                                        </p:attrNameLst>
                                      </p:cBhvr>
                                      <p:to>
                                        <p:strVal val="visible"/>
                                      </p:to>
                                    </p:set>
                                    <p:animEffect transition="in" filter="wipe(left)">
                                      <p:cBhvr>
                                        <p:cTn id="27" dur="500"/>
                                        <p:tgtEl>
                                          <p:spTgt spid="1847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472"/>
                                        </p:tgtEl>
                                        <p:attrNameLst>
                                          <p:attrName>style.visibility</p:attrName>
                                        </p:attrNameLst>
                                      </p:cBhvr>
                                      <p:to>
                                        <p:strVal val="visible"/>
                                      </p:to>
                                    </p:set>
                                    <p:animEffect transition="in" filter="wipe(left)">
                                      <p:cBhvr>
                                        <p:cTn id="32" dur="500"/>
                                        <p:tgtEl>
                                          <p:spTgt spid="18472"/>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1845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18465"/>
                                        </p:tgtEl>
                                        <p:attrNameLst>
                                          <p:attrName>style.visibility</p:attrName>
                                        </p:attrNameLst>
                                      </p:cBhvr>
                                      <p:to>
                                        <p:strVal val="visible"/>
                                      </p:to>
                                    </p:set>
                                    <p:animEffect transition="in" filter="wipe(up)">
                                      <p:cBhvr>
                                        <p:cTn id="41" dur="500"/>
                                        <p:tgtEl>
                                          <p:spTgt spid="18465"/>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2" fill="hold" grpId="0" nodeType="clickEffect">
                                  <p:stCondLst>
                                    <p:cond delay="0"/>
                                  </p:stCondLst>
                                  <p:childTnLst>
                                    <p:set>
                                      <p:cBhvr>
                                        <p:cTn id="45" dur="1" fill="hold">
                                          <p:stCondLst>
                                            <p:cond delay="0"/>
                                          </p:stCondLst>
                                        </p:cTn>
                                        <p:tgtEl>
                                          <p:spTgt spid="18461"/>
                                        </p:tgtEl>
                                        <p:attrNameLst>
                                          <p:attrName>style.visibility</p:attrName>
                                        </p:attrNameLst>
                                      </p:cBhvr>
                                      <p:to>
                                        <p:strVal val="visible"/>
                                      </p:to>
                                    </p:set>
                                    <p:anim calcmode="lin" valueType="num">
                                      <p:cBhvr additive="base">
                                        <p:cTn id="46" dur="500" fill="hold"/>
                                        <p:tgtEl>
                                          <p:spTgt spid="18461"/>
                                        </p:tgtEl>
                                        <p:attrNameLst>
                                          <p:attrName>ppt_x</p:attrName>
                                        </p:attrNameLst>
                                      </p:cBhvr>
                                      <p:tavLst>
                                        <p:tav tm="0">
                                          <p:val>
                                            <p:strVal val="1+#ppt_w/2"/>
                                          </p:val>
                                        </p:tav>
                                        <p:tav tm="100000">
                                          <p:val>
                                            <p:strVal val="#ppt_x"/>
                                          </p:val>
                                        </p:tav>
                                      </p:tavLst>
                                    </p:anim>
                                    <p:anim calcmode="lin" valueType="num">
                                      <p:cBhvr additive="base">
                                        <p:cTn id="47" dur="500" fill="hold"/>
                                        <p:tgtEl>
                                          <p:spTgt spid="184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61" grpId="0" animBg="1"/>
      <p:bldP spid="18466" grpId="0"/>
      <p:bldP spid="18469" grpId="0"/>
      <p:bldP spid="18470" grpId="0"/>
      <p:bldP spid="18471" grpId="0"/>
      <p:bldP spid="1847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8" name="Text Box 1032"/>
          <p:cNvSpPr txBox="1"/>
          <p:nvPr/>
        </p:nvSpPr>
        <p:spPr>
          <a:xfrm>
            <a:off x="533400" y="3429000"/>
            <a:ext cx="1143000" cy="457200"/>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半定制</a:t>
            </a:r>
            <a:endParaRPr lang="zh-CN" altLang="en-US" sz="2400" b="1" dirty="0">
              <a:latin typeface="Times New Roman" panose="02020603050405020304" pitchFamily="18" charset="0"/>
            </a:endParaRPr>
          </a:p>
        </p:txBody>
      </p:sp>
      <p:sp>
        <p:nvSpPr>
          <p:cNvPr id="174089" name="Text Box 1033"/>
          <p:cNvSpPr txBox="1"/>
          <p:nvPr/>
        </p:nvSpPr>
        <p:spPr>
          <a:xfrm>
            <a:off x="1905000" y="3048000"/>
            <a:ext cx="6781800" cy="457200"/>
          </a:xfrm>
          <a:prstGeom prst="rect">
            <a:avLst/>
          </a:prstGeom>
          <a:noFill/>
          <a:ln w="9525">
            <a:noFill/>
          </a:ln>
        </p:spPr>
        <p:txBody>
          <a:bodyPr>
            <a:spAutoFit/>
          </a:bodyPr>
          <a:p>
            <a:pPr eaLnBrk="1" hangingPunct="1">
              <a:spcBef>
                <a:spcPct val="50000"/>
              </a:spcBef>
            </a:pPr>
            <a:r>
              <a:rPr lang="zh-CN" altLang="en-US" sz="2400" b="1" dirty="0">
                <a:solidFill>
                  <a:srgbClr val="FF0000"/>
                </a:solidFill>
                <a:latin typeface="Times New Roman" panose="02020603050405020304" pitchFamily="18" charset="0"/>
              </a:rPr>
              <a:t>标准单元</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Standard Cell</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174090" name="Text Box 1034"/>
          <p:cNvSpPr txBox="1"/>
          <p:nvPr/>
        </p:nvSpPr>
        <p:spPr>
          <a:xfrm>
            <a:off x="1828800" y="3581400"/>
            <a:ext cx="5029200" cy="457200"/>
          </a:xfrm>
          <a:prstGeom prst="rect">
            <a:avLst/>
          </a:prstGeom>
          <a:noFill/>
          <a:ln w="9525">
            <a:noFill/>
          </a:ln>
        </p:spPr>
        <p:txBody>
          <a:bodyPr>
            <a:spAutoFit/>
          </a:bodyPr>
          <a:p>
            <a:pPr eaLnBrk="1" hangingPunct="1">
              <a:spcBef>
                <a:spcPct val="50000"/>
              </a:spcBef>
            </a:pPr>
            <a:r>
              <a:rPr lang="zh-CN" altLang="en-US" sz="2400" b="1" dirty="0">
                <a:solidFill>
                  <a:srgbClr val="FF0000"/>
                </a:solidFill>
                <a:latin typeface="Times New Roman" panose="02020603050405020304" pitchFamily="18" charset="0"/>
              </a:rPr>
              <a:t>门阵列</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Gate Array</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174091" name="Text Box 1035"/>
          <p:cNvSpPr txBox="1"/>
          <p:nvPr/>
        </p:nvSpPr>
        <p:spPr>
          <a:xfrm>
            <a:off x="1828800" y="4114800"/>
            <a:ext cx="8229600" cy="457200"/>
          </a:xfrm>
          <a:prstGeom prst="rect">
            <a:avLst/>
          </a:prstGeom>
          <a:noFill/>
          <a:ln w="9525">
            <a:noFill/>
          </a:ln>
        </p:spPr>
        <p:txBody>
          <a:bodyPr>
            <a:spAutoFit/>
          </a:bodyPr>
          <a:p>
            <a:pPr eaLnBrk="1" hangingPunct="1">
              <a:spcBef>
                <a:spcPct val="50000"/>
              </a:spcBef>
            </a:pPr>
            <a:r>
              <a:rPr lang="zh-CN" altLang="en-US" sz="2400" b="1" dirty="0">
                <a:solidFill>
                  <a:srgbClr val="FF0000"/>
                </a:solidFill>
                <a:latin typeface="Times New Roman" panose="02020603050405020304" pitchFamily="18" charset="0"/>
              </a:rPr>
              <a:t>可编程逻辑器件</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Programmable Logic Device</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PLD</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174092" name="Text Box 1036"/>
          <p:cNvSpPr txBox="1"/>
          <p:nvPr/>
        </p:nvSpPr>
        <p:spPr>
          <a:xfrm>
            <a:off x="762000" y="5197475"/>
            <a:ext cx="8077200" cy="822325"/>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近年来</a:t>
            </a:r>
            <a:r>
              <a:rPr lang="en-US" altLang="zh-CN" sz="2400" b="1" dirty="0">
                <a:latin typeface="Times New Roman" panose="02020603050405020304" pitchFamily="18" charset="0"/>
              </a:rPr>
              <a:t>PLD</a:t>
            </a:r>
            <a:r>
              <a:rPr lang="zh-CN" altLang="en-US" sz="2400" b="1" dirty="0">
                <a:latin typeface="Times New Roman" panose="02020603050405020304" pitchFamily="18" charset="0"/>
              </a:rPr>
              <a:t>从芯片密度、速度等方面发展迅速，已成为一个重要分支。</a:t>
            </a:r>
            <a:endParaRPr lang="zh-CN" altLang="en-US" sz="2400" b="1" dirty="0">
              <a:latin typeface="Times New Roman" panose="02020603050405020304" pitchFamily="18" charset="0"/>
            </a:endParaRPr>
          </a:p>
        </p:txBody>
      </p:sp>
      <p:grpSp>
        <p:nvGrpSpPr>
          <p:cNvPr id="174097" name="Group 1041"/>
          <p:cNvGrpSpPr/>
          <p:nvPr/>
        </p:nvGrpSpPr>
        <p:grpSpPr>
          <a:xfrm>
            <a:off x="1905000" y="4572000"/>
            <a:ext cx="2090738" cy="1908175"/>
            <a:chOff x="3984" y="2016"/>
            <a:chExt cx="1317" cy="1202"/>
          </a:xfrm>
        </p:grpSpPr>
        <p:pic>
          <p:nvPicPr>
            <p:cNvPr id="6163" name="Picture 1039" descr="MAX1"/>
            <p:cNvPicPr>
              <a:picLocks noChangeAspect="1"/>
            </p:cNvPicPr>
            <p:nvPr/>
          </p:nvPicPr>
          <p:blipFill>
            <a:blip r:embed="rId1"/>
            <a:stretch>
              <a:fillRect/>
            </a:stretch>
          </p:blipFill>
          <p:spPr>
            <a:xfrm>
              <a:off x="3984" y="2016"/>
              <a:ext cx="1317" cy="1202"/>
            </a:xfrm>
            <a:prstGeom prst="rect">
              <a:avLst/>
            </a:prstGeom>
            <a:noFill/>
            <a:ln w="9525">
              <a:noFill/>
            </a:ln>
          </p:spPr>
        </p:pic>
        <p:sp>
          <p:nvSpPr>
            <p:cNvPr id="6164" name="WordArt 1040"/>
            <p:cNvSpPr>
              <a:spLocks noTextEdit="1"/>
            </p:cNvSpPr>
            <p:nvPr/>
          </p:nvSpPr>
          <p:spPr>
            <a:xfrm>
              <a:off x="4080" y="2352"/>
              <a:ext cx="1152" cy="288"/>
            </a:xfrm>
            <a:prstGeom prst="rect">
              <a:avLst/>
            </a:prstGeom>
          </p:spPr>
          <p:txBody>
            <a:bodyPr wrap="none" fromWordArt="1">
              <a:prstTxWarp prst="textPlain">
                <a:avLst>
                  <a:gd name="adj" fmla="val 50000"/>
                </a:avLst>
              </a:prstTxWarp>
              <a:normAutofit/>
            </a:bodyPr>
            <a:p>
              <a:pPr algn="ctr"/>
              <a:r>
                <a:rPr lang="zh-CN" altLang="en-US" sz="3600" i="1">
                  <a:ln w="9525" cap="flat" cmpd="sng">
                    <a:solidFill>
                      <a:schemeClr val="bg1"/>
                    </a:solidFill>
                    <a:prstDash val="solid"/>
                    <a:headEnd type="none" w="med" len="med"/>
                    <a:tailEnd type="none" w="med" len="med"/>
                  </a:ln>
                  <a:solidFill>
                    <a:srgbClr val="FFFFFF"/>
                  </a:solidFill>
                  <a:effectLst>
                    <a:outerShdw dist="35921" dir="2699999" algn="ctr" rotWithShape="0">
                      <a:srgbClr val="808080"/>
                    </a:outerShdw>
                  </a:effectLst>
                  <a:latin typeface="宋体" panose="02010600030101010101" pitchFamily="2" charset="-122"/>
                  <a:ea typeface="宋体" panose="02010600030101010101" pitchFamily="2" charset="-122"/>
                </a:rPr>
                <a:t>MAX7128S</a:t>
              </a:r>
              <a:endParaRPr lang="zh-CN" altLang="en-US" sz="3600" i="1">
                <a:ln w="9525" cap="flat" cmpd="sng">
                  <a:solidFill>
                    <a:schemeClr val="bg1"/>
                  </a:solidFill>
                  <a:prstDash val="solid"/>
                  <a:headEnd type="none" w="med" len="med"/>
                  <a:tailEnd type="none" w="med" len="med"/>
                </a:ln>
                <a:solidFill>
                  <a:srgbClr val="FFFFFF"/>
                </a:solidFill>
                <a:effectLst>
                  <a:outerShdw dist="35921" dir="2699999" algn="ctr" rotWithShape="0">
                    <a:srgbClr val="808080"/>
                  </a:outerShdw>
                </a:effectLst>
                <a:latin typeface="宋体" panose="02010600030101010101" pitchFamily="2" charset="-122"/>
                <a:ea typeface="宋体" panose="02010600030101010101" pitchFamily="2" charset="-122"/>
              </a:endParaRPr>
            </a:p>
          </p:txBody>
        </p:sp>
      </p:grpSp>
      <p:sp>
        <p:nvSpPr>
          <p:cNvPr id="174098" name="Text Box 1042"/>
          <p:cNvSpPr txBox="1"/>
          <p:nvPr/>
        </p:nvSpPr>
        <p:spPr>
          <a:xfrm>
            <a:off x="4267200" y="457200"/>
            <a:ext cx="3962400" cy="457200"/>
          </a:xfrm>
          <a:prstGeom prst="rect">
            <a:avLst/>
          </a:prstGeom>
          <a:solidFill>
            <a:srgbClr val="FFFF99"/>
          </a:solidFill>
          <a:ln w="9525">
            <a:noFill/>
          </a:ln>
        </p:spPr>
        <p:txBody>
          <a:bodyPr wrap="none">
            <a:spAutoFit/>
          </a:bodyPr>
          <a:p>
            <a:pPr algn="ctr" eaLnBrk="1" hangingPunct="1"/>
            <a:r>
              <a:rPr lang="zh-CN" altLang="en-US" sz="2400" b="1" dirty="0">
                <a:solidFill>
                  <a:srgbClr val="990033"/>
                </a:solidFill>
                <a:latin typeface="Times New Roman" panose="02020603050405020304" pitchFamily="18" charset="0"/>
              </a:rPr>
              <a:t>专用集成电路（简称</a:t>
            </a:r>
            <a:r>
              <a:rPr lang="en-US" altLang="zh-CN" sz="2400" b="1" dirty="0">
                <a:solidFill>
                  <a:srgbClr val="990033"/>
                </a:solidFill>
                <a:latin typeface="Times New Roman" panose="02020603050405020304" pitchFamily="18" charset="0"/>
              </a:rPr>
              <a:t>ASIC</a:t>
            </a:r>
            <a:r>
              <a:rPr lang="zh-CN" altLang="en-US" sz="2400" b="1" dirty="0">
                <a:solidFill>
                  <a:srgbClr val="990033"/>
                </a:solidFill>
                <a:latin typeface="Times New Roman" panose="02020603050405020304" pitchFamily="18" charset="0"/>
              </a:rPr>
              <a:t>）</a:t>
            </a:r>
            <a:endParaRPr lang="zh-CN" altLang="en-US" sz="2400" b="1" dirty="0">
              <a:solidFill>
                <a:srgbClr val="990033"/>
              </a:solidFill>
              <a:latin typeface="Times New Roman" panose="02020603050405020304" pitchFamily="18" charset="0"/>
            </a:endParaRPr>
          </a:p>
        </p:txBody>
      </p:sp>
      <p:sp>
        <p:nvSpPr>
          <p:cNvPr id="174100" name="Text Box 1044"/>
          <p:cNvSpPr txBox="1"/>
          <p:nvPr/>
        </p:nvSpPr>
        <p:spPr>
          <a:xfrm>
            <a:off x="644525" y="457200"/>
            <a:ext cx="2936875" cy="457200"/>
          </a:xfrm>
          <a:prstGeom prst="rect">
            <a:avLst/>
          </a:prstGeom>
          <a:solidFill>
            <a:srgbClr val="FFFF99"/>
          </a:solidFill>
          <a:ln w="9525">
            <a:noFill/>
          </a:ln>
        </p:spPr>
        <p:txBody>
          <a:bodyPr wrap="none">
            <a:spAutoFit/>
          </a:bodyPr>
          <a:p>
            <a:pPr algn="ctr" eaLnBrk="1" hangingPunct="1"/>
            <a:r>
              <a:rPr lang="zh-CN" altLang="en-US" sz="2400" b="1" dirty="0">
                <a:solidFill>
                  <a:srgbClr val="990033"/>
                </a:solidFill>
                <a:latin typeface="Times New Roman" panose="02020603050405020304" pitchFamily="18" charset="0"/>
              </a:rPr>
              <a:t>系统放在一个芯片内</a:t>
            </a:r>
            <a:endParaRPr lang="zh-CN" altLang="en-US" sz="2400" b="1" dirty="0">
              <a:solidFill>
                <a:srgbClr val="990033"/>
              </a:solidFill>
              <a:latin typeface="Times New Roman" panose="02020603050405020304" pitchFamily="18" charset="0"/>
            </a:endParaRPr>
          </a:p>
        </p:txBody>
      </p:sp>
      <p:sp>
        <p:nvSpPr>
          <p:cNvPr id="174101" name="Line 1045"/>
          <p:cNvSpPr/>
          <p:nvPr/>
        </p:nvSpPr>
        <p:spPr>
          <a:xfrm>
            <a:off x="3657600" y="762000"/>
            <a:ext cx="533400" cy="0"/>
          </a:xfrm>
          <a:prstGeom prst="line">
            <a:avLst/>
          </a:prstGeom>
          <a:ln w="76200" cap="flat" cmpd="sng">
            <a:solidFill>
              <a:srgbClr val="FF3300"/>
            </a:solidFill>
            <a:prstDash val="solid"/>
            <a:headEnd type="none" w="med" len="med"/>
            <a:tailEnd type="triangle" w="med" len="med"/>
          </a:ln>
        </p:spPr>
      </p:sp>
      <p:sp>
        <p:nvSpPr>
          <p:cNvPr id="174102" name="AutoShape 1046"/>
          <p:cNvSpPr/>
          <p:nvPr/>
        </p:nvSpPr>
        <p:spPr>
          <a:xfrm>
            <a:off x="7239000" y="1143000"/>
            <a:ext cx="1447800" cy="838200"/>
          </a:xfrm>
          <a:prstGeom prst="wedgeRoundRectCallout">
            <a:avLst>
              <a:gd name="adj1" fmla="val -51315"/>
              <a:gd name="adj2" fmla="val -87690"/>
              <a:gd name="adj3" fmla="val 16667"/>
            </a:avLst>
          </a:prstGeom>
          <a:gradFill rotWithShape="0">
            <a:gsLst>
              <a:gs pos="0">
                <a:srgbClr val="767647"/>
              </a:gs>
              <a:gs pos="50000">
                <a:srgbClr val="FFFF99"/>
              </a:gs>
              <a:gs pos="100000">
                <a:srgbClr val="767647"/>
              </a:gs>
            </a:gsLst>
            <a:lin ang="5400000" scaled="1"/>
            <a:tileRect/>
          </a:gradFill>
          <a:ln w="9525" cap="flat" cmpd="sng">
            <a:solidFill>
              <a:schemeClr val="tx1"/>
            </a:solidFill>
            <a:prstDash val="solid"/>
            <a:miter/>
            <a:headEnd type="none" w="med" len="med"/>
            <a:tailEnd type="none" w="med" len="med"/>
          </a:ln>
        </p:spPr>
        <p:txBody>
          <a:bodyPr wrap="none" anchor="ctr" anchorCtr="0"/>
          <a:p>
            <a:pPr algn="just" eaLnBrk="1" hangingPunct="1"/>
            <a:r>
              <a:rPr lang="zh-CN" altLang="en-US" sz="2400" b="1" dirty="0">
                <a:solidFill>
                  <a:srgbClr val="990033"/>
                </a:solidFill>
                <a:latin typeface="Times New Roman" panose="02020603050405020304" pitchFamily="18" charset="0"/>
              </a:rPr>
              <a:t>用户定制</a:t>
            </a:r>
            <a:endParaRPr lang="zh-CN" altLang="en-US" sz="2400" b="1" dirty="0">
              <a:solidFill>
                <a:srgbClr val="990033"/>
              </a:solidFill>
              <a:latin typeface="Times New Roman" panose="02020603050405020304" pitchFamily="18" charset="0"/>
            </a:endParaRPr>
          </a:p>
          <a:p>
            <a:pPr algn="just" eaLnBrk="1" hangingPunct="1"/>
            <a:r>
              <a:rPr lang="zh-CN" altLang="en-US" sz="2400" b="1" dirty="0">
                <a:solidFill>
                  <a:srgbClr val="990033"/>
                </a:solidFill>
                <a:latin typeface="Times New Roman" panose="02020603050405020304" pitchFamily="18" charset="0"/>
              </a:rPr>
              <a:t>集成电路</a:t>
            </a:r>
            <a:endParaRPr lang="zh-CN" altLang="en-US" sz="2400" b="1" dirty="0">
              <a:solidFill>
                <a:srgbClr val="990033"/>
              </a:solidFill>
              <a:latin typeface="Times New Roman" panose="02020603050405020304" pitchFamily="18" charset="0"/>
            </a:endParaRPr>
          </a:p>
        </p:txBody>
      </p:sp>
      <p:sp>
        <p:nvSpPr>
          <p:cNvPr id="174103" name="Oval 1047"/>
          <p:cNvSpPr/>
          <p:nvPr/>
        </p:nvSpPr>
        <p:spPr>
          <a:xfrm>
            <a:off x="609600" y="1981200"/>
            <a:ext cx="1066800" cy="457200"/>
          </a:xfrm>
          <a:prstGeom prst="ellipse">
            <a:avLst/>
          </a:prstGeom>
          <a:solidFill>
            <a:srgbClr val="FFFF99"/>
          </a:solidFill>
          <a:ln w="9525">
            <a:noFill/>
          </a:ln>
        </p:spPr>
        <p:txBody>
          <a:bodyPr wrap="none" anchor="ctr" anchorCtr="0"/>
          <a:p>
            <a:pPr algn="ctr" eaLnBrk="1" hangingPunct="1"/>
            <a:r>
              <a:rPr lang="en-US" altLang="zh-CN" sz="2400" b="1" dirty="0">
                <a:solidFill>
                  <a:srgbClr val="990033"/>
                </a:solidFill>
                <a:latin typeface="Times New Roman" panose="02020603050405020304" pitchFamily="18" charset="0"/>
              </a:rPr>
              <a:t>ASIC</a:t>
            </a:r>
            <a:endParaRPr lang="en-US" altLang="zh-CN" sz="2400" b="1" dirty="0">
              <a:solidFill>
                <a:srgbClr val="990033"/>
              </a:solidFill>
              <a:latin typeface="Times New Roman" panose="02020603050405020304" pitchFamily="18" charset="0"/>
            </a:endParaRPr>
          </a:p>
        </p:txBody>
      </p:sp>
      <p:sp>
        <p:nvSpPr>
          <p:cNvPr id="174105" name="AutoShape 1049"/>
          <p:cNvSpPr/>
          <p:nvPr/>
        </p:nvSpPr>
        <p:spPr>
          <a:xfrm>
            <a:off x="1828800" y="1752600"/>
            <a:ext cx="228600" cy="990600"/>
          </a:xfrm>
          <a:prstGeom prst="leftBrace">
            <a:avLst>
              <a:gd name="adj1" fmla="val 36111"/>
              <a:gd name="adj2" fmla="val 50000"/>
            </a:avLst>
          </a:prstGeom>
          <a:noFill/>
          <a:ln w="38100" cap="flat" cmpd="sng">
            <a:solidFill>
              <a:schemeClr val="tx1"/>
            </a:solidFill>
            <a:prstDash val="solid"/>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174106" name="Text Box 1050"/>
          <p:cNvSpPr txBox="1"/>
          <p:nvPr/>
        </p:nvSpPr>
        <p:spPr>
          <a:xfrm>
            <a:off x="2082800" y="1600200"/>
            <a:ext cx="4394200" cy="457200"/>
          </a:xfrm>
          <a:prstGeom prst="rect">
            <a:avLst/>
          </a:prstGeom>
          <a:noFill/>
          <a:ln w="9525">
            <a:noFill/>
          </a:ln>
        </p:spPr>
        <p:txBody>
          <a:bodyPr wrap="none">
            <a:spAutoFit/>
          </a:bodyPr>
          <a:p>
            <a:pPr algn="ctr" eaLnBrk="1" hangingPunct="1"/>
            <a:r>
              <a:rPr lang="zh-CN" altLang="en-US" sz="2400" b="1" dirty="0">
                <a:latin typeface="Times New Roman" panose="02020603050405020304" pitchFamily="18" charset="0"/>
              </a:rPr>
              <a:t>全定制（</a:t>
            </a:r>
            <a:r>
              <a:rPr lang="en-US" altLang="zh-CN" sz="2400" b="1" dirty="0">
                <a:latin typeface="Times New Roman" panose="02020603050405020304" pitchFamily="18" charset="0"/>
              </a:rPr>
              <a:t>Full Custom Design IC</a:t>
            </a:r>
            <a:endParaRPr lang="en-US" altLang="zh-CN" sz="2400" b="1" dirty="0">
              <a:latin typeface="Times New Roman" panose="02020603050405020304" pitchFamily="18" charset="0"/>
            </a:endParaRPr>
          </a:p>
        </p:txBody>
      </p:sp>
      <p:sp>
        <p:nvSpPr>
          <p:cNvPr id="174107" name="AutoShape 1051"/>
          <p:cNvSpPr/>
          <p:nvPr/>
        </p:nvSpPr>
        <p:spPr>
          <a:xfrm>
            <a:off x="2819400" y="228600"/>
            <a:ext cx="2209800" cy="1295400"/>
          </a:xfrm>
          <a:prstGeom prst="wedgeRoundRectCallout">
            <a:avLst>
              <a:gd name="adj1" fmla="val -48921"/>
              <a:gd name="adj2" fmla="val 60537"/>
              <a:gd name="adj3" fmla="val 16667"/>
            </a:avLst>
          </a:prstGeom>
          <a:gradFill rotWithShape="0">
            <a:gsLst>
              <a:gs pos="0">
                <a:srgbClr val="767647"/>
              </a:gs>
              <a:gs pos="50000">
                <a:srgbClr val="FFFF99"/>
              </a:gs>
              <a:gs pos="100000">
                <a:srgbClr val="767647"/>
              </a:gs>
            </a:gsLst>
            <a:lin ang="5400000" scaled="1"/>
            <a:tileRect/>
          </a:gradFill>
          <a:ln w="9525" cap="flat" cmpd="sng">
            <a:solidFill>
              <a:schemeClr val="tx1"/>
            </a:solidFill>
            <a:prstDash val="solid"/>
            <a:miter/>
            <a:headEnd type="none" w="med" len="med"/>
            <a:tailEnd type="none" w="med" len="med"/>
          </a:ln>
        </p:spPr>
        <p:txBody>
          <a:bodyPr wrap="none" anchor="ctr" anchorCtr="0"/>
          <a:p>
            <a:pPr algn="just" eaLnBrk="1" hangingPunct="1">
              <a:spcBef>
                <a:spcPct val="50000"/>
              </a:spcBef>
            </a:pPr>
            <a:r>
              <a:rPr lang="zh-CN" altLang="en-US" sz="2400" b="1" dirty="0">
                <a:solidFill>
                  <a:srgbClr val="990033"/>
                </a:solidFill>
                <a:latin typeface="Times New Roman" panose="02020603050405020304" pitchFamily="18" charset="0"/>
              </a:rPr>
              <a:t>厂商直接做出。</a:t>
            </a:r>
            <a:endParaRPr lang="zh-CN" altLang="en-US" sz="2400" b="1" dirty="0">
              <a:solidFill>
                <a:srgbClr val="990033"/>
              </a:solidFill>
              <a:latin typeface="Times New Roman" panose="02020603050405020304" pitchFamily="18" charset="0"/>
            </a:endParaRPr>
          </a:p>
          <a:p>
            <a:pPr algn="just" eaLnBrk="1" hangingPunct="1">
              <a:spcBef>
                <a:spcPct val="50000"/>
              </a:spcBef>
            </a:pPr>
            <a:r>
              <a:rPr lang="zh-CN" altLang="en-US" sz="2400" b="1" dirty="0">
                <a:solidFill>
                  <a:srgbClr val="990033"/>
                </a:solidFill>
                <a:latin typeface="Times New Roman" panose="02020603050405020304" pitchFamily="18" charset="0"/>
              </a:rPr>
              <a:t>如：表芯</a:t>
            </a:r>
            <a:endParaRPr lang="zh-CN" altLang="en-US" b="1" dirty="0">
              <a:solidFill>
                <a:srgbClr val="990033"/>
              </a:solidFill>
              <a:latin typeface="Times New Roman" panose="02020603050405020304" pitchFamily="18" charset="0"/>
            </a:endParaRPr>
          </a:p>
        </p:txBody>
      </p:sp>
      <p:sp>
        <p:nvSpPr>
          <p:cNvPr id="174110" name="AutoShape 1054"/>
          <p:cNvSpPr/>
          <p:nvPr/>
        </p:nvSpPr>
        <p:spPr>
          <a:xfrm>
            <a:off x="2819400" y="1524000"/>
            <a:ext cx="2438400" cy="762000"/>
          </a:xfrm>
          <a:prstGeom prst="wedgeRoundRectCallout">
            <a:avLst>
              <a:gd name="adj1" fmla="val -49023"/>
              <a:gd name="adj2" fmla="val 67917"/>
              <a:gd name="adj3" fmla="val 16667"/>
            </a:avLst>
          </a:prstGeom>
          <a:gradFill rotWithShape="0">
            <a:gsLst>
              <a:gs pos="0">
                <a:srgbClr val="767647"/>
              </a:gs>
              <a:gs pos="50000">
                <a:srgbClr val="FFFF99"/>
              </a:gs>
              <a:gs pos="100000">
                <a:srgbClr val="767647"/>
              </a:gs>
            </a:gsLst>
            <a:lin ang="5400000" scaled="1"/>
            <a:tileRect/>
          </a:gradFill>
          <a:ln w="9525" cap="flat" cmpd="sng">
            <a:solidFill>
              <a:schemeClr val="tx1"/>
            </a:solidFill>
            <a:prstDash val="solid"/>
            <a:miter/>
            <a:headEnd type="none" w="med" len="med"/>
            <a:tailEnd type="none" w="med" len="med"/>
          </a:ln>
        </p:spPr>
        <p:txBody>
          <a:bodyPr wrap="none" anchor="ctr" anchorCtr="0"/>
          <a:p>
            <a:pPr algn="just" eaLnBrk="1" hangingPunct="1">
              <a:spcBef>
                <a:spcPct val="50000"/>
              </a:spcBef>
            </a:pPr>
            <a:r>
              <a:rPr lang="zh-CN" altLang="en-US" sz="2400" b="1" dirty="0">
                <a:solidFill>
                  <a:srgbClr val="990033"/>
                </a:solidFill>
                <a:latin typeface="Times New Roman" panose="02020603050405020304" pitchFamily="18" charset="0"/>
              </a:rPr>
              <a:t>厂商做出半成品</a:t>
            </a:r>
            <a:endParaRPr lang="zh-CN" altLang="en-US" sz="2400" b="1" dirty="0">
              <a:solidFill>
                <a:srgbClr val="990033"/>
              </a:solidFill>
              <a:latin typeface="Times New Roman" panose="02020603050405020304" pitchFamily="18" charset="0"/>
            </a:endParaRPr>
          </a:p>
        </p:txBody>
      </p:sp>
      <p:sp>
        <p:nvSpPr>
          <p:cNvPr id="174111" name="AutoShape 1055"/>
          <p:cNvSpPr/>
          <p:nvPr/>
        </p:nvSpPr>
        <p:spPr>
          <a:xfrm>
            <a:off x="1600200" y="3200400"/>
            <a:ext cx="304800" cy="1066800"/>
          </a:xfrm>
          <a:prstGeom prst="leftBrace">
            <a:avLst>
              <a:gd name="adj1" fmla="val 29166"/>
              <a:gd name="adj2" fmla="val 50000"/>
            </a:avLst>
          </a:prstGeom>
          <a:noFill/>
          <a:ln w="38100" cap="flat" cmpd="sng">
            <a:solidFill>
              <a:schemeClr val="tx1"/>
            </a:solidFill>
            <a:prstDash val="solid"/>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174112" name="Text Box 1056"/>
          <p:cNvSpPr txBox="1"/>
          <p:nvPr/>
        </p:nvSpPr>
        <p:spPr>
          <a:xfrm>
            <a:off x="2057400" y="2438400"/>
            <a:ext cx="4840288" cy="457200"/>
          </a:xfrm>
          <a:prstGeom prst="rect">
            <a:avLst/>
          </a:prstGeom>
          <a:noFill/>
          <a:ln w="9525">
            <a:noFill/>
          </a:ln>
        </p:spPr>
        <p:txBody>
          <a:bodyPr wrap="none">
            <a:spAutoFit/>
          </a:bodyPr>
          <a:p>
            <a:pPr algn="ctr" eaLnBrk="1" hangingPunct="1"/>
            <a:r>
              <a:rPr lang="zh-CN" altLang="en-US" sz="2400" b="1" dirty="0">
                <a:latin typeface="Times New Roman" panose="02020603050405020304" pitchFamily="18" charset="0"/>
              </a:rPr>
              <a:t>半定制（</a:t>
            </a:r>
            <a:r>
              <a:rPr lang="en-US" altLang="zh-CN" sz="2400" b="1" dirty="0">
                <a:latin typeface="Times New Roman" panose="02020603050405020304" pitchFamily="18" charset="0"/>
              </a:rPr>
              <a:t>Semi-Custom Design IC</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00"/>
                                        </p:tgtEl>
                                        <p:attrNameLst>
                                          <p:attrName>style.visibility</p:attrName>
                                        </p:attrNameLst>
                                      </p:cBhvr>
                                      <p:to>
                                        <p:strVal val="visible"/>
                                      </p:to>
                                    </p:set>
                                    <p:animEffect transition="in" filter="wipe(left)">
                                      <p:cBhvr>
                                        <p:cTn id="7" dur="500"/>
                                        <p:tgtEl>
                                          <p:spTgt spid="17410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4101"/>
                                        </p:tgtEl>
                                        <p:attrNameLst>
                                          <p:attrName>style.visibility</p:attrName>
                                        </p:attrNameLst>
                                      </p:cBhvr>
                                      <p:to>
                                        <p:strVal val="visible"/>
                                      </p:to>
                                    </p:set>
                                    <p:animEffect transition="in" filter="wipe(left)">
                                      <p:cBhvr>
                                        <p:cTn id="12" dur="500"/>
                                        <p:tgtEl>
                                          <p:spTgt spid="17410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098"/>
                                        </p:tgtEl>
                                        <p:attrNameLst>
                                          <p:attrName>style.visibility</p:attrName>
                                        </p:attrNameLst>
                                      </p:cBhvr>
                                      <p:to>
                                        <p:strVal val="visible"/>
                                      </p:to>
                                    </p:set>
                                    <p:animEffect transition="in" filter="wipe(left)">
                                      <p:cBhvr>
                                        <p:cTn id="17" dur="500"/>
                                        <p:tgtEl>
                                          <p:spTgt spid="17409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74102"/>
                                        </p:tgtEl>
                                        <p:attrNameLst>
                                          <p:attrName>style.visibility</p:attrName>
                                        </p:attrNameLst>
                                      </p:cBhvr>
                                      <p:to>
                                        <p:strVal val="visible"/>
                                      </p:to>
                                    </p:set>
                                    <p:anim calcmode="lin" valueType="num">
                                      <p:cBhvr additive="base">
                                        <p:cTn id="22" dur="500" fill="hold"/>
                                        <p:tgtEl>
                                          <p:spTgt spid="174102"/>
                                        </p:tgtEl>
                                        <p:attrNameLst>
                                          <p:attrName>ppt_x</p:attrName>
                                        </p:attrNameLst>
                                      </p:cBhvr>
                                      <p:tavLst>
                                        <p:tav tm="0">
                                          <p:val>
                                            <p:strVal val="#ppt_x"/>
                                          </p:val>
                                        </p:tav>
                                        <p:tav tm="100000">
                                          <p:val>
                                            <p:strVal val="#ppt_x"/>
                                          </p:val>
                                        </p:tav>
                                      </p:tavLst>
                                    </p:anim>
                                    <p:anim calcmode="lin" valueType="num">
                                      <p:cBhvr additive="base">
                                        <p:cTn id="23" dur="500" fill="hold"/>
                                        <p:tgtEl>
                                          <p:spTgt spid="174102"/>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74102"/>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4103"/>
                                        </p:tgtEl>
                                        <p:attrNameLst>
                                          <p:attrName>style.visibility</p:attrName>
                                        </p:attrNameLst>
                                      </p:cBhvr>
                                      <p:to>
                                        <p:strVal val="visible"/>
                                      </p:to>
                                    </p:set>
                                    <p:animEffect transition="in" filter="wipe(left)">
                                      <p:cBhvr>
                                        <p:cTn id="28" dur="500"/>
                                        <p:tgtEl>
                                          <p:spTgt spid="17410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74105"/>
                                        </p:tgtEl>
                                        <p:attrNameLst>
                                          <p:attrName>style.visibility</p:attrName>
                                        </p:attrNameLst>
                                      </p:cBhvr>
                                      <p:to>
                                        <p:strVal val="visible"/>
                                      </p:to>
                                    </p:set>
                                    <p:animEffect transition="in" filter="wipe(left)">
                                      <p:cBhvr>
                                        <p:cTn id="33" dur="500"/>
                                        <p:tgtEl>
                                          <p:spTgt spid="17410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74106"/>
                                        </p:tgtEl>
                                        <p:attrNameLst>
                                          <p:attrName>style.visibility</p:attrName>
                                        </p:attrNameLst>
                                      </p:cBhvr>
                                      <p:to>
                                        <p:strVal val="visible"/>
                                      </p:to>
                                    </p:set>
                                    <p:animEffect transition="in" filter="wipe(left)">
                                      <p:cBhvr>
                                        <p:cTn id="38" dur="500"/>
                                        <p:tgtEl>
                                          <p:spTgt spid="174106"/>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74107"/>
                                        </p:tgtEl>
                                        <p:attrNameLst>
                                          <p:attrName>style.visibility</p:attrName>
                                        </p:attrNameLst>
                                      </p:cBhvr>
                                      <p:to>
                                        <p:strVal val="visible"/>
                                      </p:to>
                                    </p:set>
                                    <p:anim calcmode="lin" valueType="num">
                                      <p:cBhvr additive="base">
                                        <p:cTn id="43" dur="500" fill="hold"/>
                                        <p:tgtEl>
                                          <p:spTgt spid="174107"/>
                                        </p:tgtEl>
                                        <p:attrNameLst>
                                          <p:attrName>ppt_x</p:attrName>
                                        </p:attrNameLst>
                                      </p:cBhvr>
                                      <p:tavLst>
                                        <p:tav tm="0">
                                          <p:val>
                                            <p:strVal val="1+#ppt_w/2"/>
                                          </p:val>
                                        </p:tav>
                                        <p:tav tm="100000">
                                          <p:val>
                                            <p:strVal val="#ppt_x"/>
                                          </p:val>
                                        </p:tav>
                                      </p:tavLst>
                                    </p:anim>
                                    <p:anim calcmode="lin" valueType="num">
                                      <p:cBhvr additive="base">
                                        <p:cTn id="44" dur="500" fill="hold"/>
                                        <p:tgtEl>
                                          <p:spTgt spid="174107"/>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74107"/>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74112"/>
                                        </p:tgtEl>
                                        <p:attrNameLst>
                                          <p:attrName>style.visibility</p:attrName>
                                        </p:attrNameLst>
                                      </p:cBhvr>
                                      <p:to>
                                        <p:strVal val="visible"/>
                                      </p:to>
                                    </p:set>
                                    <p:animEffect transition="in" filter="wipe(left)">
                                      <p:cBhvr>
                                        <p:cTn id="49" dur="500"/>
                                        <p:tgtEl>
                                          <p:spTgt spid="174112"/>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grpId="0" nodeType="clickEffect">
                                  <p:stCondLst>
                                    <p:cond delay="0"/>
                                  </p:stCondLst>
                                  <p:childTnLst>
                                    <p:set>
                                      <p:cBhvr>
                                        <p:cTn id="53" dur="1" fill="hold">
                                          <p:stCondLst>
                                            <p:cond delay="0"/>
                                          </p:stCondLst>
                                        </p:cTn>
                                        <p:tgtEl>
                                          <p:spTgt spid="174110"/>
                                        </p:tgtEl>
                                        <p:attrNameLst>
                                          <p:attrName>style.visibility</p:attrName>
                                        </p:attrNameLst>
                                      </p:cBhvr>
                                      <p:to>
                                        <p:strVal val="visible"/>
                                      </p:to>
                                    </p:set>
                                    <p:anim calcmode="lin" valueType="num">
                                      <p:cBhvr additive="base">
                                        <p:cTn id="54" dur="500" fill="hold"/>
                                        <p:tgtEl>
                                          <p:spTgt spid="174110"/>
                                        </p:tgtEl>
                                        <p:attrNameLst>
                                          <p:attrName>ppt_x</p:attrName>
                                        </p:attrNameLst>
                                      </p:cBhvr>
                                      <p:tavLst>
                                        <p:tav tm="0">
                                          <p:val>
                                            <p:strVal val="1+#ppt_w/2"/>
                                          </p:val>
                                        </p:tav>
                                        <p:tav tm="100000">
                                          <p:val>
                                            <p:strVal val="#ppt_x"/>
                                          </p:val>
                                        </p:tav>
                                      </p:tavLst>
                                    </p:anim>
                                    <p:anim calcmode="lin" valueType="num">
                                      <p:cBhvr additive="base">
                                        <p:cTn id="55" dur="500" fill="hold"/>
                                        <p:tgtEl>
                                          <p:spTgt spid="174110"/>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74110"/>
                                        </p:tgtEl>
                                        <p:attrNameLst>
                                          <p:attrName>style.visibility</p:attrName>
                                        </p:attrNameLst>
                                      </p:cBhvr>
                                      <p:to>
                                        <p:strVal val="hidden"/>
                                      </p:to>
                                    </p:set>
                                  </p:sub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74088"/>
                                        </p:tgtEl>
                                        <p:attrNameLst>
                                          <p:attrName>style.visibility</p:attrName>
                                        </p:attrNameLst>
                                      </p:cBhvr>
                                      <p:to>
                                        <p:strVal val="visible"/>
                                      </p:to>
                                    </p:set>
                                    <p:animEffect transition="in" filter="wipe(left)">
                                      <p:cBhvr>
                                        <p:cTn id="60" dur="500"/>
                                        <p:tgtEl>
                                          <p:spTgt spid="17408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74111"/>
                                        </p:tgtEl>
                                        <p:attrNameLst>
                                          <p:attrName>style.visibility</p:attrName>
                                        </p:attrNameLst>
                                      </p:cBhvr>
                                      <p:to>
                                        <p:strVal val="visible"/>
                                      </p:to>
                                    </p:set>
                                    <p:animEffect transition="in" filter="wipe(left)">
                                      <p:cBhvr>
                                        <p:cTn id="65" dur="500"/>
                                        <p:tgtEl>
                                          <p:spTgt spid="17411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74089"/>
                                        </p:tgtEl>
                                        <p:attrNameLst>
                                          <p:attrName>style.visibility</p:attrName>
                                        </p:attrNameLst>
                                      </p:cBhvr>
                                      <p:to>
                                        <p:strVal val="visible"/>
                                      </p:to>
                                    </p:set>
                                    <p:animEffect transition="in" filter="wipe(left)">
                                      <p:cBhvr>
                                        <p:cTn id="70" dur="500"/>
                                        <p:tgtEl>
                                          <p:spTgt spid="17408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74090"/>
                                        </p:tgtEl>
                                        <p:attrNameLst>
                                          <p:attrName>style.visibility</p:attrName>
                                        </p:attrNameLst>
                                      </p:cBhvr>
                                      <p:to>
                                        <p:strVal val="visible"/>
                                      </p:to>
                                    </p:set>
                                    <p:animEffect transition="in" filter="wipe(left)">
                                      <p:cBhvr>
                                        <p:cTn id="75" dur="500"/>
                                        <p:tgtEl>
                                          <p:spTgt spid="174090"/>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74091"/>
                                        </p:tgtEl>
                                        <p:attrNameLst>
                                          <p:attrName>style.visibility</p:attrName>
                                        </p:attrNameLst>
                                      </p:cBhvr>
                                      <p:to>
                                        <p:strVal val="visible"/>
                                      </p:to>
                                    </p:set>
                                    <p:animEffect transition="in" filter="wipe(left)">
                                      <p:cBhvr>
                                        <p:cTn id="80" dur="500"/>
                                        <p:tgtEl>
                                          <p:spTgt spid="174091"/>
                                        </p:tgtEl>
                                      </p:cBhvr>
                                    </p:animEffect>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174097"/>
                                        </p:tgtEl>
                                        <p:attrNameLst>
                                          <p:attrName>style.visibility</p:attrName>
                                        </p:attrNameLst>
                                      </p:cBhvr>
                                      <p:to>
                                        <p:strVal val="visible"/>
                                      </p:to>
                                    </p:set>
                                    <p:anim calcmode="lin" valueType="num">
                                      <p:cBhvr additive="base">
                                        <p:cTn id="85" dur="500" fill="hold"/>
                                        <p:tgtEl>
                                          <p:spTgt spid="174097"/>
                                        </p:tgtEl>
                                        <p:attrNameLst>
                                          <p:attrName>ppt_x</p:attrName>
                                        </p:attrNameLst>
                                      </p:cBhvr>
                                      <p:tavLst>
                                        <p:tav tm="0">
                                          <p:val>
                                            <p:strVal val="#ppt_x"/>
                                          </p:val>
                                        </p:tav>
                                        <p:tav tm="100000">
                                          <p:val>
                                            <p:strVal val="#ppt_x"/>
                                          </p:val>
                                        </p:tav>
                                      </p:tavLst>
                                    </p:anim>
                                    <p:anim calcmode="lin" valueType="num">
                                      <p:cBhvr additive="base">
                                        <p:cTn id="86" dur="500" fill="hold"/>
                                        <p:tgtEl>
                                          <p:spTgt spid="174097"/>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74097"/>
                                        </p:tgtEl>
                                        <p:attrNameLst>
                                          <p:attrName>style.visibility</p:attrName>
                                        </p:attrNameLst>
                                      </p:cBhvr>
                                      <p:to>
                                        <p:strVal val="hidden"/>
                                      </p:to>
                                    </p:set>
                                  </p:sub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174092"/>
                                        </p:tgtEl>
                                        <p:attrNameLst>
                                          <p:attrName>style.visibility</p:attrName>
                                        </p:attrNameLst>
                                      </p:cBhvr>
                                      <p:to>
                                        <p:strVal val="visible"/>
                                      </p:to>
                                    </p:set>
                                    <p:animEffect transition="in" filter="wipe(left)">
                                      <p:cBhvr>
                                        <p:cTn id="91" dur="500"/>
                                        <p:tgtEl>
                                          <p:spTgt spid="174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8" grpId="0"/>
      <p:bldP spid="174089" grpId="0"/>
      <p:bldP spid="174090" grpId="0"/>
      <p:bldP spid="174091" grpId="0"/>
      <p:bldP spid="174092" grpId="0"/>
      <p:bldP spid="174098" grpId="0" animBg="1"/>
      <p:bldP spid="174100" grpId="0" animBg="1"/>
      <p:bldP spid="174102" grpId="0" animBg="1"/>
      <p:bldP spid="174103" grpId="0" animBg="1"/>
      <p:bldP spid="174106" grpId="0"/>
      <p:bldP spid="174107" grpId="0" animBg="1"/>
      <p:bldP spid="174110" grpId="0" animBg="1"/>
      <p:bldP spid="1741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6"/>
          <p:cNvSpPr>
            <a:spLocks noGrp="1"/>
          </p:cNvSpPr>
          <p:nvPr>
            <p:ph type="title"/>
          </p:nvPr>
        </p:nvSpPr>
        <p:spPr>
          <a:xfrm>
            <a:off x="533400" y="304800"/>
            <a:ext cx="8382000" cy="914400"/>
          </a:xfrm>
          <a:solidFill>
            <a:srgbClr val="FF0066">
              <a:alpha val="100000"/>
            </a:srgbClr>
          </a:solidFill>
          <a:ln>
            <a:miter/>
          </a:ln>
          <a:scene3d>
            <a:camera prst="legacyObliqueBottomLeft">
              <a:rot lat="0" lon="0" rev="0"/>
            </a:camera>
            <a:lightRig rig="legacyFlat3" dir="t"/>
          </a:scene3d>
          <a:sp3d extrusionH="430200" prstMaterial="legacyMatte">
            <a:bevelT w="13500" h="13500" prst="angle"/>
            <a:bevelB w="13500" h="13500" prst="angle"/>
            <a:extrusionClr>
              <a:srgbClr val="FF0066"/>
            </a:extrusionClr>
          </a:sp3d>
        </p:spPr>
        <p:txBody>
          <a:bodyPr vert="horz" wrap="square" lIns="91440" tIns="45720" rIns="91440" bIns="45720" anchor="ctr" anchorCtr="0">
            <a:flatTx/>
          </a:bodyPr>
          <a:p>
            <a:pPr eaLnBrk="1" hangingPunct="1"/>
            <a:r>
              <a:rPr lang="en-US" altLang="zh-CN" b="1" dirty="0">
                <a:solidFill>
                  <a:srgbClr val="FFFF66"/>
                </a:solidFill>
              </a:rPr>
              <a:t>§8-1</a:t>
            </a:r>
            <a:r>
              <a:rPr lang="en-US" altLang="zh-CN" b="1" dirty="0">
                <a:solidFill>
                  <a:srgbClr val="FFCC00"/>
                </a:solidFill>
              </a:rPr>
              <a:t>     </a:t>
            </a:r>
            <a:r>
              <a:rPr lang="zh-CN" altLang="en-US" b="1" dirty="0">
                <a:solidFill>
                  <a:srgbClr val="FFFF99"/>
                </a:solidFill>
              </a:rPr>
              <a:t>可编程逻辑器件</a:t>
            </a:r>
            <a:r>
              <a:rPr lang="en-US" altLang="zh-CN" b="1" dirty="0">
                <a:solidFill>
                  <a:srgbClr val="FFFF99"/>
                </a:solidFill>
              </a:rPr>
              <a:t>PLD</a:t>
            </a:r>
            <a:r>
              <a:rPr lang="zh-CN" altLang="en-US" b="1" dirty="0">
                <a:solidFill>
                  <a:srgbClr val="FFFF99"/>
                </a:solidFill>
              </a:rPr>
              <a:t>概述</a:t>
            </a:r>
            <a:endParaRPr lang="zh-CN" altLang="en-US" b="1" dirty="0">
              <a:solidFill>
                <a:srgbClr val="FFFF99"/>
              </a:solidFill>
            </a:endParaRPr>
          </a:p>
        </p:txBody>
      </p:sp>
      <p:grpSp>
        <p:nvGrpSpPr>
          <p:cNvPr id="5129" name="Group 9"/>
          <p:cNvGrpSpPr/>
          <p:nvPr/>
        </p:nvGrpSpPr>
        <p:grpSpPr>
          <a:xfrm>
            <a:off x="0" y="1828800"/>
            <a:ext cx="9144000" cy="1279525"/>
            <a:chOff x="0" y="1152"/>
            <a:chExt cx="5760" cy="806"/>
          </a:xfrm>
        </p:grpSpPr>
        <p:sp>
          <p:nvSpPr>
            <p:cNvPr id="7202" name="Text Box 7"/>
            <p:cNvSpPr txBox="1"/>
            <p:nvPr/>
          </p:nvSpPr>
          <p:spPr>
            <a:xfrm>
              <a:off x="432" y="1152"/>
              <a:ext cx="5088" cy="288"/>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PLD</a:t>
              </a:r>
              <a:r>
                <a:rPr lang="zh-CN" altLang="en-US" sz="2400" b="1" dirty="0">
                  <a:latin typeface="Times New Roman" panose="02020603050405020304" pitchFamily="18" charset="0"/>
                </a:rPr>
                <a:t>是</a:t>
              </a:r>
              <a:r>
                <a:rPr lang="en-US" altLang="zh-CN" sz="2400" b="1" dirty="0">
                  <a:latin typeface="Times New Roman" panose="02020603050405020304" pitchFamily="18" charset="0"/>
                </a:rPr>
                <a:t>70</a:t>
              </a:r>
              <a:r>
                <a:rPr lang="zh-CN" altLang="en-US" sz="2400" b="1" dirty="0">
                  <a:latin typeface="Times New Roman" panose="02020603050405020304" pitchFamily="18" charset="0"/>
                </a:rPr>
                <a:t>年代发展起来的新型逻辑器件，相继出现了</a:t>
              </a:r>
              <a:r>
                <a:rPr lang="en-US" altLang="zh-CN" sz="2400" b="1" dirty="0">
                  <a:latin typeface="Times New Roman" panose="02020603050405020304" pitchFamily="18" charset="0"/>
                </a:rPr>
                <a:t>ROM</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7203" name="Text Box 8"/>
            <p:cNvSpPr txBox="1"/>
            <p:nvPr/>
          </p:nvSpPr>
          <p:spPr>
            <a:xfrm>
              <a:off x="0" y="1440"/>
              <a:ext cx="5760" cy="518"/>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PLA</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PAL</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GAL</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EPLD</a:t>
              </a:r>
              <a:r>
                <a:rPr lang="zh-CN" altLang="en-US" sz="2400" b="1" dirty="0">
                  <a:latin typeface="Times New Roman" panose="02020603050405020304" pitchFamily="18" charset="0"/>
                </a:rPr>
                <a:t>和</a:t>
              </a:r>
              <a:r>
                <a:rPr lang="en-US" altLang="zh-CN" sz="2400" b="1" dirty="0">
                  <a:latin typeface="Times New Roman" panose="02020603050405020304" pitchFamily="18" charset="0"/>
                </a:rPr>
                <a:t>FPGA</a:t>
              </a:r>
              <a:r>
                <a:rPr lang="zh-CN" altLang="en-US" sz="2400" b="1" dirty="0">
                  <a:latin typeface="Times New Roman" panose="02020603050405020304" pitchFamily="18" charset="0"/>
                </a:rPr>
                <a:t>等，它门组成基本相似。</a:t>
              </a:r>
              <a:endParaRPr lang="zh-CN" altLang="en-US" sz="2400" b="1" dirty="0">
                <a:latin typeface="Times New Roman" panose="02020603050405020304" pitchFamily="18" charset="0"/>
              </a:endParaRPr>
            </a:p>
          </p:txBody>
        </p:sp>
      </p:grpSp>
      <p:sp>
        <p:nvSpPr>
          <p:cNvPr id="5130" name="Text Box 10"/>
          <p:cNvSpPr txBox="1"/>
          <p:nvPr/>
        </p:nvSpPr>
        <p:spPr>
          <a:xfrm>
            <a:off x="76200" y="3124200"/>
            <a:ext cx="7162800" cy="457200"/>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一、</a:t>
            </a:r>
            <a:r>
              <a:rPr lang="en-US" altLang="zh-CN" sz="2400" b="1" dirty="0">
                <a:latin typeface="Times New Roman" panose="02020603050405020304" pitchFamily="18" charset="0"/>
              </a:rPr>
              <a:t>PLD</a:t>
            </a:r>
            <a:r>
              <a:rPr lang="zh-CN" altLang="en-US" sz="2400" b="1" dirty="0">
                <a:latin typeface="Times New Roman" panose="02020603050405020304" pitchFamily="18" charset="0"/>
              </a:rPr>
              <a:t>的基本结构</a:t>
            </a:r>
            <a:endParaRPr lang="zh-CN" altLang="en-US" sz="2400" b="1" dirty="0">
              <a:latin typeface="Times New Roman" panose="02020603050405020304" pitchFamily="18" charset="0"/>
            </a:endParaRPr>
          </a:p>
        </p:txBody>
      </p:sp>
      <p:sp>
        <p:nvSpPr>
          <p:cNvPr id="5131" name="Rectangle 11"/>
          <p:cNvSpPr/>
          <p:nvPr/>
        </p:nvSpPr>
        <p:spPr>
          <a:xfrm>
            <a:off x="3429000" y="3886200"/>
            <a:ext cx="838200" cy="1371600"/>
          </a:xfrm>
          <a:prstGeom prst="rect">
            <a:avLst/>
          </a:prstGeom>
          <a:solidFill>
            <a:srgbClr val="FFCC99"/>
          </a:solidFill>
          <a:ln w="38100" cap="flat" cmpd="sng">
            <a:solidFill>
              <a:srgbClr val="FFCC99"/>
            </a:solidFill>
            <a:prstDash val="solid"/>
            <a:miter/>
            <a:headEnd type="none" w="med" len="med"/>
            <a:tailEnd type="none" w="med" len="med"/>
          </a:ln>
        </p:spPr>
        <p:txBody>
          <a:bodyPr wrap="none" anchor="ctr" anchorCtr="0"/>
          <a:p>
            <a:pPr algn="ctr" eaLnBrk="1" hangingPunct="1"/>
            <a:r>
              <a:rPr lang="zh-CN" altLang="en-US" sz="2400" b="1" dirty="0">
                <a:solidFill>
                  <a:srgbClr val="990033"/>
                </a:solidFill>
                <a:latin typeface="Times New Roman" panose="02020603050405020304" pitchFamily="18" charset="0"/>
              </a:rPr>
              <a:t>与门</a:t>
            </a:r>
            <a:endParaRPr lang="zh-CN" altLang="en-US" sz="2400" b="1" dirty="0">
              <a:solidFill>
                <a:srgbClr val="990033"/>
              </a:solidFill>
              <a:latin typeface="Times New Roman" panose="02020603050405020304" pitchFamily="18" charset="0"/>
            </a:endParaRPr>
          </a:p>
          <a:p>
            <a:pPr algn="ctr" eaLnBrk="1" hangingPunct="1"/>
            <a:r>
              <a:rPr lang="zh-CN" altLang="en-US" sz="2400" b="1" dirty="0">
                <a:solidFill>
                  <a:srgbClr val="990033"/>
                </a:solidFill>
                <a:latin typeface="Times New Roman" panose="02020603050405020304" pitchFamily="18" charset="0"/>
              </a:rPr>
              <a:t>阵列</a:t>
            </a:r>
            <a:endParaRPr lang="zh-CN" altLang="en-US" b="1" dirty="0">
              <a:solidFill>
                <a:srgbClr val="990033"/>
              </a:solidFill>
              <a:latin typeface="Times New Roman" panose="02020603050405020304" pitchFamily="18" charset="0"/>
            </a:endParaRPr>
          </a:p>
        </p:txBody>
      </p:sp>
      <p:sp>
        <p:nvSpPr>
          <p:cNvPr id="5132" name="Rectangle 12"/>
          <p:cNvSpPr/>
          <p:nvPr/>
        </p:nvSpPr>
        <p:spPr>
          <a:xfrm>
            <a:off x="5257800" y="3886200"/>
            <a:ext cx="838200" cy="1371600"/>
          </a:xfrm>
          <a:prstGeom prst="rect">
            <a:avLst/>
          </a:prstGeom>
          <a:solidFill>
            <a:srgbClr val="FFCC99"/>
          </a:solidFill>
          <a:ln w="9525">
            <a:noFill/>
          </a:ln>
        </p:spPr>
        <p:txBody>
          <a:bodyPr wrap="none" anchor="ctr" anchorCtr="0"/>
          <a:p>
            <a:pPr algn="ctr" eaLnBrk="1" hangingPunct="1"/>
            <a:r>
              <a:rPr lang="zh-CN" altLang="en-US" sz="2400" b="1" dirty="0">
                <a:solidFill>
                  <a:srgbClr val="990033"/>
                </a:solidFill>
                <a:latin typeface="Times New Roman" panose="02020603050405020304" pitchFamily="18" charset="0"/>
              </a:rPr>
              <a:t>或门</a:t>
            </a:r>
            <a:endParaRPr lang="zh-CN" altLang="en-US" sz="2400" dirty="0">
              <a:solidFill>
                <a:srgbClr val="990033"/>
              </a:solidFill>
              <a:latin typeface="Times New Roman" panose="02020603050405020304" pitchFamily="18" charset="0"/>
            </a:endParaRPr>
          </a:p>
          <a:p>
            <a:pPr algn="ctr" eaLnBrk="1" hangingPunct="1"/>
            <a:r>
              <a:rPr lang="zh-CN" altLang="en-US" sz="2400" b="1" dirty="0">
                <a:solidFill>
                  <a:srgbClr val="990033"/>
                </a:solidFill>
                <a:latin typeface="Times New Roman" panose="02020603050405020304" pitchFamily="18" charset="0"/>
              </a:rPr>
              <a:t>阵列</a:t>
            </a:r>
            <a:endParaRPr lang="zh-CN" altLang="en-US" dirty="0">
              <a:solidFill>
                <a:srgbClr val="990033"/>
              </a:solidFill>
              <a:latin typeface="Times New Roman" panose="02020603050405020304" pitchFamily="18" charset="0"/>
            </a:endParaRPr>
          </a:p>
        </p:txBody>
      </p:sp>
      <p:sp>
        <p:nvSpPr>
          <p:cNvPr id="5133" name="AutoShape 13"/>
          <p:cNvSpPr/>
          <p:nvPr/>
        </p:nvSpPr>
        <p:spPr>
          <a:xfrm>
            <a:off x="4267200" y="4267200"/>
            <a:ext cx="990600" cy="685800"/>
          </a:xfrm>
          <a:prstGeom prst="rightArrow">
            <a:avLst>
              <a:gd name="adj1" fmla="val 50000"/>
              <a:gd name="adj2" fmla="val 36111"/>
            </a:avLst>
          </a:prstGeom>
          <a:noFill/>
          <a:ln w="38100" cap="flat" cmpd="sng">
            <a:solidFill>
              <a:schemeClr val="tx1"/>
            </a:solidFill>
            <a:prstDash val="solid"/>
            <a:miter/>
            <a:headEnd type="none" w="med" len="med"/>
            <a:tailEnd type="none" w="med" len="med"/>
          </a:ln>
        </p:spPr>
        <p:txBody>
          <a:bodyPr wrap="none" anchor="ctr" anchorCtr="0"/>
          <a:p>
            <a:pPr algn="ctr" eaLnBrk="1" hangingPunct="1"/>
            <a:r>
              <a:rPr lang="zh-CN" altLang="en-US" sz="2000" b="1" dirty="0">
                <a:solidFill>
                  <a:srgbClr val="990033"/>
                </a:solidFill>
                <a:latin typeface="Times New Roman" panose="02020603050405020304" pitchFamily="18" charset="0"/>
              </a:rPr>
              <a:t>乘积项</a:t>
            </a:r>
            <a:endParaRPr lang="zh-CN" altLang="en-US" sz="2400" b="1" dirty="0">
              <a:solidFill>
                <a:srgbClr val="990033"/>
              </a:solidFill>
              <a:latin typeface="Times New Roman" panose="02020603050405020304" pitchFamily="18" charset="0"/>
            </a:endParaRPr>
          </a:p>
        </p:txBody>
      </p:sp>
      <p:sp>
        <p:nvSpPr>
          <p:cNvPr id="5134" name="AutoShape 14"/>
          <p:cNvSpPr/>
          <p:nvPr/>
        </p:nvSpPr>
        <p:spPr>
          <a:xfrm>
            <a:off x="6096000" y="4267200"/>
            <a:ext cx="838200" cy="685800"/>
          </a:xfrm>
          <a:prstGeom prst="rightArrow">
            <a:avLst>
              <a:gd name="adj1" fmla="val 50000"/>
              <a:gd name="adj2" fmla="val 30555"/>
            </a:avLst>
          </a:prstGeom>
          <a:noFill/>
          <a:ln w="38100" cap="flat" cmpd="sng">
            <a:solidFill>
              <a:schemeClr val="tx1"/>
            </a:solidFill>
            <a:prstDash val="solid"/>
            <a:miter/>
            <a:headEnd type="none" w="med" len="med"/>
            <a:tailEnd type="none" w="med" len="med"/>
          </a:ln>
        </p:spPr>
        <p:txBody>
          <a:bodyPr wrap="none" anchor="ctr" anchorCtr="0"/>
          <a:p>
            <a:pPr algn="ctr" eaLnBrk="1" hangingPunct="1"/>
            <a:r>
              <a:rPr lang="zh-CN" altLang="en-US" sz="2000" b="1" dirty="0">
                <a:solidFill>
                  <a:srgbClr val="990033"/>
                </a:solidFill>
                <a:latin typeface="Times New Roman" panose="02020603050405020304" pitchFamily="18" charset="0"/>
              </a:rPr>
              <a:t>和项</a:t>
            </a:r>
            <a:endParaRPr lang="zh-CN" altLang="en-US" sz="2400" b="1" dirty="0">
              <a:solidFill>
                <a:srgbClr val="990033"/>
              </a:solidFill>
              <a:latin typeface="Times New Roman" panose="02020603050405020304" pitchFamily="18" charset="0"/>
            </a:endParaRPr>
          </a:p>
        </p:txBody>
      </p:sp>
      <p:sp>
        <p:nvSpPr>
          <p:cNvPr id="5135" name="Rectangle 15"/>
          <p:cNvSpPr/>
          <p:nvPr/>
        </p:nvSpPr>
        <p:spPr>
          <a:xfrm>
            <a:off x="3200400" y="3657600"/>
            <a:ext cx="3048000" cy="1828800"/>
          </a:xfrm>
          <a:prstGeom prst="rect">
            <a:avLst/>
          </a:prstGeom>
          <a:noFill/>
          <a:ln w="9525" cap="flat" cmpd="sng">
            <a:solidFill>
              <a:schemeClr val="accent1"/>
            </a:solidFill>
            <a:prstDash val="sysDot"/>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5136" name="AutoShape 16"/>
          <p:cNvSpPr/>
          <p:nvPr/>
        </p:nvSpPr>
        <p:spPr>
          <a:xfrm>
            <a:off x="4648200" y="2590800"/>
            <a:ext cx="1676400" cy="762000"/>
          </a:xfrm>
          <a:prstGeom prst="wedgeRectCallout">
            <a:avLst>
              <a:gd name="adj1" fmla="val -55116"/>
              <a:gd name="adj2" fmla="val 87083"/>
            </a:avLst>
          </a:prstGeom>
          <a:solidFill>
            <a:srgbClr val="FFCC99"/>
          </a:solidFill>
          <a:ln w="9525">
            <a:noFill/>
          </a:ln>
        </p:spPr>
        <p:txBody>
          <a:bodyPr wrap="none" anchor="ctr" anchorCtr="0"/>
          <a:p>
            <a:pPr algn="ctr" eaLnBrk="1" hangingPunct="1"/>
            <a:r>
              <a:rPr lang="en-US" altLang="zh-CN" sz="2400" b="1" dirty="0">
                <a:solidFill>
                  <a:srgbClr val="990033"/>
                </a:solidFill>
                <a:latin typeface="Times New Roman" panose="02020603050405020304" pitchFamily="18" charset="0"/>
              </a:rPr>
              <a:t>PLD</a:t>
            </a:r>
            <a:r>
              <a:rPr lang="zh-CN" altLang="zh-CN" sz="2400" b="1" dirty="0">
                <a:solidFill>
                  <a:srgbClr val="990033"/>
                </a:solidFill>
                <a:latin typeface="Times New Roman" panose="02020603050405020304" pitchFamily="18" charset="0"/>
              </a:rPr>
              <a:t>主体</a:t>
            </a:r>
            <a:endParaRPr lang="zh-CN" altLang="en-US" sz="2400" b="1" dirty="0">
              <a:solidFill>
                <a:srgbClr val="990033"/>
              </a:solidFill>
              <a:latin typeface="Times New Roman" panose="02020603050405020304" pitchFamily="18" charset="0"/>
            </a:endParaRPr>
          </a:p>
        </p:txBody>
      </p:sp>
      <p:sp>
        <p:nvSpPr>
          <p:cNvPr id="5137" name="Rectangle 17"/>
          <p:cNvSpPr/>
          <p:nvPr/>
        </p:nvSpPr>
        <p:spPr>
          <a:xfrm>
            <a:off x="1600200" y="3886200"/>
            <a:ext cx="838200" cy="1371600"/>
          </a:xfrm>
          <a:prstGeom prst="rect">
            <a:avLst/>
          </a:prstGeom>
          <a:solidFill>
            <a:srgbClr val="FFCC99"/>
          </a:solidFill>
          <a:ln w="9525">
            <a:noFill/>
          </a:ln>
        </p:spPr>
        <p:txBody>
          <a:bodyPr wrap="none" anchor="ctr" anchorCtr="0"/>
          <a:p>
            <a:pPr algn="ctr" eaLnBrk="1" hangingPunct="1"/>
            <a:r>
              <a:rPr lang="zh-CN" altLang="en-US" sz="2400" b="1" dirty="0">
                <a:solidFill>
                  <a:srgbClr val="990033"/>
                </a:solidFill>
                <a:latin typeface="Times New Roman" panose="02020603050405020304" pitchFamily="18" charset="0"/>
              </a:rPr>
              <a:t>输入</a:t>
            </a:r>
            <a:endParaRPr lang="zh-CN" altLang="en-US" sz="2400" b="1" dirty="0">
              <a:solidFill>
                <a:srgbClr val="990033"/>
              </a:solidFill>
              <a:latin typeface="Times New Roman" panose="02020603050405020304" pitchFamily="18" charset="0"/>
            </a:endParaRPr>
          </a:p>
          <a:p>
            <a:pPr algn="ctr" eaLnBrk="1" hangingPunct="1"/>
            <a:r>
              <a:rPr lang="zh-CN" altLang="en-US" sz="2400" b="1" dirty="0">
                <a:solidFill>
                  <a:srgbClr val="990033"/>
                </a:solidFill>
                <a:latin typeface="Times New Roman" panose="02020603050405020304" pitchFamily="18" charset="0"/>
              </a:rPr>
              <a:t>电路</a:t>
            </a:r>
            <a:endParaRPr lang="zh-CN" altLang="en-US" b="1" dirty="0">
              <a:solidFill>
                <a:srgbClr val="990033"/>
              </a:solidFill>
              <a:latin typeface="Times New Roman" panose="02020603050405020304" pitchFamily="18" charset="0"/>
            </a:endParaRPr>
          </a:p>
        </p:txBody>
      </p:sp>
      <p:sp>
        <p:nvSpPr>
          <p:cNvPr id="5139" name="AutoShape 19"/>
          <p:cNvSpPr/>
          <p:nvPr/>
        </p:nvSpPr>
        <p:spPr>
          <a:xfrm>
            <a:off x="457200" y="3886200"/>
            <a:ext cx="1143000" cy="685800"/>
          </a:xfrm>
          <a:prstGeom prst="rightArrow">
            <a:avLst>
              <a:gd name="adj1" fmla="val 50000"/>
              <a:gd name="adj2" fmla="val 41666"/>
            </a:avLst>
          </a:prstGeom>
          <a:noFill/>
          <a:ln w="38100" cap="flat" cmpd="sng">
            <a:solidFill>
              <a:schemeClr val="tx1"/>
            </a:solidFill>
            <a:prstDash val="solid"/>
            <a:miter/>
            <a:headEnd type="none" w="med" len="med"/>
            <a:tailEnd type="none" w="med" len="med"/>
          </a:ln>
        </p:spPr>
        <p:txBody>
          <a:bodyPr wrap="none" anchor="ctr" anchorCtr="0"/>
          <a:p>
            <a:pPr algn="ctr" eaLnBrk="1" hangingPunct="1"/>
            <a:r>
              <a:rPr lang="zh-CN" altLang="en-US" sz="2000" b="1" dirty="0">
                <a:solidFill>
                  <a:srgbClr val="990033"/>
                </a:solidFill>
                <a:latin typeface="Times New Roman" panose="02020603050405020304" pitchFamily="18" charset="0"/>
              </a:rPr>
              <a:t>输入信号</a:t>
            </a:r>
            <a:endParaRPr lang="zh-CN" altLang="en-US" sz="2400" b="1" dirty="0">
              <a:solidFill>
                <a:srgbClr val="990033"/>
              </a:solidFill>
              <a:latin typeface="Times New Roman" panose="02020603050405020304" pitchFamily="18" charset="0"/>
            </a:endParaRPr>
          </a:p>
        </p:txBody>
      </p:sp>
      <p:sp>
        <p:nvSpPr>
          <p:cNvPr id="5140" name="AutoShape 20"/>
          <p:cNvSpPr/>
          <p:nvPr/>
        </p:nvSpPr>
        <p:spPr>
          <a:xfrm>
            <a:off x="2438400" y="4267200"/>
            <a:ext cx="990600" cy="685800"/>
          </a:xfrm>
          <a:prstGeom prst="rightArrow">
            <a:avLst>
              <a:gd name="adj1" fmla="val 50000"/>
              <a:gd name="adj2" fmla="val 51157"/>
            </a:avLst>
          </a:prstGeom>
          <a:noFill/>
          <a:ln w="38100" cap="flat" cmpd="sng">
            <a:solidFill>
              <a:schemeClr val="tx1"/>
            </a:solidFill>
            <a:prstDash val="solid"/>
            <a:miter/>
            <a:headEnd type="none" w="med" len="med"/>
            <a:tailEnd type="none" w="med" len="med"/>
          </a:ln>
        </p:spPr>
        <p:txBody>
          <a:bodyPr wrap="none" anchor="ctr" anchorCtr="0"/>
          <a:p>
            <a:pPr algn="ctr" eaLnBrk="1" hangingPunct="1"/>
            <a:r>
              <a:rPr lang="zh-CN" altLang="en-US" sz="2000" b="1" dirty="0">
                <a:solidFill>
                  <a:srgbClr val="990033"/>
                </a:solidFill>
                <a:latin typeface="Times New Roman" panose="02020603050405020304" pitchFamily="18" charset="0"/>
              </a:rPr>
              <a:t>互补</a:t>
            </a:r>
            <a:endParaRPr lang="zh-CN" altLang="en-US" sz="2000" dirty="0">
              <a:solidFill>
                <a:srgbClr val="990033"/>
              </a:solidFill>
              <a:latin typeface="Times New Roman" panose="02020603050405020304" pitchFamily="18" charset="0"/>
            </a:endParaRPr>
          </a:p>
          <a:p>
            <a:pPr algn="ctr" eaLnBrk="1" hangingPunct="1"/>
            <a:endParaRPr lang="zh-CN" altLang="en-US" sz="2000" dirty="0">
              <a:solidFill>
                <a:srgbClr val="990033"/>
              </a:solidFill>
              <a:latin typeface="Times New Roman" panose="02020603050405020304" pitchFamily="18" charset="0"/>
            </a:endParaRPr>
          </a:p>
          <a:p>
            <a:pPr algn="ctr" eaLnBrk="1" hangingPunct="1"/>
            <a:endParaRPr lang="zh-CN" altLang="en-US" sz="2000" dirty="0">
              <a:solidFill>
                <a:srgbClr val="990033"/>
              </a:solidFill>
              <a:latin typeface="Times New Roman" panose="02020603050405020304" pitchFamily="18" charset="0"/>
            </a:endParaRPr>
          </a:p>
          <a:p>
            <a:pPr algn="ctr" eaLnBrk="1" hangingPunct="1"/>
            <a:r>
              <a:rPr lang="zh-CN" altLang="en-US" sz="2000" b="1" dirty="0">
                <a:solidFill>
                  <a:srgbClr val="990033"/>
                </a:solidFill>
                <a:latin typeface="Times New Roman" panose="02020603050405020304" pitchFamily="18" charset="0"/>
              </a:rPr>
              <a:t>输入</a:t>
            </a:r>
            <a:endParaRPr lang="zh-CN" altLang="en-US" sz="2400" dirty="0">
              <a:solidFill>
                <a:srgbClr val="990033"/>
              </a:solidFill>
              <a:latin typeface="Times New Roman" panose="02020603050405020304" pitchFamily="18" charset="0"/>
            </a:endParaRPr>
          </a:p>
        </p:txBody>
      </p:sp>
      <p:sp>
        <p:nvSpPr>
          <p:cNvPr id="5141" name="Rectangle 21"/>
          <p:cNvSpPr/>
          <p:nvPr/>
        </p:nvSpPr>
        <p:spPr>
          <a:xfrm>
            <a:off x="6934200" y="3886200"/>
            <a:ext cx="838200" cy="1371600"/>
          </a:xfrm>
          <a:prstGeom prst="rect">
            <a:avLst/>
          </a:prstGeom>
          <a:solidFill>
            <a:srgbClr val="FFCC99"/>
          </a:solidFill>
          <a:ln w="9525">
            <a:noFill/>
          </a:ln>
        </p:spPr>
        <p:txBody>
          <a:bodyPr wrap="none" anchor="ctr" anchorCtr="0"/>
          <a:p>
            <a:pPr algn="ctr" eaLnBrk="1" hangingPunct="1"/>
            <a:r>
              <a:rPr lang="zh-CN" altLang="en-US" sz="2400" b="1" dirty="0">
                <a:solidFill>
                  <a:srgbClr val="990033"/>
                </a:solidFill>
                <a:latin typeface="Times New Roman" panose="02020603050405020304" pitchFamily="18" charset="0"/>
              </a:rPr>
              <a:t>输出</a:t>
            </a:r>
            <a:endParaRPr lang="zh-CN" altLang="en-US" sz="2400" b="1" dirty="0">
              <a:solidFill>
                <a:srgbClr val="990033"/>
              </a:solidFill>
              <a:latin typeface="Times New Roman" panose="02020603050405020304" pitchFamily="18" charset="0"/>
            </a:endParaRPr>
          </a:p>
          <a:p>
            <a:pPr algn="ctr" eaLnBrk="1" hangingPunct="1"/>
            <a:r>
              <a:rPr lang="zh-CN" altLang="en-US" sz="2400" b="1" dirty="0">
                <a:solidFill>
                  <a:srgbClr val="990033"/>
                </a:solidFill>
                <a:latin typeface="Times New Roman" panose="02020603050405020304" pitchFamily="18" charset="0"/>
              </a:rPr>
              <a:t>电路</a:t>
            </a:r>
            <a:endParaRPr lang="zh-CN" altLang="en-US" b="1" dirty="0">
              <a:solidFill>
                <a:srgbClr val="990033"/>
              </a:solidFill>
              <a:latin typeface="Times New Roman" panose="02020603050405020304" pitchFamily="18" charset="0"/>
            </a:endParaRPr>
          </a:p>
        </p:txBody>
      </p:sp>
      <p:sp>
        <p:nvSpPr>
          <p:cNvPr id="5142" name="AutoShape 22"/>
          <p:cNvSpPr/>
          <p:nvPr/>
        </p:nvSpPr>
        <p:spPr>
          <a:xfrm>
            <a:off x="7772400" y="3810000"/>
            <a:ext cx="1143000" cy="685800"/>
          </a:xfrm>
          <a:prstGeom prst="rightArrow">
            <a:avLst>
              <a:gd name="adj1" fmla="val 50000"/>
              <a:gd name="adj2" fmla="val 41666"/>
            </a:avLst>
          </a:prstGeom>
          <a:noFill/>
          <a:ln w="38100" cap="flat" cmpd="sng">
            <a:solidFill>
              <a:schemeClr val="tx1"/>
            </a:solidFill>
            <a:prstDash val="solid"/>
            <a:miter/>
            <a:headEnd type="none" w="med" len="med"/>
            <a:tailEnd type="none" w="med" len="med"/>
          </a:ln>
        </p:spPr>
        <p:txBody>
          <a:bodyPr wrap="none" anchor="ctr" anchorCtr="0"/>
          <a:p>
            <a:pPr algn="ctr" eaLnBrk="1" hangingPunct="1"/>
            <a:r>
              <a:rPr lang="zh-CN" altLang="en-US" sz="2000" b="1" dirty="0">
                <a:solidFill>
                  <a:srgbClr val="990033"/>
                </a:solidFill>
                <a:latin typeface="Times New Roman" panose="02020603050405020304" pitchFamily="18" charset="0"/>
              </a:rPr>
              <a:t>输出函数</a:t>
            </a:r>
            <a:endParaRPr lang="zh-CN" altLang="en-US" sz="2400" b="1" dirty="0">
              <a:solidFill>
                <a:srgbClr val="990033"/>
              </a:solidFill>
              <a:latin typeface="Times New Roman" panose="02020603050405020304" pitchFamily="18" charset="0"/>
            </a:endParaRPr>
          </a:p>
        </p:txBody>
      </p:sp>
      <p:grpSp>
        <p:nvGrpSpPr>
          <p:cNvPr id="5160" name="Group 40"/>
          <p:cNvGrpSpPr/>
          <p:nvPr/>
        </p:nvGrpSpPr>
        <p:grpSpPr>
          <a:xfrm>
            <a:off x="914400" y="4800600"/>
            <a:ext cx="7620000" cy="1600200"/>
            <a:chOff x="576" y="3024"/>
            <a:chExt cx="4800" cy="960"/>
          </a:xfrm>
        </p:grpSpPr>
        <p:sp>
          <p:nvSpPr>
            <p:cNvPr id="7192" name="Line 25"/>
            <p:cNvSpPr/>
            <p:nvPr/>
          </p:nvSpPr>
          <p:spPr>
            <a:xfrm>
              <a:off x="4896" y="3024"/>
              <a:ext cx="480" cy="0"/>
            </a:xfrm>
            <a:prstGeom prst="line">
              <a:avLst/>
            </a:prstGeom>
            <a:ln w="38100" cap="flat" cmpd="sng">
              <a:solidFill>
                <a:schemeClr val="tx1"/>
              </a:solidFill>
              <a:prstDash val="solid"/>
              <a:headEnd type="none" w="med" len="med"/>
              <a:tailEnd type="none" w="med" len="med"/>
            </a:ln>
          </p:spPr>
        </p:sp>
        <p:sp>
          <p:nvSpPr>
            <p:cNvPr id="7193" name="Line 26"/>
            <p:cNvSpPr/>
            <p:nvPr/>
          </p:nvSpPr>
          <p:spPr>
            <a:xfrm>
              <a:off x="5376" y="3024"/>
              <a:ext cx="0" cy="960"/>
            </a:xfrm>
            <a:prstGeom prst="line">
              <a:avLst/>
            </a:prstGeom>
            <a:ln w="38100" cap="flat" cmpd="sng">
              <a:solidFill>
                <a:schemeClr val="tx1"/>
              </a:solidFill>
              <a:prstDash val="solid"/>
              <a:headEnd type="none" w="med" len="med"/>
              <a:tailEnd type="none" w="med" len="med"/>
            </a:ln>
          </p:spPr>
        </p:sp>
        <p:sp>
          <p:nvSpPr>
            <p:cNvPr id="7194" name="Line 27"/>
            <p:cNvSpPr/>
            <p:nvPr/>
          </p:nvSpPr>
          <p:spPr>
            <a:xfrm>
              <a:off x="4896" y="3216"/>
              <a:ext cx="288" cy="0"/>
            </a:xfrm>
            <a:prstGeom prst="line">
              <a:avLst/>
            </a:prstGeom>
            <a:ln w="38100" cap="flat" cmpd="sng">
              <a:solidFill>
                <a:schemeClr val="tx1"/>
              </a:solidFill>
              <a:prstDash val="solid"/>
              <a:headEnd type="none" w="med" len="med"/>
              <a:tailEnd type="none" w="med" len="med"/>
            </a:ln>
          </p:spPr>
        </p:sp>
        <p:sp>
          <p:nvSpPr>
            <p:cNvPr id="7195" name="Line 28"/>
            <p:cNvSpPr/>
            <p:nvPr/>
          </p:nvSpPr>
          <p:spPr>
            <a:xfrm>
              <a:off x="5184" y="3216"/>
              <a:ext cx="0" cy="576"/>
            </a:xfrm>
            <a:prstGeom prst="line">
              <a:avLst/>
            </a:prstGeom>
            <a:ln w="38100" cap="flat" cmpd="sng">
              <a:solidFill>
                <a:schemeClr val="tx1"/>
              </a:solidFill>
              <a:prstDash val="solid"/>
              <a:headEnd type="none" w="med" len="med"/>
              <a:tailEnd type="none" w="med" len="med"/>
            </a:ln>
          </p:spPr>
        </p:sp>
        <p:sp>
          <p:nvSpPr>
            <p:cNvPr id="7196" name="Line 29"/>
            <p:cNvSpPr/>
            <p:nvPr/>
          </p:nvSpPr>
          <p:spPr>
            <a:xfrm flipH="1">
              <a:off x="768" y="3792"/>
              <a:ext cx="4416" cy="0"/>
            </a:xfrm>
            <a:prstGeom prst="line">
              <a:avLst/>
            </a:prstGeom>
            <a:ln w="38100" cap="flat" cmpd="sng">
              <a:solidFill>
                <a:schemeClr val="tx1"/>
              </a:solidFill>
              <a:prstDash val="solid"/>
              <a:headEnd type="none" w="med" len="med"/>
              <a:tailEnd type="none" w="med" len="med"/>
            </a:ln>
          </p:spPr>
        </p:sp>
        <p:sp>
          <p:nvSpPr>
            <p:cNvPr id="7197" name="Line 30"/>
            <p:cNvSpPr/>
            <p:nvPr/>
          </p:nvSpPr>
          <p:spPr>
            <a:xfrm flipV="1">
              <a:off x="768" y="3216"/>
              <a:ext cx="0" cy="576"/>
            </a:xfrm>
            <a:prstGeom prst="line">
              <a:avLst/>
            </a:prstGeom>
            <a:ln w="38100" cap="flat" cmpd="sng">
              <a:solidFill>
                <a:schemeClr val="tx1"/>
              </a:solidFill>
              <a:prstDash val="solid"/>
              <a:headEnd type="none" w="med" len="med"/>
              <a:tailEnd type="none" w="med" len="med"/>
            </a:ln>
          </p:spPr>
        </p:sp>
        <p:sp>
          <p:nvSpPr>
            <p:cNvPr id="7198" name="Line 31"/>
            <p:cNvSpPr/>
            <p:nvPr/>
          </p:nvSpPr>
          <p:spPr>
            <a:xfrm>
              <a:off x="768" y="3216"/>
              <a:ext cx="240" cy="0"/>
            </a:xfrm>
            <a:prstGeom prst="line">
              <a:avLst/>
            </a:prstGeom>
            <a:ln w="38100" cap="flat" cmpd="sng">
              <a:solidFill>
                <a:schemeClr val="tx1"/>
              </a:solidFill>
              <a:prstDash val="solid"/>
              <a:headEnd type="none" w="med" len="med"/>
              <a:tailEnd type="none" w="med" len="med"/>
            </a:ln>
          </p:spPr>
        </p:sp>
        <p:sp>
          <p:nvSpPr>
            <p:cNvPr id="7199" name="Line 36"/>
            <p:cNvSpPr/>
            <p:nvPr/>
          </p:nvSpPr>
          <p:spPr>
            <a:xfrm flipH="1">
              <a:off x="576" y="3024"/>
              <a:ext cx="432" cy="0"/>
            </a:xfrm>
            <a:prstGeom prst="line">
              <a:avLst/>
            </a:prstGeom>
            <a:ln w="38100" cap="flat" cmpd="sng">
              <a:solidFill>
                <a:schemeClr val="tx1"/>
              </a:solidFill>
              <a:prstDash val="solid"/>
              <a:headEnd type="none" w="med" len="med"/>
              <a:tailEnd type="none" w="med" len="med"/>
            </a:ln>
          </p:spPr>
        </p:sp>
        <p:sp>
          <p:nvSpPr>
            <p:cNvPr id="7200" name="Line 37"/>
            <p:cNvSpPr/>
            <p:nvPr/>
          </p:nvSpPr>
          <p:spPr>
            <a:xfrm>
              <a:off x="576" y="3024"/>
              <a:ext cx="0" cy="912"/>
            </a:xfrm>
            <a:prstGeom prst="line">
              <a:avLst/>
            </a:prstGeom>
            <a:ln w="38100" cap="flat" cmpd="sng">
              <a:solidFill>
                <a:schemeClr val="tx1"/>
              </a:solidFill>
              <a:prstDash val="solid"/>
              <a:headEnd type="none" w="med" len="med"/>
              <a:tailEnd type="none" w="med" len="med"/>
            </a:ln>
          </p:spPr>
        </p:sp>
        <p:sp>
          <p:nvSpPr>
            <p:cNvPr id="7201" name="Line 39"/>
            <p:cNvSpPr/>
            <p:nvPr/>
          </p:nvSpPr>
          <p:spPr>
            <a:xfrm>
              <a:off x="576" y="3984"/>
              <a:ext cx="4800" cy="0"/>
            </a:xfrm>
            <a:prstGeom prst="line">
              <a:avLst/>
            </a:prstGeom>
            <a:ln w="38100" cap="flat" cmpd="sng">
              <a:solidFill>
                <a:schemeClr val="tx1"/>
              </a:solidFill>
              <a:prstDash val="solid"/>
              <a:headEnd type="none" w="med" len="med"/>
              <a:tailEnd type="none" w="med" len="med"/>
            </a:ln>
          </p:spPr>
        </p:sp>
      </p:grpSp>
      <p:grpSp>
        <p:nvGrpSpPr>
          <p:cNvPr id="5163" name="Group 43"/>
          <p:cNvGrpSpPr/>
          <p:nvPr/>
        </p:nvGrpSpPr>
        <p:grpSpPr>
          <a:xfrm>
            <a:off x="1447800" y="5943600"/>
            <a:ext cx="5105400" cy="396875"/>
            <a:chOff x="912" y="3744"/>
            <a:chExt cx="3216" cy="250"/>
          </a:xfrm>
        </p:grpSpPr>
        <p:sp>
          <p:nvSpPr>
            <p:cNvPr id="7190" name="Line 41"/>
            <p:cNvSpPr/>
            <p:nvPr/>
          </p:nvSpPr>
          <p:spPr>
            <a:xfrm flipH="1">
              <a:off x="2016" y="3888"/>
              <a:ext cx="2112" cy="0"/>
            </a:xfrm>
            <a:prstGeom prst="line">
              <a:avLst/>
            </a:prstGeom>
            <a:ln w="57150" cap="flat" cmpd="sng">
              <a:solidFill>
                <a:schemeClr val="accent1"/>
              </a:solidFill>
              <a:prstDash val="solid"/>
              <a:headEnd type="none" w="med" len="med"/>
              <a:tailEnd type="triangle" w="med" len="med"/>
            </a:ln>
          </p:spPr>
        </p:sp>
        <p:sp>
          <p:nvSpPr>
            <p:cNvPr id="7191" name="Text Box 42"/>
            <p:cNvSpPr txBox="1"/>
            <p:nvPr/>
          </p:nvSpPr>
          <p:spPr>
            <a:xfrm>
              <a:off x="912" y="3744"/>
              <a:ext cx="1200" cy="250"/>
            </a:xfrm>
            <a:prstGeom prst="rect">
              <a:avLst/>
            </a:prstGeom>
            <a:noFill/>
            <a:ln w="57150">
              <a:noFill/>
            </a:ln>
          </p:spPr>
          <p:txBody>
            <a:bodyPr>
              <a:spAutoFit/>
            </a:bodyPr>
            <a:p>
              <a:pPr eaLnBrk="1" hangingPunct="1">
                <a:spcBef>
                  <a:spcPct val="50000"/>
                </a:spcBef>
              </a:pPr>
              <a:r>
                <a:rPr lang="zh-CN" altLang="en-US" sz="2000" b="1" dirty="0">
                  <a:solidFill>
                    <a:srgbClr val="990033"/>
                  </a:solidFill>
                  <a:latin typeface="Times New Roman" panose="02020603050405020304" pitchFamily="18" charset="0"/>
                </a:rPr>
                <a:t>反馈输入信号</a:t>
              </a:r>
              <a:endParaRPr lang="zh-CN" altLang="en-US" sz="2000" dirty="0">
                <a:latin typeface="Times New Roman" panose="02020603050405020304" pitchFamily="18" charset="0"/>
              </a:endParaRPr>
            </a:p>
          </p:txBody>
        </p:sp>
      </p:grpSp>
      <p:sp>
        <p:nvSpPr>
          <p:cNvPr id="5166" name="AutoShape 46"/>
          <p:cNvSpPr/>
          <p:nvPr/>
        </p:nvSpPr>
        <p:spPr>
          <a:xfrm>
            <a:off x="4267200" y="2438400"/>
            <a:ext cx="3962400" cy="1066800"/>
          </a:xfrm>
          <a:prstGeom prst="wedgeRoundRectCallout">
            <a:avLst>
              <a:gd name="adj1" fmla="val 30528"/>
              <a:gd name="adj2" fmla="val 87500"/>
              <a:gd name="adj3" fmla="val 16667"/>
            </a:avLst>
          </a:prstGeom>
          <a:solidFill>
            <a:srgbClr val="FFCC99"/>
          </a:solidFill>
          <a:ln w="9525">
            <a:noFill/>
          </a:ln>
        </p:spPr>
        <p:txBody>
          <a:bodyPr wrap="none" anchor="ctr" anchorCtr="0"/>
          <a:p>
            <a:pPr algn="just" eaLnBrk="1" hangingPunct="1"/>
            <a:r>
              <a:rPr lang="zh-CN" altLang="en-US" sz="2400" b="1" dirty="0">
                <a:solidFill>
                  <a:srgbClr val="990033"/>
                </a:solidFill>
                <a:latin typeface="Times New Roman" panose="02020603050405020304" pitchFamily="18" charset="0"/>
              </a:rPr>
              <a:t>输出既可以是低电平有效，</a:t>
            </a:r>
            <a:endParaRPr lang="zh-CN" altLang="en-US" sz="2400" b="1" dirty="0">
              <a:solidFill>
                <a:srgbClr val="990033"/>
              </a:solidFill>
              <a:latin typeface="Times New Roman" panose="02020603050405020304" pitchFamily="18" charset="0"/>
            </a:endParaRPr>
          </a:p>
          <a:p>
            <a:pPr algn="just" eaLnBrk="1" hangingPunct="1"/>
            <a:r>
              <a:rPr lang="zh-CN" altLang="en-US" sz="2400" b="1" dirty="0">
                <a:solidFill>
                  <a:srgbClr val="990033"/>
                </a:solidFill>
                <a:latin typeface="Times New Roman" panose="02020603050405020304" pitchFamily="18" charset="0"/>
              </a:rPr>
              <a:t>又可以是高电平有效。</a:t>
            </a:r>
            <a:endParaRPr lang="zh-CN" altLang="en-US" b="1" dirty="0">
              <a:solidFill>
                <a:srgbClr val="990033"/>
              </a:solidFill>
              <a:latin typeface="Times New Roman" panose="02020603050405020304" pitchFamily="18" charset="0"/>
            </a:endParaRPr>
          </a:p>
        </p:txBody>
      </p:sp>
      <p:sp>
        <p:nvSpPr>
          <p:cNvPr id="5167" name="AutoShape 47"/>
          <p:cNvSpPr/>
          <p:nvPr/>
        </p:nvSpPr>
        <p:spPr>
          <a:xfrm>
            <a:off x="4572000" y="1752600"/>
            <a:ext cx="3505200" cy="1905000"/>
          </a:xfrm>
          <a:prstGeom prst="wedgeRoundRectCallout">
            <a:avLst>
              <a:gd name="adj1" fmla="val 36685"/>
              <a:gd name="adj2" fmla="val 61167"/>
              <a:gd name="adj3" fmla="val 16667"/>
            </a:avLst>
          </a:prstGeom>
          <a:solidFill>
            <a:srgbClr val="FFCC99"/>
          </a:solidFill>
          <a:ln w="9525">
            <a:noFill/>
          </a:ln>
        </p:spPr>
        <p:txBody>
          <a:bodyPr wrap="none" anchor="ctr" anchorCtr="0"/>
          <a:p>
            <a:pPr algn="just" eaLnBrk="1" hangingPunct="1">
              <a:buChar char="•"/>
            </a:pPr>
            <a:r>
              <a:rPr lang="en-US" altLang="zh-CN" sz="2400" b="1" dirty="0">
                <a:solidFill>
                  <a:srgbClr val="990033"/>
                </a:solidFill>
                <a:latin typeface="Times New Roman" panose="02020603050405020304" pitchFamily="18" charset="0"/>
              </a:rPr>
              <a:t> </a:t>
            </a:r>
            <a:r>
              <a:rPr lang="zh-CN" altLang="en-US" sz="2400" b="1" dirty="0">
                <a:solidFill>
                  <a:srgbClr val="990033"/>
                </a:solidFill>
                <a:latin typeface="Times New Roman" panose="02020603050405020304" pitchFamily="18" charset="0"/>
              </a:rPr>
              <a:t>可由或阵列直接输出，</a:t>
            </a:r>
            <a:endParaRPr lang="zh-CN" altLang="en-US" sz="2400" b="1" dirty="0">
              <a:solidFill>
                <a:srgbClr val="990033"/>
              </a:solidFill>
              <a:latin typeface="Times New Roman" panose="02020603050405020304" pitchFamily="18" charset="0"/>
            </a:endParaRPr>
          </a:p>
          <a:p>
            <a:pPr algn="just" eaLnBrk="1" hangingPunct="1"/>
            <a:r>
              <a:rPr lang="zh-CN" altLang="en-US" sz="2400" b="1" dirty="0">
                <a:solidFill>
                  <a:srgbClr val="990033"/>
                </a:solidFill>
                <a:latin typeface="Times New Roman" panose="02020603050405020304" pitchFamily="18" charset="0"/>
              </a:rPr>
              <a:t>构成组合；</a:t>
            </a:r>
            <a:endParaRPr lang="zh-CN" altLang="en-US" sz="2400" b="1" dirty="0">
              <a:solidFill>
                <a:srgbClr val="990033"/>
              </a:solidFill>
              <a:latin typeface="Times New Roman" panose="02020603050405020304" pitchFamily="18" charset="0"/>
            </a:endParaRPr>
          </a:p>
          <a:p>
            <a:pPr algn="just" eaLnBrk="1" hangingPunct="1">
              <a:buChar char="•"/>
            </a:pPr>
            <a:r>
              <a:rPr lang="zh-CN" altLang="en-US" sz="2400" b="1" dirty="0">
                <a:solidFill>
                  <a:srgbClr val="990033"/>
                </a:solidFill>
                <a:latin typeface="Times New Roman" panose="02020603050405020304" pitchFamily="18" charset="0"/>
              </a:rPr>
              <a:t> 通过寄存器输出，</a:t>
            </a:r>
            <a:endParaRPr lang="zh-CN" altLang="en-US" sz="2400" b="1" dirty="0">
              <a:solidFill>
                <a:srgbClr val="990033"/>
              </a:solidFill>
              <a:latin typeface="Times New Roman" panose="02020603050405020304" pitchFamily="18" charset="0"/>
            </a:endParaRPr>
          </a:p>
          <a:p>
            <a:pPr algn="just" eaLnBrk="1" hangingPunct="1"/>
            <a:r>
              <a:rPr lang="zh-CN" altLang="en-US" sz="2400" b="1" dirty="0">
                <a:solidFill>
                  <a:srgbClr val="990033"/>
                </a:solidFill>
                <a:latin typeface="Times New Roman" panose="02020603050405020304" pitchFamily="18" charset="0"/>
              </a:rPr>
              <a:t>构成时序方式输出。</a:t>
            </a:r>
            <a:endParaRPr lang="zh-CN" altLang="en-US" b="1" dirty="0">
              <a:solidFill>
                <a:srgbClr val="990033"/>
              </a:solidFill>
              <a:latin typeface="Times New Roman" panose="02020603050405020304" pitchFamily="18" charset="0"/>
            </a:endParaRPr>
          </a:p>
        </p:txBody>
      </p:sp>
      <p:sp>
        <p:nvSpPr>
          <p:cNvPr id="5168" name="AutoShape 48"/>
          <p:cNvSpPr/>
          <p:nvPr/>
        </p:nvSpPr>
        <p:spPr>
          <a:xfrm>
            <a:off x="8001000" y="4343400"/>
            <a:ext cx="1143000" cy="1143000"/>
          </a:xfrm>
          <a:prstGeom prst="wedgeRoundRectCallout">
            <a:avLst>
              <a:gd name="adj1" fmla="val -60417"/>
              <a:gd name="adj2" fmla="val -56667"/>
              <a:gd name="adj3" fmla="val 16667"/>
            </a:avLst>
          </a:prstGeom>
          <a:solidFill>
            <a:srgbClr val="FFCC99"/>
          </a:solidFill>
          <a:ln w="9525">
            <a:noFill/>
          </a:ln>
        </p:spPr>
        <p:txBody>
          <a:bodyPr wrap="none" anchor="ctr" anchorCtr="0"/>
          <a:p>
            <a:pPr algn="ctr" eaLnBrk="1" hangingPunct="1"/>
            <a:r>
              <a:rPr lang="zh-CN" altLang="en-US" sz="2400" b="1" dirty="0">
                <a:solidFill>
                  <a:srgbClr val="990033"/>
                </a:solidFill>
                <a:latin typeface="Times New Roman" panose="02020603050405020304" pitchFamily="18" charset="0"/>
              </a:rPr>
              <a:t>可直接</a:t>
            </a:r>
            <a:endParaRPr lang="zh-CN" altLang="en-US" sz="2400" b="1" dirty="0">
              <a:solidFill>
                <a:srgbClr val="990033"/>
              </a:solidFill>
              <a:latin typeface="Times New Roman" panose="02020603050405020304" pitchFamily="18" charset="0"/>
            </a:endParaRPr>
          </a:p>
          <a:p>
            <a:pPr algn="ctr" eaLnBrk="1" hangingPunct="1"/>
            <a:r>
              <a:rPr lang="zh-CN" altLang="en-US" sz="2400" b="1" dirty="0">
                <a:solidFill>
                  <a:srgbClr val="990033"/>
                </a:solidFill>
                <a:latin typeface="Times New Roman" panose="02020603050405020304" pitchFamily="18" charset="0"/>
              </a:rPr>
              <a:t>输出</a:t>
            </a:r>
            <a:endParaRPr lang="zh-CN" altLang="en-US" sz="2400" b="1" dirty="0">
              <a:solidFill>
                <a:srgbClr val="990033"/>
              </a:solidFill>
              <a:latin typeface="Times New Roman" panose="02020603050405020304" pitchFamily="18" charset="0"/>
            </a:endParaRPr>
          </a:p>
        </p:txBody>
      </p:sp>
      <p:sp>
        <p:nvSpPr>
          <p:cNvPr id="5169" name="AutoShape 49"/>
          <p:cNvSpPr/>
          <p:nvPr/>
        </p:nvSpPr>
        <p:spPr>
          <a:xfrm>
            <a:off x="6019800" y="5029200"/>
            <a:ext cx="2362200" cy="762000"/>
          </a:xfrm>
          <a:prstGeom prst="wedgeRoundRectCallout">
            <a:avLst>
              <a:gd name="adj1" fmla="val 41736"/>
              <a:gd name="adj2" fmla="val 67500"/>
              <a:gd name="adj3" fmla="val 16667"/>
            </a:avLst>
          </a:prstGeom>
          <a:solidFill>
            <a:srgbClr val="FFCC99"/>
          </a:solidFill>
          <a:ln w="9525">
            <a:noFill/>
          </a:ln>
        </p:spPr>
        <p:txBody>
          <a:bodyPr wrap="none" anchor="ctr" anchorCtr="0"/>
          <a:p>
            <a:pPr algn="just" eaLnBrk="1" hangingPunct="1"/>
            <a:r>
              <a:rPr lang="zh-CN" altLang="en-US" sz="2400" b="1" dirty="0">
                <a:solidFill>
                  <a:srgbClr val="990033"/>
                </a:solidFill>
                <a:latin typeface="Times New Roman" panose="02020603050405020304" pitchFamily="18" charset="0"/>
              </a:rPr>
              <a:t>也可反馈到输入</a:t>
            </a:r>
            <a:endParaRPr lang="zh-CN" altLang="en-US" sz="2400" b="1" dirty="0">
              <a:solidFill>
                <a:srgbClr val="990033"/>
              </a:solidFill>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29"/>
                                        </p:tgtEl>
                                        <p:attrNameLst>
                                          <p:attrName>style.visibility</p:attrName>
                                        </p:attrNameLst>
                                      </p:cBhvr>
                                      <p:to>
                                        <p:strVal val="visible"/>
                                      </p:to>
                                    </p:set>
                                    <p:animEffect transition="in" filter="wipe(left)">
                                      <p:cBhvr>
                                        <p:cTn id="7" dur="500"/>
                                        <p:tgtEl>
                                          <p:spTgt spid="51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30"/>
                                        </p:tgtEl>
                                        <p:attrNameLst>
                                          <p:attrName>style.visibility</p:attrName>
                                        </p:attrNameLst>
                                      </p:cBhvr>
                                      <p:to>
                                        <p:strVal val="visible"/>
                                      </p:to>
                                    </p:set>
                                    <p:animEffect transition="in" filter="wipe(left)">
                                      <p:cBhvr>
                                        <p:cTn id="12" dur="500"/>
                                        <p:tgtEl>
                                          <p:spTgt spid="513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51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5132"/>
                                        </p:tgtEl>
                                        <p:attrNameLst>
                                          <p:attrName>style.visibility</p:attrName>
                                        </p:attrNameLst>
                                      </p:cBhvr>
                                      <p:to>
                                        <p:strVal val="visible"/>
                                      </p:to>
                                    </p:set>
                                    <p:anim calcmode="lin" valueType="num">
                                      <p:cBhvr additive="base">
                                        <p:cTn id="21" dur="500" fill="hold"/>
                                        <p:tgtEl>
                                          <p:spTgt spid="5132"/>
                                        </p:tgtEl>
                                        <p:attrNameLst>
                                          <p:attrName>ppt_x</p:attrName>
                                        </p:attrNameLst>
                                      </p:cBhvr>
                                      <p:tavLst>
                                        <p:tav tm="0">
                                          <p:val>
                                            <p:strVal val="1+#ppt_w/2"/>
                                          </p:val>
                                        </p:tav>
                                        <p:tav tm="100000">
                                          <p:val>
                                            <p:strVal val="#ppt_x"/>
                                          </p:val>
                                        </p:tav>
                                      </p:tavLst>
                                    </p:anim>
                                    <p:anim calcmode="lin" valueType="num">
                                      <p:cBhvr additive="base">
                                        <p:cTn id="22" dur="500" fill="hold"/>
                                        <p:tgtEl>
                                          <p:spTgt spid="5132"/>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133"/>
                                        </p:tgtEl>
                                        <p:attrNameLst>
                                          <p:attrName>style.visibility</p:attrName>
                                        </p:attrNameLst>
                                      </p:cBhvr>
                                      <p:to>
                                        <p:strVal val="visible"/>
                                      </p:to>
                                    </p:set>
                                    <p:animEffect transition="in" filter="wipe(left)">
                                      <p:cBhvr>
                                        <p:cTn id="27" dur="500"/>
                                        <p:tgtEl>
                                          <p:spTgt spid="513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134"/>
                                        </p:tgtEl>
                                        <p:attrNameLst>
                                          <p:attrName>style.visibility</p:attrName>
                                        </p:attrNameLst>
                                      </p:cBhvr>
                                      <p:to>
                                        <p:strVal val="visible"/>
                                      </p:to>
                                    </p:set>
                                    <p:animEffect transition="in" filter="wipe(left)">
                                      <p:cBhvr>
                                        <p:cTn id="32" dur="500"/>
                                        <p:tgtEl>
                                          <p:spTgt spid="5134"/>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5135"/>
                                        </p:tgtEl>
                                        <p:attrNameLst>
                                          <p:attrName>style.visibility</p:attrName>
                                        </p:attrNameLst>
                                      </p:cBhvr>
                                      <p:to>
                                        <p:strVal val="visible"/>
                                      </p:to>
                                    </p:set>
                                    <p:animEffect transition="in" filter="box(out)">
                                      <p:cBhvr>
                                        <p:cTn id="37" dur="500"/>
                                        <p:tgtEl>
                                          <p:spTgt spid="5135"/>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5136"/>
                                        </p:tgtEl>
                                        <p:attrNameLst>
                                          <p:attrName>style.visibility</p:attrName>
                                        </p:attrNameLst>
                                      </p:cBhvr>
                                      <p:to>
                                        <p:strVal val="visible"/>
                                      </p:to>
                                    </p:set>
                                    <p:anim calcmode="lin" valueType="num">
                                      <p:cBhvr additive="base">
                                        <p:cTn id="42" dur="500" fill="hold"/>
                                        <p:tgtEl>
                                          <p:spTgt spid="5136"/>
                                        </p:tgtEl>
                                        <p:attrNameLst>
                                          <p:attrName>ppt_x</p:attrName>
                                        </p:attrNameLst>
                                      </p:cBhvr>
                                      <p:tavLst>
                                        <p:tav tm="0">
                                          <p:val>
                                            <p:strVal val="1+#ppt_w/2"/>
                                          </p:val>
                                        </p:tav>
                                        <p:tav tm="100000">
                                          <p:val>
                                            <p:strVal val="#ppt_x"/>
                                          </p:val>
                                        </p:tav>
                                      </p:tavLst>
                                    </p:anim>
                                    <p:anim calcmode="lin" valueType="num">
                                      <p:cBhvr additive="base">
                                        <p:cTn id="43" dur="500" fill="hold"/>
                                        <p:tgtEl>
                                          <p:spTgt spid="5136"/>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5136"/>
                                        </p:tgtEl>
                                        <p:attrNameLst>
                                          <p:attrName>style.visibility</p:attrName>
                                        </p:attrNameLst>
                                      </p:cBhvr>
                                      <p:to>
                                        <p:strVal val="hidden"/>
                                      </p:to>
                                    </p:set>
                                  </p:subTnLst>
                                </p:cTn>
                              </p:par>
                            </p:childTnLst>
                          </p:cTn>
                        </p:par>
                      </p:childTnLst>
                    </p:cTn>
                  </p:par>
                  <p:par>
                    <p:cTn id="44" fill="hold">
                      <p:stCondLst>
                        <p:cond delay="indefinite"/>
                      </p:stCondLst>
                      <p:childTnLst>
                        <p:par>
                          <p:cTn id="45" fill="hold">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5137"/>
                                        </p:tgtEl>
                                        <p:attrNameLst>
                                          <p:attrName>style.visibility</p:attrName>
                                        </p:attrNameLst>
                                      </p:cBhvr>
                                      <p:to>
                                        <p:strVal val="visible"/>
                                      </p:to>
                                    </p:set>
                                    <p:anim calcmode="lin" valueType="num">
                                      <p:cBhvr additive="base">
                                        <p:cTn id="48" dur="500" fill="hold"/>
                                        <p:tgtEl>
                                          <p:spTgt spid="5137"/>
                                        </p:tgtEl>
                                        <p:attrNameLst>
                                          <p:attrName>ppt_x</p:attrName>
                                        </p:attrNameLst>
                                      </p:cBhvr>
                                      <p:tavLst>
                                        <p:tav tm="0">
                                          <p:val>
                                            <p:strVal val="0-#ppt_w/2"/>
                                          </p:val>
                                        </p:tav>
                                        <p:tav tm="100000">
                                          <p:val>
                                            <p:strVal val="#ppt_x"/>
                                          </p:val>
                                        </p:tav>
                                      </p:tavLst>
                                    </p:anim>
                                    <p:anim calcmode="lin" valueType="num">
                                      <p:cBhvr additive="base">
                                        <p:cTn id="49" dur="500" fill="hold"/>
                                        <p:tgtEl>
                                          <p:spTgt spid="5137"/>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8" fill="hold" grpId="0" nodeType="clickEffect">
                                  <p:stCondLst>
                                    <p:cond delay="0"/>
                                  </p:stCondLst>
                                  <p:childTnLst>
                                    <p:set>
                                      <p:cBhvr>
                                        <p:cTn id="53" dur="1" fill="hold">
                                          <p:stCondLst>
                                            <p:cond delay="0"/>
                                          </p:stCondLst>
                                        </p:cTn>
                                        <p:tgtEl>
                                          <p:spTgt spid="5139"/>
                                        </p:tgtEl>
                                        <p:attrNameLst>
                                          <p:attrName>style.visibility</p:attrName>
                                        </p:attrNameLst>
                                      </p:cBhvr>
                                      <p:to>
                                        <p:strVal val="visible"/>
                                      </p:to>
                                    </p:set>
                                    <p:anim calcmode="lin" valueType="num">
                                      <p:cBhvr additive="base">
                                        <p:cTn id="54" dur="500" fill="hold"/>
                                        <p:tgtEl>
                                          <p:spTgt spid="5139"/>
                                        </p:tgtEl>
                                        <p:attrNameLst>
                                          <p:attrName>ppt_x</p:attrName>
                                        </p:attrNameLst>
                                      </p:cBhvr>
                                      <p:tavLst>
                                        <p:tav tm="0">
                                          <p:val>
                                            <p:strVal val="0-#ppt_w/2"/>
                                          </p:val>
                                        </p:tav>
                                        <p:tav tm="100000">
                                          <p:val>
                                            <p:strVal val="#ppt_x"/>
                                          </p:val>
                                        </p:tav>
                                      </p:tavLst>
                                    </p:anim>
                                    <p:anim calcmode="lin" valueType="num">
                                      <p:cBhvr additive="base">
                                        <p:cTn id="55" dur="500" fill="hold"/>
                                        <p:tgtEl>
                                          <p:spTgt spid="5139"/>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5140"/>
                                        </p:tgtEl>
                                        <p:attrNameLst>
                                          <p:attrName>style.visibility</p:attrName>
                                        </p:attrNameLst>
                                      </p:cBhvr>
                                      <p:to>
                                        <p:strVal val="visible"/>
                                      </p:to>
                                    </p:set>
                                    <p:animEffect transition="in" filter="wipe(left)">
                                      <p:cBhvr>
                                        <p:cTn id="60" dur="500"/>
                                        <p:tgtEl>
                                          <p:spTgt spid="5140"/>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ntr" presetSubtype="2" fill="hold" grpId="0" nodeType="clickEffect">
                                  <p:stCondLst>
                                    <p:cond delay="0"/>
                                  </p:stCondLst>
                                  <p:childTnLst>
                                    <p:set>
                                      <p:cBhvr>
                                        <p:cTn id="64" dur="1" fill="hold">
                                          <p:stCondLst>
                                            <p:cond delay="0"/>
                                          </p:stCondLst>
                                        </p:cTn>
                                        <p:tgtEl>
                                          <p:spTgt spid="5141"/>
                                        </p:tgtEl>
                                        <p:attrNameLst>
                                          <p:attrName>style.visibility</p:attrName>
                                        </p:attrNameLst>
                                      </p:cBhvr>
                                      <p:to>
                                        <p:strVal val="visible"/>
                                      </p:to>
                                    </p:set>
                                    <p:anim calcmode="lin" valueType="num">
                                      <p:cBhvr additive="base">
                                        <p:cTn id="65" dur="500" fill="hold"/>
                                        <p:tgtEl>
                                          <p:spTgt spid="5141"/>
                                        </p:tgtEl>
                                        <p:attrNameLst>
                                          <p:attrName>ppt_x</p:attrName>
                                        </p:attrNameLst>
                                      </p:cBhvr>
                                      <p:tavLst>
                                        <p:tav tm="0">
                                          <p:val>
                                            <p:strVal val="1+#ppt_w/2"/>
                                          </p:val>
                                        </p:tav>
                                        <p:tav tm="100000">
                                          <p:val>
                                            <p:strVal val="#ppt_x"/>
                                          </p:val>
                                        </p:tav>
                                      </p:tavLst>
                                    </p:anim>
                                    <p:anim calcmode="lin" valueType="num">
                                      <p:cBhvr additive="base">
                                        <p:cTn id="66" dur="500" fill="hold"/>
                                        <p:tgtEl>
                                          <p:spTgt spid="5141"/>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5142"/>
                                        </p:tgtEl>
                                        <p:attrNameLst>
                                          <p:attrName>style.visibility</p:attrName>
                                        </p:attrNameLst>
                                      </p:cBhvr>
                                      <p:to>
                                        <p:strVal val="visible"/>
                                      </p:to>
                                    </p:set>
                                    <p:animEffect transition="in" filter="wipe(left)">
                                      <p:cBhvr>
                                        <p:cTn id="71" dur="500"/>
                                        <p:tgtEl>
                                          <p:spTgt spid="5142"/>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499"/>
                                          </p:stCondLst>
                                        </p:cTn>
                                        <p:tgtEl>
                                          <p:spTgt spid="5167"/>
                                        </p:tgtEl>
                                        <p:attrNameLst>
                                          <p:attrName>style.visibility</p:attrName>
                                        </p:attrNameLst>
                                      </p:cBhvr>
                                      <p:to>
                                        <p:strVal val="visible"/>
                                      </p:to>
                                    </p:set>
                                  </p:childTnLst>
                                  <p:subTnLst>
                                    <p:set>
                                      <p:cBhvr override="childStyle">
                                        <p:cTn dur="1" fill="hold" display="0" masterRel="nextClick" afterEffect="1"/>
                                        <p:tgtEl>
                                          <p:spTgt spid="5167"/>
                                        </p:tgtEl>
                                        <p:attrNameLst>
                                          <p:attrName>style.visibility</p:attrName>
                                        </p:attrNameLst>
                                      </p:cBhvr>
                                      <p:to>
                                        <p:strVal val="hidden"/>
                                      </p:to>
                                    </p:set>
                                  </p:subTnLst>
                                </p:cTn>
                              </p:par>
                            </p:childTnLst>
                          </p:cTn>
                        </p:par>
                      </p:childTnLst>
                    </p:cTn>
                  </p:par>
                  <p:par>
                    <p:cTn id="76" fill="hold">
                      <p:stCondLst>
                        <p:cond delay="indefinite"/>
                      </p:stCondLst>
                      <p:childTnLst>
                        <p:par>
                          <p:cTn id="77" fill="hold">
                            <p:stCondLst>
                              <p:cond delay="0"/>
                            </p:stCondLst>
                            <p:childTnLst>
                              <p:par>
                                <p:cTn id="78" presetID="2" presetClass="entr" presetSubtype="8" fill="hold" grpId="0" nodeType="clickEffect">
                                  <p:stCondLst>
                                    <p:cond delay="0"/>
                                  </p:stCondLst>
                                  <p:childTnLst>
                                    <p:set>
                                      <p:cBhvr>
                                        <p:cTn id="79" dur="1" fill="hold">
                                          <p:stCondLst>
                                            <p:cond delay="0"/>
                                          </p:stCondLst>
                                        </p:cTn>
                                        <p:tgtEl>
                                          <p:spTgt spid="5166"/>
                                        </p:tgtEl>
                                        <p:attrNameLst>
                                          <p:attrName>style.visibility</p:attrName>
                                        </p:attrNameLst>
                                      </p:cBhvr>
                                      <p:to>
                                        <p:strVal val="visible"/>
                                      </p:to>
                                    </p:set>
                                    <p:anim calcmode="lin" valueType="num">
                                      <p:cBhvr additive="base">
                                        <p:cTn id="80" dur="500" fill="hold"/>
                                        <p:tgtEl>
                                          <p:spTgt spid="5166"/>
                                        </p:tgtEl>
                                        <p:attrNameLst>
                                          <p:attrName>ppt_x</p:attrName>
                                        </p:attrNameLst>
                                      </p:cBhvr>
                                      <p:tavLst>
                                        <p:tav tm="0">
                                          <p:val>
                                            <p:strVal val="0-#ppt_w/2"/>
                                          </p:val>
                                        </p:tav>
                                        <p:tav tm="100000">
                                          <p:val>
                                            <p:strVal val="#ppt_x"/>
                                          </p:val>
                                        </p:tav>
                                      </p:tavLst>
                                    </p:anim>
                                    <p:anim calcmode="lin" valueType="num">
                                      <p:cBhvr additive="base">
                                        <p:cTn id="81" dur="500" fill="hold"/>
                                        <p:tgtEl>
                                          <p:spTgt spid="5166"/>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5166"/>
                                        </p:tgtEl>
                                        <p:attrNameLst>
                                          <p:attrName>style.visibility</p:attrName>
                                        </p:attrNameLst>
                                      </p:cBhvr>
                                      <p:to>
                                        <p:strVal val="hidden"/>
                                      </p:to>
                                    </p:set>
                                  </p:subTnLst>
                                </p:cTn>
                              </p:par>
                            </p:childTnLst>
                          </p:cTn>
                        </p:par>
                      </p:childTnLst>
                    </p:cTn>
                  </p:par>
                  <p:par>
                    <p:cTn id="82" fill="hold">
                      <p:stCondLst>
                        <p:cond delay="indefinite"/>
                      </p:stCondLst>
                      <p:childTnLst>
                        <p:par>
                          <p:cTn id="83" fill="hold">
                            <p:stCondLst>
                              <p:cond delay="0"/>
                            </p:stCondLst>
                            <p:childTnLst>
                              <p:par>
                                <p:cTn id="84" presetID="18" presetClass="entr" presetSubtype="9" fill="hold" nodeType="clickEffect">
                                  <p:stCondLst>
                                    <p:cond delay="0"/>
                                  </p:stCondLst>
                                  <p:childTnLst>
                                    <p:set>
                                      <p:cBhvr>
                                        <p:cTn id="85" dur="1" fill="hold">
                                          <p:stCondLst>
                                            <p:cond delay="0"/>
                                          </p:stCondLst>
                                        </p:cTn>
                                        <p:tgtEl>
                                          <p:spTgt spid="5160"/>
                                        </p:tgtEl>
                                        <p:attrNameLst>
                                          <p:attrName>style.visibility</p:attrName>
                                        </p:attrNameLst>
                                      </p:cBhvr>
                                      <p:to>
                                        <p:strVal val="visible"/>
                                      </p:to>
                                    </p:set>
                                    <p:animEffect transition="in" filter="strips(upLeft)">
                                      <p:cBhvr>
                                        <p:cTn id="86" dur="500"/>
                                        <p:tgtEl>
                                          <p:spTgt spid="5160"/>
                                        </p:tgtEl>
                                      </p:cBhvr>
                                    </p:animEffect>
                                  </p:childTnLst>
                                </p:cTn>
                              </p:par>
                            </p:childTnLst>
                          </p:cTn>
                        </p:par>
                      </p:childTnLst>
                    </p:cTn>
                  </p:par>
                  <p:par>
                    <p:cTn id="87" fill="hold">
                      <p:stCondLst>
                        <p:cond delay="indefinite"/>
                      </p:stCondLst>
                      <p:childTnLst>
                        <p:par>
                          <p:cTn id="88" fill="hold">
                            <p:stCondLst>
                              <p:cond delay="0"/>
                            </p:stCondLst>
                            <p:childTnLst>
                              <p:par>
                                <p:cTn id="89" presetID="18" presetClass="entr" presetSubtype="9" fill="hold" nodeType="clickEffect">
                                  <p:stCondLst>
                                    <p:cond delay="0"/>
                                  </p:stCondLst>
                                  <p:childTnLst>
                                    <p:set>
                                      <p:cBhvr>
                                        <p:cTn id="90" dur="1" fill="hold">
                                          <p:stCondLst>
                                            <p:cond delay="0"/>
                                          </p:stCondLst>
                                        </p:cTn>
                                        <p:tgtEl>
                                          <p:spTgt spid="5163"/>
                                        </p:tgtEl>
                                        <p:attrNameLst>
                                          <p:attrName>style.visibility</p:attrName>
                                        </p:attrNameLst>
                                      </p:cBhvr>
                                      <p:to>
                                        <p:strVal val="visible"/>
                                      </p:to>
                                    </p:set>
                                    <p:animEffect transition="in" filter="strips(upLeft)">
                                      <p:cBhvr>
                                        <p:cTn id="91" dur="500"/>
                                        <p:tgtEl>
                                          <p:spTgt spid="5163"/>
                                        </p:tgtEl>
                                      </p:cBhvr>
                                    </p:animEffect>
                                  </p:childTnLst>
                                </p:cTn>
                              </p:par>
                            </p:childTnLst>
                          </p:cTn>
                        </p:par>
                      </p:childTnLst>
                    </p:cTn>
                  </p:par>
                  <p:par>
                    <p:cTn id="92" fill="hold">
                      <p:stCondLst>
                        <p:cond delay="indefinite"/>
                      </p:stCondLst>
                      <p:childTnLst>
                        <p:par>
                          <p:cTn id="93" fill="hold">
                            <p:stCondLst>
                              <p:cond delay="0"/>
                            </p:stCondLst>
                            <p:childTnLst>
                              <p:par>
                                <p:cTn id="94" presetID="2" presetClass="entr" presetSubtype="2" fill="hold" grpId="0" nodeType="clickEffect">
                                  <p:stCondLst>
                                    <p:cond delay="0"/>
                                  </p:stCondLst>
                                  <p:childTnLst>
                                    <p:set>
                                      <p:cBhvr>
                                        <p:cTn id="95" dur="1" fill="hold">
                                          <p:stCondLst>
                                            <p:cond delay="0"/>
                                          </p:stCondLst>
                                        </p:cTn>
                                        <p:tgtEl>
                                          <p:spTgt spid="5168"/>
                                        </p:tgtEl>
                                        <p:attrNameLst>
                                          <p:attrName>style.visibility</p:attrName>
                                        </p:attrNameLst>
                                      </p:cBhvr>
                                      <p:to>
                                        <p:strVal val="visible"/>
                                      </p:to>
                                    </p:set>
                                    <p:anim calcmode="lin" valueType="num">
                                      <p:cBhvr additive="base">
                                        <p:cTn id="96" dur="500" fill="hold"/>
                                        <p:tgtEl>
                                          <p:spTgt spid="5168"/>
                                        </p:tgtEl>
                                        <p:attrNameLst>
                                          <p:attrName>ppt_x</p:attrName>
                                        </p:attrNameLst>
                                      </p:cBhvr>
                                      <p:tavLst>
                                        <p:tav tm="0">
                                          <p:val>
                                            <p:strVal val="1+#ppt_w/2"/>
                                          </p:val>
                                        </p:tav>
                                        <p:tav tm="100000">
                                          <p:val>
                                            <p:strVal val="#ppt_x"/>
                                          </p:val>
                                        </p:tav>
                                      </p:tavLst>
                                    </p:anim>
                                    <p:anim calcmode="lin" valueType="num">
                                      <p:cBhvr additive="base">
                                        <p:cTn id="97" dur="500" fill="hold"/>
                                        <p:tgtEl>
                                          <p:spTgt spid="5168"/>
                                        </p:tgtEl>
                                        <p:attrNameLst>
                                          <p:attrName>ppt_y</p:attrName>
                                        </p:attrNameLst>
                                      </p:cBhvr>
                                      <p:tavLst>
                                        <p:tav tm="0">
                                          <p:val>
                                            <p:strVal val="#ppt_y"/>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grpId="0" nodeType="clickEffect">
                                  <p:stCondLst>
                                    <p:cond delay="0"/>
                                  </p:stCondLst>
                                  <p:childTnLst>
                                    <p:set>
                                      <p:cBhvr>
                                        <p:cTn id="101" dur="1" fill="hold">
                                          <p:stCondLst>
                                            <p:cond delay="0"/>
                                          </p:stCondLst>
                                        </p:cTn>
                                        <p:tgtEl>
                                          <p:spTgt spid="5169"/>
                                        </p:tgtEl>
                                        <p:attrNameLst>
                                          <p:attrName>style.visibility</p:attrName>
                                        </p:attrNameLst>
                                      </p:cBhvr>
                                      <p:to>
                                        <p:strVal val="visible"/>
                                      </p:to>
                                    </p:set>
                                    <p:anim calcmode="lin" valueType="num">
                                      <p:cBhvr additive="base">
                                        <p:cTn id="102" dur="500" fill="hold"/>
                                        <p:tgtEl>
                                          <p:spTgt spid="5169"/>
                                        </p:tgtEl>
                                        <p:attrNameLst>
                                          <p:attrName>ppt_x</p:attrName>
                                        </p:attrNameLst>
                                      </p:cBhvr>
                                      <p:tavLst>
                                        <p:tav tm="0">
                                          <p:val>
                                            <p:strVal val="#ppt_x"/>
                                          </p:val>
                                        </p:tav>
                                        <p:tav tm="100000">
                                          <p:val>
                                            <p:strVal val="#ppt_x"/>
                                          </p:val>
                                        </p:tav>
                                      </p:tavLst>
                                    </p:anim>
                                    <p:anim calcmode="lin" valueType="num">
                                      <p:cBhvr additive="base">
                                        <p:cTn id="103" dur="500" fill="hold"/>
                                        <p:tgtEl>
                                          <p:spTgt spid="51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 grpId="0"/>
      <p:bldP spid="5131" grpId="0" animBg="1"/>
      <p:bldP spid="5132" grpId="0" animBg="1"/>
      <p:bldP spid="5133" grpId="0" animBg="1"/>
      <p:bldP spid="5134" grpId="0" animBg="1"/>
      <p:bldP spid="5136" grpId="0" animBg="1"/>
      <p:bldP spid="5137" grpId="0" animBg="1"/>
      <p:bldP spid="5139" grpId="0" animBg="1"/>
      <p:bldP spid="5140" grpId="0" animBg="1"/>
      <p:bldP spid="5141" grpId="0" animBg="1"/>
      <p:bldP spid="5142" grpId="0" animBg="1"/>
      <p:bldP spid="5166" grpId="0" animBg="1"/>
      <p:bldP spid="5167" grpId="0" animBg="1"/>
      <p:bldP spid="5168" grpId="0" animBg="1"/>
      <p:bldP spid="516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ext Box 11"/>
          <p:cNvSpPr txBox="1"/>
          <p:nvPr/>
        </p:nvSpPr>
        <p:spPr>
          <a:xfrm>
            <a:off x="762000" y="76200"/>
            <a:ext cx="7696200" cy="701675"/>
          </a:xfrm>
          <a:prstGeom prst="rect">
            <a:avLst/>
          </a:prstGeom>
          <a:solidFill>
            <a:srgbClr val="FFCC99"/>
          </a:solidFill>
          <a:ln w="9525">
            <a:noFill/>
          </a:ln>
        </p:spPr>
        <p:txBody>
          <a:bodyPr>
            <a:spAutoFit/>
          </a:bodyPr>
          <a:p>
            <a:pPr eaLnBrk="1" hangingPunct="1">
              <a:spcBef>
                <a:spcPct val="50000"/>
              </a:spcBef>
            </a:pPr>
            <a:r>
              <a:rPr lang="zh-CN" altLang="en-US" sz="4000" b="1" dirty="0">
                <a:solidFill>
                  <a:srgbClr val="990033"/>
                </a:solidFill>
                <a:latin typeface="隶书" panose="02010509060101010101" pitchFamily="49" charset="-122"/>
                <a:ea typeface="隶书" panose="02010509060101010101" pitchFamily="49" charset="-122"/>
              </a:rPr>
              <a:t>二、</a:t>
            </a:r>
            <a:r>
              <a:rPr lang="en-US" altLang="zh-CN" sz="4000" b="1" dirty="0">
                <a:solidFill>
                  <a:srgbClr val="990033"/>
                </a:solidFill>
                <a:latin typeface="隶书" panose="02010509060101010101" pitchFamily="49" charset="-122"/>
                <a:ea typeface="隶书" panose="02010509060101010101" pitchFamily="49" charset="-122"/>
              </a:rPr>
              <a:t>PLD</a:t>
            </a:r>
            <a:r>
              <a:rPr lang="zh-CN" altLang="en-US" sz="4000" b="1" dirty="0">
                <a:solidFill>
                  <a:srgbClr val="990033"/>
                </a:solidFill>
                <a:latin typeface="隶书" panose="02010509060101010101" pitchFamily="49" charset="-122"/>
                <a:ea typeface="隶书" panose="02010509060101010101" pitchFamily="49" charset="-122"/>
              </a:rPr>
              <a:t>的逻辑符号表示方法</a:t>
            </a:r>
            <a:endParaRPr lang="zh-CN" altLang="en-US" sz="4000" b="1" dirty="0">
              <a:solidFill>
                <a:srgbClr val="990033"/>
              </a:solidFill>
              <a:latin typeface="隶书" panose="02010509060101010101" pitchFamily="49" charset="-122"/>
              <a:ea typeface="隶书" panose="02010509060101010101" pitchFamily="49" charset="-122"/>
            </a:endParaRPr>
          </a:p>
        </p:txBody>
      </p:sp>
      <p:sp>
        <p:nvSpPr>
          <p:cNvPr id="9229" name="Text Box 13"/>
          <p:cNvSpPr txBox="1"/>
          <p:nvPr/>
        </p:nvSpPr>
        <p:spPr>
          <a:xfrm>
            <a:off x="457200" y="990600"/>
            <a:ext cx="4648200" cy="457200"/>
          </a:xfrm>
          <a:prstGeom prst="rect">
            <a:avLst/>
          </a:prstGeom>
          <a:noFill/>
          <a:ln w="9525">
            <a:noFill/>
          </a:ln>
        </p:spPr>
        <p:txBody>
          <a:bodyPr>
            <a:spAutoFit/>
          </a:bodyPr>
          <a:p>
            <a:pPr eaLnBrk="1" hangingPunct="1">
              <a:spcBef>
                <a:spcPct val="50000"/>
              </a:spcBef>
            </a:pPr>
            <a:r>
              <a:rPr lang="en-US" altLang="zh-CN" sz="2400" b="1" dirty="0">
                <a:solidFill>
                  <a:schemeClr val="tx2"/>
                </a:solidFill>
                <a:latin typeface="Times New Roman" panose="02020603050405020304" pitchFamily="18" charset="0"/>
              </a:rPr>
              <a:t>1.</a:t>
            </a:r>
            <a:r>
              <a:rPr lang="zh-CN" altLang="en-US" sz="2400" b="1" dirty="0">
                <a:solidFill>
                  <a:schemeClr val="tx2"/>
                </a:solidFill>
                <a:latin typeface="Times New Roman" panose="02020603050405020304" pitchFamily="18" charset="0"/>
              </a:rPr>
              <a:t>输入缓冲器表示方法</a:t>
            </a:r>
            <a:endParaRPr lang="zh-CN" altLang="en-US" sz="2400" b="1" dirty="0">
              <a:solidFill>
                <a:schemeClr val="tx2"/>
              </a:solidFill>
              <a:latin typeface="Times New Roman" panose="02020603050405020304" pitchFamily="18" charset="0"/>
            </a:endParaRPr>
          </a:p>
        </p:txBody>
      </p:sp>
      <p:grpSp>
        <p:nvGrpSpPr>
          <p:cNvPr id="9245" name="Group 29"/>
          <p:cNvGrpSpPr/>
          <p:nvPr/>
        </p:nvGrpSpPr>
        <p:grpSpPr>
          <a:xfrm>
            <a:off x="4038600" y="1066800"/>
            <a:ext cx="3657600" cy="1219200"/>
            <a:chOff x="432" y="1344"/>
            <a:chExt cx="2304" cy="768"/>
          </a:xfrm>
        </p:grpSpPr>
        <p:sp>
          <p:nvSpPr>
            <p:cNvPr id="8245" name="Line 18"/>
            <p:cNvSpPr/>
            <p:nvPr/>
          </p:nvSpPr>
          <p:spPr>
            <a:xfrm>
              <a:off x="1248" y="1344"/>
              <a:ext cx="0" cy="672"/>
            </a:xfrm>
            <a:prstGeom prst="line">
              <a:avLst/>
            </a:prstGeom>
            <a:ln w="38100" cap="flat" cmpd="sng">
              <a:solidFill>
                <a:schemeClr val="tx1"/>
              </a:solidFill>
              <a:prstDash val="solid"/>
              <a:headEnd type="none" w="med" len="med"/>
              <a:tailEnd type="none" w="med" len="med"/>
            </a:ln>
          </p:spPr>
        </p:sp>
        <p:sp>
          <p:nvSpPr>
            <p:cNvPr id="8246" name="Line 19"/>
            <p:cNvSpPr/>
            <p:nvPr/>
          </p:nvSpPr>
          <p:spPr>
            <a:xfrm flipV="1">
              <a:off x="1248" y="1680"/>
              <a:ext cx="672" cy="336"/>
            </a:xfrm>
            <a:prstGeom prst="line">
              <a:avLst/>
            </a:prstGeom>
            <a:ln w="38100" cap="flat" cmpd="sng">
              <a:solidFill>
                <a:schemeClr val="tx1"/>
              </a:solidFill>
              <a:prstDash val="solid"/>
              <a:headEnd type="none" w="med" len="med"/>
              <a:tailEnd type="none" w="med" len="med"/>
            </a:ln>
          </p:spPr>
        </p:sp>
        <p:sp>
          <p:nvSpPr>
            <p:cNvPr id="8247" name="Line 20"/>
            <p:cNvSpPr/>
            <p:nvPr/>
          </p:nvSpPr>
          <p:spPr>
            <a:xfrm>
              <a:off x="1248" y="1344"/>
              <a:ext cx="672" cy="336"/>
            </a:xfrm>
            <a:prstGeom prst="line">
              <a:avLst/>
            </a:prstGeom>
            <a:ln w="38100" cap="flat" cmpd="sng">
              <a:solidFill>
                <a:schemeClr val="tx1"/>
              </a:solidFill>
              <a:prstDash val="solid"/>
              <a:headEnd type="none" w="med" len="med"/>
              <a:tailEnd type="none" w="med" len="med"/>
            </a:ln>
          </p:spPr>
        </p:sp>
        <p:sp>
          <p:nvSpPr>
            <p:cNvPr id="8248" name="Line 21"/>
            <p:cNvSpPr/>
            <p:nvPr/>
          </p:nvSpPr>
          <p:spPr>
            <a:xfrm flipH="1">
              <a:off x="672" y="1680"/>
              <a:ext cx="576" cy="0"/>
            </a:xfrm>
            <a:prstGeom prst="line">
              <a:avLst/>
            </a:prstGeom>
            <a:ln w="38100" cap="flat" cmpd="sng">
              <a:solidFill>
                <a:schemeClr val="tx1"/>
              </a:solidFill>
              <a:prstDash val="solid"/>
              <a:headEnd type="none" w="med" len="med"/>
              <a:tailEnd type="none" w="med" len="med"/>
            </a:ln>
          </p:spPr>
        </p:sp>
        <p:sp>
          <p:nvSpPr>
            <p:cNvPr id="8249" name="Line 22"/>
            <p:cNvSpPr/>
            <p:nvPr/>
          </p:nvSpPr>
          <p:spPr>
            <a:xfrm>
              <a:off x="1536" y="1488"/>
              <a:ext cx="768" cy="0"/>
            </a:xfrm>
            <a:prstGeom prst="line">
              <a:avLst/>
            </a:prstGeom>
            <a:ln w="38100" cap="flat" cmpd="sng">
              <a:solidFill>
                <a:schemeClr val="tx1"/>
              </a:solidFill>
              <a:prstDash val="solid"/>
              <a:headEnd type="none" w="med" len="med"/>
              <a:tailEnd type="none" w="med" len="med"/>
            </a:ln>
          </p:spPr>
        </p:sp>
        <p:sp>
          <p:nvSpPr>
            <p:cNvPr id="8250" name="Oval 23"/>
            <p:cNvSpPr/>
            <p:nvPr/>
          </p:nvSpPr>
          <p:spPr>
            <a:xfrm>
              <a:off x="1536" y="1872"/>
              <a:ext cx="96" cy="96"/>
            </a:xfrm>
            <a:prstGeom prst="ellipse">
              <a:avLst/>
            </a:prstGeom>
            <a:noFill/>
            <a:ln w="38100" cap="flat" cmpd="sng">
              <a:solidFill>
                <a:schemeClr val="tx1"/>
              </a:solidFill>
              <a:prstDash val="solid"/>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8251" name="Line 24"/>
            <p:cNvSpPr/>
            <p:nvPr/>
          </p:nvSpPr>
          <p:spPr>
            <a:xfrm>
              <a:off x="1632" y="1920"/>
              <a:ext cx="672" cy="0"/>
            </a:xfrm>
            <a:prstGeom prst="line">
              <a:avLst/>
            </a:prstGeom>
            <a:ln w="38100" cap="flat" cmpd="sng">
              <a:solidFill>
                <a:schemeClr val="tx1"/>
              </a:solidFill>
              <a:prstDash val="solid"/>
              <a:headEnd type="none" w="med" len="med"/>
              <a:tailEnd type="none" w="med" len="med"/>
            </a:ln>
          </p:spPr>
        </p:sp>
        <p:sp>
          <p:nvSpPr>
            <p:cNvPr id="8252" name="Text Box 25"/>
            <p:cNvSpPr txBox="1"/>
            <p:nvPr/>
          </p:nvSpPr>
          <p:spPr>
            <a:xfrm>
              <a:off x="432" y="1536"/>
              <a:ext cx="432" cy="288"/>
            </a:xfrm>
            <a:prstGeom prst="rect">
              <a:avLst/>
            </a:prstGeom>
            <a:noFill/>
            <a:ln w="38100">
              <a:noFill/>
            </a:ln>
          </p:spPr>
          <p:txBody>
            <a:bodyPr>
              <a:spAutoFit/>
            </a:bodyPr>
            <a:p>
              <a:pPr eaLnBrk="1" hangingPunct="1">
                <a:spcBef>
                  <a:spcPct val="50000"/>
                </a:spcBef>
              </a:pPr>
              <a:r>
                <a:rPr lang="en-US" altLang="zh-CN" sz="2400" dirty="0">
                  <a:latin typeface="Times New Roman" panose="02020603050405020304" pitchFamily="18" charset="0"/>
                </a:rPr>
                <a:t>A</a:t>
              </a:r>
              <a:endParaRPr lang="en-US" altLang="zh-CN" sz="2400" dirty="0">
                <a:latin typeface="Times New Roman" panose="02020603050405020304" pitchFamily="18" charset="0"/>
              </a:endParaRPr>
            </a:p>
          </p:txBody>
        </p:sp>
        <p:sp>
          <p:nvSpPr>
            <p:cNvPr id="8253" name="Text Box 26"/>
            <p:cNvSpPr txBox="1"/>
            <p:nvPr/>
          </p:nvSpPr>
          <p:spPr>
            <a:xfrm>
              <a:off x="2304" y="1344"/>
              <a:ext cx="432" cy="288"/>
            </a:xfrm>
            <a:prstGeom prst="rect">
              <a:avLst/>
            </a:prstGeom>
            <a:noFill/>
            <a:ln w="38100">
              <a:noFill/>
            </a:ln>
          </p:spPr>
          <p:txBody>
            <a:bodyPr>
              <a:spAutoFit/>
            </a:bodyPr>
            <a:p>
              <a:pPr eaLnBrk="1" hangingPunct="1">
                <a:spcBef>
                  <a:spcPct val="50000"/>
                </a:spcBef>
              </a:pPr>
              <a:r>
                <a:rPr lang="en-US" altLang="zh-CN" sz="2400" dirty="0">
                  <a:latin typeface="Times New Roman" panose="02020603050405020304" pitchFamily="18" charset="0"/>
                </a:rPr>
                <a:t>A</a:t>
              </a:r>
              <a:endParaRPr lang="en-US" altLang="zh-CN" sz="2400" dirty="0">
                <a:latin typeface="Times New Roman" panose="02020603050405020304" pitchFamily="18" charset="0"/>
              </a:endParaRPr>
            </a:p>
          </p:txBody>
        </p:sp>
        <p:sp>
          <p:nvSpPr>
            <p:cNvPr id="8254" name="Text Box 27"/>
            <p:cNvSpPr txBox="1"/>
            <p:nvPr/>
          </p:nvSpPr>
          <p:spPr>
            <a:xfrm>
              <a:off x="2304" y="1824"/>
              <a:ext cx="432" cy="288"/>
            </a:xfrm>
            <a:prstGeom prst="rect">
              <a:avLst/>
            </a:prstGeom>
            <a:noFill/>
            <a:ln w="38100">
              <a:noFill/>
            </a:ln>
          </p:spPr>
          <p:txBody>
            <a:bodyPr>
              <a:spAutoFit/>
            </a:bodyPr>
            <a:p>
              <a:pPr eaLnBrk="1" hangingPunct="1">
                <a:spcBef>
                  <a:spcPct val="50000"/>
                </a:spcBef>
              </a:pPr>
              <a:r>
                <a:rPr lang="en-US" altLang="zh-CN" sz="2400" dirty="0">
                  <a:latin typeface="Times New Roman" panose="02020603050405020304" pitchFamily="18" charset="0"/>
                </a:rPr>
                <a:t>A</a:t>
              </a:r>
              <a:endParaRPr lang="en-US" altLang="zh-CN" sz="2400" dirty="0">
                <a:latin typeface="Times New Roman" panose="02020603050405020304" pitchFamily="18" charset="0"/>
              </a:endParaRPr>
            </a:p>
          </p:txBody>
        </p:sp>
        <p:sp>
          <p:nvSpPr>
            <p:cNvPr id="8255" name="Line 28"/>
            <p:cNvSpPr/>
            <p:nvPr/>
          </p:nvSpPr>
          <p:spPr>
            <a:xfrm>
              <a:off x="2352" y="1872"/>
              <a:ext cx="144" cy="0"/>
            </a:xfrm>
            <a:prstGeom prst="line">
              <a:avLst/>
            </a:prstGeom>
            <a:ln w="38100" cap="flat" cmpd="sng">
              <a:solidFill>
                <a:schemeClr val="tx1"/>
              </a:solidFill>
              <a:prstDash val="solid"/>
              <a:headEnd type="none" w="med" len="med"/>
              <a:tailEnd type="none" w="med" len="med"/>
            </a:ln>
          </p:spPr>
        </p:sp>
      </p:grpSp>
      <p:sp>
        <p:nvSpPr>
          <p:cNvPr id="9246" name="Text Box 30"/>
          <p:cNvSpPr txBox="1"/>
          <p:nvPr/>
        </p:nvSpPr>
        <p:spPr>
          <a:xfrm>
            <a:off x="457200" y="1676400"/>
            <a:ext cx="6248400" cy="4572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2.</a:t>
            </a:r>
            <a:r>
              <a:rPr lang="zh-CN" altLang="en-US" sz="2400" b="1" dirty="0">
                <a:latin typeface="Times New Roman" panose="02020603050405020304" pitchFamily="18" charset="0"/>
              </a:rPr>
              <a:t>与门和或门的表示方法</a:t>
            </a:r>
            <a:endParaRPr lang="zh-CN" altLang="en-US" sz="2400" b="1" dirty="0">
              <a:latin typeface="Times New Roman" panose="02020603050405020304" pitchFamily="18" charset="0"/>
            </a:endParaRPr>
          </a:p>
        </p:txBody>
      </p:sp>
      <p:graphicFrame>
        <p:nvGraphicFramePr>
          <p:cNvPr id="9247" name="Object 31"/>
          <p:cNvGraphicFramePr>
            <a:graphicFrameLocks noChangeAspect="1"/>
          </p:cNvGraphicFramePr>
          <p:nvPr/>
        </p:nvGraphicFramePr>
        <p:xfrm>
          <a:off x="990600" y="2098675"/>
          <a:ext cx="2362200" cy="2168525"/>
        </p:xfrm>
        <a:graphic>
          <a:graphicData uri="http://schemas.openxmlformats.org/presentationml/2006/ole">
            <mc:AlternateContent xmlns:mc="http://schemas.openxmlformats.org/markup-compatibility/2006">
              <mc:Choice xmlns:v="urn:schemas-microsoft-com:vml" Requires="v">
                <p:oleObj spid="_x0000_s3076" name="" r:id="rId1" imgW="1695450" imgH="1562100" progId="Paint.Picture">
                  <p:embed/>
                </p:oleObj>
              </mc:Choice>
              <mc:Fallback>
                <p:oleObj name="" r:id="rId1" imgW="1695450" imgH="1562100" progId="Paint.Picture">
                  <p:embed/>
                  <p:pic>
                    <p:nvPicPr>
                      <p:cNvPr id="0" name="图片 3075"/>
                      <p:cNvPicPr/>
                      <p:nvPr/>
                    </p:nvPicPr>
                    <p:blipFill>
                      <a:blip r:embed="rId2"/>
                      <a:stretch>
                        <a:fillRect/>
                      </a:stretch>
                    </p:blipFill>
                    <p:spPr>
                      <a:xfrm>
                        <a:off x="990600" y="2098675"/>
                        <a:ext cx="2362200" cy="2168525"/>
                      </a:xfrm>
                      <a:prstGeom prst="rect">
                        <a:avLst/>
                      </a:prstGeom>
                      <a:noFill/>
                      <a:ln w="38100">
                        <a:noFill/>
                        <a:miter/>
                      </a:ln>
                    </p:spPr>
                  </p:pic>
                </p:oleObj>
              </mc:Fallback>
            </mc:AlternateContent>
          </a:graphicData>
        </a:graphic>
      </p:graphicFrame>
      <p:grpSp>
        <p:nvGrpSpPr>
          <p:cNvPr id="9287" name="Group 71"/>
          <p:cNvGrpSpPr/>
          <p:nvPr/>
        </p:nvGrpSpPr>
        <p:grpSpPr>
          <a:xfrm>
            <a:off x="1371600" y="4098925"/>
            <a:ext cx="152400" cy="152400"/>
            <a:chOff x="864" y="2928"/>
            <a:chExt cx="96" cy="96"/>
          </a:xfrm>
        </p:grpSpPr>
        <p:sp>
          <p:nvSpPr>
            <p:cNvPr id="8243" name="Line 57"/>
            <p:cNvSpPr/>
            <p:nvPr/>
          </p:nvSpPr>
          <p:spPr>
            <a:xfrm>
              <a:off x="864" y="2928"/>
              <a:ext cx="96" cy="96"/>
            </a:xfrm>
            <a:prstGeom prst="line">
              <a:avLst/>
            </a:prstGeom>
            <a:ln w="9525" cap="flat" cmpd="sng">
              <a:solidFill>
                <a:schemeClr val="tx1"/>
              </a:solidFill>
              <a:prstDash val="solid"/>
              <a:headEnd type="none" w="med" len="med"/>
              <a:tailEnd type="none" w="med" len="med"/>
            </a:ln>
          </p:spPr>
        </p:sp>
        <p:sp>
          <p:nvSpPr>
            <p:cNvPr id="8244" name="Line 58"/>
            <p:cNvSpPr/>
            <p:nvPr/>
          </p:nvSpPr>
          <p:spPr>
            <a:xfrm flipH="1">
              <a:off x="864" y="2928"/>
              <a:ext cx="96" cy="96"/>
            </a:xfrm>
            <a:prstGeom prst="line">
              <a:avLst/>
            </a:prstGeom>
            <a:ln w="9525" cap="flat" cmpd="sng">
              <a:solidFill>
                <a:schemeClr val="tx1"/>
              </a:solidFill>
              <a:prstDash val="solid"/>
              <a:headEnd type="none" w="med" len="med"/>
              <a:tailEnd type="none" w="med" len="med"/>
            </a:ln>
          </p:spPr>
        </p:sp>
      </p:grpSp>
      <p:grpSp>
        <p:nvGrpSpPr>
          <p:cNvPr id="9286" name="Group 70"/>
          <p:cNvGrpSpPr/>
          <p:nvPr/>
        </p:nvGrpSpPr>
        <p:grpSpPr>
          <a:xfrm>
            <a:off x="1066800" y="4098925"/>
            <a:ext cx="762000" cy="152400"/>
            <a:chOff x="432" y="2256"/>
            <a:chExt cx="480" cy="96"/>
          </a:xfrm>
        </p:grpSpPr>
        <p:sp>
          <p:nvSpPr>
            <p:cNvPr id="8241" name="Oval 64"/>
            <p:cNvSpPr/>
            <p:nvPr/>
          </p:nvSpPr>
          <p:spPr>
            <a:xfrm>
              <a:off x="816" y="2256"/>
              <a:ext cx="96" cy="9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8242" name="Oval 65"/>
            <p:cNvSpPr/>
            <p:nvPr/>
          </p:nvSpPr>
          <p:spPr>
            <a:xfrm>
              <a:off x="432" y="2256"/>
              <a:ext cx="96" cy="9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grpSp>
        <p:nvGrpSpPr>
          <p:cNvPr id="9284" name="Group 68"/>
          <p:cNvGrpSpPr/>
          <p:nvPr/>
        </p:nvGrpSpPr>
        <p:grpSpPr>
          <a:xfrm>
            <a:off x="914400" y="3886200"/>
            <a:ext cx="3886200" cy="2043113"/>
            <a:chOff x="576" y="2784"/>
            <a:chExt cx="2448" cy="1287"/>
          </a:xfrm>
        </p:grpSpPr>
        <p:sp>
          <p:nvSpPr>
            <p:cNvPr id="8229" name="AutoShape 32"/>
            <p:cNvSpPr/>
            <p:nvPr/>
          </p:nvSpPr>
          <p:spPr>
            <a:xfrm>
              <a:off x="1584" y="2784"/>
              <a:ext cx="624" cy="432"/>
            </a:xfrm>
            <a:prstGeom prst="flowChartDelay">
              <a:avLst/>
            </a:prstGeom>
            <a:noFill/>
            <a:ln w="9525" cap="flat" cmpd="sng">
              <a:solidFill>
                <a:schemeClr val="tx1"/>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8230" name="Line 36"/>
            <p:cNvSpPr/>
            <p:nvPr/>
          </p:nvSpPr>
          <p:spPr>
            <a:xfrm flipH="1">
              <a:off x="576" y="2976"/>
              <a:ext cx="1008" cy="0"/>
            </a:xfrm>
            <a:prstGeom prst="line">
              <a:avLst/>
            </a:prstGeom>
            <a:ln w="9525" cap="flat" cmpd="sng">
              <a:solidFill>
                <a:schemeClr val="tx1"/>
              </a:solidFill>
              <a:prstDash val="solid"/>
              <a:headEnd type="none" w="med" len="med"/>
              <a:tailEnd type="none" w="med" len="med"/>
            </a:ln>
          </p:spPr>
        </p:sp>
        <p:sp>
          <p:nvSpPr>
            <p:cNvPr id="8231" name="Line 38"/>
            <p:cNvSpPr/>
            <p:nvPr/>
          </p:nvSpPr>
          <p:spPr>
            <a:xfrm>
              <a:off x="2208" y="2976"/>
              <a:ext cx="480" cy="0"/>
            </a:xfrm>
            <a:prstGeom prst="line">
              <a:avLst/>
            </a:prstGeom>
            <a:ln w="9525" cap="flat" cmpd="sng">
              <a:solidFill>
                <a:schemeClr val="tx1"/>
              </a:solidFill>
              <a:prstDash val="solid"/>
              <a:headEnd type="none" w="med" len="med"/>
              <a:tailEnd type="none" w="med" len="med"/>
            </a:ln>
          </p:spPr>
        </p:sp>
        <p:sp>
          <p:nvSpPr>
            <p:cNvPr id="8232" name="Line 39"/>
            <p:cNvSpPr/>
            <p:nvPr/>
          </p:nvSpPr>
          <p:spPr>
            <a:xfrm>
              <a:off x="720" y="2784"/>
              <a:ext cx="0" cy="1056"/>
            </a:xfrm>
            <a:prstGeom prst="line">
              <a:avLst/>
            </a:prstGeom>
            <a:ln w="9525" cap="flat" cmpd="sng">
              <a:solidFill>
                <a:schemeClr val="tx1"/>
              </a:solidFill>
              <a:prstDash val="solid"/>
              <a:headEnd type="none" w="med" len="med"/>
              <a:tailEnd type="none" w="med" len="med"/>
            </a:ln>
          </p:spPr>
        </p:sp>
        <p:sp>
          <p:nvSpPr>
            <p:cNvPr id="8233" name="Line 40"/>
            <p:cNvSpPr/>
            <p:nvPr/>
          </p:nvSpPr>
          <p:spPr>
            <a:xfrm>
              <a:off x="912" y="2784"/>
              <a:ext cx="0" cy="1056"/>
            </a:xfrm>
            <a:prstGeom prst="line">
              <a:avLst/>
            </a:prstGeom>
            <a:ln w="9525" cap="flat" cmpd="sng">
              <a:solidFill>
                <a:schemeClr val="tx1"/>
              </a:solidFill>
              <a:prstDash val="solid"/>
              <a:headEnd type="none" w="med" len="med"/>
              <a:tailEnd type="none" w="med" len="med"/>
            </a:ln>
          </p:spPr>
        </p:sp>
        <p:sp>
          <p:nvSpPr>
            <p:cNvPr id="8234" name="Line 41"/>
            <p:cNvSpPr/>
            <p:nvPr/>
          </p:nvSpPr>
          <p:spPr>
            <a:xfrm>
              <a:off x="1104" y="2784"/>
              <a:ext cx="0" cy="1056"/>
            </a:xfrm>
            <a:prstGeom prst="line">
              <a:avLst/>
            </a:prstGeom>
            <a:ln w="9525" cap="flat" cmpd="sng">
              <a:solidFill>
                <a:schemeClr val="tx1"/>
              </a:solidFill>
              <a:prstDash val="solid"/>
              <a:headEnd type="none" w="med" len="med"/>
              <a:tailEnd type="none" w="med" len="med"/>
            </a:ln>
          </p:spPr>
        </p:sp>
        <p:sp>
          <p:nvSpPr>
            <p:cNvPr id="8235" name="Line 42"/>
            <p:cNvSpPr/>
            <p:nvPr/>
          </p:nvSpPr>
          <p:spPr>
            <a:xfrm>
              <a:off x="1296" y="2784"/>
              <a:ext cx="0" cy="1056"/>
            </a:xfrm>
            <a:prstGeom prst="line">
              <a:avLst/>
            </a:prstGeom>
            <a:ln w="9525" cap="flat" cmpd="sng">
              <a:solidFill>
                <a:schemeClr val="tx1"/>
              </a:solidFill>
              <a:prstDash val="solid"/>
              <a:headEnd type="none" w="med" len="med"/>
              <a:tailEnd type="none" w="med" len="med"/>
            </a:ln>
          </p:spPr>
        </p:sp>
        <p:sp>
          <p:nvSpPr>
            <p:cNvPr id="8236" name="Text Box 43"/>
            <p:cNvSpPr txBox="1"/>
            <p:nvPr/>
          </p:nvSpPr>
          <p:spPr>
            <a:xfrm>
              <a:off x="624" y="3840"/>
              <a:ext cx="288" cy="231"/>
            </a:xfrm>
            <a:prstGeom prst="rect">
              <a:avLst/>
            </a:prstGeom>
            <a:noFill/>
            <a:ln w="9525">
              <a:noFill/>
            </a:ln>
          </p:spPr>
          <p:txBody>
            <a:bodyPr>
              <a:spAutoFit/>
            </a:bodyPr>
            <a:p>
              <a:pPr eaLnBrk="1" hangingPunct="1">
                <a:spcBef>
                  <a:spcPct val="50000"/>
                </a:spcBef>
              </a:pPr>
              <a:r>
                <a:rPr lang="en-US" altLang="zh-CN" dirty="0">
                  <a:latin typeface="Times New Roman" panose="02020603050405020304" pitchFamily="18" charset="0"/>
                </a:rPr>
                <a:t>A</a:t>
              </a:r>
              <a:endParaRPr lang="en-US" altLang="zh-CN" dirty="0">
                <a:latin typeface="Times New Roman" panose="02020603050405020304" pitchFamily="18" charset="0"/>
              </a:endParaRPr>
            </a:p>
          </p:txBody>
        </p:sp>
        <p:sp>
          <p:nvSpPr>
            <p:cNvPr id="8237" name="Text Box 44"/>
            <p:cNvSpPr txBox="1"/>
            <p:nvPr/>
          </p:nvSpPr>
          <p:spPr>
            <a:xfrm>
              <a:off x="816" y="3840"/>
              <a:ext cx="288" cy="231"/>
            </a:xfrm>
            <a:prstGeom prst="rect">
              <a:avLst/>
            </a:prstGeom>
            <a:noFill/>
            <a:ln w="9525">
              <a:noFill/>
            </a:ln>
          </p:spPr>
          <p:txBody>
            <a:bodyPr>
              <a:spAutoFit/>
            </a:bodyPr>
            <a:p>
              <a:pPr eaLnBrk="1" hangingPunct="1">
                <a:spcBef>
                  <a:spcPct val="50000"/>
                </a:spcBef>
              </a:pPr>
              <a:r>
                <a:rPr lang="en-US" altLang="zh-CN" dirty="0">
                  <a:latin typeface="Times New Roman" panose="02020603050405020304" pitchFamily="18" charset="0"/>
                </a:rPr>
                <a:t>B</a:t>
              </a:r>
              <a:endParaRPr lang="en-US" altLang="zh-CN" dirty="0">
                <a:latin typeface="Times New Roman" panose="02020603050405020304" pitchFamily="18" charset="0"/>
              </a:endParaRPr>
            </a:p>
          </p:txBody>
        </p:sp>
        <p:sp>
          <p:nvSpPr>
            <p:cNvPr id="8238" name="Text Box 45"/>
            <p:cNvSpPr txBox="1"/>
            <p:nvPr/>
          </p:nvSpPr>
          <p:spPr>
            <a:xfrm>
              <a:off x="1008" y="3840"/>
              <a:ext cx="288" cy="231"/>
            </a:xfrm>
            <a:prstGeom prst="rect">
              <a:avLst/>
            </a:prstGeom>
            <a:noFill/>
            <a:ln w="9525">
              <a:noFill/>
            </a:ln>
          </p:spPr>
          <p:txBody>
            <a:bodyPr>
              <a:spAutoFit/>
            </a:bodyPr>
            <a:p>
              <a:pPr eaLnBrk="1" hangingPunct="1">
                <a:spcBef>
                  <a:spcPct val="50000"/>
                </a:spcBef>
              </a:pPr>
              <a:r>
                <a:rPr lang="en-US" altLang="zh-CN" dirty="0">
                  <a:latin typeface="Times New Roman" panose="02020603050405020304" pitchFamily="18" charset="0"/>
                </a:rPr>
                <a:t>C</a:t>
              </a:r>
              <a:endParaRPr lang="en-US" altLang="zh-CN" dirty="0">
                <a:latin typeface="Times New Roman" panose="02020603050405020304" pitchFamily="18" charset="0"/>
              </a:endParaRPr>
            </a:p>
          </p:txBody>
        </p:sp>
        <p:sp>
          <p:nvSpPr>
            <p:cNvPr id="8239" name="Text Box 46"/>
            <p:cNvSpPr txBox="1"/>
            <p:nvPr/>
          </p:nvSpPr>
          <p:spPr>
            <a:xfrm>
              <a:off x="1200" y="3840"/>
              <a:ext cx="288" cy="231"/>
            </a:xfrm>
            <a:prstGeom prst="rect">
              <a:avLst/>
            </a:prstGeom>
            <a:noFill/>
            <a:ln w="9525">
              <a:noFill/>
            </a:ln>
          </p:spPr>
          <p:txBody>
            <a:bodyPr>
              <a:spAutoFit/>
            </a:bodyPr>
            <a:p>
              <a:pPr eaLnBrk="1" hangingPunct="1">
                <a:spcBef>
                  <a:spcPct val="50000"/>
                </a:spcBef>
              </a:pPr>
              <a:r>
                <a:rPr lang="en-US" altLang="zh-CN" dirty="0">
                  <a:latin typeface="Times New Roman" panose="02020603050405020304" pitchFamily="18" charset="0"/>
                </a:rPr>
                <a:t>D</a:t>
              </a:r>
              <a:endParaRPr lang="en-US" altLang="zh-CN" dirty="0">
                <a:latin typeface="Times New Roman" panose="02020603050405020304" pitchFamily="18" charset="0"/>
              </a:endParaRPr>
            </a:p>
          </p:txBody>
        </p:sp>
        <p:sp>
          <p:nvSpPr>
            <p:cNvPr id="8240" name="Text Box 67"/>
            <p:cNvSpPr txBox="1"/>
            <p:nvPr/>
          </p:nvSpPr>
          <p:spPr>
            <a:xfrm>
              <a:off x="2496" y="2784"/>
              <a:ext cx="528" cy="231"/>
            </a:xfrm>
            <a:prstGeom prst="rect">
              <a:avLst/>
            </a:prstGeom>
            <a:noFill/>
            <a:ln w="9525">
              <a:noFill/>
            </a:ln>
          </p:spPr>
          <p:txBody>
            <a:bodyPr>
              <a:spAutoFit/>
            </a:bodyPr>
            <a:p>
              <a:pPr eaLnBrk="1" hangingPunct="1">
                <a:spcBef>
                  <a:spcPct val="50000"/>
                </a:spcBef>
              </a:pPr>
              <a:r>
                <a:rPr lang="en-US" altLang="zh-CN" dirty="0">
                  <a:latin typeface="Times New Roman" panose="02020603050405020304" pitchFamily="18" charset="0"/>
                </a:rPr>
                <a:t>F1</a:t>
              </a:r>
              <a:endParaRPr lang="en-US" altLang="zh-CN" dirty="0">
                <a:latin typeface="Times New Roman" panose="02020603050405020304" pitchFamily="18" charset="0"/>
              </a:endParaRPr>
            </a:p>
          </p:txBody>
        </p:sp>
      </p:grpSp>
      <p:sp>
        <p:nvSpPr>
          <p:cNvPr id="9288" name="AutoShape 72"/>
          <p:cNvSpPr/>
          <p:nvPr/>
        </p:nvSpPr>
        <p:spPr>
          <a:xfrm>
            <a:off x="914400" y="4800600"/>
            <a:ext cx="1676400" cy="609600"/>
          </a:xfrm>
          <a:prstGeom prst="wedgeRectCallout">
            <a:avLst>
              <a:gd name="adj1" fmla="val -34657"/>
              <a:gd name="adj2" fmla="val -136199"/>
            </a:avLst>
          </a:prstGeom>
          <a:solidFill>
            <a:srgbClr val="FFCC66"/>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sz="2400" b="1" dirty="0">
                <a:latin typeface="Times New Roman" panose="02020603050405020304" pitchFamily="18" charset="0"/>
              </a:rPr>
              <a:t>固定连接</a:t>
            </a:r>
            <a:endParaRPr lang="zh-CN" altLang="en-US" sz="2400" b="1" dirty="0">
              <a:latin typeface="Times New Roman" panose="02020603050405020304" pitchFamily="18" charset="0"/>
            </a:endParaRPr>
          </a:p>
        </p:txBody>
      </p:sp>
      <p:sp>
        <p:nvSpPr>
          <p:cNvPr id="9289" name="AutoShape 73"/>
          <p:cNvSpPr/>
          <p:nvPr/>
        </p:nvSpPr>
        <p:spPr>
          <a:xfrm>
            <a:off x="1447800" y="4648200"/>
            <a:ext cx="2057400" cy="685800"/>
          </a:xfrm>
          <a:prstGeom prst="wedgeRectCallout">
            <a:avLst>
              <a:gd name="adj1" fmla="val -49074"/>
              <a:gd name="adj2" fmla="val -111111"/>
            </a:avLst>
          </a:prstGeom>
          <a:solidFill>
            <a:srgbClr val="FFCC66"/>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sz="2400" b="1" dirty="0">
                <a:latin typeface="Times New Roman" panose="02020603050405020304" pitchFamily="18" charset="0"/>
              </a:rPr>
              <a:t>编程连接</a:t>
            </a:r>
            <a:endParaRPr lang="zh-CN" altLang="en-US" sz="2400" b="1" dirty="0">
              <a:latin typeface="Times New Roman" panose="02020603050405020304" pitchFamily="18" charset="0"/>
            </a:endParaRPr>
          </a:p>
        </p:txBody>
      </p:sp>
      <p:sp>
        <p:nvSpPr>
          <p:cNvPr id="9290" name="Text Box 74"/>
          <p:cNvSpPr txBox="1"/>
          <p:nvPr/>
        </p:nvSpPr>
        <p:spPr>
          <a:xfrm>
            <a:off x="1066800" y="5867400"/>
            <a:ext cx="2743200" cy="396875"/>
          </a:xfrm>
          <a:prstGeom prst="rect">
            <a:avLst/>
          </a:prstGeom>
          <a:noFill/>
          <a:ln w="9525">
            <a:noFill/>
          </a:ln>
        </p:spPr>
        <p:txBody>
          <a:bodyPr>
            <a:spAutoFit/>
          </a:bodyPr>
          <a:p>
            <a:pPr eaLnBrk="1" hangingPunct="1">
              <a:spcBef>
                <a:spcPct val="50000"/>
              </a:spcBef>
            </a:pPr>
            <a:r>
              <a:rPr lang="en-US" altLang="zh-CN" sz="2000" b="1" dirty="0">
                <a:latin typeface="Times New Roman" panose="02020603050405020304" pitchFamily="18" charset="0"/>
              </a:rPr>
              <a:t>F1=A•B•C</a:t>
            </a:r>
            <a:endParaRPr lang="en-US" altLang="zh-CN" sz="2000" b="1" dirty="0">
              <a:latin typeface="Times New Roman" panose="02020603050405020304" pitchFamily="18" charset="0"/>
            </a:endParaRPr>
          </a:p>
        </p:txBody>
      </p:sp>
      <p:grpSp>
        <p:nvGrpSpPr>
          <p:cNvPr id="9294" name="Group 78"/>
          <p:cNvGrpSpPr/>
          <p:nvPr/>
        </p:nvGrpSpPr>
        <p:grpSpPr>
          <a:xfrm>
            <a:off x="4953000" y="3810000"/>
            <a:ext cx="4191000" cy="2119313"/>
            <a:chOff x="3120" y="2160"/>
            <a:chExt cx="2640" cy="1335"/>
          </a:xfrm>
        </p:grpSpPr>
        <p:grpSp>
          <p:nvGrpSpPr>
            <p:cNvPr id="8210" name="Group 76"/>
            <p:cNvGrpSpPr/>
            <p:nvPr/>
          </p:nvGrpSpPr>
          <p:grpSpPr>
            <a:xfrm>
              <a:off x="3120" y="2160"/>
              <a:ext cx="1824" cy="1335"/>
              <a:chOff x="3120" y="2160"/>
              <a:chExt cx="1824" cy="1335"/>
            </a:xfrm>
          </p:grpSpPr>
          <p:sp>
            <p:nvSpPr>
              <p:cNvPr id="8212" name="Arc 34"/>
              <p:cNvSpPr/>
              <p:nvPr/>
            </p:nvSpPr>
            <p:spPr>
              <a:xfrm>
                <a:off x="4032" y="2160"/>
                <a:ext cx="517" cy="527"/>
              </a:xfrm>
              <a:custGeom>
                <a:avLst/>
                <a:gdLst/>
                <a:ahLst/>
                <a:cxnLst>
                  <a:cxn ang="0">
                    <a:pos x="37" y="0"/>
                  </a:cxn>
                  <a:cxn ang="0">
                    <a:pos x="0" y="526"/>
                  </a:cxn>
                  <a:cxn ang="0">
                    <a:pos x="37" y="264"/>
                  </a:cxn>
                </a:cxnLst>
                <a:pathLst>
                  <a:path w="23254" h="43200" fill="none">
                    <a:moveTo>
                      <a:pt x="1654" y="0"/>
                    </a:moveTo>
                    <a:cubicBezTo>
                      <a:pt x="13583" y="0"/>
                      <a:pt x="23254" y="9670"/>
                      <a:pt x="23254" y="21600"/>
                    </a:cubicBezTo>
                    <a:cubicBezTo>
                      <a:pt x="23254" y="33529"/>
                      <a:pt x="13583" y="43200"/>
                      <a:pt x="1654" y="43200"/>
                    </a:cubicBezTo>
                    <a:cubicBezTo>
                      <a:pt x="1102" y="43199"/>
                      <a:pt x="550" y="43178"/>
                      <a:pt x="0" y="43136"/>
                    </a:cubicBezTo>
                  </a:path>
                  <a:path w="23254" h="43200" stroke="0">
                    <a:moveTo>
                      <a:pt x="1654" y="0"/>
                    </a:moveTo>
                    <a:cubicBezTo>
                      <a:pt x="13583" y="0"/>
                      <a:pt x="23254" y="9670"/>
                      <a:pt x="23254" y="21600"/>
                    </a:cubicBezTo>
                    <a:cubicBezTo>
                      <a:pt x="23254" y="33529"/>
                      <a:pt x="13583" y="43200"/>
                      <a:pt x="1654" y="43200"/>
                    </a:cubicBezTo>
                    <a:cubicBezTo>
                      <a:pt x="1102" y="43199"/>
                      <a:pt x="550" y="43178"/>
                      <a:pt x="0" y="43136"/>
                    </a:cubicBezTo>
                    <a:lnTo>
                      <a:pt x="1654" y="21600"/>
                    </a:lnTo>
                    <a:lnTo>
                      <a:pt x="1654" y="0"/>
                    </a:lnTo>
                    <a:close/>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13" name="Arc 35"/>
              <p:cNvSpPr/>
              <p:nvPr/>
            </p:nvSpPr>
            <p:spPr>
              <a:xfrm>
                <a:off x="4032" y="2160"/>
                <a:ext cx="134" cy="525"/>
              </a:xfrm>
              <a:custGeom>
                <a:avLst/>
                <a:gdLst/>
                <a:ahLst/>
                <a:cxnLst>
                  <a:cxn ang="0">
                    <a:pos x="29" y="0"/>
                  </a:cxn>
                  <a:cxn ang="0">
                    <a:pos x="0" y="515"/>
                  </a:cxn>
                  <a:cxn ang="0">
                    <a:pos x="29" y="263"/>
                  </a:cxn>
                </a:cxnLst>
                <a:pathLst>
                  <a:path w="27457" h="43200" fill="none">
                    <a:moveTo>
                      <a:pt x="5857" y="0"/>
                    </a:moveTo>
                    <a:cubicBezTo>
                      <a:pt x="17786" y="0"/>
                      <a:pt x="27457" y="9670"/>
                      <a:pt x="27457" y="21600"/>
                    </a:cubicBezTo>
                    <a:cubicBezTo>
                      <a:pt x="27457" y="33529"/>
                      <a:pt x="17786" y="43200"/>
                      <a:pt x="5857" y="43200"/>
                    </a:cubicBezTo>
                    <a:cubicBezTo>
                      <a:pt x="3876" y="43199"/>
                      <a:pt x="1906" y="42927"/>
                      <a:pt x="0" y="42390"/>
                    </a:cubicBezTo>
                  </a:path>
                  <a:path w="27457" h="43200" stroke="0">
                    <a:moveTo>
                      <a:pt x="5857" y="0"/>
                    </a:moveTo>
                    <a:cubicBezTo>
                      <a:pt x="17786" y="0"/>
                      <a:pt x="27457" y="9670"/>
                      <a:pt x="27457" y="21600"/>
                    </a:cubicBezTo>
                    <a:cubicBezTo>
                      <a:pt x="27457" y="33529"/>
                      <a:pt x="17786" y="43200"/>
                      <a:pt x="5857" y="43200"/>
                    </a:cubicBezTo>
                    <a:cubicBezTo>
                      <a:pt x="3876" y="43199"/>
                      <a:pt x="1906" y="42927"/>
                      <a:pt x="0" y="42390"/>
                    </a:cubicBezTo>
                    <a:lnTo>
                      <a:pt x="5857" y="21600"/>
                    </a:lnTo>
                    <a:lnTo>
                      <a:pt x="5857" y="0"/>
                    </a:lnTo>
                    <a:close/>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214" name="Line 47"/>
              <p:cNvSpPr/>
              <p:nvPr/>
            </p:nvSpPr>
            <p:spPr>
              <a:xfrm flipH="1">
                <a:off x="3120" y="2400"/>
                <a:ext cx="1008" cy="0"/>
              </a:xfrm>
              <a:prstGeom prst="line">
                <a:avLst/>
              </a:prstGeom>
              <a:ln w="9525" cap="flat" cmpd="sng">
                <a:solidFill>
                  <a:schemeClr val="tx1"/>
                </a:solidFill>
                <a:prstDash val="solid"/>
                <a:headEnd type="none" w="med" len="med"/>
                <a:tailEnd type="none" w="med" len="med"/>
              </a:ln>
            </p:spPr>
          </p:sp>
          <p:sp>
            <p:nvSpPr>
              <p:cNvPr id="8215" name="Line 48"/>
              <p:cNvSpPr/>
              <p:nvPr/>
            </p:nvSpPr>
            <p:spPr>
              <a:xfrm>
                <a:off x="3264" y="2208"/>
                <a:ext cx="0" cy="1056"/>
              </a:xfrm>
              <a:prstGeom prst="line">
                <a:avLst/>
              </a:prstGeom>
              <a:ln w="9525" cap="flat" cmpd="sng">
                <a:solidFill>
                  <a:schemeClr val="tx1"/>
                </a:solidFill>
                <a:prstDash val="solid"/>
                <a:headEnd type="none" w="med" len="med"/>
                <a:tailEnd type="none" w="med" len="med"/>
              </a:ln>
            </p:spPr>
          </p:sp>
          <p:sp>
            <p:nvSpPr>
              <p:cNvPr id="8216" name="Line 49"/>
              <p:cNvSpPr/>
              <p:nvPr/>
            </p:nvSpPr>
            <p:spPr>
              <a:xfrm>
                <a:off x="3456" y="2208"/>
                <a:ext cx="0" cy="1056"/>
              </a:xfrm>
              <a:prstGeom prst="line">
                <a:avLst/>
              </a:prstGeom>
              <a:ln w="9525" cap="flat" cmpd="sng">
                <a:solidFill>
                  <a:schemeClr val="tx1"/>
                </a:solidFill>
                <a:prstDash val="solid"/>
                <a:headEnd type="none" w="med" len="med"/>
                <a:tailEnd type="none" w="med" len="med"/>
              </a:ln>
            </p:spPr>
          </p:sp>
          <p:sp>
            <p:nvSpPr>
              <p:cNvPr id="8217" name="Line 50"/>
              <p:cNvSpPr/>
              <p:nvPr/>
            </p:nvSpPr>
            <p:spPr>
              <a:xfrm>
                <a:off x="3648" y="2208"/>
                <a:ext cx="0" cy="1056"/>
              </a:xfrm>
              <a:prstGeom prst="line">
                <a:avLst/>
              </a:prstGeom>
              <a:ln w="9525" cap="flat" cmpd="sng">
                <a:solidFill>
                  <a:schemeClr val="tx1"/>
                </a:solidFill>
                <a:prstDash val="solid"/>
                <a:headEnd type="none" w="med" len="med"/>
                <a:tailEnd type="none" w="med" len="med"/>
              </a:ln>
            </p:spPr>
          </p:sp>
          <p:sp>
            <p:nvSpPr>
              <p:cNvPr id="8218" name="Line 51"/>
              <p:cNvSpPr/>
              <p:nvPr/>
            </p:nvSpPr>
            <p:spPr>
              <a:xfrm>
                <a:off x="3840" y="2208"/>
                <a:ext cx="0" cy="1056"/>
              </a:xfrm>
              <a:prstGeom prst="line">
                <a:avLst/>
              </a:prstGeom>
              <a:ln w="9525" cap="flat" cmpd="sng">
                <a:solidFill>
                  <a:schemeClr val="tx1"/>
                </a:solidFill>
                <a:prstDash val="solid"/>
                <a:headEnd type="none" w="med" len="med"/>
                <a:tailEnd type="none" w="med" len="med"/>
              </a:ln>
            </p:spPr>
          </p:sp>
          <p:sp>
            <p:nvSpPr>
              <p:cNvPr id="8219" name="Text Box 52"/>
              <p:cNvSpPr txBox="1"/>
              <p:nvPr/>
            </p:nvSpPr>
            <p:spPr>
              <a:xfrm>
                <a:off x="3168" y="3264"/>
                <a:ext cx="288" cy="231"/>
              </a:xfrm>
              <a:prstGeom prst="rect">
                <a:avLst/>
              </a:prstGeom>
              <a:noFill/>
              <a:ln w="9525">
                <a:noFill/>
              </a:ln>
            </p:spPr>
            <p:txBody>
              <a:bodyPr>
                <a:spAutoFit/>
              </a:bodyPr>
              <a:p>
                <a:pPr eaLnBrk="1" hangingPunct="1">
                  <a:spcBef>
                    <a:spcPct val="50000"/>
                  </a:spcBef>
                </a:pPr>
                <a:r>
                  <a:rPr lang="en-US" altLang="zh-CN" dirty="0">
                    <a:latin typeface="Times New Roman" panose="02020603050405020304" pitchFamily="18" charset="0"/>
                  </a:rPr>
                  <a:t>A</a:t>
                </a:r>
                <a:endParaRPr lang="en-US" altLang="zh-CN" dirty="0">
                  <a:latin typeface="Times New Roman" panose="02020603050405020304" pitchFamily="18" charset="0"/>
                </a:endParaRPr>
              </a:p>
            </p:txBody>
          </p:sp>
          <p:sp>
            <p:nvSpPr>
              <p:cNvPr id="8220" name="Text Box 53"/>
              <p:cNvSpPr txBox="1"/>
              <p:nvPr/>
            </p:nvSpPr>
            <p:spPr>
              <a:xfrm>
                <a:off x="3360" y="3264"/>
                <a:ext cx="288" cy="231"/>
              </a:xfrm>
              <a:prstGeom prst="rect">
                <a:avLst/>
              </a:prstGeom>
              <a:noFill/>
              <a:ln w="9525">
                <a:noFill/>
              </a:ln>
            </p:spPr>
            <p:txBody>
              <a:bodyPr>
                <a:spAutoFit/>
              </a:bodyPr>
              <a:p>
                <a:pPr eaLnBrk="1" hangingPunct="1">
                  <a:spcBef>
                    <a:spcPct val="50000"/>
                  </a:spcBef>
                </a:pPr>
                <a:r>
                  <a:rPr lang="en-US" altLang="zh-CN" dirty="0">
                    <a:latin typeface="Times New Roman" panose="02020603050405020304" pitchFamily="18" charset="0"/>
                  </a:rPr>
                  <a:t>B</a:t>
                </a:r>
                <a:endParaRPr lang="en-US" altLang="zh-CN" dirty="0">
                  <a:latin typeface="Times New Roman" panose="02020603050405020304" pitchFamily="18" charset="0"/>
                </a:endParaRPr>
              </a:p>
            </p:txBody>
          </p:sp>
          <p:sp>
            <p:nvSpPr>
              <p:cNvPr id="8221" name="Text Box 54"/>
              <p:cNvSpPr txBox="1"/>
              <p:nvPr/>
            </p:nvSpPr>
            <p:spPr>
              <a:xfrm>
                <a:off x="3552" y="3264"/>
                <a:ext cx="288" cy="231"/>
              </a:xfrm>
              <a:prstGeom prst="rect">
                <a:avLst/>
              </a:prstGeom>
              <a:noFill/>
              <a:ln w="9525">
                <a:noFill/>
              </a:ln>
            </p:spPr>
            <p:txBody>
              <a:bodyPr>
                <a:spAutoFit/>
              </a:bodyPr>
              <a:p>
                <a:pPr eaLnBrk="1" hangingPunct="1">
                  <a:spcBef>
                    <a:spcPct val="50000"/>
                  </a:spcBef>
                </a:pPr>
                <a:r>
                  <a:rPr lang="en-US" altLang="zh-CN" dirty="0">
                    <a:latin typeface="Times New Roman" panose="02020603050405020304" pitchFamily="18" charset="0"/>
                  </a:rPr>
                  <a:t>C</a:t>
                </a:r>
                <a:endParaRPr lang="en-US" altLang="zh-CN" dirty="0">
                  <a:latin typeface="Times New Roman" panose="02020603050405020304" pitchFamily="18" charset="0"/>
                </a:endParaRPr>
              </a:p>
            </p:txBody>
          </p:sp>
          <p:sp>
            <p:nvSpPr>
              <p:cNvPr id="8222" name="Text Box 55"/>
              <p:cNvSpPr txBox="1"/>
              <p:nvPr/>
            </p:nvSpPr>
            <p:spPr>
              <a:xfrm>
                <a:off x="3744" y="3264"/>
                <a:ext cx="288" cy="231"/>
              </a:xfrm>
              <a:prstGeom prst="rect">
                <a:avLst/>
              </a:prstGeom>
              <a:noFill/>
              <a:ln w="9525">
                <a:noFill/>
              </a:ln>
            </p:spPr>
            <p:txBody>
              <a:bodyPr>
                <a:spAutoFit/>
              </a:bodyPr>
              <a:p>
                <a:pPr eaLnBrk="1" hangingPunct="1">
                  <a:spcBef>
                    <a:spcPct val="50000"/>
                  </a:spcBef>
                </a:pPr>
                <a:r>
                  <a:rPr lang="en-US" altLang="zh-CN" dirty="0">
                    <a:latin typeface="Times New Roman" panose="02020603050405020304" pitchFamily="18" charset="0"/>
                  </a:rPr>
                  <a:t>D</a:t>
                </a:r>
                <a:endParaRPr lang="en-US" altLang="zh-CN" dirty="0">
                  <a:latin typeface="Times New Roman" panose="02020603050405020304" pitchFamily="18" charset="0"/>
                </a:endParaRPr>
              </a:p>
            </p:txBody>
          </p:sp>
          <p:sp>
            <p:nvSpPr>
              <p:cNvPr id="8223" name="Line 59"/>
              <p:cNvSpPr/>
              <p:nvPr/>
            </p:nvSpPr>
            <p:spPr>
              <a:xfrm>
                <a:off x="3408" y="2352"/>
                <a:ext cx="96" cy="96"/>
              </a:xfrm>
              <a:prstGeom prst="line">
                <a:avLst/>
              </a:prstGeom>
              <a:ln w="9525" cap="flat" cmpd="sng">
                <a:solidFill>
                  <a:schemeClr val="tx1"/>
                </a:solidFill>
                <a:prstDash val="solid"/>
                <a:headEnd type="none" w="med" len="med"/>
                <a:tailEnd type="none" w="med" len="med"/>
              </a:ln>
            </p:spPr>
          </p:sp>
          <p:sp>
            <p:nvSpPr>
              <p:cNvPr id="8224" name="Line 60"/>
              <p:cNvSpPr/>
              <p:nvPr/>
            </p:nvSpPr>
            <p:spPr>
              <a:xfrm flipH="1">
                <a:off x="3408" y="2352"/>
                <a:ext cx="96" cy="96"/>
              </a:xfrm>
              <a:prstGeom prst="line">
                <a:avLst/>
              </a:prstGeom>
              <a:ln w="9525" cap="flat" cmpd="sng">
                <a:solidFill>
                  <a:schemeClr val="tx1"/>
                </a:solidFill>
                <a:prstDash val="solid"/>
                <a:headEnd type="none" w="med" len="med"/>
                <a:tailEnd type="none" w="med" len="med"/>
              </a:ln>
            </p:spPr>
          </p:sp>
          <p:sp>
            <p:nvSpPr>
              <p:cNvPr id="8225" name="Line 61"/>
              <p:cNvSpPr/>
              <p:nvPr/>
            </p:nvSpPr>
            <p:spPr>
              <a:xfrm>
                <a:off x="3792" y="2352"/>
                <a:ext cx="96" cy="96"/>
              </a:xfrm>
              <a:prstGeom prst="line">
                <a:avLst/>
              </a:prstGeom>
              <a:ln w="9525" cap="flat" cmpd="sng">
                <a:solidFill>
                  <a:schemeClr val="tx1"/>
                </a:solidFill>
                <a:prstDash val="solid"/>
                <a:headEnd type="none" w="med" len="med"/>
                <a:tailEnd type="none" w="med" len="med"/>
              </a:ln>
            </p:spPr>
          </p:sp>
          <p:sp>
            <p:nvSpPr>
              <p:cNvPr id="8226" name="Line 62"/>
              <p:cNvSpPr/>
              <p:nvPr/>
            </p:nvSpPr>
            <p:spPr>
              <a:xfrm flipH="1">
                <a:off x="3792" y="2352"/>
                <a:ext cx="96" cy="96"/>
              </a:xfrm>
              <a:prstGeom prst="line">
                <a:avLst/>
              </a:prstGeom>
              <a:ln w="9525" cap="flat" cmpd="sng">
                <a:solidFill>
                  <a:schemeClr val="tx1"/>
                </a:solidFill>
                <a:prstDash val="solid"/>
                <a:headEnd type="none" w="med" len="med"/>
                <a:tailEnd type="none" w="med" len="med"/>
              </a:ln>
            </p:spPr>
          </p:sp>
          <p:sp>
            <p:nvSpPr>
              <p:cNvPr id="8227" name="Line 63"/>
              <p:cNvSpPr/>
              <p:nvPr/>
            </p:nvSpPr>
            <p:spPr>
              <a:xfrm>
                <a:off x="4512" y="2400"/>
                <a:ext cx="432" cy="0"/>
              </a:xfrm>
              <a:prstGeom prst="line">
                <a:avLst/>
              </a:prstGeom>
              <a:ln w="9525" cap="flat" cmpd="sng">
                <a:solidFill>
                  <a:schemeClr val="tx1"/>
                </a:solidFill>
                <a:prstDash val="solid"/>
                <a:headEnd type="none" w="med" len="med"/>
                <a:tailEnd type="none" w="med" len="med"/>
              </a:ln>
            </p:spPr>
          </p:sp>
          <p:sp>
            <p:nvSpPr>
              <p:cNvPr id="8228" name="Oval 66"/>
              <p:cNvSpPr/>
              <p:nvPr/>
            </p:nvSpPr>
            <p:spPr>
              <a:xfrm>
                <a:off x="3600" y="2352"/>
                <a:ext cx="96" cy="9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sp>
          <p:nvSpPr>
            <p:cNvPr id="8211" name="Text Box 75"/>
            <p:cNvSpPr txBox="1"/>
            <p:nvPr/>
          </p:nvSpPr>
          <p:spPr>
            <a:xfrm>
              <a:off x="4944" y="2256"/>
              <a:ext cx="816" cy="250"/>
            </a:xfrm>
            <a:prstGeom prst="rect">
              <a:avLst/>
            </a:prstGeom>
            <a:noFill/>
            <a:ln w="9525">
              <a:noFill/>
            </a:ln>
          </p:spPr>
          <p:txBody>
            <a:bodyPr>
              <a:spAutoFit/>
            </a:bodyPr>
            <a:p>
              <a:pPr eaLnBrk="1" hangingPunct="1">
                <a:spcBef>
                  <a:spcPct val="50000"/>
                </a:spcBef>
              </a:pPr>
              <a:r>
                <a:rPr lang="en-US" altLang="zh-CN" sz="2000" dirty="0">
                  <a:latin typeface="Times New Roman" panose="02020603050405020304" pitchFamily="18" charset="0"/>
                </a:rPr>
                <a:t>F2</a:t>
              </a:r>
              <a:endParaRPr lang="en-US" altLang="zh-CN" sz="2000" dirty="0">
                <a:latin typeface="Times New Roman" panose="02020603050405020304" pitchFamily="18" charset="0"/>
              </a:endParaRPr>
            </a:p>
          </p:txBody>
        </p:sp>
      </p:grpSp>
      <p:sp>
        <p:nvSpPr>
          <p:cNvPr id="9293" name="Text Box 77"/>
          <p:cNvSpPr txBox="1"/>
          <p:nvPr/>
        </p:nvSpPr>
        <p:spPr>
          <a:xfrm>
            <a:off x="4953000" y="5943600"/>
            <a:ext cx="3810000" cy="396875"/>
          </a:xfrm>
          <a:prstGeom prst="rect">
            <a:avLst/>
          </a:prstGeom>
          <a:noFill/>
          <a:ln w="9525">
            <a:noFill/>
          </a:ln>
        </p:spPr>
        <p:txBody>
          <a:bodyPr>
            <a:spAutoFit/>
          </a:bodyPr>
          <a:p>
            <a:pPr eaLnBrk="1" hangingPunct="1">
              <a:spcBef>
                <a:spcPct val="50000"/>
              </a:spcBef>
            </a:pPr>
            <a:r>
              <a:rPr lang="en-US" altLang="zh-CN" sz="2000" b="1" dirty="0">
                <a:latin typeface="Times New Roman" panose="02020603050405020304" pitchFamily="18" charset="0"/>
              </a:rPr>
              <a:t>F2=B+C+D</a:t>
            </a:r>
            <a:endParaRPr lang="en-US" altLang="zh-CN" sz="2000" b="1" dirty="0">
              <a:latin typeface="Times New Roman" panose="02020603050405020304" pitchFamily="18" charset="0"/>
            </a:endParaRPr>
          </a:p>
        </p:txBody>
      </p:sp>
      <p:sp>
        <p:nvSpPr>
          <p:cNvPr id="8207" name="Rectangle 79"/>
          <p:cNvSpPr/>
          <p:nvPr/>
        </p:nvSpPr>
        <p:spPr>
          <a:xfrm>
            <a:off x="304800" y="914400"/>
            <a:ext cx="8458200" cy="5410200"/>
          </a:xfrm>
          <a:prstGeom prst="rect">
            <a:avLst/>
          </a:prstGeom>
          <a:noFill/>
          <a:ln w="57150" cap="flat" cmpd="thinThick">
            <a:solidFill>
              <a:srgbClr val="FFCC99"/>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9228" name="AutoShape 12"/>
          <p:cNvSpPr/>
          <p:nvPr/>
        </p:nvSpPr>
        <p:spPr>
          <a:xfrm>
            <a:off x="1524000" y="914400"/>
            <a:ext cx="5486400" cy="1066800"/>
          </a:xfrm>
          <a:prstGeom prst="wedgeRectCallout">
            <a:avLst>
              <a:gd name="adj1" fmla="val 2171"/>
              <a:gd name="adj2" fmla="val -62204"/>
            </a:avLst>
          </a:prstGeom>
          <a:solidFill>
            <a:srgbClr val="FFCC99"/>
          </a:solidFill>
          <a:ln w="9525" cap="flat" cmpd="sng">
            <a:solidFill>
              <a:srgbClr val="990033"/>
            </a:solidFill>
            <a:prstDash val="solid"/>
            <a:miter/>
            <a:headEnd type="none" w="med" len="med"/>
            <a:tailEnd type="none" w="med" len="med"/>
          </a:ln>
        </p:spPr>
        <p:txBody>
          <a:bodyPr wrap="none" anchor="ctr" anchorCtr="0"/>
          <a:p>
            <a:pPr algn="ctr" eaLnBrk="1" hangingPunct="1"/>
            <a:r>
              <a:rPr lang="en-US" altLang="zh-CN" sz="2400" b="1" dirty="0">
                <a:solidFill>
                  <a:srgbClr val="990033"/>
                </a:solidFill>
                <a:latin typeface="Times New Roman" panose="02020603050405020304" pitchFamily="18" charset="0"/>
              </a:rPr>
              <a:t>PLD</a:t>
            </a:r>
            <a:r>
              <a:rPr lang="zh-CN" altLang="en-US" sz="2400" b="1" dirty="0">
                <a:solidFill>
                  <a:srgbClr val="990033"/>
                </a:solidFill>
                <a:latin typeface="Times New Roman" panose="02020603050405020304" pitchFamily="18" charset="0"/>
              </a:rPr>
              <a:t>具有较大的与或阵列，逻辑图的</a:t>
            </a:r>
            <a:endParaRPr lang="zh-CN" altLang="en-US" sz="2400" b="1" dirty="0">
              <a:solidFill>
                <a:srgbClr val="990033"/>
              </a:solidFill>
              <a:latin typeface="Times New Roman" panose="02020603050405020304" pitchFamily="18" charset="0"/>
            </a:endParaRPr>
          </a:p>
          <a:p>
            <a:pPr algn="ctr" eaLnBrk="1" hangingPunct="1"/>
            <a:r>
              <a:rPr lang="zh-CN" altLang="en-US" sz="2400" b="1" dirty="0">
                <a:solidFill>
                  <a:srgbClr val="990033"/>
                </a:solidFill>
                <a:latin typeface="Times New Roman" panose="02020603050405020304" pitchFamily="18" charset="0"/>
              </a:rPr>
              <a:t>画法与传统的画法有所不同</a:t>
            </a:r>
            <a:endParaRPr lang="zh-CN" altLang="en-US" sz="2400" b="1" dirty="0">
              <a:solidFill>
                <a:srgbClr val="990033"/>
              </a:solidFill>
              <a:latin typeface="Times New Roman" panose="02020603050405020304" pitchFamily="18" charset="0"/>
            </a:endParaRPr>
          </a:p>
        </p:txBody>
      </p:sp>
      <p:graphicFrame>
        <p:nvGraphicFramePr>
          <p:cNvPr id="9296" name="Object 80"/>
          <p:cNvGraphicFramePr>
            <a:graphicFrameLocks noChangeAspect="1"/>
          </p:cNvGraphicFramePr>
          <p:nvPr/>
        </p:nvGraphicFramePr>
        <p:xfrm>
          <a:off x="5257800" y="2209800"/>
          <a:ext cx="2209800" cy="1460500"/>
        </p:xfrm>
        <a:graphic>
          <a:graphicData uri="http://schemas.openxmlformats.org/presentationml/2006/ole">
            <mc:AlternateContent xmlns:mc="http://schemas.openxmlformats.org/markup-compatibility/2006">
              <mc:Choice xmlns:v="urn:schemas-microsoft-com:vml" Requires="v">
                <p:oleObj spid="_x0000_s3077" name="" r:id="rId3" imgW="1714500" imgH="1133475" progId="Paint.Picture">
                  <p:embed/>
                </p:oleObj>
              </mc:Choice>
              <mc:Fallback>
                <p:oleObj name="" r:id="rId3" imgW="1714500" imgH="1133475" progId="Paint.Picture">
                  <p:embed/>
                  <p:pic>
                    <p:nvPicPr>
                      <p:cNvPr id="0" name="图片 3076"/>
                      <p:cNvPicPr/>
                      <p:nvPr/>
                    </p:nvPicPr>
                    <p:blipFill>
                      <a:blip r:embed="rId4"/>
                      <a:stretch>
                        <a:fillRect/>
                      </a:stretch>
                    </p:blipFill>
                    <p:spPr>
                      <a:xfrm>
                        <a:off x="5257800" y="2209800"/>
                        <a:ext cx="2209800" cy="1460500"/>
                      </a:xfrm>
                      <a:prstGeom prst="rect">
                        <a:avLst/>
                      </a:prstGeom>
                      <a:noFill/>
                      <a:ln w="38100">
                        <a:noFill/>
                        <a:miter/>
                      </a:ln>
                    </p:spPr>
                  </p:pic>
                </p:oleObj>
              </mc:Fallback>
            </mc:AlternateContent>
          </a:graphicData>
        </a:graphic>
      </p:graphicFrame>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228"/>
                                        </p:tgtEl>
                                        <p:attrNameLst>
                                          <p:attrName>style.visibility</p:attrName>
                                        </p:attrNameLst>
                                      </p:cBhvr>
                                      <p:to>
                                        <p:strVal val="visible"/>
                                      </p:to>
                                    </p:set>
                                  </p:childTnLst>
                                  <p:subTnLst>
                                    <p:set>
                                      <p:cBhvr override="childStyle">
                                        <p:cTn dur="1" fill="hold" display="0" masterRel="nextClick" afterEffect="1"/>
                                        <p:tgtEl>
                                          <p:spTgt spid="9228"/>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9229"/>
                                        </p:tgtEl>
                                        <p:attrNameLst>
                                          <p:attrName>style.visibility</p:attrName>
                                        </p:attrNameLst>
                                      </p:cBhvr>
                                      <p:to>
                                        <p:strVal val="visible"/>
                                      </p:to>
                                    </p:set>
                                    <p:animEffect transition="in" filter="wipe(left)">
                                      <p:cBhvr>
                                        <p:cTn id="11" dur="500"/>
                                        <p:tgtEl>
                                          <p:spTgt spid="922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245"/>
                                        </p:tgtEl>
                                        <p:attrNameLst>
                                          <p:attrName>style.visibility</p:attrName>
                                        </p:attrNameLst>
                                      </p:cBhvr>
                                      <p:to>
                                        <p:strVal val="visible"/>
                                      </p:to>
                                    </p:set>
                                    <p:animEffect transition="in" filter="wipe(left)">
                                      <p:cBhvr>
                                        <p:cTn id="16" dur="500"/>
                                        <p:tgtEl>
                                          <p:spTgt spid="924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246"/>
                                        </p:tgtEl>
                                        <p:attrNameLst>
                                          <p:attrName>style.visibility</p:attrName>
                                        </p:attrNameLst>
                                      </p:cBhvr>
                                      <p:to>
                                        <p:strVal val="visible"/>
                                      </p:to>
                                    </p:set>
                                    <p:animEffect transition="in" filter="wipe(left)">
                                      <p:cBhvr>
                                        <p:cTn id="21" dur="500"/>
                                        <p:tgtEl>
                                          <p:spTgt spid="924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247"/>
                                        </p:tgtEl>
                                        <p:attrNameLst>
                                          <p:attrName>style.visibility</p:attrName>
                                        </p:attrNameLst>
                                      </p:cBhvr>
                                      <p:to>
                                        <p:strVal val="visible"/>
                                      </p:to>
                                    </p:set>
                                    <p:animEffect transition="in" filter="wipe(left)">
                                      <p:cBhvr>
                                        <p:cTn id="26" dur="500"/>
                                        <p:tgtEl>
                                          <p:spTgt spid="924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284"/>
                                        </p:tgtEl>
                                        <p:attrNameLst>
                                          <p:attrName>style.visibility</p:attrName>
                                        </p:attrNameLst>
                                      </p:cBhvr>
                                      <p:to>
                                        <p:strVal val="visible"/>
                                      </p:to>
                                    </p:set>
                                    <p:animEffect transition="in" filter="wipe(left)">
                                      <p:cBhvr>
                                        <p:cTn id="31" dur="500"/>
                                        <p:tgtEl>
                                          <p:spTgt spid="928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9286"/>
                                        </p:tgtEl>
                                        <p:attrNameLst>
                                          <p:attrName>style.visibility</p:attrName>
                                        </p:attrNameLst>
                                      </p:cBhvr>
                                      <p:to>
                                        <p:strVal val="visible"/>
                                      </p:to>
                                    </p:set>
                                    <p:animEffect transition="in" filter="wipe(left)">
                                      <p:cBhvr>
                                        <p:cTn id="36" dur="500"/>
                                        <p:tgtEl>
                                          <p:spTgt spid="9286"/>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9288"/>
                                        </p:tgtEl>
                                        <p:attrNameLst>
                                          <p:attrName>style.visibility</p:attrName>
                                        </p:attrNameLst>
                                      </p:cBhvr>
                                      <p:to>
                                        <p:strVal val="visible"/>
                                      </p:to>
                                    </p:set>
                                    <p:anim calcmode="lin" valueType="num">
                                      <p:cBhvr additive="base">
                                        <p:cTn id="41" dur="500" fill="hold"/>
                                        <p:tgtEl>
                                          <p:spTgt spid="9288"/>
                                        </p:tgtEl>
                                        <p:attrNameLst>
                                          <p:attrName>ppt_x</p:attrName>
                                        </p:attrNameLst>
                                      </p:cBhvr>
                                      <p:tavLst>
                                        <p:tav tm="0">
                                          <p:val>
                                            <p:strVal val="#ppt_x"/>
                                          </p:val>
                                        </p:tav>
                                        <p:tav tm="100000">
                                          <p:val>
                                            <p:strVal val="#ppt_x"/>
                                          </p:val>
                                        </p:tav>
                                      </p:tavLst>
                                    </p:anim>
                                    <p:anim calcmode="lin" valueType="num">
                                      <p:cBhvr additive="base">
                                        <p:cTn id="42" dur="500" fill="hold"/>
                                        <p:tgtEl>
                                          <p:spTgt spid="9288"/>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9288"/>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287"/>
                                        </p:tgtEl>
                                        <p:attrNameLst>
                                          <p:attrName>style.visibility</p:attrName>
                                        </p:attrNameLst>
                                      </p:cBhvr>
                                      <p:to>
                                        <p:strVal val="visible"/>
                                      </p:to>
                                    </p:set>
                                    <p:animEffect transition="in" filter="wipe(left)">
                                      <p:cBhvr>
                                        <p:cTn id="47" dur="500"/>
                                        <p:tgtEl>
                                          <p:spTgt spid="9287"/>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9289"/>
                                        </p:tgtEl>
                                        <p:attrNameLst>
                                          <p:attrName>style.visibility</p:attrName>
                                        </p:attrNameLst>
                                      </p:cBhvr>
                                      <p:to>
                                        <p:strVal val="visible"/>
                                      </p:to>
                                    </p:set>
                                    <p:anim calcmode="lin" valueType="num">
                                      <p:cBhvr additive="base">
                                        <p:cTn id="52" dur="500" fill="hold"/>
                                        <p:tgtEl>
                                          <p:spTgt spid="9289"/>
                                        </p:tgtEl>
                                        <p:attrNameLst>
                                          <p:attrName>ppt_x</p:attrName>
                                        </p:attrNameLst>
                                      </p:cBhvr>
                                      <p:tavLst>
                                        <p:tav tm="0">
                                          <p:val>
                                            <p:strVal val="#ppt_x"/>
                                          </p:val>
                                        </p:tav>
                                        <p:tav tm="100000">
                                          <p:val>
                                            <p:strVal val="#ppt_x"/>
                                          </p:val>
                                        </p:tav>
                                      </p:tavLst>
                                    </p:anim>
                                    <p:anim calcmode="lin" valueType="num">
                                      <p:cBhvr additive="base">
                                        <p:cTn id="53" dur="500" fill="hold"/>
                                        <p:tgtEl>
                                          <p:spTgt spid="9289"/>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9289"/>
                                        </p:tgtEl>
                                        <p:attrNameLst>
                                          <p:attrName>style.visibility</p:attrName>
                                        </p:attrNameLst>
                                      </p:cBhvr>
                                      <p:to>
                                        <p:strVal val="hidden"/>
                                      </p:to>
                                    </p:set>
                                  </p:sub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9290"/>
                                        </p:tgtEl>
                                        <p:attrNameLst>
                                          <p:attrName>style.visibility</p:attrName>
                                        </p:attrNameLst>
                                      </p:cBhvr>
                                      <p:to>
                                        <p:strVal val="visible"/>
                                      </p:to>
                                    </p:set>
                                    <p:animEffect transition="in" filter="wipe(left)">
                                      <p:cBhvr>
                                        <p:cTn id="58" dur="500"/>
                                        <p:tgtEl>
                                          <p:spTgt spid="9290"/>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499"/>
                                          </p:stCondLst>
                                        </p:cTn>
                                        <p:tgtEl>
                                          <p:spTgt spid="929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9294"/>
                                        </p:tgtEl>
                                        <p:attrNameLst>
                                          <p:attrName>style.visibility</p:attrName>
                                        </p:attrNameLst>
                                      </p:cBhvr>
                                      <p:to>
                                        <p:strVal val="visible"/>
                                      </p:to>
                                    </p:set>
                                    <p:animEffect transition="in" filter="wipe(left)">
                                      <p:cBhvr>
                                        <p:cTn id="67" dur="500"/>
                                        <p:tgtEl>
                                          <p:spTgt spid="929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9293"/>
                                        </p:tgtEl>
                                        <p:attrNameLst>
                                          <p:attrName>style.visibility</p:attrName>
                                        </p:attrNameLst>
                                      </p:cBhvr>
                                      <p:to>
                                        <p:strVal val="visible"/>
                                      </p:to>
                                    </p:set>
                                    <p:animEffect transition="in" filter="wipe(left)">
                                      <p:cBhvr>
                                        <p:cTn id="72" dur="500"/>
                                        <p:tgtEl>
                                          <p:spTgt spid="9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9" grpId="0"/>
      <p:bldP spid="9246" grpId="0"/>
      <p:bldP spid="9288" grpId="0" animBg="1"/>
      <p:bldP spid="9289" grpId="0" animBg="1"/>
      <p:bldP spid="9290" grpId="0"/>
      <p:bldP spid="9293" grpId="0"/>
      <p:bldP spid="922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3321" name="Object 9"/>
          <p:cNvGraphicFramePr>
            <a:graphicFrameLocks noChangeAspect="1"/>
          </p:cNvGraphicFramePr>
          <p:nvPr/>
        </p:nvGraphicFramePr>
        <p:xfrm>
          <a:off x="1219200" y="838200"/>
          <a:ext cx="6400800" cy="3124200"/>
        </p:xfrm>
        <a:graphic>
          <a:graphicData uri="http://schemas.openxmlformats.org/presentationml/2006/ole">
            <mc:AlternateContent xmlns:mc="http://schemas.openxmlformats.org/markup-compatibility/2006">
              <mc:Choice xmlns:v="urn:schemas-microsoft-com:vml" Requires="v">
                <p:oleObj spid="_x0000_s3081" name="" r:id="rId1" imgW="3714750" imgH="2009775" progId="Paint.Picture">
                  <p:embed/>
                </p:oleObj>
              </mc:Choice>
              <mc:Fallback>
                <p:oleObj name="" r:id="rId1" imgW="3714750" imgH="2009775" progId="Paint.Picture">
                  <p:embed/>
                  <p:pic>
                    <p:nvPicPr>
                      <p:cNvPr id="0" name="图片 3080"/>
                      <p:cNvPicPr/>
                      <p:nvPr/>
                    </p:nvPicPr>
                    <p:blipFill>
                      <a:blip r:embed="rId2"/>
                      <a:stretch>
                        <a:fillRect/>
                      </a:stretch>
                    </p:blipFill>
                    <p:spPr>
                      <a:xfrm>
                        <a:off x="1219200" y="838200"/>
                        <a:ext cx="6400800" cy="3124200"/>
                      </a:xfrm>
                      <a:prstGeom prst="rect">
                        <a:avLst/>
                      </a:prstGeom>
                      <a:noFill/>
                      <a:ln w="38100">
                        <a:noFill/>
                        <a:miter/>
                      </a:ln>
                    </p:spPr>
                  </p:pic>
                </p:oleObj>
              </mc:Fallback>
            </mc:AlternateContent>
          </a:graphicData>
        </a:graphic>
      </p:graphicFrame>
      <p:sp>
        <p:nvSpPr>
          <p:cNvPr id="9219" name="Text Box 10"/>
          <p:cNvSpPr txBox="1"/>
          <p:nvPr/>
        </p:nvSpPr>
        <p:spPr>
          <a:xfrm>
            <a:off x="381000" y="228600"/>
            <a:ext cx="6705600" cy="457200"/>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下图列出了连接的三种特殊情况</a:t>
            </a: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3323" name="Text Box 11"/>
          <p:cNvSpPr txBox="1"/>
          <p:nvPr/>
        </p:nvSpPr>
        <p:spPr>
          <a:xfrm>
            <a:off x="457200" y="4191000"/>
            <a:ext cx="6400800" cy="4572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1.</a:t>
            </a:r>
            <a:r>
              <a:rPr lang="zh-CN" altLang="en-US" sz="2400" b="1" dirty="0">
                <a:latin typeface="Times New Roman" panose="02020603050405020304" pitchFamily="18" charset="0"/>
              </a:rPr>
              <a:t>输入全编程，输出为</a:t>
            </a:r>
            <a:r>
              <a:rPr lang="en-US" altLang="zh-CN" sz="2400" b="1" dirty="0">
                <a:latin typeface="Times New Roman" panose="02020603050405020304" pitchFamily="18" charset="0"/>
              </a:rPr>
              <a:t>0</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grpSp>
        <p:nvGrpSpPr>
          <p:cNvPr id="13327" name="Group 15"/>
          <p:cNvGrpSpPr/>
          <p:nvPr/>
        </p:nvGrpSpPr>
        <p:grpSpPr>
          <a:xfrm>
            <a:off x="1752600" y="1981200"/>
            <a:ext cx="4800600" cy="2133600"/>
            <a:chOff x="1104" y="1248"/>
            <a:chExt cx="3024" cy="1344"/>
          </a:xfrm>
        </p:grpSpPr>
        <p:sp>
          <p:nvSpPr>
            <p:cNvPr id="9233" name="Line 12"/>
            <p:cNvSpPr/>
            <p:nvPr/>
          </p:nvSpPr>
          <p:spPr>
            <a:xfrm flipV="1">
              <a:off x="1104" y="1248"/>
              <a:ext cx="1392" cy="1344"/>
            </a:xfrm>
            <a:prstGeom prst="line">
              <a:avLst/>
            </a:prstGeom>
            <a:ln w="57150" cap="flat" cmpd="sng">
              <a:solidFill>
                <a:schemeClr val="accent1"/>
              </a:solidFill>
              <a:prstDash val="solid"/>
              <a:headEnd type="none" w="med" len="med"/>
              <a:tailEnd type="triangle" w="med" len="med"/>
            </a:ln>
          </p:spPr>
        </p:sp>
        <p:sp>
          <p:nvSpPr>
            <p:cNvPr id="9234" name="Line 13"/>
            <p:cNvSpPr/>
            <p:nvPr/>
          </p:nvSpPr>
          <p:spPr>
            <a:xfrm flipV="1">
              <a:off x="1104" y="1968"/>
              <a:ext cx="2832" cy="624"/>
            </a:xfrm>
            <a:prstGeom prst="line">
              <a:avLst/>
            </a:prstGeom>
            <a:ln w="57150" cap="flat" cmpd="sng">
              <a:solidFill>
                <a:schemeClr val="accent1"/>
              </a:solidFill>
              <a:prstDash val="solid"/>
              <a:headEnd type="none" w="med" len="med"/>
              <a:tailEnd type="triangle" w="med" len="med"/>
            </a:ln>
          </p:spPr>
        </p:sp>
        <p:sp>
          <p:nvSpPr>
            <p:cNvPr id="9235" name="Rectangle 14"/>
            <p:cNvSpPr/>
            <p:nvPr/>
          </p:nvSpPr>
          <p:spPr>
            <a:xfrm>
              <a:off x="3888" y="1248"/>
              <a:ext cx="240" cy="816"/>
            </a:xfrm>
            <a:prstGeom prst="rect">
              <a:avLst/>
            </a:prstGeom>
            <a:noFill/>
            <a:ln w="57150" cap="flat" cmpd="sng">
              <a:solidFill>
                <a:schemeClr val="accent1"/>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sp>
        <p:nvSpPr>
          <p:cNvPr id="13328" name="Text Box 16"/>
          <p:cNvSpPr txBox="1"/>
          <p:nvPr/>
        </p:nvSpPr>
        <p:spPr>
          <a:xfrm>
            <a:off x="457200" y="4724400"/>
            <a:ext cx="6705600" cy="4572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2.</a:t>
            </a:r>
            <a:r>
              <a:rPr lang="zh-CN" altLang="en-US" sz="2400" b="1" dirty="0">
                <a:latin typeface="Times New Roman" panose="02020603050405020304" pitchFamily="18" charset="0"/>
              </a:rPr>
              <a:t>也可简单地对应的与门中画叉，因此</a:t>
            </a:r>
            <a:r>
              <a:rPr lang="en-US" altLang="zh-CN" sz="2400" b="1" dirty="0">
                <a:solidFill>
                  <a:srgbClr val="990033"/>
                </a:solidFill>
                <a:latin typeface="Times New Roman" panose="02020603050405020304" pitchFamily="18" charset="0"/>
              </a:rPr>
              <a:t>E=D</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grpSp>
        <p:nvGrpSpPr>
          <p:cNvPr id="13332" name="Group 20"/>
          <p:cNvGrpSpPr/>
          <p:nvPr/>
        </p:nvGrpSpPr>
        <p:grpSpPr>
          <a:xfrm>
            <a:off x="3733800" y="1981200"/>
            <a:ext cx="3200400" cy="2819400"/>
            <a:chOff x="2352" y="1248"/>
            <a:chExt cx="2016" cy="1776"/>
          </a:xfrm>
        </p:grpSpPr>
        <p:sp>
          <p:nvSpPr>
            <p:cNvPr id="9230" name="Line 17"/>
            <p:cNvSpPr/>
            <p:nvPr/>
          </p:nvSpPr>
          <p:spPr>
            <a:xfrm flipH="1" flipV="1">
              <a:off x="2352" y="1824"/>
              <a:ext cx="384" cy="1152"/>
            </a:xfrm>
            <a:prstGeom prst="line">
              <a:avLst/>
            </a:prstGeom>
            <a:ln w="57150" cap="flat" cmpd="sng">
              <a:solidFill>
                <a:schemeClr val="accent1"/>
              </a:solidFill>
              <a:prstDash val="solid"/>
              <a:headEnd type="none" w="med" len="med"/>
              <a:tailEnd type="triangle" w="med" len="med"/>
            </a:ln>
          </p:spPr>
        </p:sp>
        <p:sp>
          <p:nvSpPr>
            <p:cNvPr id="9231" name="Line 18"/>
            <p:cNvSpPr/>
            <p:nvPr/>
          </p:nvSpPr>
          <p:spPr>
            <a:xfrm flipV="1">
              <a:off x="2784" y="2016"/>
              <a:ext cx="1440" cy="1008"/>
            </a:xfrm>
            <a:prstGeom prst="line">
              <a:avLst/>
            </a:prstGeom>
            <a:ln w="57150" cap="flat" cmpd="sng">
              <a:solidFill>
                <a:schemeClr val="accent1"/>
              </a:solidFill>
              <a:prstDash val="solid"/>
              <a:headEnd type="none" w="med" len="med"/>
              <a:tailEnd type="triangle" w="med" len="med"/>
            </a:ln>
          </p:spPr>
        </p:sp>
        <p:sp>
          <p:nvSpPr>
            <p:cNvPr id="9232" name="Rectangle 19"/>
            <p:cNvSpPr/>
            <p:nvPr/>
          </p:nvSpPr>
          <p:spPr>
            <a:xfrm>
              <a:off x="4128" y="1248"/>
              <a:ext cx="240" cy="816"/>
            </a:xfrm>
            <a:prstGeom prst="rect">
              <a:avLst/>
            </a:prstGeom>
            <a:noFill/>
            <a:ln w="38100" cap="flat" cmpd="sng">
              <a:solidFill>
                <a:schemeClr val="accent1"/>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sp>
        <p:nvSpPr>
          <p:cNvPr id="13333" name="Text Box 21"/>
          <p:cNvSpPr txBox="1"/>
          <p:nvPr/>
        </p:nvSpPr>
        <p:spPr>
          <a:xfrm>
            <a:off x="457200" y="5257800"/>
            <a:ext cx="7696200" cy="4572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3.</a:t>
            </a:r>
            <a:r>
              <a:rPr lang="zh-CN" altLang="en-US" sz="2400" b="1" dirty="0">
                <a:latin typeface="Times New Roman" panose="02020603050405020304" pitchFamily="18" charset="0"/>
              </a:rPr>
              <a:t>乘积项与任何输入信号都没有接通，相当与门输出为</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grpSp>
        <p:nvGrpSpPr>
          <p:cNvPr id="13337" name="Group 25"/>
          <p:cNvGrpSpPr/>
          <p:nvPr/>
        </p:nvGrpSpPr>
        <p:grpSpPr>
          <a:xfrm>
            <a:off x="4267200" y="1981200"/>
            <a:ext cx="3048000" cy="3200400"/>
            <a:chOff x="2688" y="1248"/>
            <a:chExt cx="1920" cy="2016"/>
          </a:xfrm>
        </p:grpSpPr>
        <p:sp>
          <p:nvSpPr>
            <p:cNvPr id="9227" name="Line 22"/>
            <p:cNvSpPr/>
            <p:nvPr/>
          </p:nvSpPr>
          <p:spPr>
            <a:xfrm flipH="1" flipV="1">
              <a:off x="2688" y="2160"/>
              <a:ext cx="1920" cy="1104"/>
            </a:xfrm>
            <a:prstGeom prst="line">
              <a:avLst/>
            </a:prstGeom>
            <a:ln w="57150" cap="flat" cmpd="sng">
              <a:solidFill>
                <a:schemeClr val="accent1"/>
              </a:solidFill>
              <a:prstDash val="solid"/>
              <a:headEnd type="none" w="med" len="med"/>
              <a:tailEnd type="triangle" w="med" len="med"/>
            </a:ln>
          </p:spPr>
        </p:sp>
        <p:sp>
          <p:nvSpPr>
            <p:cNvPr id="9228" name="Line 23"/>
            <p:cNvSpPr/>
            <p:nvPr/>
          </p:nvSpPr>
          <p:spPr>
            <a:xfrm flipH="1" flipV="1">
              <a:off x="4512" y="2064"/>
              <a:ext cx="48" cy="1200"/>
            </a:xfrm>
            <a:prstGeom prst="line">
              <a:avLst/>
            </a:prstGeom>
            <a:ln w="57150" cap="flat" cmpd="sng">
              <a:solidFill>
                <a:schemeClr val="accent1"/>
              </a:solidFill>
              <a:prstDash val="solid"/>
              <a:headEnd type="none" w="med" len="med"/>
              <a:tailEnd type="triangle" w="med" len="med"/>
            </a:ln>
          </p:spPr>
        </p:sp>
        <p:sp>
          <p:nvSpPr>
            <p:cNvPr id="9229" name="Rectangle 24"/>
            <p:cNvSpPr/>
            <p:nvPr/>
          </p:nvSpPr>
          <p:spPr>
            <a:xfrm>
              <a:off x="4368" y="1248"/>
              <a:ext cx="240" cy="816"/>
            </a:xfrm>
            <a:prstGeom prst="rect">
              <a:avLst/>
            </a:prstGeom>
            <a:noFill/>
            <a:ln w="57150" cap="flat" cmpd="sng">
              <a:solidFill>
                <a:schemeClr val="accent1"/>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sp>
        <p:nvSpPr>
          <p:cNvPr id="13338" name="AutoShape 26"/>
          <p:cNvSpPr/>
          <p:nvPr/>
        </p:nvSpPr>
        <p:spPr>
          <a:xfrm>
            <a:off x="3124200" y="5867400"/>
            <a:ext cx="5562600" cy="609600"/>
          </a:xfrm>
          <a:prstGeom prst="wedgeRectCallout">
            <a:avLst>
              <a:gd name="adj1" fmla="val 34759"/>
              <a:gd name="adj2" fmla="val -90106"/>
            </a:avLst>
          </a:prstGeom>
          <a:solidFill>
            <a:srgbClr val="FFCC99"/>
          </a:solidFill>
          <a:ln w="9525">
            <a:noFill/>
          </a:ln>
        </p:spPr>
        <p:txBody>
          <a:bodyPr wrap="none" anchor="ctr" anchorCtr="0"/>
          <a:p>
            <a:pPr eaLnBrk="1" hangingPunct="1"/>
            <a:r>
              <a:rPr lang="zh-CN" altLang="en-US" sz="2400" b="1" dirty="0">
                <a:solidFill>
                  <a:srgbClr val="990033"/>
                </a:solidFill>
                <a:latin typeface="Times New Roman" panose="02020603050405020304" pitchFamily="18" charset="0"/>
              </a:rPr>
              <a:t>注：</a:t>
            </a:r>
            <a:r>
              <a:rPr lang="en-US" altLang="zh-CN" sz="2400" b="1" dirty="0">
                <a:solidFill>
                  <a:srgbClr val="990033"/>
                </a:solidFill>
                <a:latin typeface="Times New Roman" panose="02020603050405020304" pitchFamily="18" charset="0"/>
              </a:rPr>
              <a:t>F=1</a:t>
            </a:r>
            <a:r>
              <a:rPr lang="zh-CN" altLang="en-US" sz="2400" b="1" dirty="0">
                <a:solidFill>
                  <a:srgbClr val="990033"/>
                </a:solidFill>
                <a:latin typeface="Times New Roman" panose="02020603050405020304" pitchFamily="18" charset="0"/>
              </a:rPr>
              <a:t>将导致关断其它乘积项的输出。</a:t>
            </a:r>
            <a:endParaRPr lang="zh-CN" altLang="en-US" sz="2400" b="1" dirty="0">
              <a:solidFill>
                <a:srgbClr val="990033"/>
              </a:solidFill>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3321"/>
                                        </p:tgtEl>
                                        <p:attrNameLst>
                                          <p:attrName>style.visibility</p:attrName>
                                        </p:attrNameLst>
                                      </p:cBhvr>
                                      <p:to>
                                        <p:strVal val="visible"/>
                                      </p:to>
                                    </p:set>
                                    <p:animEffect transition="in" filter="box(out)">
                                      <p:cBhvr>
                                        <p:cTn id="7" dur="500"/>
                                        <p:tgtEl>
                                          <p:spTgt spid="133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23"/>
                                        </p:tgtEl>
                                        <p:attrNameLst>
                                          <p:attrName>style.visibility</p:attrName>
                                        </p:attrNameLst>
                                      </p:cBhvr>
                                      <p:to>
                                        <p:strVal val="visible"/>
                                      </p:to>
                                    </p:set>
                                    <p:animEffect transition="in" filter="wipe(left)">
                                      <p:cBhvr>
                                        <p:cTn id="12" dur="500"/>
                                        <p:tgtEl>
                                          <p:spTgt spid="1332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13327"/>
                                        </p:tgtEl>
                                        <p:attrNameLst>
                                          <p:attrName>style.visibility</p:attrName>
                                        </p:attrNameLst>
                                      </p:cBhvr>
                                      <p:to>
                                        <p:strVal val="visible"/>
                                      </p:to>
                                    </p:set>
                                    <p:animEffect transition="in" filter="strips(upRight)">
                                      <p:cBhvr>
                                        <p:cTn id="17" dur="500"/>
                                        <p:tgtEl>
                                          <p:spTgt spid="13327"/>
                                        </p:tgtEl>
                                      </p:cBhvr>
                                    </p:animEffect>
                                  </p:childTnLst>
                                  <p:subTnLst>
                                    <p:set>
                                      <p:cBhvr override="childStyle">
                                        <p:cTn dur="1" fill="hold" display="0" masterRel="nextClick" afterEffect="1"/>
                                        <p:tgtEl>
                                          <p:spTgt spid="13327"/>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328"/>
                                        </p:tgtEl>
                                        <p:attrNameLst>
                                          <p:attrName>style.visibility</p:attrName>
                                        </p:attrNameLst>
                                      </p:cBhvr>
                                      <p:to>
                                        <p:strVal val="visible"/>
                                      </p:to>
                                    </p:set>
                                    <p:animEffect transition="in" filter="wipe(left)">
                                      <p:cBhvr>
                                        <p:cTn id="22" dur="500"/>
                                        <p:tgtEl>
                                          <p:spTgt spid="13328"/>
                                        </p:tgtEl>
                                      </p:cBhvr>
                                    </p:animEffect>
                                  </p:childTnLst>
                                </p:cTn>
                              </p:par>
                            </p:childTnLst>
                          </p:cTn>
                        </p:par>
                      </p:childTnLst>
                    </p:cTn>
                  </p:par>
                  <p:par>
                    <p:cTn id="23" fill="hold">
                      <p:stCondLst>
                        <p:cond delay="indefinite"/>
                      </p:stCondLst>
                      <p:childTnLst>
                        <p:par>
                          <p:cTn id="24" fill="hold">
                            <p:stCondLst>
                              <p:cond delay="0"/>
                            </p:stCondLst>
                            <p:childTnLst>
                              <p:par>
                                <p:cTn id="25" presetID="17" presetClass="entr" presetSubtype="4" fill="hold" nodeType="clickEffect">
                                  <p:stCondLst>
                                    <p:cond delay="0"/>
                                  </p:stCondLst>
                                  <p:childTnLst>
                                    <p:set>
                                      <p:cBhvr>
                                        <p:cTn id="26" dur="1" fill="hold">
                                          <p:stCondLst>
                                            <p:cond delay="0"/>
                                          </p:stCondLst>
                                        </p:cTn>
                                        <p:tgtEl>
                                          <p:spTgt spid="13332"/>
                                        </p:tgtEl>
                                        <p:attrNameLst>
                                          <p:attrName>style.visibility</p:attrName>
                                        </p:attrNameLst>
                                      </p:cBhvr>
                                      <p:to>
                                        <p:strVal val="visible"/>
                                      </p:to>
                                    </p:set>
                                    <p:anim calcmode="lin" valueType="num">
                                      <p:cBhvr>
                                        <p:cTn id="27" dur="500" fill="hold"/>
                                        <p:tgtEl>
                                          <p:spTgt spid="13332"/>
                                        </p:tgtEl>
                                        <p:attrNameLst>
                                          <p:attrName>ppt_x</p:attrName>
                                        </p:attrNameLst>
                                      </p:cBhvr>
                                      <p:tavLst>
                                        <p:tav tm="0">
                                          <p:val>
                                            <p:strVal val="#ppt_x"/>
                                          </p:val>
                                        </p:tav>
                                        <p:tav tm="100000">
                                          <p:val>
                                            <p:strVal val="#ppt_x"/>
                                          </p:val>
                                        </p:tav>
                                      </p:tavLst>
                                    </p:anim>
                                    <p:anim calcmode="lin" valueType="num">
                                      <p:cBhvr>
                                        <p:cTn id="28" dur="500" fill="hold"/>
                                        <p:tgtEl>
                                          <p:spTgt spid="13332"/>
                                        </p:tgtEl>
                                        <p:attrNameLst>
                                          <p:attrName>ppt_y</p:attrName>
                                        </p:attrNameLst>
                                      </p:cBhvr>
                                      <p:tavLst>
                                        <p:tav tm="0">
                                          <p:val>
                                            <p:strVal val="#ppt_y+#ppt_h/2"/>
                                          </p:val>
                                        </p:tav>
                                        <p:tav tm="100000">
                                          <p:val>
                                            <p:strVal val="#ppt_y"/>
                                          </p:val>
                                        </p:tav>
                                      </p:tavLst>
                                    </p:anim>
                                    <p:anim calcmode="lin" valueType="num">
                                      <p:cBhvr>
                                        <p:cTn id="29" dur="500" fill="hold"/>
                                        <p:tgtEl>
                                          <p:spTgt spid="13332"/>
                                        </p:tgtEl>
                                        <p:attrNameLst>
                                          <p:attrName>ppt_w</p:attrName>
                                        </p:attrNameLst>
                                      </p:cBhvr>
                                      <p:tavLst>
                                        <p:tav tm="0">
                                          <p:val>
                                            <p:strVal val="#ppt_w"/>
                                          </p:val>
                                        </p:tav>
                                        <p:tav tm="100000">
                                          <p:val>
                                            <p:strVal val="#ppt_w"/>
                                          </p:val>
                                        </p:tav>
                                      </p:tavLst>
                                    </p:anim>
                                    <p:anim calcmode="lin" valueType="num">
                                      <p:cBhvr>
                                        <p:cTn id="30" dur="500" fill="hold"/>
                                        <p:tgtEl>
                                          <p:spTgt spid="13332"/>
                                        </p:tgtEl>
                                        <p:attrNameLst>
                                          <p:attrName>ppt_h</p:attrName>
                                        </p:attrNameLst>
                                      </p:cBhvr>
                                      <p:tavLst>
                                        <p:tav tm="0">
                                          <p:val>
                                            <p:fltVal val="0.000000"/>
                                          </p:val>
                                        </p:tav>
                                        <p:tav tm="100000">
                                          <p:val>
                                            <p:strVal val="#ppt_h"/>
                                          </p:val>
                                        </p:tav>
                                      </p:tavLst>
                                    </p:anim>
                                  </p:childTnLst>
                                  <p:subTnLst>
                                    <p:set>
                                      <p:cBhvr override="childStyle">
                                        <p:cTn dur="1" fill="hold" display="0" masterRel="nextClick" afterEffect="1"/>
                                        <p:tgtEl>
                                          <p:spTgt spid="13332"/>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iterate type="wd">
                                    <p:tmPct val="100000"/>
                                  </p:iterate>
                                  <p:childTnLst>
                                    <p:set>
                                      <p:cBhvr>
                                        <p:cTn id="34" dur="1" fill="hold">
                                          <p:stCondLst>
                                            <p:cond delay="0"/>
                                          </p:stCondLst>
                                        </p:cTn>
                                        <p:tgtEl>
                                          <p:spTgt spid="13333"/>
                                        </p:tgtEl>
                                        <p:attrNameLst>
                                          <p:attrName>style.visibility</p:attrName>
                                        </p:attrNameLst>
                                      </p:cBhvr>
                                      <p:to>
                                        <p:strVal val="visible"/>
                                      </p:to>
                                    </p:set>
                                    <p:animEffect transition="in" filter="wipe(left)">
                                      <p:cBhvr>
                                        <p:cTn id="35" dur="300"/>
                                        <p:tgtEl>
                                          <p:spTgt spid="13333"/>
                                        </p:tgtEl>
                                      </p:cBhvr>
                                    </p:animEffect>
                                  </p:childTnLst>
                                </p:cTn>
                              </p:par>
                            </p:childTnLst>
                          </p:cTn>
                        </p:par>
                      </p:childTnLst>
                    </p:cTn>
                  </p:par>
                  <p:par>
                    <p:cTn id="36" fill="hold">
                      <p:stCondLst>
                        <p:cond delay="indefinite"/>
                      </p:stCondLst>
                      <p:childTnLst>
                        <p:par>
                          <p:cTn id="37" fill="hold">
                            <p:stCondLst>
                              <p:cond delay="0"/>
                            </p:stCondLst>
                            <p:childTnLst>
                              <p:par>
                                <p:cTn id="38" presetID="17" presetClass="entr" presetSubtype="4" fill="hold" nodeType="clickEffect">
                                  <p:stCondLst>
                                    <p:cond delay="0"/>
                                  </p:stCondLst>
                                  <p:childTnLst>
                                    <p:set>
                                      <p:cBhvr>
                                        <p:cTn id="39" dur="1" fill="hold">
                                          <p:stCondLst>
                                            <p:cond delay="0"/>
                                          </p:stCondLst>
                                        </p:cTn>
                                        <p:tgtEl>
                                          <p:spTgt spid="13337"/>
                                        </p:tgtEl>
                                        <p:attrNameLst>
                                          <p:attrName>style.visibility</p:attrName>
                                        </p:attrNameLst>
                                      </p:cBhvr>
                                      <p:to>
                                        <p:strVal val="visible"/>
                                      </p:to>
                                    </p:set>
                                    <p:anim calcmode="lin" valueType="num">
                                      <p:cBhvr>
                                        <p:cTn id="40" dur="500" fill="hold"/>
                                        <p:tgtEl>
                                          <p:spTgt spid="13337"/>
                                        </p:tgtEl>
                                        <p:attrNameLst>
                                          <p:attrName>ppt_x</p:attrName>
                                        </p:attrNameLst>
                                      </p:cBhvr>
                                      <p:tavLst>
                                        <p:tav tm="0">
                                          <p:val>
                                            <p:strVal val="#ppt_x"/>
                                          </p:val>
                                        </p:tav>
                                        <p:tav tm="100000">
                                          <p:val>
                                            <p:strVal val="#ppt_x"/>
                                          </p:val>
                                        </p:tav>
                                      </p:tavLst>
                                    </p:anim>
                                    <p:anim calcmode="lin" valueType="num">
                                      <p:cBhvr>
                                        <p:cTn id="41" dur="500" fill="hold"/>
                                        <p:tgtEl>
                                          <p:spTgt spid="13337"/>
                                        </p:tgtEl>
                                        <p:attrNameLst>
                                          <p:attrName>ppt_y</p:attrName>
                                        </p:attrNameLst>
                                      </p:cBhvr>
                                      <p:tavLst>
                                        <p:tav tm="0">
                                          <p:val>
                                            <p:strVal val="#ppt_y+#ppt_h/2"/>
                                          </p:val>
                                        </p:tav>
                                        <p:tav tm="100000">
                                          <p:val>
                                            <p:strVal val="#ppt_y"/>
                                          </p:val>
                                        </p:tav>
                                      </p:tavLst>
                                    </p:anim>
                                    <p:anim calcmode="lin" valueType="num">
                                      <p:cBhvr>
                                        <p:cTn id="42" dur="500" fill="hold"/>
                                        <p:tgtEl>
                                          <p:spTgt spid="13337"/>
                                        </p:tgtEl>
                                        <p:attrNameLst>
                                          <p:attrName>ppt_w</p:attrName>
                                        </p:attrNameLst>
                                      </p:cBhvr>
                                      <p:tavLst>
                                        <p:tav tm="0">
                                          <p:val>
                                            <p:strVal val="#ppt_w"/>
                                          </p:val>
                                        </p:tav>
                                        <p:tav tm="100000">
                                          <p:val>
                                            <p:strVal val="#ppt_w"/>
                                          </p:val>
                                        </p:tav>
                                      </p:tavLst>
                                    </p:anim>
                                    <p:anim calcmode="lin" valueType="num">
                                      <p:cBhvr>
                                        <p:cTn id="43" dur="500" fill="hold"/>
                                        <p:tgtEl>
                                          <p:spTgt spid="13337"/>
                                        </p:tgtEl>
                                        <p:attrNameLst>
                                          <p:attrName>ppt_h</p:attrName>
                                        </p:attrNameLst>
                                      </p:cBhvr>
                                      <p:tavLst>
                                        <p:tav tm="0">
                                          <p:val>
                                            <p:fltVal val="0.00000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3338"/>
                                        </p:tgtEl>
                                        <p:attrNameLst>
                                          <p:attrName>style.visibility</p:attrName>
                                        </p:attrNameLst>
                                      </p:cBhvr>
                                      <p:to>
                                        <p:strVal val="visible"/>
                                      </p:to>
                                    </p:set>
                                    <p:anim calcmode="lin" valueType="num">
                                      <p:cBhvr additive="base">
                                        <p:cTn id="48" dur="500" fill="hold"/>
                                        <p:tgtEl>
                                          <p:spTgt spid="13338"/>
                                        </p:tgtEl>
                                        <p:attrNameLst>
                                          <p:attrName>ppt_x</p:attrName>
                                        </p:attrNameLst>
                                      </p:cBhvr>
                                      <p:tavLst>
                                        <p:tav tm="0">
                                          <p:val>
                                            <p:strVal val="#ppt_x"/>
                                          </p:val>
                                        </p:tav>
                                        <p:tav tm="100000">
                                          <p:val>
                                            <p:strVal val="#ppt_x"/>
                                          </p:val>
                                        </p:tav>
                                      </p:tavLst>
                                    </p:anim>
                                    <p:anim calcmode="lin" valueType="num">
                                      <p:cBhvr additive="base">
                                        <p:cTn id="49" dur="500" fill="hold"/>
                                        <p:tgtEl>
                                          <p:spTgt spid="13338"/>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333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3" grpId="0"/>
      <p:bldP spid="13328" grpId="0"/>
      <p:bldP spid="13333" grpId="0"/>
      <p:bldP spid="1333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12"/>
          <p:cNvSpPr txBox="1"/>
          <p:nvPr/>
        </p:nvSpPr>
        <p:spPr>
          <a:xfrm>
            <a:off x="76200" y="76200"/>
            <a:ext cx="8077200" cy="457200"/>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下图给出最简单的</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电路图，右图是左图的简化形式。</a:t>
            </a:r>
            <a:endParaRPr lang="zh-CN" altLang="en-US" sz="2400" b="1" dirty="0">
              <a:latin typeface="Times New Roman" panose="02020603050405020304" pitchFamily="18" charset="0"/>
            </a:endParaRPr>
          </a:p>
        </p:txBody>
      </p:sp>
      <p:graphicFrame>
        <p:nvGraphicFramePr>
          <p:cNvPr id="23565" name="Object 13"/>
          <p:cNvGraphicFramePr>
            <a:graphicFrameLocks noChangeAspect="1"/>
          </p:cNvGraphicFramePr>
          <p:nvPr/>
        </p:nvGraphicFramePr>
        <p:xfrm>
          <a:off x="838200" y="685800"/>
          <a:ext cx="7010400" cy="4191000"/>
        </p:xfrm>
        <a:graphic>
          <a:graphicData uri="http://schemas.openxmlformats.org/presentationml/2006/ole">
            <mc:AlternateContent xmlns:mc="http://schemas.openxmlformats.org/markup-compatibility/2006">
              <mc:Choice xmlns:v="urn:schemas-microsoft-com:vml" Requires="v">
                <p:oleObj spid="_x0000_s3080" name="" r:id="rId1" imgW="5029200" imgH="2667000" progId="Paint.Picture">
                  <p:embed/>
                </p:oleObj>
              </mc:Choice>
              <mc:Fallback>
                <p:oleObj name="" r:id="rId1" imgW="5029200" imgH="2667000" progId="Paint.Picture">
                  <p:embed/>
                  <p:pic>
                    <p:nvPicPr>
                      <p:cNvPr id="0" name="图片 3079"/>
                      <p:cNvPicPr/>
                      <p:nvPr/>
                    </p:nvPicPr>
                    <p:blipFill>
                      <a:blip r:embed="rId2"/>
                      <a:stretch>
                        <a:fillRect/>
                      </a:stretch>
                    </p:blipFill>
                    <p:spPr>
                      <a:xfrm>
                        <a:off x="838200" y="685800"/>
                        <a:ext cx="7010400" cy="4191000"/>
                      </a:xfrm>
                      <a:prstGeom prst="rect">
                        <a:avLst/>
                      </a:prstGeom>
                      <a:noFill/>
                      <a:ln w="38100">
                        <a:noFill/>
                        <a:miter/>
                      </a:ln>
                    </p:spPr>
                  </p:pic>
                </p:oleObj>
              </mc:Fallback>
            </mc:AlternateContent>
          </a:graphicData>
        </a:graphic>
      </p:graphicFrame>
      <p:sp>
        <p:nvSpPr>
          <p:cNvPr id="23566" name="Text Box 14"/>
          <p:cNvSpPr txBox="1"/>
          <p:nvPr/>
        </p:nvSpPr>
        <p:spPr>
          <a:xfrm>
            <a:off x="381000" y="5029200"/>
            <a:ext cx="7391400" cy="457200"/>
          </a:xfrm>
          <a:prstGeom prst="rect">
            <a:avLst/>
          </a:prstGeom>
          <a:noFill/>
          <a:ln w="9525">
            <a:noFill/>
          </a:ln>
        </p:spPr>
        <p:txBody>
          <a:bodyPr>
            <a:spAutoFit/>
          </a:bodyPr>
          <a:p>
            <a:pPr algn="just" eaLnBrk="1" hangingPunct="1"/>
            <a:r>
              <a:rPr lang="zh-CN" altLang="en-US" sz="2400" b="1" dirty="0">
                <a:latin typeface="Times New Roman" panose="02020603050405020304" pitchFamily="18" charset="0"/>
              </a:rPr>
              <a:t>实现的函数为：</a:t>
            </a:r>
            <a:endParaRPr lang="zh-CN" altLang="en-US" sz="2400" b="1" dirty="0">
              <a:latin typeface="Times New Roman" panose="02020603050405020304" pitchFamily="18" charset="0"/>
            </a:endParaRPr>
          </a:p>
        </p:txBody>
      </p:sp>
      <p:sp>
        <p:nvSpPr>
          <p:cNvPr id="10245" name="Text Box 15"/>
          <p:cNvSpPr txBox="1"/>
          <p:nvPr/>
        </p:nvSpPr>
        <p:spPr>
          <a:xfrm>
            <a:off x="381000" y="5791200"/>
            <a:ext cx="8229600" cy="396875"/>
          </a:xfrm>
          <a:prstGeom prst="rect">
            <a:avLst/>
          </a:prstGeom>
          <a:noFill/>
          <a:ln w="9525">
            <a:noFill/>
          </a:ln>
        </p:spPr>
        <p:txBody>
          <a:bodyPr>
            <a:spAutoFit/>
          </a:bodyPr>
          <a:p>
            <a:pPr eaLnBrk="1" hangingPunct="1">
              <a:spcBef>
                <a:spcPct val="50000"/>
              </a:spcBef>
            </a:pPr>
            <a:endParaRPr lang="zh-CN" altLang="zh-CN" sz="2000" dirty="0">
              <a:latin typeface="Times New Roman" panose="02020603050405020304" pitchFamily="18" charset="0"/>
            </a:endParaRPr>
          </a:p>
        </p:txBody>
      </p:sp>
      <p:grpSp>
        <p:nvGrpSpPr>
          <p:cNvPr id="23571" name="Group 19"/>
          <p:cNvGrpSpPr/>
          <p:nvPr/>
        </p:nvGrpSpPr>
        <p:grpSpPr>
          <a:xfrm>
            <a:off x="533400" y="5715000"/>
            <a:ext cx="7239000" cy="457200"/>
            <a:chOff x="336" y="3600"/>
            <a:chExt cx="4560" cy="288"/>
          </a:xfrm>
        </p:grpSpPr>
        <p:graphicFrame>
          <p:nvGraphicFramePr>
            <p:cNvPr id="10257" name="Object 16"/>
            <p:cNvGraphicFramePr>
              <a:graphicFrameLocks noChangeAspect="1"/>
            </p:cNvGraphicFramePr>
            <p:nvPr/>
          </p:nvGraphicFramePr>
          <p:xfrm>
            <a:off x="336" y="3600"/>
            <a:ext cx="1440" cy="288"/>
          </p:xfrm>
          <a:graphic>
            <a:graphicData uri="http://schemas.openxmlformats.org/presentationml/2006/ole">
              <mc:AlternateContent xmlns:mc="http://schemas.openxmlformats.org/markup-compatibility/2006">
                <mc:Choice xmlns:v="urn:schemas-microsoft-com:vml" Requires="v">
                  <p:oleObj spid="_x0000_s3078" name="" r:id="rId3" imgW="774065" imgH="190500" progId="Equation.3">
                    <p:embed/>
                  </p:oleObj>
                </mc:Choice>
                <mc:Fallback>
                  <p:oleObj name="" r:id="rId3" imgW="774065" imgH="190500" progId="Equation.3">
                    <p:embed/>
                    <p:pic>
                      <p:nvPicPr>
                        <p:cNvPr id="0" name="图片 3077"/>
                        <p:cNvPicPr/>
                        <p:nvPr/>
                      </p:nvPicPr>
                      <p:blipFill>
                        <a:blip r:embed="rId4"/>
                        <a:stretch>
                          <a:fillRect/>
                        </a:stretch>
                      </p:blipFill>
                      <p:spPr>
                        <a:xfrm>
                          <a:off x="336" y="3600"/>
                          <a:ext cx="1440" cy="288"/>
                        </a:xfrm>
                        <a:prstGeom prst="rect">
                          <a:avLst/>
                        </a:prstGeom>
                        <a:noFill/>
                        <a:ln w="38100">
                          <a:noFill/>
                          <a:miter/>
                        </a:ln>
                      </p:spPr>
                    </p:pic>
                  </p:oleObj>
                </mc:Fallback>
              </mc:AlternateContent>
            </a:graphicData>
          </a:graphic>
        </p:graphicFrame>
        <p:graphicFrame>
          <p:nvGraphicFramePr>
            <p:cNvPr id="10258" name="Object 17"/>
            <p:cNvGraphicFramePr>
              <a:graphicFrameLocks noChangeAspect="1"/>
            </p:cNvGraphicFramePr>
            <p:nvPr/>
          </p:nvGraphicFramePr>
          <p:xfrm>
            <a:off x="2208" y="3600"/>
            <a:ext cx="1248" cy="267"/>
          </p:xfrm>
          <a:graphic>
            <a:graphicData uri="http://schemas.openxmlformats.org/presentationml/2006/ole">
              <mc:AlternateContent xmlns:mc="http://schemas.openxmlformats.org/markup-compatibility/2006">
                <mc:Choice xmlns:v="urn:schemas-microsoft-com:vml" Requires="v">
                  <p:oleObj spid="_x0000_s3079" name="" r:id="rId5" imgW="787400" imgH="190500" progId="Equation.3">
                    <p:embed/>
                  </p:oleObj>
                </mc:Choice>
                <mc:Fallback>
                  <p:oleObj name="" r:id="rId5" imgW="787400" imgH="190500" progId="Equation.3">
                    <p:embed/>
                    <p:pic>
                      <p:nvPicPr>
                        <p:cNvPr id="0" name="图片 3078"/>
                        <p:cNvPicPr/>
                        <p:nvPr/>
                      </p:nvPicPr>
                      <p:blipFill>
                        <a:blip r:embed="rId6"/>
                        <a:stretch>
                          <a:fillRect/>
                        </a:stretch>
                      </p:blipFill>
                      <p:spPr>
                        <a:xfrm>
                          <a:off x="2208" y="3600"/>
                          <a:ext cx="1248" cy="267"/>
                        </a:xfrm>
                        <a:prstGeom prst="rect">
                          <a:avLst/>
                        </a:prstGeom>
                        <a:noFill/>
                        <a:ln w="38100">
                          <a:noFill/>
                          <a:miter/>
                        </a:ln>
                      </p:spPr>
                    </p:pic>
                  </p:oleObj>
                </mc:Fallback>
              </mc:AlternateContent>
            </a:graphicData>
          </a:graphic>
        </p:graphicFrame>
        <p:graphicFrame>
          <p:nvGraphicFramePr>
            <p:cNvPr id="10259" name="Object 18"/>
            <p:cNvGraphicFramePr>
              <a:graphicFrameLocks noChangeAspect="1"/>
            </p:cNvGraphicFramePr>
            <p:nvPr/>
          </p:nvGraphicFramePr>
          <p:xfrm>
            <a:off x="3936" y="3600"/>
            <a:ext cx="960" cy="266"/>
          </p:xfrm>
          <a:graphic>
            <a:graphicData uri="http://schemas.openxmlformats.org/presentationml/2006/ole">
              <mc:AlternateContent xmlns:mc="http://schemas.openxmlformats.org/markup-compatibility/2006">
                <mc:Choice xmlns:v="urn:schemas-microsoft-com:vml" Requires="v">
                  <p:oleObj spid="_x0000_s3084" name="" r:id="rId7" imgW="469900" imgH="165100" progId="Equation.3">
                    <p:embed/>
                  </p:oleObj>
                </mc:Choice>
                <mc:Fallback>
                  <p:oleObj name="" r:id="rId7" imgW="469900" imgH="165100" progId="Equation.3">
                    <p:embed/>
                    <p:pic>
                      <p:nvPicPr>
                        <p:cNvPr id="0" name="图片 3083"/>
                        <p:cNvPicPr/>
                        <p:nvPr/>
                      </p:nvPicPr>
                      <p:blipFill>
                        <a:blip r:embed="rId8"/>
                        <a:stretch>
                          <a:fillRect/>
                        </a:stretch>
                      </p:blipFill>
                      <p:spPr>
                        <a:xfrm>
                          <a:off x="3936" y="3600"/>
                          <a:ext cx="960" cy="266"/>
                        </a:xfrm>
                        <a:prstGeom prst="rect">
                          <a:avLst/>
                        </a:prstGeom>
                        <a:noFill/>
                        <a:ln w="38100">
                          <a:noFill/>
                          <a:miter/>
                        </a:ln>
                      </p:spPr>
                    </p:pic>
                  </p:oleObj>
                </mc:Fallback>
              </mc:AlternateContent>
            </a:graphicData>
          </a:graphic>
        </p:graphicFrame>
      </p:grpSp>
      <p:sp>
        <p:nvSpPr>
          <p:cNvPr id="23572" name="Line 20"/>
          <p:cNvSpPr/>
          <p:nvPr/>
        </p:nvSpPr>
        <p:spPr>
          <a:xfrm flipV="1">
            <a:off x="1295400" y="2514600"/>
            <a:ext cx="76200" cy="3048000"/>
          </a:xfrm>
          <a:prstGeom prst="line">
            <a:avLst/>
          </a:prstGeom>
          <a:ln w="57150" cap="flat" cmpd="sng">
            <a:solidFill>
              <a:schemeClr val="accent1"/>
            </a:solidFill>
            <a:prstDash val="solid"/>
            <a:headEnd type="none" w="med" len="med"/>
            <a:tailEnd type="triangle" w="med" len="med"/>
          </a:ln>
        </p:spPr>
      </p:sp>
      <p:sp>
        <p:nvSpPr>
          <p:cNvPr id="23573" name="Line 21"/>
          <p:cNvSpPr/>
          <p:nvPr/>
        </p:nvSpPr>
        <p:spPr>
          <a:xfrm flipV="1">
            <a:off x="1752600" y="2590800"/>
            <a:ext cx="0" cy="3124200"/>
          </a:xfrm>
          <a:prstGeom prst="line">
            <a:avLst/>
          </a:prstGeom>
          <a:ln w="57150" cap="flat" cmpd="sng">
            <a:solidFill>
              <a:schemeClr val="accent1"/>
            </a:solidFill>
            <a:prstDash val="solid"/>
            <a:headEnd type="none" w="med" len="med"/>
            <a:tailEnd type="triangle" w="med" len="med"/>
          </a:ln>
        </p:spPr>
      </p:sp>
      <p:sp>
        <p:nvSpPr>
          <p:cNvPr id="23574" name="AutoShape 22"/>
          <p:cNvSpPr/>
          <p:nvPr/>
        </p:nvSpPr>
        <p:spPr>
          <a:xfrm>
            <a:off x="2667000" y="762000"/>
            <a:ext cx="2057400" cy="990600"/>
          </a:xfrm>
          <a:prstGeom prst="wedgeRoundRectCallout">
            <a:avLst>
              <a:gd name="adj1" fmla="val -81713"/>
              <a:gd name="adj2" fmla="val 85417"/>
              <a:gd name="adj3" fmla="val 16667"/>
            </a:avLst>
          </a:prstGeom>
          <a:solidFill>
            <a:srgbClr val="FFCC99"/>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sz="2400" b="1" dirty="0">
                <a:solidFill>
                  <a:srgbClr val="990033"/>
                </a:solidFill>
                <a:latin typeface="Times New Roman" panose="02020603050405020304" pitchFamily="18" charset="0"/>
              </a:rPr>
              <a:t>固定连接点</a:t>
            </a:r>
            <a:endParaRPr lang="zh-CN" altLang="en-US" sz="2400" b="1" dirty="0">
              <a:solidFill>
                <a:srgbClr val="990033"/>
              </a:solidFill>
              <a:latin typeface="Times New Roman" panose="02020603050405020304" pitchFamily="18" charset="0"/>
            </a:endParaRPr>
          </a:p>
          <a:p>
            <a:pPr algn="ctr" eaLnBrk="1" hangingPunct="1"/>
            <a:r>
              <a:rPr lang="zh-CN" altLang="en-US" sz="2400" b="1" dirty="0">
                <a:solidFill>
                  <a:srgbClr val="990033"/>
                </a:solidFill>
                <a:latin typeface="Times New Roman" panose="02020603050405020304" pitchFamily="18" charset="0"/>
              </a:rPr>
              <a:t>（与）</a:t>
            </a:r>
            <a:endParaRPr lang="zh-CN" altLang="en-US" sz="2400" b="1" dirty="0">
              <a:solidFill>
                <a:srgbClr val="990033"/>
              </a:solidFill>
              <a:latin typeface="Times New Roman" panose="02020603050405020304" pitchFamily="18" charset="0"/>
            </a:endParaRPr>
          </a:p>
        </p:txBody>
      </p:sp>
      <p:sp>
        <p:nvSpPr>
          <p:cNvPr id="23575" name="AutoShape 23"/>
          <p:cNvSpPr/>
          <p:nvPr/>
        </p:nvSpPr>
        <p:spPr>
          <a:xfrm>
            <a:off x="3962400" y="533400"/>
            <a:ext cx="2057400" cy="990600"/>
          </a:xfrm>
          <a:prstGeom prst="wedgeRoundRectCallout">
            <a:avLst>
              <a:gd name="adj1" fmla="val -64120"/>
              <a:gd name="adj2" fmla="val 108495"/>
              <a:gd name="adj3" fmla="val 16667"/>
            </a:avLst>
          </a:prstGeom>
          <a:solidFill>
            <a:srgbClr val="FFCC99"/>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sz="2400" b="1" dirty="0">
                <a:solidFill>
                  <a:srgbClr val="990033"/>
                </a:solidFill>
                <a:latin typeface="Times New Roman" panose="02020603050405020304" pitchFamily="18" charset="0"/>
              </a:rPr>
              <a:t>编程连接点</a:t>
            </a:r>
            <a:endParaRPr lang="zh-CN" altLang="en-US" sz="2400" b="1" dirty="0">
              <a:solidFill>
                <a:srgbClr val="990033"/>
              </a:solidFill>
              <a:latin typeface="Times New Roman" panose="02020603050405020304" pitchFamily="18" charset="0"/>
            </a:endParaRPr>
          </a:p>
          <a:p>
            <a:pPr algn="ctr" eaLnBrk="1" hangingPunct="1"/>
            <a:r>
              <a:rPr lang="zh-CN" altLang="en-US" sz="2400" b="1" dirty="0">
                <a:solidFill>
                  <a:srgbClr val="990033"/>
                </a:solidFill>
                <a:latin typeface="Times New Roman" panose="02020603050405020304" pitchFamily="18" charset="0"/>
              </a:rPr>
              <a:t>（或）</a:t>
            </a:r>
            <a:endParaRPr lang="zh-CN" altLang="en-US" sz="2400" b="1" dirty="0">
              <a:solidFill>
                <a:srgbClr val="990033"/>
              </a:solidFill>
              <a:latin typeface="Times New Roman" panose="02020603050405020304" pitchFamily="18" charset="0"/>
            </a:endParaRPr>
          </a:p>
        </p:txBody>
      </p:sp>
      <p:grpSp>
        <p:nvGrpSpPr>
          <p:cNvPr id="23578" name="Group 26"/>
          <p:cNvGrpSpPr/>
          <p:nvPr/>
        </p:nvGrpSpPr>
        <p:grpSpPr>
          <a:xfrm>
            <a:off x="1143000" y="2514600"/>
            <a:ext cx="1828800" cy="3733800"/>
            <a:chOff x="720" y="1584"/>
            <a:chExt cx="1152" cy="2352"/>
          </a:xfrm>
        </p:grpSpPr>
        <p:sp>
          <p:nvSpPr>
            <p:cNvPr id="10255" name="Oval 24"/>
            <p:cNvSpPr/>
            <p:nvPr/>
          </p:nvSpPr>
          <p:spPr>
            <a:xfrm>
              <a:off x="720" y="3552"/>
              <a:ext cx="432" cy="384"/>
            </a:xfrm>
            <a:prstGeom prst="ellipse">
              <a:avLst/>
            </a:prstGeom>
            <a:noFill/>
            <a:ln w="38100" cap="flat" cmpd="sng">
              <a:solidFill>
                <a:schemeClr val="accent1"/>
              </a:solidFill>
              <a:prstDash val="solid"/>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10256" name="Line 25"/>
            <p:cNvSpPr/>
            <p:nvPr/>
          </p:nvSpPr>
          <p:spPr>
            <a:xfrm flipV="1">
              <a:off x="1104" y="1584"/>
              <a:ext cx="768" cy="2064"/>
            </a:xfrm>
            <a:prstGeom prst="line">
              <a:avLst/>
            </a:prstGeom>
            <a:ln w="57150" cap="flat" cmpd="sng">
              <a:solidFill>
                <a:schemeClr val="accent1"/>
              </a:solidFill>
              <a:prstDash val="solid"/>
              <a:headEnd type="none" w="med" len="med"/>
              <a:tailEnd type="triangle" w="med" len="med"/>
            </a:ln>
          </p:spPr>
        </p:sp>
      </p:grpSp>
      <p:grpSp>
        <p:nvGrpSpPr>
          <p:cNvPr id="23581" name="Group 29"/>
          <p:cNvGrpSpPr/>
          <p:nvPr/>
        </p:nvGrpSpPr>
        <p:grpSpPr>
          <a:xfrm>
            <a:off x="1066800" y="4267200"/>
            <a:ext cx="2057400" cy="1981200"/>
            <a:chOff x="672" y="2688"/>
            <a:chExt cx="1296" cy="1248"/>
          </a:xfrm>
        </p:grpSpPr>
        <p:sp>
          <p:nvSpPr>
            <p:cNvPr id="10253" name="Oval 27"/>
            <p:cNvSpPr/>
            <p:nvPr/>
          </p:nvSpPr>
          <p:spPr>
            <a:xfrm>
              <a:off x="672" y="3552"/>
              <a:ext cx="1200" cy="384"/>
            </a:xfrm>
            <a:prstGeom prst="ellipse">
              <a:avLst/>
            </a:prstGeom>
            <a:noFill/>
            <a:ln w="38100" cap="flat" cmpd="sng">
              <a:solidFill>
                <a:schemeClr val="accent1"/>
              </a:solidFill>
              <a:prstDash val="solid"/>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10254" name="Line 28"/>
            <p:cNvSpPr/>
            <p:nvPr/>
          </p:nvSpPr>
          <p:spPr>
            <a:xfrm flipV="1">
              <a:off x="1536" y="2688"/>
              <a:ext cx="432" cy="912"/>
            </a:xfrm>
            <a:prstGeom prst="line">
              <a:avLst/>
            </a:prstGeom>
            <a:ln w="57150" cap="flat" cmpd="sng">
              <a:solidFill>
                <a:schemeClr val="accent1"/>
              </a:solidFill>
              <a:prstDash val="solid"/>
              <a:headEnd type="none" w="med" len="med"/>
              <a:tailEnd type="triangle" w="med" len="med"/>
            </a:ln>
          </p:spPr>
        </p:sp>
      </p:gr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3565"/>
                                        </p:tgtEl>
                                        <p:attrNameLst>
                                          <p:attrName>style.visibility</p:attrName>
                                        </p:attrNameLst>
                                      </p:cBhvr>
                                      <p:to>
                                        <p:strVal val="visible"/>
                                      </p:to>
                                    </p:set>
                                    <p:animEffect transition="in" filter="box(out)">
                                      <p:cBhvr>
                                        <p:cTn id="7" dur="500"/>
                                        <p:tgtEl>
                                          <p:spTgt spid="2356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3574"/>
                                        </p:tgtEl>
                                        <p:attrNameLst>
                                          <p:attrName>style.visibility</p:attrName>
                                        </p:attrNameLst>
                                      </p:cBhvr>
                                      <p:to>
                                        <p:strVal val="visible"/>
                                      </p:to>
                                    </p:set>
                                  </p:childTnLst>
                                  <p:subTnLst>
                                    <p:set>
                                      <p:cBhvr override="childStyle">
                                        <p:cTn dur="1" fill="hold" display="0" masterRel="nextClick" afterEffect="1"/>
                                        <p:tgtEl>
                                          <p:spTgt spid="23574"/>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23575"/>
                                        </p:tgtEl>
                                        <p:attrNameLst>
                                          <p:attrName>style.visibility</p:attrName>
                                        </p:attrNameLst>
                                      </p:cBhvr>
                                      <p:to>
                                        <p:strVal val="visible"/>
                                      </p:to>
                                    </p:set>
                                  </p:childTnLst>
                                  <p:subTnLst>
                                    <p:set>
                                      <p:cBhvr override="childStyle">
                                        <p:cTn dur="1" fill="hold" display="0" masterRel="nextClick" afterEffect="1"/>
                                        <p:tgtEl>
                                          <p:spTgt spid="23575"/>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3566"/>
                                        </p:tgtEl>
                                        <p:attrNameLst>
                                          <p:attrName>style.visibility</p:attrName>
                                        </p:attrNameLst>
                                      </p:cBhvr>
                                      <p:to>
                                        <p:strVal val="visible"/>
                                      </p:to>
                                    </p:set>
                                    <p:animEffect transition="in" filter="wipe(left)">
                                      <p:cBhvr>
                                        <p:cTn id="20" dur="500"/>
                                        <p:tgtEl>
                                          <p:spTgt spid="23566"/>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3571"/>
                                        </p:tgtEl>
                                        <p:attrNameLst>
                                          <p:attrName>style.visibility</p:attrName>
                                        </p:attrNameLst>
                                      </p:cBhvr>
                                      <p:to>
                                        <p:strVal val="visible"/>
                                      </p:to>
                                    </p:set>
                                    <p:anim calcmode="lin" valueType="num">
                                      <p:cBhvr additive="base">
                                        <p:cTn id="25" dur="500" fill="hold"/>
                                        <p:tgtEl>
                                          <p:spTgt spid="23571"/>
                                        </p:tgtEl>
                                        <p:attrNameLst>
                                          <p:attrName>ppt_x</p:attrName>
                                        </p:attrNameLst>
                                      </p:cBhvr>
                                      <p:tavLst>
                                        <p:tav tm="0">
                                          <p:val>
                                            <p:strVal val="#ppt_x"/>
                                          </p:val>
                                        </p:tav>
                                        <p:tav tm="100000">
                                          <p:val>
                                            <p:strVal val="#ppt_x"/>
                                          </p:val>
                                        </p:tav>
                                      </p:tavLst>
                                    </p:anim>
                                    <p:anim calcmode="lin" valueType="num">
                                      <p:cBhvr additive="base">
                                        <p:cTn id="26" dur="500" fill="hold"/>
                                        <p:tgtEl>
                                          <p:spTgt spid="2357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8" presetClass="entr" presetSubtype="9" fill="hold" nodeType="clickEffect">
                                  <p:stCondLst>
                                    <p:cond delay="0"/>
                                  </p:stCondLst>
                                  <p:childTnLst>
                                    <p:set>
                                      <p:cBhvr>
                                        <p:cTn id="30" dur="1" fill="hold">
                                          <p:stCondLst>
                                            <p:cond delay="0"/>
                                          </p:stCondLst>
                                        </p:cTn>
                                        <p:tgtEl>
                                          <p:spTgt spid="23572"/>
                                        </p:tgtEl>
                                        <p:attrNameLst>
                                          <p:attrName>style.visibility</p:attrName>
                                        </p:attrNameLst>
                                      </p:cBhvr>
                                      <p:to>
                                        <p:strVal val="visible"/>
                                      </p:to>
                                    </p:set>
                                    <p:animEffect transition="in" filter="strips(upLeft)">
                                      <p:cBhvr>
                                        <p:cTn id="31" dur="500"/>
                                        <p:tgtEl>
                                          <p:spTgt spid="23572"/>
                                        </p:tgtEl>
                                      </p:cBhvr>
                                    </p:animEffect>
                                  </p:childTnLst>
                                  <p:subTnLst>
                                    <p:set>
                                      <p:cBhvr override="childStyle">
                                        <p:cTn dur="1" fill="hold" display="0" masterRel="nextClick" afterEffect="1"/>
                                        <p:tgtEl>
                                          <p:spTgt spid="23572"/>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18" presetClass="entr" presetSubtype="9" fill="hold" nodeType="clickEffect">
                                  <p:stCondLst>
                                    <p:cond delay="0"/>
                                  </p:stCondLst>
                                  <p:childTnLst>
                                    <p:set>
                                      <p:cBhvr>
                                        <p:cTn id="35" dur="1" fill="hold">
                                          <p:stCondLst>
                                            <p:cond delay="0"/>
                                          </p:stCondLst>
                                        </p:cTn>
                                        <p:tgtEl>
                                          <p:spTgt spid="23573"/>
                                        </p:tgtEl>
                                        <p:attrNameLst>
                                          <p:attrName>style.visibility</p:attrName>
                                        </p:attrNameLst>
                                      </p:cBhvr>
                                      <p:to>
                                        <p:strVal val="visible"/>
                                      </p:to>
                                    </p:set>
                                    <p:animEffect transition="in" filter="strips(upLeft)">
                                      <p:cBhvr>
                                        <p:cTn id="36" dur="500"/>
                                        <p:tgtEl>
                                          <p:spTgt spid="23573"/>
                                        </p:tgtEl>
                                      </p:cBhvr>
                                    </p:animEffect>
                                  </p:childTnLst>
                                  <p:subTnLst>
                                    <p:set>
                                      <p:cBhvr override="childStyle">
                                        <p:cTn dur="1" fill="hold" display="0" masterRel="nextClick" afterEffect="1"/>
                                        <p:tgtEl>
                                          <p:spTgt spid="23573"/>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18" presetClass="entr" presetSubtype="9" fill="hold" nodeType="clickEffect">
                                  <p:stCondLst>
                                    <p:cond delay="0"/>
                                  </p:stCondLst>
                                  <p:childTnLst>
                                    <p:set>
                                      <p:cBhvr>
                                        <p:cTn id="40" dur="1" fill="hold">
                                          <p:stCondLst>
                                            <p:cond delay="0"/>
                                          </p:stCondLst>
                                        </p:cTn>
                                        <p:tgtEl>
                                          <p:spTgt spid="23578"/>
                                        </p:tgtEl>
                                        <p:attrNameLst>
                                          <p:attrName>style.visibility</p:attrName>
                                        </p:attrNameLst>
                                      </p:cBhvr>
                                      <p:to>
                                        <p:strVal val="visible"/>
                                      </p:to>
                                    </p:set>
                                    <p:animEffect transition="in" filter="strips(upLeft)">
                                      <p:cBhvr>
                                        <p:cTn id="41" dur="500"/>
                                        <p:tgtEl>
                                          <p:spTgt spid="23578"/>
                                        </p:tgtEl>
                                      </p:cBhvr>
                                    </p:animEffect>
                                  </p:childTnLst>
                                  <p:subTnLst>
                                    <p:set>
                                      <p:cBhvr override="childStyle">
                                        <p:cTn dur="1" fill="hold" display="0" masterRel="nextClick" afterEffect="1"/>
                                        <p:tgtEl>
                                          <p:spTgt spid="23578"/>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499"/>
                                          </p:stCondLst>
                                        </p:cTn>
                                        <p:tgtEl>
                                          <p:spTgt spid="23581"/>
                                        </p:tgtEl>
                                        <p:attrNameLst>
                                          <p:attrName>style.visibility</p:attrName>
                                        </p:attrNameLst>
                                      </p:cBhvr>
                                      <p:to>
                                        <p:strVal val="visible"/>
                                      </p:to>
                                    </p:set>
                                  </p:childTnLst>
                                  <p:subTnLst>
                                    <p:set>
                                      <p:cBhvr override="childStyle">
                                        <p:cTn dur="1" fill="hold" display="0" masterRel="nextClick" afterEffect="1"/>
                                        <p:tgtEl>
                                          <p:spTgt spid="2358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6" grpId="0"/>
      <p:bldP spid="23574" grpId="0" animBg="1"/>
      <p:bldP spid="2357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ext Box 22"/>
          <p:cNvSpPr txBox="1"/>
          <p:nvPr/>
        </p:nvSpPr>
        <p:spPr>
          <a:xfrm>
            <a:off x="1752600" y="76200"/>
            <a:ext cx="5029200" cy="579438"/>
          </a:xfrm>
          <a:prstGeom prst="rect">
            <a:avLst/>
          </a:prstGeom>
          <a:solidFill>
            <a:srgbClr val="FFCC99"/>
          </a:solidFill>
          <a:ln w="9525">
            <a:noFill/>
          </a:ln>
        </p:spPr>
        <p:txBody>
          <a:bodyPr>
            <a:spAutoFit/>
          </a:bodyPr>
          <a:p>
            <a:pPr algn="ctr" eaLnBrk="1" hangingPunct="1">
              <a:spcBef>
                <a:spcPct val="50000"/>
              </a:spcBef>
            </a:pPr>
            <a:r>
              <a:rPr lang="zh-CN" altLang="en-US" sz="3200" b="1" dirty="0">
                <a:solidFill>
                  <a:srgbClr val="990033"/>
                </a:solidFill>
                <a:latin typeface="Times New Roman" panose="02020603050405020304" pitchFamily="18" charset="0"/>
                <a:ea typeface="隶书" panose="02010509060101010101" pitchFamily="49" charset="-122"/>
              </a:rPr>
              <a:t>三、</a:t>
            </a:r>
            <a:r>
              <a:rPr lang="en-US" altLang="zh-CN" sz="3200" b="1" dirty="0">
                <a:solidFill>
                  <a:srgbClr val="990033"/>
                </a:solidFill>
                <a:latin typeface="Times New Roman" panose="02020603050405020304" pitchFamily="18" charset="0"/>
                <a:ea typeface="隶书" panose="02010509060101010101" pitchFamily="49" charset="-122"/>
              </a:rPr>
              <a:t>PLD</a:t>
            </a:r>
            <a:r>
              <a:rPr lang="zh-CN" altLang="en-US" sz="3200" b="1" dirty="0">
                <a:solidFill>
                  <a:srgbClr val="990033"/>
                </a:solidFill>
                <a:latin typeface="Times New Roman" panose="02020603050405020304" pitchFamily="18" charset="0"/>
                <a:ea typeface="隶书" panose="02010509060101010101" pitchFamily="49" charset="-122"/>
              </a:rPr>
              <a:t>的分类</a:t>
            </a:r>
            <a:endParaRPr lang="zh-CN" altLang="en-US" sz="2400" b="1" dirty="0">
              <a:solidFill>
                <a:srgbClr val="990033"/>
              </a:solidFill>
              <a:latin typeface="Times New Roman" panose="02020603050405020304" pitchFamily="18" charset="0"/>
            </a:endParaRPr>
          </a:p>
        </p:txBody>
      </p:sp>
      <p:sp>
        <p:nvSpPr>
          <p:cNvPr id="29721" name="Text Box 25"/>
          <p:cNvSpPr txBox="1"/>
          <p:nvPr/>
        </p:nvSpPr>
        <p:spPr>
          <a:xfrm>
            <a:off x="381000" y="990600"/>
            <a:ext cx="8229600" cy="457200"/>
          </a:xfrm>
          <a:prstGeom prst="rect">
            <a:avLst/>
          </a:prstGeom>
          <a:noFill/>
          <a:ln w="9525">
            <a:noFill/>
          </a:ln>
        </p:spPr>
        <p:txBody>
          <a:bodyPr>
            <a:spAutoFit/>
          </a:bodyPr>
          <a:p>
            <a:pPr eaLnBrk="1" hangingPunct="1">
              <a:spcBef>
                <a:spcPct val="50000"/>
              </a:spcBef>
            </a:pPr>
            <a:r>
              <a:rPr lang="zh-CN" altLang="en-US" sz="2400" b="1" dirty="0">
                <a:solidFill>
                  <a:srgbClr val="990033"/>
                </a:solidFill>
                <a:latin typeface="Times New Roman" panose="02020603050405020304" pitchFamily="18" charset="0"/>
              </a:rPr>
              <a:t>（</a:t>
            </a:r>
            <a:r>
              <a:rPr lang="en-US" altLang="zh-CN" sz="2400" b="1" dirty="0">
                <a:solidFill>
                  <a:srgbClr val="990033"/>
                </a:solidFill>
                <a:latin typeface="Times New Roman" panose="02020603050405020304" pitchFamily="18" charset="0"/>
              </a:rPr>
              <a:t>1</a:t>
            </a:r>
            <a:r>
              <a:rPr lang="zh-CN" altLang="en-US" sz="2400" b="1" dirty="0">
                <a:solidFill>
                  <a:srgbClr val="990033"/>
                </a:solidFill>
                <a:latin typeface="Times New Roman" panose="02020603050405020304" pitchFamily="18" charset="0"/>
              </a:rPr>
              <a:t>）与固定、或编程：</a:t>
            </a:r>
            <a:r>
              <a:rPr lang="en-US" altLang="zh-CN" sz="2400" b="1" dirty="0">
                <a:solidFill>
                  <a:srgbClr val="990033"/>
                </a:solidFill>
                <a:latin typeface="Times New Roman" panose="02020603050405020304" pitchFamily="18" charset="0"/>
              </a:rPr>
              <a:t>ROM</a:t>
            </a:r>
            <a:r>
              <a:rPr lang="zh-CN" altLang="en-US" sz="2400" b="1" dirty="0">
                <a:solidFill>
                  <a:srgbClr val="990033"/>
                </a:solidFill>
                <a:latin typeface="Times New Roman" panose="02020603050405020304" pitchFamily="18" charset="0"/>
              </a:rPr>
              <a:t>和</a:t>
            </a:r>
            <a:r>
              <a:rPr lang="en-US" altLang="zh-CN" sz="2400" b="1" dirty="0">
                <a:solidFill>
                  <a:srgbClr val="990033"/>
                </a:solidFill>
                <a:latin typeface="Times New Roman" panose="02020603050405020304" pitchFamily="18" charset="0"/>
              </a:rPr>
              <a:t>PROM</a:t>
            </a:r>
            <a:endParaRPr lang="en-US" altLang="zh-CN" b="1" dirty="0">
              <a:solidFill>
                <a:srgbClr val="990033"/>
              </a:solidFill>
              <a:latin typeface="Times New Roman" panose="02020603050405020304" pitchFamily="18" charset="0"/>
            </a:endParaRPr>
          </a:p>
        </p:txBody>
      </p:sp>
      <p:sp>
        <p:nvSpPr>
          <p:cNvPr id="29722" name="Text Box 26"/>
          <p:cNvSpPr txBox="1"/>
          <p:nvPr/>
        </p:nvSpPr>
        <p:spPr>
          <a:xfrm>
            <a:off x="381000" y="1447800"/>
            <a:ext cx="7696200" cy="457200"/>
          </a:xfrm>
          <a:prstGeom prst="rect">
            <a:avLst/>
          </a:prstGeom>
          <a:noFill/>
          <a:ln w="9525">
            <a:noFill/>
          </a:ln>
        </p:spPr>
        <p:txBody>
          <a:bodyPr>
            <a:spAutoFit/>
          </a:bodyPr>
          <a:p>
            <a:pPr eaLnBrk="1" hangingPunct="1">
              <a:spcBef>
                <a:spcPct val="50000"/>
              </a:spcBef>
            </a:pPr>
            <a:r>
              <a:rPr lang="zh-CN" altLang="en-US" sz="2400" b="1" dirty="0">
                <a:solidFill>
                  <a:srgbClr val="990033"/>
                </a:solidFill>
                <a:latin typeface="Times New Roman" panose="02020603050405020304" pitchFamily="18" charset="0"/>
              </a:rPr>
              <a:t>（</a:t>
            </a:r>
            <a:r>
              <a:rPr lang="en-US" altLang="zh-CN" sz="2400" b="1" dirty="0">
                <a:solidFill>
                  <a:srgbClr val="990033"/>
                </a:solidFill>
                <a:latin typeface="Times New Roman" panose="02020603050405020304" pitchFamily="18" charset="0"/>
              </a:rPr>
              <a:t>2</a:t>
            </a:r>
            <a:r>
              <a:rPr lang="zh-CN" altLang="en-US" sz="2400" b="1" dirty="0">
                <a:solidFill>
                  <a:srgbClr val="990033"/>
                </a:solidFill>
                <a:latin typeface="Times New Roman" panose="02020603050405020304" pitchFamily="18" charset="0"/>
              </a:rPr>
              <a:t>）与或全编程：</a:t>
            </a:r>
            <a:r>
              <a:rPr lang="en-US" altLang="zh-CN" sz="2400" b="1" dirty="0">
                <a:solidFill>
                  <a:srgbClr val="990033"/>
                </a:solidFill>
                <a:latin typeface="Times New Roman" panose="02020603050405020304" pitchFamily="18" charset="0"/>
              </a:rPr>
              <a:t>PLA</a:t>
            </a:r>
            <a:endParaRPr lang="en-US" altLang="zh-CN" sz="2400" b="1" dirty="0">
              <a:solidFill>
                <a:srgbClr val="990033"/>
              </a:solidFill>
              <a:latin typeface="Times New Roman" panose="02020603050405020304" pitchFamily="18" charset="0"/>
            </a:endParaRPr>
          </a:p>
        </p:txBody>
      </p:sp>
      <p:sp>
        <p:nvSpPr>
          <p:cNvPr id="29723" name="Text Box 27"/>
          <p:cNvSpPr txBox="1"/>
          <p:nvPr/>
        </p:nvSpPr>
        <p:spPr>
          <a:xfrm>
            <a:off x="381000" y="1905000"/>
            <a:ext cx="6934200" cy="457200"/>
          </a:xfrm>
          <a:prstGeom prst="rect">
            <a:avLst/>
          </a:prstGeom>
          <a:noFill/>
          <a:ln w="9525">
            <a:noFill/>
          </a:ln>
        </p:spPr>
        <p:txBody>
          <a:bodyPr>
            <a:spAutoFit/>
          </a:bodyPr>
          <a:p>
            <a:pPr eaLnBrk="1" hangingPunct="1">
              <a:spcBef>
                <a:spcPct val="50000"/>
              </a:spcBef>
            </a:pPr>
            <a:r>
              <a:rPr lang="zh-CN" altLang="en-US" sz="2400" b="1" dirty="0">
                <a:solidFill>
                  <a:srgbClr val="990033"/>
                </a:solidFill>
                <a:latin typeface="Times New Roman" panose="02020603050405020304" pitchFamily="18" charset="0"/>
              </a:rPr>
              <a:t>（</a:t>
            </a:r>
            <a:r>
              <a:rPr lang="en-US" altLang="zh-CN" sz="2400" b="1" dirty="0">
                <a:solidFill>
                  <a:srgbClr val="990033"/>
                </a:solidFill>
                <a:latin typeface="Times New Roman" panose="02020603050405020304" pitchFamily="18" charset="0"/>
              </a:rPr>
              <a:t>3</a:t>
            </a:r>
            <a:r>
              <a:rPr lang="zh-CN" altLang="en-US" sz="2400" b="1" dirty="0">
                <a:solidFill>
                  <a:srgbClr val="990033"/>
                </a:solidFill>
                <a:latin typeface="Times New Roman" panose="02020603050405020304" pitchFamily="18" charset="0"/>
              </a:rPr>
              <a:t>）与编程、或固定：</a:t>
            </a:r>
            <a:r>
              <a:rPr lang="en-US" altLang="zh-CN" sz="2400" b="1" dirty="0">
                <a:solidFill>
                  <a:srgbClr val="990033"/>
                </a:solidFill>
                <a:latin typeface="Times New Roman" panose="02020603050405020304" pitchFamily="18" charset="0"/>
              </a:rPr>
              <a:t>PAL</a:t>
            </a:r>
            <a:r>
              <a:rPr lang="zh-CN" altLang="en-US" sz="2400" b="1" dirty="0">
                <a:solidFill>
                  <a:srgbClr val="990033"/>
                </a:solidFill>
                <a:latin typeface="Times New Roman" panose="02020603050405020304" pitchFamily="18" charset="0"/>
              </a:rPr>
              <a:t>、</a:t>
            </a:r>
            <a:r>
              <a:rPr lang="en-US" altLang="zh-CN" sz="2400" b="1" dirty="0">
                <a:solidFill>
                  <a:srgbClr val="990033"/>
                </a:solidFill>
                <a:latin typeface="Times New Roman" panose="02020603050405020304" pitchFamily="18" charset="0"/>
              </a:rPr>
              <a:t>GAL</a:t>
            </a:r>
            <a:r>
              <a:rPr lang="zh-CN" altLang="en-US" sz="2400" b="1" dirty="0">
                <a:solidFill>
                  <a:srgbClr val="990033"/>
                </a:solidFill>
                <a:latin typeface="Times New Roman" panose="02020603050405020304" pitchFamily="18" charset="0"/>
              </a:rPr>
              <a:t>和</a:t>
            </a:r>
            <a:r>
              <a:rPr lang="en-US" altLang="zh-CN" sz="2400" b="1" dirty="0">
                <a:solidFill>
                  <a:srgbClr val="990033"/>
                </a:solidFill>
                <a:latin typeface="Times New Roman" panose="02020603050405020304" pitchFamily="18" charset="0"/>
              </a:rPr>
              <a:t>HDPLD</a:t>
            </a:r>
            <a:endParaRPr lang="en-US" altLang="zh-CN" sz="2400" b="1" dirty="0">
              <a:solidFill>
                <a:srgbClr val="990033"/>
              </a:solidFill>
              <a:latin typeface="Times New Roman" panose="02020603050405020304" pitchFamily="18" charset="0"/>
            </a:endParaRPr>
          </a:p>
        </p:txBody>
      </p:sp>
      <p:sp>
        <p:nvSpPr>
          <p:cNvPr id="29724" name="Text Box 28"/>
          <p:cNvSpPr txBox="1"/>
          <p:nvPr/>
        </p:nvSpPr>
        <p:spPr>
          <a:xfrm>
            <a:off x="228600" y="2362200"/>
            <a:ext cx="8534400" cy="1004888"/>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1.</a:t>
            </a:r>
            <a:r>
              <a:rPr lang="zh-CN" altLang="en-US" sz="2400" b="1" dirty="0">
                <a:solidFill>
                  <a:srgbClr val="990033"/>
                </a:solidFill>
                <a:latin typeface="Times New Roman" panose="02020603050405020304" pitchFamily="18" charset="0"/>
              </a:rPr>
              <a:t>与固定、或编程</a:t>
            </a:r>
            <a:r>
              <a:rPr lang="zh-CN" altLang="en-US" sz="2400" b="1" dirty="0">
                <a:latin typeface="Times New Roman" panose="02020603050405020304" pitchFamily="18" charset="0"/>
              </a:rPr>
              <a:t>：与阵列全固定，即全译码；</a:t>
            </a:r>
            <a:r>
              <a:rPr lang="en-US" altLang="zh-CN" sz="2400" b="1" dirty="0">
                <a:solidFill>
                  <a:srgbClr val="990033"/>
                </a:solidFill>
                <a:latin typeface="Times New Roman" panose="02020603050405020304" pitchFamily="18" charset="0"/>
              </a:rPr>
              <a:t>ROM</a:t>
            </a:r>
            <a:r>
              <a:rPr lang="zh-CN" altLang="en-US" sz="2400" b="1" dirty="0">
                <a:solidFill>
                  <a:srgbClr val="990033"/>
                </a:solidFill>
                <a:latin typeface="Times New Roman" panose="02020603050405020304" pitchFamily="18" charset="0"/>
              </a:rPr>
              <a:t>和</a:t>
            </a:r>
            <a:r>
              <a:rPr lang="en-US" altLang="zh-CN" sz="2400" b="1" dirty="0">
                <a:solidFill>
                  <a:srgbClr val="990033"/>
                </a:solidFill>
                <a:latin typeface="Times New Roman" panose="02020603050405020304" pitchFamily="18" charset="0"/>
              </a:rPr>
              <a:t>PROM</a:t>
            </a:r>
            <a:endParaRPr lang="en-US" altLang="zh-CN" b="1" dirty="0">
              <a:solidFill>
                <a:srgbClr val="990033"/>
              </a:solidFill>
              <a:latin typeface="Times New Roman" panose="02020603050405020304" pitchFamily="18" charset="0"/>
            </a:endParaRPr>
          </a:p>
          <a:p>
            <a:pPr eaLnBrk="1" hangingPunct="1">
              <a:spcBef>
                <a:spcPct val="50000"/>
              </a:spcBef>
            </a:pPr>
            <a:endParaRPr lang="en-US" altLang="zh-CN" sz="2400" b="1" dirty="0">
              <a:latin typeface="Times New Roman" panose="02020603050405020304" pitchFamily="18" charset="0"/>
            </a:endParaRPr>
          </a:p>
        </p:txBody>
      </p:sp>
      <p:graphicFrame>
        <p:nvGraphicFramePr>
          <p:cNvPr id="29719" name="Object 23"/>
          <p:cNvGraphicFramePr>
            <a:graphicFrameLocks noChangeAspect="1"/>
          </p:cNvGraphicFramePr>
          <p:nvPr/>
        </p:nvGraphicFramePr>
        <p:xfrm>
          <a:off x="2286000" y="2895600"/>
          <a:ext cx="4114800" cy="3962400"/>
        </p:xfrm>
        <a:graphic>
          <a:graphicData uri="http://schemas.openxmlformats.org/presentationml/2006/ole">
            <mc:AlternateContent xmlns:mc="http://schemas.openxmlformats.org/markup-compatibility/2006">
              <mc:Choice xmlns:v="urn:schemas-microsoft-com:vml" Requires="v">
                <p:oleObj spid="_x0000_s3082" name="" r:id="rId1" imgW="3305175" imgH="3657600" progId="Paint.Picture">
                  <p:embed/>
                </p:oleObj>
              </mc:Choice>
              <mc:Fallback>
                <p:oleObj name="" r:id="rId1" imgW="3305175" imgH="3657600" progId="Paint.Picture">
                  <p:embed/>
                  <p:pic>
                    <p:nvPicPr>
                      <p:cNvPr id="0" name="图片 3081"/>
                      <p:cNvPicPr/>
                      <p:nvPr/>
                    </p:nvPicPr>
                    <p:blipFill>
                      <a:blip r:embed="rId2"/>
                      <a:stretch>
                        <a:fillRect/>
                      </a:stretch>
                    </p:blipFill>
                    <p:spPr>
                      <a:xfrm>
                        <a:off x="2286000" y="2895600"/>
                        <a:ext cx="4114800" cy="3962400"/>
                      </a:xfrm>
                      <a:prstGeom prst="rect">
                        <a:avLst/>
                      </a:prstGeom>
                      <a:noFill/>
                      <a:ln w="38100">
                        <a:noFill/>
                        <a:miter/>
                      </a:ln>
                    </p:spPr>
                  </p:pic>
                </p:oleObj>
              </mc:Fallback>
            </mc:AlternateContent>
          </a:graphicData>
        </a:graphic>
      </p:graphicFrame>
      <p:sp>
        <p:nvSpPr>
          <p:cNvPr id="29726" name="Text Box 30"/>
          <p:cNvSpPr txBox="1"/>
          <p:nvPr/>
        </p:nvSpPr>
        <p:spPr>
          <a:xfrm>
            <a:off x="288925" y="609600"/>
            <a:ext cx="8397875" cy="457200"/>
          </a:xfrm>
          <a:prstGeom prst="rect">
            <a:avLst/>
          </a:prstGeom>
          <a:noFill/>
          <a:ln w="9525">
            <a:noFill/>
          </a:ln>
        </p:spPr>
        <p:txBody>
          <a:bodyPr wrap="none">
            <a:spAutoFit/>
          </a:bodyPr>
          <a:p>
            <a:pPr algn="ctr" eaLnBrk="1" hangingPunct="1"/>
            <a:r>
              <a:rPr lang="en-US" altLang="zh-CN" sz="2400" b="1" dirty="0">
                <a:latin typeface="Times New Roman" panose="02020603050405020304" pitchFamily="18" charset="0"/>
              </a:rPr>
              <a:t>PLD</a:t>
            </a:r>
            <a:r>
              <a:rPr lang="zh-CN" altLang="en-US" sz="2400" b="1" dirty="0">
                <a:latin typeface="Times New Roman" panose="02020603050405020304" pitchFamily="18" charset="0"/>
              </a:rPr>
              <a:t>基本结构大致相同，根据与或阵列是否可编程分为三类：</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26"/>
                                        </p:tgtEl>
                                        <p:attrNameLst>
                                          <p:attrName>style.visibility</p:attrName>
                                        </p:attrNameLst>
                                      </p:cBhvr>
                                      <p:to>
                                        <p:strVal val="visible"/>
                                      </p:to>
                                    </p:set>
                                    <p:animEffect transition="in" filter="wipe(left)">
                                      <p:cBhvr>
                                        <p:cTn id="7" dur="500"/>
                                        <p:tgtEl>
                                          <p:spTgt spid="297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721"/>
                                        </p:tgtEl>
                                        <p:attrNameLst>
                                          <p:attrName>style.visibility</p:attrName>
                                        </p:attrNameLst>
                                      </p:cBhvr>
                                      <p:to>
                                        <p:strVal val="visible"/>
                                      </p:to>
                                    </p:set>
                                    <p:animEffect transition="in" filter="wipe(left)">
                                      <p:cBhvr>
                                        <p:cTn id="12" dur="500"/>
                                        <p:tgtEl>
                                          <p:spTgt spid="2972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297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9722"/>
                                        </p:tgtEl>
                                        <p:attrNameLst>
                                          <p:attrName>style.visibility</p:attrName>
                                        </p:attrNameLst>
                                      </p:cBhvr>
                                      <p:to>
                                        <p:strVal val="visible"/>
                                      </p:to>
                                    </p:set>
                                    <p:animEffect transition="in" filter="wipe(left)">
                                      <p:cBhvr>
                                        <p:cTn id="21" dur="500"/>
                                        <p:tgtEl>
                                          <p:spTgt spid="2972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9723"/>
                                        </p:tgtEl>
                                        <p:attrNameLst>
                                          <p:attrName>style.visibility</p:attrName>
                                        </p:attrNameLst>
                                      </p:cBhvr>
                                      <p:to>
                                        <p:strVal val="visible"/>
                                      </p:to>
                                    </p:set>
                                    <p:animEffect transition="in" filter="wipe(left)">
                                      <p:cBhvr>
                                        <p:cTn id="26" dur="500"/>
                                        <p:tgtEl>
                                          <p:spTgt spid="2972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9724"/>
                                        </p:tgtEl>
                                        <p:attrNameLst>
                                          <p:attrName>style.visibility</p:attrName>
                                        </p:attrNameLst>
                                      </p:cBhvr>
                                      <p:to>
                                        <p:strVal val="visible"/>
                                      </p:to>
                                    </p:set>
                                    <p:animEffect transition="in" filter="wipe(left)">
                                      <p:cBhvr>
                                        <p:cTn id="31" dur="500"/>
                                        <p:tgtEl>
                                          <p:spTgt spid="29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21" grpId="0"/>
      <p:bldP spid="29722" grpId="0"/>
      <p:bldP spid="29723" grpId="0"/>
      <p:bldP spid="29724" grpId="0"/>
      <p:bldP spid="297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3832" name="Object 40"/>
          <p:cNvGraphicFramePr>
            <a:graphicFrameLocks noChangeAspect="1"/>
          </p:cNvGraphicFramePr>
          <p:nvPr/>
        </p:nvGraphicFramePr>
        <p:xfrm>
          <a:off x="2133600" y="1981200"/>
          <a:ext cx="4267200" cy="4572000"/>
        </p:xfrm>
        <a:graphic>
          <a:graphicData uri="http://schemas.openxmlformats.org/presentationml/2006/ole">
            <mc:AlternateContent xmlns:mc="http://schemas.openxmlformats.org/markup-compatibility/2006">
              <mc:Choice xmlns:v="urn:schemas-microsoft-com:vml" Requires="v">
                <p:oleObj spid="_x0000_s3085" name="" r:id="rId1" imgW="3057525" imgH="3524250" progId="Paint.Picture">
                  <p:embed/>
                </p:oleObj>
              </mc:Choice>
              <mc:Fallback>
                <p:oleObj name="" r:id="rId1" imgW="3057525" imgH="3524250" progId="Paint.Picture">
                  <p:embed/>
                  <p:pic>
                    <p:nvPicPr>
                      <p:cNvPr id="0" name="图片 3084"/>
                      <p:cNvPicPr/>
                      <p:nvPr/>
                    </p:nvPicPr>
                    <p:blipFill>
                      <a:blip r:embed="rId2"/>
                      <a:stretch>
                        <a:fillRect/>
                      </a:stretch>
                    </p:blipFill>
                    <p:spPr>
                      <a:xfrm>
                        <a:off x="2133600" y="1981200"/>
                        <a:ext cx="4267200" cy="4572000"/>
                      </a:xfrm>
                      <a:prstGeom prst="rect">
                        <a:avLst/>
                      </a:prstGeom>
                      <a:noFill/>
                      <a:ln w="38100">
                        <a:noFill/>
                        <a:miter/>
                      </a:ln>
                    </p:spPr>
                  </p:pic>
                </p:oleObj>
              </mc:Fallback>
            </mc:AlternateContent>
          </a:graphicData>
        </a:graphic>
      </p:graphicFrame>
      <p:sp>
        <p:nvSpPr>
          <p:cNvPr id="14339" name="Text Box 41"/>
          <p:cNvSpPr txBox="1"/>
          <p:nvPr/>
        </p:nvSpPr>
        <p:spPr>
          <a:xfrm>
            <a:off x="0" y="304800"/>
            <a:ext cx="7467600" cy="366713"/>
          </a:xfrm>
          <a:prstGeom prst="rect">
            <a:avLst/>
          </a:prstGeom>
          <a:noFill/>
          <a:ln w="9525">
            <a:noFill/>
          </a:ln>
        </p:spPr>
        <p:txBody>
          <a:bodyPr>
            <a:spAutoFit/>
          </a:bodyPr>
          <a:p>
            <a:pPr eaLnBrk="1" hangingPunct="1">
              <a:spcBef>
                <a:spcPct val="50000"/>
              </a:spcBef>
            </a:pPr>
            <a:endParaRPr lang="zh-CN" altLang="zh-CN" dirty="0">
              <a:latin typeface="Times New Roman" panose="02020603050405020304" pitchFamily="18" charset="0"/>
            </a:endParaRPr>
          </a:p>
        </p:txBody>
      </p:sp>
      <p:sp>
        <p:nvSpPr>
          <p:cNvPr id="14340" name="Text Box 42"/>
          <p:cNvSpPr txBox="1"/>
          <p:nvPr/>
        </p:nvSpPr>
        <p:spPr>
          <a:xfrm>
            <a:off x="76200" y="76200"/>
            <a:ext cx="6858000" cy="4572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2.</a:t>
            </a:r>
            <a:r>
              <a:rPr lang="zh-CN" altLang="en-US" sz="2400" b="1" dirty="0">
                <a:solidFill>
                  <a:srgbClr val="990033"/>
                </a:solidFill>
                <a:latin typeface="Times New Roman" panose="02020603050405020304" pitchFamily="18" charset="0"/>
              </a:rPr>
              <a:t>与、或全编程</a:t>
            </a:r>
            <a:r>
              <a:rPr lang="zh-CN" altLang="en-US" sz="2400" b="1" dirty="0">
                <a:latin typeface="Times New Roman" panose="02020603050405020304" pitchFamily="18" charset="0"/>
              </a:rPr>
              <a:t>：</a:t>
            </a:r>
            <a:endParaRPr lang="zh-CN" altLang="en-US" sz="2400" b="1" dirty="0">
              <a:solidFill>
                <a:schemeClr val="accent2"/>
              </a:solidFill>
              <a:latin typeface="Times New Roman" panose="02020603050405020304" pitchFamily="18" charset="0"/>
            </a:endParaRPr>
          </a:p>
        </p:txBody>
      </p:sp>
      <p:sp>
        <p:nvSpPr>
          <p:cNvPr id="33835" name="Text Box 43"/>
          <p:cNvSpPr txBox="1"/>
          <p:nvPr/>
        </p:nvSpPr>
        <p:spPr>
          <a:xfrm>
            <a:off x="228600" y="457200"/>
            <a:ext cx="8229600" cy="1552575"/>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代表器件是</a:t>
            </a:r>
            <a:r>
              <a:rPr lang="en-US" altLang="zh-CN" sz="2400" b="1" dirty="0">
                <a:solidFill>
                  <a:srgbClr val="990033"/>
                </a:solidFill>
                <a:latin typeface="Times New Roman" panose="02020603050405020304" pitchFamily="18" charset="0"/>
              </a:rPr>
              <a:t>PLA</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Programmable Logic Array</a:t>
            </a:r>
            <a:r>
              <a:rPr lang="zh-CN" altLang="en-US" sz="2400" b="1" dirty="0">
                <a:latin typeface="Times New Roman" panose="02020603050405020304" pitchFamily="18" charset="0"/>
              </a:rPr>
              <a:t>），下图给出了</a:t>
            </a:r>
            <a:r>
              <a:rPr lang="en-US" altLang="zh-CN" sz="2400" b="1" dirty="0">
                <a:latin typeface="Times New Roman" panose="02020603050405020304" pitchFamily="18" charset="0"/>
              </a:rPr>
              <a:t>PLA</a:t>
            </a:r>
            <a:r>
              <a:rPr lang="zh-CN" altLang="en-US" sz="2400" b="1" dirty="0">
                <a:latin typeface="Times New Roman" panose="02020603050405020304" pitchFamily="18" charset="0"/>
              </a:rPr>
              <a:t>的阵列结构，在</a:t>
            </a:r>
            <a:r>
              <a:rPr lang="en-US" altLang="zh-CN" sz="2400" b="1" dirty="0">
                <a:latin typeface="Times New Roman" panose="02020603050405020304" pitchFamily="18" charset="0"/>
              </a:rPr>
              <a:t>PLD</a:t>
            </a:r>
            <a:r>
              <a:rPr lang="zh-CN" altLang="en-US" sz="2400" b="1" dirty="0">
                <a:latin typeface="Times New Roman" panose="02020603050405020304" pitchFamily="18" charset="0"/>
              </a:rPr>
              <a:t>中，它的灵活性最高。由于</a:t>
            </a:r>
            <a:r>
              <a:rPr lang="zh-CN" altLang="en-US" sz="2400" b="1" dirty="0">
                <a:solidFill>
                  <a:srgbClr val="990033"/>
                </a:solidFill>
                <a:latin typeface="Times New Roman" panose="02020603050405020304" pitchFamily="18" charset="0"/>
              </a:rPr>
              <a:t>与或阵列均能编程</a:t>
            </a:r>
            <a:r>
              <a:rPr lang="zh-CN" altLang="en-US" sz="2400" b="1" dirty="0">
                <a:latin typeface="Times New Roman" panose="02020603050405020304" pitchFamily="18" charset="0"/>
              </a:rPr>
              <a:t>的特点，在实现函数时，只需形成</a:t>
            </a:r>
            <a:r>
              <a:rPr lang="zh-CN" altLang="en-US" sz="2400" b="1" dirty="0">
                <a:solidFill>
                  <a:srgbClr val="990033"/>
                </a:solidFill>
                <a:latin typeface="Times New Roman" panose="02020603050405020304" pitchFamily="18" charset="0"/>
              </a:rPr>
              <a:t>所需的乘积项</a:t>
            </a:r>
            <a:r>
              <a:rPr lang="zh-CN" altLang="en-US" sz="2400" b="1" dirty="0">
                <a:latin typeface="Times New Roman" panose="02020603050405020304" pitchFamily="18" charset="0"/>
              </a:rPr>
              <a:t>，使阵列规模比</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小得多。</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38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38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ext Box 5"/>
          <p:cNvSpPr txBox="1"/>
          <p:nvPr/>
        </p:nvSpPr>
        <p:spPr>
          <a:xfrm>
            <a:off x="76200" y="152400"/>
            <a:ext cx="8763000" cy="822325"/>
          </a:xfrm>
          <a:prstGeom prst="rect">
            <a:avLst/>
          </a:prstGeom>
          <a:noFill/>
          <a:ln w="9525">
            <a:noFill/>
          </a:ln>
        </p:spPr>
        <p:txBody>
          <a:bodyPr>
            <a:spAutoFit/>
          </a:bodyPr>
          <a:lst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stStyle>
          <a:p>
            <a:pPr marL="2667000" lvl="0" indent="-2667000" eaLnBrk="1" hangingPunct="1">
              <a:spcBef>
                <a:spcPct val="50000"/>
              </a:spcBef>
              <a:buNone/>
            </a:pPr>
            <a:r>
              <a:rPr lang="en-US" altLang="zh-CN" sz="2400" b="1" dirty="0">
                <a:solidFill>
                  <a:srgbClr val="990033"/>
                </a:solidFill>
              </a:rPr>
              <a:t>3.</a:t>
            </a:r>
            <a:r>
              <a:rPr lang="zh-CN" altLang="en-US" sz="2400" b="1" dirty="0">
                <a:solidFill>
                  <a:srgbClr val="990033"/>
                </a:solidFill>
              </a:rPr>
              <a:t>与编程、或固定</a:t>
            </a:r>
            <a:r>
              <a:rPr lang="zh-CN" altLang="en-US" sz="2400" b="1" dirty="0">
                <a:solidFill>
                  <a:schemeClr val="accent2"/>
                </a:solidFill>
              </a:rPr>
              <a:t>：</a:t>
            </a:r>
            <a:r>
              <a:rPr lang="zh-CN" altLang="en-US" sz="2400" b="1" dirty="0"/>
              <a:t>代表器件</a:t>
            </a:r>
            <a:r>
              <a:rPr lang="en-US" altLang="zh-CN" sz="2400" b="1" dirty="0">
                <a:solidFill>
                  <a:srgbClr val="990033"/>
                </a:solidFill>
              </a:rPr>
              <a:t>PAL</a:t>
            </a:r>
            <a:r>
              <a:rPr lang="zh-CN" altLang="en-US" sz="2400" b="1" dirty="0"/>
              <a:t>（</a:t>
            </a:r>
            <a:r>
              <a:rPr lang="en-US" altLang="zh-CN" sz="2400" b="1" dirty="0"/>
              <a:t>Programmable Array Logic</a:t>
            </a:r>
            <a:r>
              <a:rPr lang="zh-CN" altLang="en-US" sz="2400" b="1" dirty="0"/>
              <a:t>） 和</a:t>
            </a:r>
            <a:r>
              <a:rPr lang="en-US" altLang="zh-CN" sz="2400" b="1" dirty="0">
                <a:solidFill>
                  <a:srgbClr val="990033"/>
                </a:solidFill>
              </a:rPr>
              <a:t>GAL</a:t>
            </a:r>
            <a:r>
              <a:rPr lang="zh-CN" altLang="en-US" sz="2400" b="1" dirty="0"/>
              <a:t>（</a:t>
            </a:r>
            <a:r>
              <a:rPr lang="en-US" altLang="zh-CN" sz="2400" b="1" dirty="0"/>
              <a:t>Generic Array Logic</a:t>
            </a:r>
            <a:r>
              <a:rPr lang="zh-CN" altLang="en-US" sz="2400" b="1" dirty="0"/>
              <a:t>）。，</a:t>
            </a:r>
            <a:endParaRPr lang="zh-CN" altLang="en-US" sz="2400" b="1" dirty="0"/>
          </a:p>
        </p:txBody>
      </p:sp>
      <p:sp>
        <p:nvSpPr>
          <p:cNvPr id="44038" name="Text Box 6"/>
          <p:cNvSpPr txBox="1"/>
          <p:nvPr/>
        </p:nvSpPr>
        <p:spPr>
          <a:xfrm>
            <a:off x="381000" y="1143000"/>
            <a:ext cx="7924800" cy="457200"/>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这种结构中，或阵列固定若干个乘积项输出，见下图。</a:t>
            </a:r>
            <a:endParaRPr lang="zh-CN" altLang="en-US" sz="2400" b="1" dirty="0">
              <a:latin typeface="Times New Roman" panose="02020603050405020304" pitchFamily="18" charset="0"/>
            </a:endParaRPr>
          </a:p>
        </p:txBody>
      </p:sp>
      <p:graphicFrame>
        <p:nvGraphicFramePr>
          <p:cNvPr id="44040" name="Object 8"/>
          <p:cNvGraphicFramePr>
            <a:graphicFrameLocks noChangeAspect="1"/>
          </p:cNvGraphicFramePr>
          <p:nvPr/>
        </p:nvGraphicFramePr>
        <p:xfrm>
          <a:off x="2057400" y="1752600"/>
          <a:ext cx="4572000" cy="4800600"/>
        </p:xfrm>
        <a:graphic>
          <a:graphicData uri="http://schemas.openxmlformats.org/presentationml/2006/ole">
            <mc:AlternateContent xmlns:mc="http://schemas.openxmlformats.org/markup-compatibility/2006">
              <mc:Choice xmlns:v="urn:schemas-microsoft-com:vml" Requires="v">
                <p:oleObj spid="_x0000_s3083" name="" r:id="rId1" imgW="3095625" imgH="3448050" progId="Paint.Picture">
                  <p:embed/>
                </p:oleObj>
              </mc:Choice>
              <mc:Fallback>
                <p:oleObj name="" r:id="rId1" imgW="3095625" imgH="3448050" progId="Paint.Picture">
                  <p:embed/>
                  <p:pic>
                    <p:nvPicPr>
                      <p:cNvPr id="0" name="图片 3082"/>
                      <p:cNvPicPr/>
                      <p:nvPr/>
                    </p:nvPicPr>
                    <p:blipFill>
                      <a:blip r:embed="rId2"/>
                      <a:stretch>
                        <a:fillRect/>
                      </a:stretch>
                    </p:blipFill>
                    <p:spPr>
                      <a:xfrm>
                        <a:off x="2057400" y="1752600"/>
                        <a:ext cx="4572000" cy="4800600"/>
                      </a:xfrm>
                      <a:prstGeom prst="rect">
                        <a:avLst/>
                      </a:prstGeom>
                      <a:noFill/>
                      <a:ln w="38100">
                        <a:noFill/>
                        <a:miter/>
                      </a:ln>
                    </p:spPr>
                  </p:pic>
                </p:oleObj>
              </mc:Fallback>
            </mc:AlternateContent>
          </a:graphicData>
        </a:graphic>
      </p:graphicFrame>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038"/>
                                        </p:tgtEl>
                                        <p:attrNameLst>
                                          <p:attrName>style.visibility</p:attrName>
                                        </p:attrNameLst>
                                      </p:cBhvr>
                                      <p:to>
                                        <p:strVal val="visible"/>
                                      </p:to>
                                    </p:set>
                                    <p:animEffect transition="in" filter="wipe(left)">
                                      <p:cBhvr>
                                        <p:cTn id="7" dur="500"/>
                                        <p:tgtEl>
                                          <p:spTgt spid="4403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440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124" name="Text Box 44"/>
          <p:cNvSpPr txBox="1"/>
          <p:nvPr/>
        </p:nvSpPr>
        <p:spPr>
          <a:xfrm>
            <a:off x="1676400" y="3306763"/>
            <a:ext cx="5334000" cy="579437"/>
          </a:xfrm>
          <a:prstGeom prst="rect">
            <a:avLst/>
          </a:prstGeom>
          <a:solidFill>
            <a:srgbClr val="FFCC99"/>
          </a:solidFill>
          <a:ln w="9525">
            <a:noFill/>
          </a:ln>
        </p:spPr>
        <p:txBody>
          <a:bodyPr>
            <a:spAutoFit/>
          </a:bodyPr>
          <a:p>
            <a:pPr algn="ctr" eaLnBrk="1" hangingPunct="1">
              <a:spcBef>
                <a:spcPct val="50000"/>
              </a:spcBef>
            </a:pPr>
            <a:r>
              <a:rPr lang="zh-CN" altLang="en-US" sz="3200" b="1" dirty="0">
                <a:solidFill>
                  <a:srgbClr val="990033"/>
                </a:solidFill>
                <a:latin typeface="Times New Roman" panose="02020603050405020304" pitchFamily="18" charset="0"/>
                <a:ea typeface="隶书" panose="02010509060101010101" pitchFamily="49" charset="-122"/>
              </a:rPr>
              <a:t>四、</a:t>
            </a:r>
            <a:r>
              <a:rPr lang="en-US" altLang="zh-CN" sz="3200" b="1" dirty="0">
                <a:solidFill>
                  <a:srgbClr val="990033"/>
                </a:solidFill>
                <a:latin typeface="Times New Roman" panose="02020603050405020304" pitchFamily="18" charset="0"/>
                <a:ea typeface="隶书" panose="02010509060101010101" pitchFamily="49" charset="-122"/>
              </a:rPr>
              <a:t>PLD</a:t>
            </a:r>
            <a:r>
              <a:rPr lang="zh-CN" altLang="en-US" sz="3200" b="1" dirty="0">
                <a:solidFill>
                  <a:srgbClr val="990033"/>
                </a:solidFill>
                <a:latin typeface="Times New Roman" panose="02020603050405020304" pitchFamily="18" charset="0"/>
                <a:ea typeface="隶书" panose="02010509060101010101" pitchFamily="49" charset="-122"/>
              </a:rPr>
              <a:t>的性能特点</a:t>
            </a:r>
            <a:endParaRPr lang="zh-CN" altLang="en-US" sz="3200" b="1" dirty="0">
              <a:solidFill>
                <a:srgbClr val="990033"/>
              </a:solidFill>
              <a:latin typeface="Times New Roman" panose="02020603050405020304" pitchFamily="18" charset="0"/>
              <a:ea typeface="隶书" panose="02010509060101010101" pitchFamily="49" charset="-122"/>
            </a:endParaRPr>
          </a:p>
        </p:txBody>
      </p:sp>
      <p:sp>
        <p:nvSpPr>
          <p:cNvPr id="46125" name="Text Box 45"/>
          <p:cNvSpPr txBox="1"/>
          <p:nvPr/>
        </p:nvSpPr>
        <p:spPr>
          <a:xfrm>
            <a:off x="304800" y="3886200"/>
            <a:ext cx="7391400" cy="457200"/>
          </a:xfrm>
          <a:prstGeom prst="rect">
            <a:avLst/>
          </a:prstGeom>
          <a:noFill/>
          <a:ln w="9525">
            <a:noFill/>
          </a:ln>
        </p:spPr>
        <p:txBody>
          <a:bodyPr>
            <a:spAutoFit/>
          </a:bodyPr>
          <a:p>
            <a:pPr eaLnBrk="1" hangingPunct="1">
              <a:spcBef>
                <a:spcPct val="50000"/>
              </a:spcBef>
            </a:pPr>
            <a:r>
              <a:rPr lang="zh-CN" altLang="en-US" sz="2400" b="1" dirty="0">
                <a:solidFill>
                  <a:schemeClr val="accent2"/>
                </a:solidFill>
                <a:latin typeface="Times New Roman" panose="02020603050405020304" pitchFamily="18" charset="0"/>
              </a:rPr>
              <a:t>采用</a:t>
            </a:r>
            <a:r>
              <a:rPr lang="en-US" altLang="zh-CN" sz="2400" b="1" dirty="0">
                <a:solidFill>
                  <a:schemeClr val="accent2"/>
                </a:solidFill>
                <a:latin typeface="Times New Roman" panose="02020603050405020304" pitchFamily="18" charset="0"/>
              </a:rPr>
              <a:t>PLD</a:t>
            </a:r>
            <a:r>
              <a:rPr lang="zh-CN" altLang="en-US" sz="2400" b="1" dirty="0">
                <a:solidFill>
                  <a:schemeClr val="accent2"/>
                </a:solidFill>
                <a:latin typeface="Times New Roman" panose="02020603050405020304" pitchFamily="18" charset="0"/>
              </a:rPr>
              <a:t>设计数字系统和中小规模相比具有如下特点：</a:t>
            </a:r>
            <a:endParaRPr lang="zh-CN" altLang="en-US" sz="2400" b="1" dirty="0">
              <a:latin typeface="Times New Roman" panose="02020603050405020304" pitchFamily="18" charset="0"/>
            </a:endParaRPr>
          </a:p>
        </p:txBody>
      </p:sp>
      <p:sp>
        <p:nvSpPr>
          <p:cNvPr id="46126" name="Text Box 46"/>
          <p:cNvSpPr txBox="1"/>
          <p:nvPr/>
        </p:nvSpPr>
        <p:spPr>
          <a:xfrm>
            <a:off x="381000" y="4267200"/>
            <a:ext cx="7848600" cy="822325"/>
          </a:xfrm>
          <a:prstGeom prst="rect">
            <a:avLst/>
          </a:prstGeom>
          <a:noFill/>
          <a:ln w="9525">
            <a:noFill/>
          </a:ln>
        </p:spPr>
        <p:txBody>
          <a:bodyPr>
            <a:spAutoFit/>
          </a:bodyPr>
          <a:p>
            <a:pPr eaLnBrk="1" hangingPunct="1">
              <a:spcBef>
                <a:spcPct val="50000"/>
              </a:spcBef>
            </a:pPr>
            <a:r>
              <a:rPr lang="en-US" altLang="zh-CN" sz="2400" b="1" dirty="0">
                <a:solidFill>
                  <a:schemeClr val="accent2"/>
                </a:solidFill>
                <a:latin typeface="Times New Roman" panose="02020603050405020304" pitchFamily="18" charset="0"/>
              </a:rPr>
              <a:t>        1.</a:t>
            </a:r>
            <a:r>
              <a:rPr lang="zh-CN" altLang="en-US" sz="2400" b="1" dirty="0">
                <a:solidFill>
                  <a:srgbClr val="FF0000"/>
                </a:solidFill>
                <a:latin typeface="Times New Roman" panose="02020603050405020304" pitchFamily="18" charset="0"/>
              </a:rPr>
              <a:t>减小系统体积：</a:t>
            </a:r>
            <a:r>
              <a:rPr lang="zh-CN" altLang="en-US" sz="2400" b="1" dirty="0">
                <a:solidFill>
                  <a:schemeClr val="accent2"/>
                </a:solidFill>
                <a:latin typeface="Times New Roman" panose="02020603050405020304" pitchFamily="18" charset="0"/>
              </a:rPr>
              <a:t>单片</a:t>
            </a:r>
            <a:r>
              <a:rPr lang="en-US" altLang="zh-CN" sz="2400" b="1" dirty="0">
                <a:solidFill>
                  <a:schemeClr val="accent2"/>
                </a:solidFill>
                <a:latin typeface="Times New Roman" panose="02020603050405020304" pitchFamily="18" charset="0"/>
              </a:rPr>
              <a:t>PLD</a:t>
            </a:r>
            <a:r>
              <a:rPr lang="zh-CN" altLang="en-US" sz="2400" b="1" dirty="0">
                <a:solidFill>
                  <a:schemeClr val="accent2"/>
                </a:solidFill>
                <a:latin typeface="Times New Roman" panose="02020603050405020304" pitchFamily="18" charset="0"/>
              </a:rPr>
              <a:t>有很高的密度，可容纳中小规模集成电路的几倍到十几倍</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46127" name="Text Box 47"/>
          <p:cNvSpPr txBox="1"/>
          <p:nvPr/>
        </p:nvSpPr>
        <p:spPr>
          <a:xfrm>
            <a:off x="381000" y="5029200"/>
            <a:ext cx="7620000" cy="822325"/>
          </a:xfrm>
          <a:prstGeom prst="rect">
            <a:avLst/>
          </a:prstGeom>
          <a:noFill/>
          <a:ln w="9525">
            <a:noFill/>
          </a:ln>
        </p:spPr>
        <p:txBody>
          <a:bodyPr>
            <a:spAutoFit/>
          </a:bodyPr>
          <a:p>
            <a:pPr eaLnBrk="1" hangingPunct="1">
              <a:spcBef>
                <a:spcPct val="50000"/>
              </a:spcBef>
            </a:pPr>
            <a:r>
              <a:rPr lang="en-US" altLang="zh-CN" sz="2400" b="1" dirty="0">
                <a:solidFill>
                  <a:schemeClr val="accent2"/>
                </a:solidFill>
                <a:latin typeface="Times New Roman" panose="02020603050405020304" pitchFamily="18" charset="0"/>
              </a:rPr>
              <a:t>        2.</a:t>
            </a:r>
            <a:r>
              <a:rPr lang="zh-CN" altLang="en-US" sz="2400" b="1" dirty="0">
                <a:solidFill>
                  <a:srgbClr val="FF0000"/>
                </a:solidFill>
                <a:latin typeface="Times New Roman" panose="02020603050405020304" pitchFamily="18" charset="0"/>
              </a:rPr>
              <a:t>增强逻辑设计的灵活性：</a:t>
            </a:r>
            <a:r>
              <a:rPr lang="zh-CN" altLang="en-US" sz="2400" b="1" dirty="0">
                <a:solidFill>
                  <a:schemeClr val="accent2"/>
                </a:solidFill>
                <a:latin typeface="Times New Roman" panose="02020603050405020304" pitchFamily="18" charset="0"/>
              </a:rPr>
              <a:t>使用</a:t>
            </a:r>
            <a:r>
              <a:rPr lang="en-US" altLang="zh-CN" sz="2400" b="1" dirty="0">
                <a:solidFill>
                  <a:schemeClr val="accent2"/>
                </a:solidFill>
                <a:latin typeface="Times New Roman" panose="02020603050405020304" pitchFamily="18" charset="0"/>
              </a:rPr>
              <a:t>PLD</a:t>
            </a:r>
            <a:r>
              <a:rPr lang="zh-CN" altLang="en-US" sz="2400" b="1" dirty="0">
                <a:solidFill>
                  <a:schemeClr val="accent2"/>
                </a:solidFill>
                <a:latin typeface="Times New Roman" panose="02020603050405020304" pitchFamily="18" charset="0"/>
              </a:rPr>
              <a:t>器件设计的系统，可以不受标准系列器件在逻辑功能上的限制。</a:t>
            </a:r>
            <a:endParaRPr lang="zh-CN" altLang="en-US" sz="2400" b="1" dirty="0">
              <a:latin typeface="Times New Roman" panose="02020603050405020304" pitchFamily="18" charset="0"/>
            </a:endParaRPr>
          </a:p>
        </p:txBody>
      </p:sp>
      <p:sp>
        <p:nvSpPr>
          <p:cNvPr id="46128" name="Text Box 48"/>
          <p:cNvSpPr txBox="1"/>
          <p:nvPr/>
        </p:nvSpPr>
        <p:spPr>
          <a:xfrm>
            <a:off x="381000" y="5867400"/>
            <a:ext cx="8077200" cy="822325"/>
          </a:xfrm>
          <a:prstGeom prst="rect">
            <a:avLst/>
          </a:prstGeom>
          <a:noFill/>
          <a:ln w="9525">
            <a:noFill/>
          </a:ln>
        </p:spPr>
        <p:txBody>
          <a:bodyPr>
            <a:spAutoFit/>
          </a:bodyPr>
          <a:p>
            <a:pPr eaLnBrk="1" hangingPunct="1">
              <a:spcBef>
                <a:spcPct val="50000"/>
              </a:spcBef>
            </a:pPr>
            <a:r>
              <a:rPr lang="en-US" altLang="zh-CN" sz="2400" b="1" dirty="0">
                <a:solidFill>
                  <a:schemeClr val="accent2"/>
                </a:solidFill>
                <a:latin typeface="Times New Roman" panose="02020603050405020304" pitchFamily="18" charset="0"/>
              </a:rPr>
              <a:t>        3.</a:t>
            </a:r>
            <a:r>
              <a:rPr lang="zh-CN" altLang="en-US" sz="2400" b="1" dirty="0">
                <a:solidFill>
                  <a:srgbClr val="FF0000"/>
                </a:solidFill>
                <a:latin typeface="Times New Roman" panose="02020603050405020304" pitchFamily="18" charset="0"/>
              </a:rPr>
              <a:t>缩短设计周期：</a:t>
            </a:r>
            <a:r>
              <a:rPr lang="zh-CN" altLang="en-US" sz="2400" b="1" dirty="0">
                <a:solidFill>
                  <a:schemeClr val="accent2"/>
                </a:solidFill>
                <a:latin typeface="Times New Roman" panose="02020603050405020304" pitchFamily="18" charset="0"/>
              </a:rPr>
              <a:t>由于有可编程特性，用</a:t>
            </a:r>
            <a:r>
              <a:rPr lang="en-US" altLang="zh-CN" sz="2400" b="1" dirty="0">
                <a:solidFill>
                  <a:schemeClr val="accent2"/>
                </a:solidFill>
                <a:latin typeface="Times New Roman" panose="02020603050405020304" pitchFamily="18" charset="0"/>
              </a:rPr>
              <a:t>PLD</a:t>
            </a:r>
            <a:r>
              <a:rPr lang="zh-CN" altLang="en-US" sz="2400" b="1" dirty="0">
                <a:solidFill>
                  <a:schemeClr val="accent2"/>
                </a:solidFill>
                <a:latin typeface="Times New Roman" panose="02020603050405020304" pitchFamily="18" charset="0"/>
              </a:rPr>
              <a:t>设计一个系统所需时间比传统方式大为缩短</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graphicFrame>
        <p:nvGraphicFramePr>
          <p:cNvPr id="46123" name="Object 43"/>
          <p:cNvGraphicFramePr>
            <a:graphicFrameLocks noChangeAspect="1"/>
          </p:cNvGraphicFramePr>
          <p:nvPr/>
        </p:nvGraphicFramePr>
        <p:xfrm>
          <a:off x="0" y="685800"/>
          <a:ext cx="10363200" cy="2895600"/>
        </p:xfrm>
        <a:graphic>
          <a:graphicData uri="http://schemas.openxmlformats.org/presentationml/2006/ole">
            <mc:AlternateContent xmlns:mc="http://schemas.openxmlformats.org/markup-compatibility/2006">
              <mc:Choice xmlns:v="urn:schemas-microsoft-com:vml" Requires="v">
                <p:oleObj spid="_x0000_s3076" name="" r:id="rId1" imgW="5532120" imgH="1423670" progId="Word.Document.8">
                  <p:embed/>
                </p:oleObj>
              </mc:Choice>
              <mc:Fallback>
                <p:oleObj name="" r:id="rId1" imgW="5532120" imgH="1423670" progId="Word.Document.8">
                  <p:embed/>
                  <p:pic>
                    <p:nvPicPr>
                      <p:cNvPr id="0" name="图片 3075"/>
                      <p:cNvPicPr/>
                      <p:nvPr/>
                    </p:nvPicPr>
                    <p:blipFill>
                      <a:blip r:embed="rId2"/>
                      <a:stretch>
                        <a:fillRect/>
                      </a:stretch>
                    </p:blipFill>
                    <p:spPr>
                      <a:xfrm>
                        <a:off x="0" y="685800"/>
                        <a:ext cx="10363200" cy="2895600"/>
                      </a:xfrm>
                      <a:prstGeom prst="rect">
                        <a:avLst/>
                      </a:prstGeom>
                      <a:noFill/>
                      <a:ln w="38100">
                        <a:noFill/>
                        <a:miter/>
                      </a:ln>
                    </p:spPr>
                  </p:pic>
                </p:oleObj>
              </mc:Fallback>
            </mc:AlternateContent>
          </a:graphicData>
        </a:graphic>
      </p:graphicFrame>
      <p:sp>
        <p:nvSpPr>
          <p:cNvPr id="16392" name="Text Box 42"/>
          <p:cNvSpPr txBox="1"/>
          <p:nvPr/>
        </p:nvSpPr>
        <p:spPr>
          <a:xfrm>
            <a:off x="2438400" y="533400"/>
            <a:ext cx="3352800" cy="457200"/>
          </a:xfrm>
          <a:prstGeom prst="rect">
            <a:avLst/>
          </a:prstGeom>
          <a:solidFill>
            <a:srgbClr val="FFCC99"/>
          </a:solidFill>
          <a:ln w="9525">
            <a:noFill/>
          </a:ln>
        </p:spPr>
        <p:txBody>
          <a:bodyPr>
            <a:spAutoFit/>
          </a:bodyPr>
          <a:p>
            <a:pPr eaLnBrk="1" hangingPunct="1">
              <a:spcBef>
                <a:spcPct val="50000"/>
              </a:spcBef>
            </a:pPr>
            <a:r>
              <a:rPr lang="zh-CN" altLang="en-US" sz="2400" b="1" dirty="0">
                <a:solidFill>
                  <a:srgbClr val="990033"/>
                </a:solidFill>
                <a:latin typeface="Times New Roman" panose="02020603050405020304" pitchFamily="18" charset="0"/>
              </a:rPr>
              <a:t>各种</a:t>
            </a:r>
            <a:r>
              <a:rPr lang="en-US" altLang="zh-CN" sz="2400" b="1" dirty="0">
                <a:solidFill>
                  <a:srgbClr val="990033"/>
                </a:solidFill>
                <a:latin typeface="Times New Roman" panose="02020603050405020304" pitchFamily="18" charset="0"/>
              </a:rPr>
              <a:t>PLD</a:t>
            </a:r>
            <a:r>
              <a:rPr lang="zh-CN" altLang="en-US" sz="2400" b="1" dirty="0">
                <a:solidFill>
                  <a:srgbClr val="990033"/>
                </a:solidFill>
                <a:latin typeface="Times New Roman" panose="02020603050405020304" pitchFamily="18" charset="0"/>
              </a:rPr>
              <a:t>的结构特点</a:t>
            </a:r>
            <a:endParaRPr lang="zh-CN" altLang="en-US" sz="2400" b="1" dirty="0">
              <a:solidFill>
                <a:srgbClr val="990033"/>
              </a:solidFill>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6123"/>
                                        </p:tgtEl>
                                        <p:attrNameLst>
                                          <p:attrName>style.visibility</p:attrName>
                                        </p:attrNameLst>
                                      </p:cBhvr>
                                      <p:to>
                                        <p:strVal val="visible"/>
                                      </p:to>
                                    </p:set>
                                    <p:animEffect transition="in" filter="box(out)">
                                      <p:cBhvr>
                                        <p:cTn id="7" dur="500"/>
                                        <p:tgtEl>
                                          <p:spTgt spid="4612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46124"/>
                                        </p:tgtEl>
                                        <p:attrNameLst>
                                          <p:attrName>style.visibility</p:attrName>
                                        </p:attrNameLst>
                                      </p:cBhvr>
                                      <p:to>
                                        <p:strVal val="visible"/>
                                      </p:to>
                                    </p:set>
                                    <p:anim calcmode="lin" valueType="num">
                                      <p:cBhvr additive="base">
                                        <p:cTn id="12" dur="500" fill="hold"/>
                                        <p:tgtEl>
                                          <p:spTgt spid="46124"/>
                                        </p:tgtEl>
                                        <p:attrNameLst>
                                          <p:attrName>ppt_x</p:attrName>
                                        </p:attrNameLst>
                                      </p:cBhvr>
                                      <p:tavLst>
                                        <p:tav tm="0">
                                          <p:val>
                                            <p:strVal val="1+#ppt_w/2"/>
                                          </p:val>
                                        </p:tav>
                                        <p:tav tm="100000">
                                          <p:val>
                                            <p:strVal val="#ppt_x"/>
                                          </p:val>
                                        </p:tav>
                                      </p:tavLst>
                                    </p:anim>
                                    <p:anim calcmode="lin" valueType="num">
                                      <p:cBhvr additive="base">
                                        <p:cTn id="13" dur="500" fill="hold"/>
                                        <p:tgtEl>
                                          <p:spTgt spid="4612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iterate type="wd">
                                    <p:tmPct val="100000"/>
                                  </p:iterate>
                                  <p:childTnLst>
                                    <p:set>
                                      <p:cBhvr>
                                        <p:cTn id="17" dur="1" fill="hold">
                                          <p:stCondLst>
                                            <p:cond delay="0"/>
                                          </p:stCondLst>
                                        </p:cTn>
                                        <p:tgtEl>
                                          <p:spTgt spid="46125">
                                            <p:txEl>
                                              <p:charRg st="0" end="26"/>
                                            </p:txEl>
                                          </p:spTgt>
                                        </p:tgtEl>
                                        <p:attrNameLst>
                                          <p:attrName>style.visibility</p:attrName>
                                        </p:attrNameLst>
                                      </p:cBhvr>
                                      <p:to>
                                        <p:strVal val="visible"/>
                                      </p:to>
                                    </p:set>
                                    <p:anim calcmode="lin" valueType="num">
                                      <p:cBhvr additive="base">
                                        <p:cTn id="18" dur="300" fill="hold"/>
                                        <p:tgtEl>
                                          <p:spTgt spid="46125">
                                            <p:txEl>
                                              <p:charRg st="0" end="26"/>
                                            </p:txEl>
                                          </p:spTgt>
                                        </p:tgtEl>
                                        <p:attrNameLst>
                                          <p:attrName>ppt_x</p:attrName>
                                        </p:attrNameLst>
                                      </p:cBhvr>
                                      <p:tavLst>
                                        <p:tav tm="0">
                                          <p:val>
                                            <p:strVal val="1+#ppt_w/2"/>
                                          </p:val>
                                        </p:tav>
                                        <p:tav tm="100000">
                                          <p:val>
                                            <p:strVal val="#ppt_x"/>
                                          </p:val>
                                        </p:tav>
                                      </p:tavLst>
                                    </p:anim>
                                    <p:anim calcmode="lin" valueType="num">
                                      <p:cBhvr additive="base">
                                        <p:cTn id="19" dur="300" fill="hold"/>
                                        <p:tgtEl>
                                          <p:spTgt spid="46125">
                                            <p:txEl>
                                              <p:charRg st="0" end="26"/>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46126"/>
                                        </p:tgtEl>
                                        <p:attrNameLst>
                                          <p:attrName>style.visibility</p:attrName>
                                        </p:attrNameLst>
                                      </p:cBhvr>
                                      <p:to>
                                        <p:strVal val="visible"/>
                                      </p:to>
                                    </p:set>
                                    <p:anim calcmode="lin" valueType="num">
                                      <p:cBhvr additive="base">
                                        <p:cTn id="24" dur="500" fill="hold"/>
                                        <p:tgtEl>
                                          <p:spTgt spid="46126"/>
                                        </p:tgtEl>
                                        <p:attrNameLst>
                                          <p:attrName>ppt_x</p:attrName>
                                        </p:attrNameLst>
                                      </p:cBhvr>
                                      <p:tavLst>
                                        <p:tav tm="0">
                                          <p:val>
                                            <p:strVal val="1+#ppt_w/2"/>
                                          </p:val>
                                        </p:tav>
                                        <p:tav tm="100000">
                                          <p:val>
                                            <p:strVal val="#ppt_x"/>
                                          </p:val>
                                        </p:tav>
                                      </p:tavLst>
                                    </p:anim>
                                    <p:anim calcmode="lin" valueType="num">
                                      <p:cBhvr additive="base">
                                        <p:cTn id="25" dur="500" fill="hold"/>
                                        <p:tgtEl>
                                          <p:spTgt spid="46126"/>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46127"/>
                                        </p:tgtEl>
                                        <p:attrNameLst>
                                          <p:attrName>style.visibility</p:attrName>
                                        </p:attrNameLst>
                                      </p:cBhvr>
                                      <p:to>
                                        <p:strVal val="visible"/>
                                      </p:to>
                                    </p:set>
                                    <p:anim calcmode="lin" valueType="num">
                                      <p:cBhvr additive="base">
                                        <p:cTn id="30" dur="500" fill="hold"/>
                                        <p:tgtEl>
                                          <p:spTgt spid="46127"/>
                                        </p:tgtEl>
                                        <p:attrNameLst>
                                          <p:attrName>ppt_x</p:attrName>
                                        </p:attrNameLst>
                                      </p:cBhvr>
                                      <p:tavLst>
                                        <p:tav tm="0">
                                          <p:val>
                                            <p:strVal val="1+#ppt_w/2"/>
                                          </p:val>
                                        </p:tav>
                                        <p:tav tm="100000">
                                          <p:val>
                                            <p:strVal val="#ppt_x"/>
                                          </p:val>
                                        </p:tav>
                                      </p:tavLst>
                                    </p:anim>
                                    <p:anim calcmode="lin" valueType="num">
                                      <p:cBhvr additive="base">
                                        <p:cTn id="31" dur="500" fill="hold"/>
                                        <p:tgtEl>
                                          <p:spTgt spid="46127"/>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46128"/>
                                        </p:tgtEl>
                                        <p:attrNameLst>
                                          <p:attrName>style.visibility</p:attrName>
                                        </p:attrNameLst>
                                      </p:cBhvr>
                                      <p:to>
                                        <p:strVal val="visible"/>
                                      </p:to>
                                    </p:set>
                                    <p:anim calcmode="lin" valueType="num">
                                      <p:cBhvr additive="base">
                                        <p:cTn id="36" dur="500" fill="hold"/>
                                        <p:tgtEl>
                                          <p:spTgt spid="46128"/>
                                        </p:tgtEl>
                                        <p:attrNameLst>
                                          <p:attrName>ppt_x</p:attrName>
                                        </p:attrNameLst>
                                      </p:cBhvr>
                                      <p:tavLst>
                                        <p:tav tm="0">
                                          <p:val>
                                            <p:strVal val="1+#ppt_w/2"/>
                                          </p:val>
                                        </p:tav>
                                        <p:tav tm="100000">
                                          <p:val>
                                            <p:strVal val="#ppt_x"/>
                                          </p:val>
                                        </p:tav>
                                      </p:tavLst>
                                    </p:anim>
                                    <p:anim calcmode="lin" valueType="num">
                                      <p:cBhvr additive="base">
                                        <p:cTn id="37" dur="500" fill="hold"/>
                                        <p:tgtEl>
                                          <p:spTgt spid="461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24" grpId="0" animBg="1"/>
      <p:bldP spid="46125" grpId="0" build="p"/>
      <p:bldP spid="46126" grpId="0"/>
      <p:bldP spid="46127" grpId="0"/>
      <p:bldP spid="4612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ext Box 53"/>
          <p:cNvSpPr txBox="1"/>
          <p:nvPr/>
        </p:nvSpPr>
        <p:spPr>
          <a:xfrm>
            <a:off x="76200" y="76200"/>
            <a:ext cx="8610600" cy="1187450"/>
          </a:xfrm>
          <a:prstGeom prst="rect">
            <a:avLst/>
          </a:prstGeom>
          <a:noFill/>
          <a:ln w="9525">
            <a:noFill/>
          </a:ln>
        </p:spPr>
        <p:txBody>
          <a:bodyPr>
            <a:spAutoFit/>
          </a:bodyPr>
          <a:p>
            <a:pPr algn="just" eaLnBrk="1" hangingPunct="1"/>
            <a:r>
              <a:rPr lang="en-US" altLang="zh-CN" sz="2400" b="1" dirty="0">
                <a:solidFill>
                  <a:schemeClr val="accent2"/>
                </a:solidFill>
                <a:latin typeface="Times New Roman" panose="02020603050405020304" pitchFamily="18" charset="0"/>
              </a:rPr>
              <a:t>       4.</a:t>
            </a:r>
            <a:r>
              <a:rPr lang="zh-CN" altLang="en-US" sz="2400" b="1" dirty="0">
                <a:solidFill>
                  <a:srgbClr val="FF0000"/>
                </a:solidFill>
                <a:latin typeface="Times New Roman" panose="02020603050405020304" pitchFamily="18" charset="0"/>
              </a:rPr>
              <a:t>提高系统处理速度：</a:t>
            </a:r>
            <a:r>
              <a:rPr lang="zh-CN" altLang="en-US" sz="2400" b="1" dirty="0">
                <a:solidFill>
                  <a:schemeClr val="accent2"/>
                </a:solidFill>
                <a:latin typeface="Times New Roman" panose="02020603050405020304" pitchFamily="18" charset="0"/>
              </a:rPr>
              <a:t>用</a:t>
            </a:r>
            <a:r>
              <a:rPr lang="en-US" altLang="zh-CN" sz="2400" b="1" dirty="0">
                <a:solidFill>
                  <a:schemeClr val="accent2"/>
                </a:solidFill>
                <a:latin typeface="Times New Roman" panose="02020603050405020304" pitchFamily="18" charset="0"/>
              </a:rPr>
              <a:t>PLD</a:t>
            </a:r>
            <a:r>
              <a:rPr lang="zh-CN" altLang="en-US" sz="2400" b="1" dirty="0">
                <a:solidFill>
                  <a:schemeClr val="accent2"/>
                </a:solidFill>
                <a:latin typeface="Times New Roman" panose="02020603050405020304" pitchFamily="18" charset="0"/>
              </a:rPr>
              <a:t>与或两级结构实现任何逻辑功能，比用中小规模器件所需的逻辑级数少。这不仅简化了系统设计，而且减少了级间延迟，提高了系统的处理速度。</a:t>
            </a:r>
            <a:endParaRPr lang="zh-CN" altLang="en-US" sz="2400" b="1" dirty="0">
              <a:latin typeface="Times New Roman" panose="02020603050405020304" pitchFamily="18" charset="0"/>
            </a:endParaRPr>
          </a:p>
        </p:txBody>
      </p:sp>
      <p:sp>
        <p:nvSpPr>
          <p:cNvPr id="54326" name="Text Box 54"/>
          <p:cNvSpPr txBox="1"/>
          <p:nvPr/>
        </p:nvSpPr>
        <p:spPr>
          <a:xfrm>
            <a:off x="76200" y="4876800"/>
            <a:ext cx="8686800" cy="1552575"/>
          </a:xfrm>
          <a:prstGeom prst="rect">
            <a:avLst/>
          </a:prstGeom>
          <a:noFill/>
          <a:ln w="9525">
            <a:noFill/>
          </a:ln>
        </p:spPr>
        <p:txBody>
          <a:bodyPr>
            <a:spAutoFit/>
          </a:bodyPr>
          <a:p>
            <a:pPr algn="just" eaLnBrk="1" hangingPunct="1"/>
            <a:r>
              <a:rPr lang="en-US" altLang="zh-CN" sz="2400" b="1" dirty="0">
                <a:solidFill>
                  <a:schemeClr val="accent2"/>
                </a:solidFill>
                <a:latin typeface="Times New Roman" panose="02020603050405020304" pitchFamily="18" charset="0"/>
              </a:rPr>
              <a:t>     7.</a:t>
            </a:r>
            <a:r>
              <a:rPr lang="zh-CN" altLang="en-US" sz="2400" b="1" dirty="0">
                <a:solidFill>
                  <a:srgbClr val="FF0000"/>
                </a:solidFill>
                <a:latin typeface="Times New Roman" panose="02020603050405020304" pitchFamily="18" charset="0"/>
              </a:rPr>
              <a:t>系统具有加密功能：</a:t>
            </a:r>
            <a:r>
              <a:rPr lang="zh-CN" altLang="en-US" sz="2400" b="1" dirty="0">
                <a:solidFill>
                  <a:schemeClr val="accent2"/>
                </a:solidFill>
                <a:latin typeface="Times New Roman" panose="02020603050405020304" pitchFamily="18" charset="0"/>
              </a:rPr>
              <a:t>某些</a:t>
            </a:r>
            <a:r>
              <a:rPr lang="en-US" altLang="zh-CN" sz="2400" b="1" dirty="0">
                <a:solidFill>
                  <a:schemeClr val="accent2"/>
                </a:solidFill>
                <a:latin typeface="Times New Roman" panose="02020603050405020304" pitchFamily="18" charset="0"/>
              </a:rPr>
              <a:t>PLD</a:t>
            </a:r>
            <a:r>
              <a:rPr lang="zh-CN" altLang="en-US" sz="2400" b="1" dirty="0">
                <a:solidFill>
                  <a:schemeClr val="accent2"/>
                </a:solidFill>
                <a:latin typeface="Times New Roman" panose="02020603050405020304" pitchFamily="18" charset="0"/>
              </a:rPr>
              <a:t>器件，如</a:t>
            </a:r>
            <a:r>
              <a:rPr lang="en-US" altLang="zh-CN" sz="2400" b="1" dirty="0">
                <a:solidFill>
                  <a:schemeClr val="accent2"/>
                </a:solidFill>
                <a:latin typeface="Times New Roman" panose="02020603050405020304" pitchFamily="18" charset="0"/>
              </a:rPr>
              <a:t>GAL</a:t>
            </a:r>
            <a:r>
              <a:rPr lang="zh-CN" altLang="en-US" sz="2400" b="1" dirty="0">
                <a:solidFill>
                  <a:schemeClr val="accent2"/>
                </a:solidFill>
                <a:latin typeface="Times New Roman" panose="02020603050405020304" pitchFamily="18" charset="0"/>
              </a:rPr>
              <a:t>或高密度可编程逻辑器件本身具有加密功能。设计者在设计时选中加密项，可编程逻辑器件就被加密，器件的逻辑功能无法被读出，有效地防止逻辑系统被抄袭。</a:t>
            </a:r>
            <a:endParaRPr lang="zh-CN" altLang="en-US" sz="2400" b="1" dirty="0">
              <a:latin typeface="Times New Roman" panose="02020603050405020304" pitchFamily="18" charset="0"/>
            </a:endParaRPr>
          </a:p>
        </p:txBody>
      </p:sp>
      <p:sp>
        <p:nvSpPr>
          <p:cNvPr id="54327" name="Text Box 55"/>
          <p:cNvSpPr txBox="1"/>
          <p:nvPr/>
        </p:nvSpPr>
        <p:spPr>
          <a:xfrm>
            <a:off x="0" y="1676400"/>
            <a:ext cx="8839200" cy="1187450"/>
          </a:xfrm>
          <a:prstGeom prst="rect">
            <a:avLst/>
          </a:prstGeom>
          <a:noFill/>
          <a:ln w="9525">
            <a:noFill/>
          </a:ln>
        </p:spPr>
        <p:txBody>
          <a:bodyPr>
            <a:spAutoFit/>
          </a:bodyPr>
          <a:p>
            <a:pPr eaLnBrk="1" hangingPunct="1">
              <a:spcBef>
                <a:spcPct val="50000"/>
              </a:spcBef>
            </a:pPr>
            <a:r>
              <a:rPr lang="en-US" altLang="zh-CN" sz="2400" b="1" dirty="0">
                <a:solidFill>
                  <a:schemeClr val="accent2"/>
                </a:solidFill>
                <a:latin typeface="Times New Roman" panose="02020603050405020304" pitchFamily="18" charset="0"/>
              </a:rPr>
              <a:t>        5.</a:t>
            </a:r>
            <a:r>
              <a:rPr lang="zh-CN" altLang="en-US" sz="2400" b="1" dirty="0">
                <a:solidFill>
                  <a:srgbClr val="FF0000"/>
                </a:solidFill>
                <a:latin typeface="Times New Roman" panose="02020603050405020304" pitchFamily="18" charset="0"/>
              </a:rPr>
              <a:t>降低系统成本：</a:t>
            </a:r>
            <a:r>
              <a:rPr lang="zh-CN" altLang="en-US" sz="2400" b="1" dirty="0">
                <a:solidFill>
                  <a:schemeClr val="accent2"/>
                </a:solidFill>
                <a:latin typeface="Times New Roman" panose="02020603050405020304" pitchFamily="18" charset="0"/>
              </a:rPr>
              <a:t>由于</a:t>
            </a:r>
            <a:r>
              <a:rPr lang="en-US" altLang="zh-CN" sz="2400" b="1" dirty="0">
                <a:solidFill>
                  <a:schemeClr val="accent2"/>
                </a:solidFill>
                <a:latin typeface="Times New Roman" panose="02020603050405020304" pitchFamily="18" charset="0"/>
              </a:rPr>
              <a:t>PLD</a:t>
            </a:r>
            <a:r>
              <a:rPr lang="zh-CN" altLang="en-US" sz="2400" b="1" dirty="0">
                <a:solidFill>
                  <a:schemeClr val="accent2"/>
                </a:solidFill>
                <a:latin typeface="Times New Roman" panose="02020603050405020304" pitchFamily="18" charset="0"/>
              </a:rPr>
              <a:t>集成度高，测试与装配的量大大减少，避免了改变逻辑带来的重新设计和修改，有效地降低了成本。</a:t>
            </a:r>
            <a:endParaRPr lang="zh-CN" altLang="en-US" sz="2400" b="1" dirty="0">
              <a:solidFill>
                <a:schemeClr val="accent2"/>
              </a:solidFill>
              <a:latin typeface="Times New Roman" panose="02020603050405020304" pitchFamily="18" charset="0"/>
            </a:endParaRPr>
          </a:p>
        </p:txBody>
      </p:sp>
      <p:sp>
        <p:nvSpPr>
          <p:cNvPr id="54328" name="Text Box 56"/>
          <p:cNvSpPr txBox="1"/>
          <p:nvPr/>
        </p:nvSpPr>
        <p:spPr>
          <a:xfrm>
            <a:off x="0" y="3048000"/>
            <a:ext cx="8382000" cy="1187450"/>
          </a:xfrm>
          <a:prstGeom prst="rect">
            <a:avLst/>
          </a:prstGeom>
          <a:noFill/>
          <a:ln w="9525">
            <a:noFill/>
          </a:ln>
        </p:spPr>
        <p:txBody>
          <a:bodyPr>
            <a:spAutoFit/>
          </a:bodyPr>
          <a:p>
            <a:pPr eaLnBrk="1" hangingPunct="1">
              <a:spcBef>
                <a:spcPct val="50000"/>
              </a:spcBef>
            </a:pPr>
            <a:r>
              <a:rPr lang="en-US" altLang="zh-CN" sz="2400" b="1" dirty="0">
                <a:solidFill>
                  <a:schemeClr val="accent2"/>
                </a:solidFill>
                <a:latin typeface="Times New Roman" panose="02020603050405020304" pitchFamily="18" charset="0"/>
              </a:rPr>
              <a:t>        6.</a:t>
            </a:r>
            <a:r>
              <a:rPr lang="zh-CN" altLang="en-US" sz="2400" b="1" dirty="0">
                <a:solidFill>
                  <a:srgbClr val="FF0000"/>
                </a:solidFill>
                <a:latin typeface="Times New Roman" panose="02020603050405020304" pitchFamily="18" charset="0"/>
              </a:rPr>
              <a:t>提高系统的可靠性：</a:t>
            </a:r>
            <a:r>
              <a:rPr lang="zh-CN" altLang="en-US" sz="2400" b="1" dirty="0">
                <a:solidFill>
                  <a:schemeClr val="accent2"/>
                </a:solidFill>
                <a:latin typeface="Times New Roman" panose="02020603050405020304" pitchFamily="18" charset="0"/>
              </a:rPr>
              <a:t>用</a:t>
            </a:r>
            <a:r>
              <a:rPr lang="en-US" altLang="zh-CN" sz="2400" b="1" dirty="0">
                <a:solidFill>
                  <a:schemeClr val="accent2"/>
                </a:solidFill>
                <a:latin typeface="Times New Roman" panose="02020603050405020304" pitchFamily="18" charset="0"/>
              </a:rPr>
              <a:t>PLD</a:t>
            </a:r>
            <a:r>
              <a:rPr lang="zh-CN" altLang="en-US" sz="2400" b="1" dirty="0">
                <a:solidFill>
                  <a:schemeClr val="accent2"/>
                </a:solidFill>
                <a:latin typeface="Times New Roman" panose="02020603050405020304" pitchFamily="18" charset="0"/>
              </a:rPr>
              <a:t>器件设计的系统减少了芯片和印制板数量，增加了平均寿命</a:t>
            </a:r>
            <a:r>
              <a:rPr lang="en-US" altLang="zh-CN" sz="2400" b="1" dirty="0">
                <a:solidFill>
                  <a:schemeClr val="accent2"/>
                </a:solidFill>
                <a:latin typeface="Times New Roman" panose="02020603050405020304" pitchFamily="18" charset="0"/>
              </a:rPr>
              <a:t>, </a:t>
            </a:r>
            <a:r>
              <a:rPr lang="zh-CN" altLang="en-US" sz="2400" b="1" dirty="0">
                <a:solidFill>
                  <a:schemeClr val="accent2"/>
                </a:solidFill>
                <a:latin typeface="Times New Roman" panose="02020603050405020304" pitchFamily="18" charset="0"/>
              </a:rPr>
              <a:t>减少相互间的连线，提高抗干扰能力，从而增加了系统的可靠性。</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4327"/>
                                        </p:tgtEl>
                                        <p:attrNameLst>
                                          <p:attrName>style.visibility</p:attrName>
                                        </p:attrNameLst>
                                      </p:cBhvr>
                                      <p:to>
                                        <p:strVal val="visible"/>
                                      </p:to>
                                    </p:set>
                                    <p:anim calcmode="lin" valueType="num">
                                      <p:cBhvr additive="base">
                                        <p:cTn id="7" dur="500" fill="hold"/>
                                        <p:tgtEl>
                                          <p:spTgt spid="54327"/>
                                        </p:tgtEl>
                                        <p:attrNameLst>
                                          <p:attrName>ppt_x</p:attrName>
                                        </p:attrNameLst>
                                      </p:cBhvr>
                                      <p:tavLst>
                                        <p:tav tm="0">
                                          <p:val>
                                            <p:strVal val="1+#ppt_w/2"/>
                                          </p:val>
                                        </p:tav>
                                        <p:tav tm="100000">
                                          <p:val>
                                            <p:strVal val="#ppt_x"/>
                                          </p:val>
                                        </p:tav>
                                      </p:tavLst>
                                    </p:anim>
                                    <p:anim calcmode="lin" valueType="num">
                                      <p:cBhvr additive="base">
                                        <p:cTn id="8" dur="500" fill="hold"/>
                                        <p:tgtEl>
                                          <p:spTgt spid="543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4328"/>
                                        </p:tgtEl>
                                        <p:attrNameLst>
                                          <p:attrName>style.visibility</p:attrName>
                                        </p:attrNameLst>
                                      </p:cBhvr>
                                      <p:to>
                                        <p:strVal val="visible"/>
                                      </p:to>
                                    </p:set>
                                    <p:anim calcmode="lin" valueType="num">
                                      <p:cBhvr additive="base">
                                        <p:cTn id="13" dur="500" fill="hold"/>
                                        <p:tgtEl>
                                          <p:spTgt spid="54328"/>
                                        </p:tgtEl>
                                        <p:attrNameLst>
                                          <p:attrName>ppt_x</p:attrName>
                                        </p:attrNameLst>
                                      </p:cBhvr>
                                      <p:tavLst>
                                        <p:tav tm="0">
                                          <p:val>
                                            <p:strVal val="1+#ppt_w/2"/>
                                          </p:val>
                                        </p:tav>
                                        <p:tav tm="100000">
                                          <p:val>
                                            <p:strVal val="#ppt_x"/>
                                          </p:val>
                                        </p:tav>
                                      </p:tavLst>
                                    </p:anim>
                                    <p:anim calcmode="lin" valueType="num">
                                      <p:cBhvr additive="base">
                                        <p:cTn id="14" dur="500" fill="hold"/>
                                        <p:tgtEl>
                                          <p:spTgt spid="5432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4326"/>
                                        </p:tgtEl>
                                        <p:attrNameLst>
                                          <p:attrName>style.visibility</p:attrName>
                                        </p:attrNameLst>
                                      </p:cBhvr>
                                      <p:to>
                                        <p:strVal val="visible"/>
                                      </p:to>
                                    </p:set>
                                    <p:anim calcmode="lin" valueType="num">
                                      <p:cBhvr additive="base">
                                        <p:cTn id="19" dur="500" fill="hold"/>
                                        <p:tgtEl>
                                          <p:spTgt spid="54326"/>
                                        </p:tgtEl>
                                        <p:attrNameLst>
                                          <p:attrName>ppt_x</p:attrName>
                                        </p:attrNameLst>
                                      </p:cBhvr>
                                      <p:tavLst>
                                        <p:tav tm="0">
                                          <p:val>
                                            <p:strVal val="1+#ppt_w/2"/>
                                          </p:val>
                                        </p:tav>
                                        <p:tav tm="100000">
                                          <p:val>
                                            <p:strVal val="#ppt_x"/>
                                          </p:val>
                                        </p:tav>
                                      </p:tavLst>
                                    </p:anim>
                                    <p:anim calcmode="lin" valueType="num">
                                      <p:cBhvr additive="base">
                                        <p:cTn id="20" dur="500" fill="hold"/>
                                        <p:tgtEl>
                                          <p:spTgt spid="543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26" grpId="0"/>
      <p:bldP spid="54327" grpId="0"/>
      <p:bldP spid="5432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ext Box 9"/>
          <p:cNvSpPr txBox="1"/>
          <p:nvPr/>
        </p:nvSpPr>
        <p:spPr>
          <a:xfrm>
            <a:off x="1219200" y="152400"/>
            <a:ext cx="6400800" cy="457200"/>
          </a:xfrm>
          <a:prstGeom prst="rect">
            <a:avLst/>
          </a:prstGeom>
          <a:solidFill>
            <a:srgbClr val="FFCC99"/>
          </a:solidFill>
          <a:ln w="9525">
            <a:noFill/>
          </a:ln>
        </p:spPr>
        <p:txBody>
          <a:bodyPr>
            <a:spAutoFit/>
          </a:bodyPr>
          <a:p>
            <a:pPr algn="ctr" eaLnBrk="1" hangingPunct="1">
              <a:spcBef>
                <a:spcPct val="50000"/>
              </a:spcBef>
            </a:pPr>
            <a:r>
              <a:rPr lang="zh-CN" altLang="en-US" sz="2400" b="1" dirty="0">
                <a:solidFill>
                  <a:srgbClr val="990033"/>
                </a:solidFill>
                <a:latin typeface="Times New Roman" panose="02020603050405020304" pitchFamily="18" charset="0"/>
              </a:rPr>
              <a:t>五、用</a:t>
            </a:r>
            <a:r>
              <a:rPr lang="en-US" altLang="zh-CN" sz="2400" b="1" dirty="0">
                <a:solidFill>
                  <a:srgbClr val="990033"/>
                </a:solidFill>
                <a:latin typeface="Times New Roman" panose="02020603050405020304" pitchFamily="18" charset="0"/>
              </a:rPr>
              <a:t>PLD</a:t>
            </a:r>
            <a:r>
              <a:rPr lang="zh-CN" altLang="en-US" sz="2400" b="1" dirty="0">
                <a:solidFill>
                  <a:srgbClr val="990033"/>
                </a:solidFill>
                <a:latin typeface="Times New Roman" panose="02020603050405020304" pitchFamily="18" charset="0"/>
              </a:rPr>
              <a:t>实现逻辑电路的方法与过程</a:t>
            </a:r>
            <a:endParaRPr lang="zh-CN" altLang="en-US" sz="2400" b="1" dirty="0">
              <a:solidFill>
                <a:srgbClr val="990033"/>
              </a:solidFill>
              <a:latin typeface="Times New Roman" panose="02020603050405020304" pitchFamily="18" charset="0"/>
            </a:endParaRPr>
          </a:p>
        </p:txBody>
      </p:sp>
      <p:sp>
        <p:nvSpPr>
          <p:cNvPr id="56330" name="Text Box 10"/>
          <p:cNvSpPr txBox="1"/>
          <p:nvPr/>
        </p:nvSpPr>
        <p:spPr>
          <a:xfrm>
            <a:off x="381000" y="609600"/>
            <a:ext cx="8001000" cy="1406525"/>
          </a:xfrm>
          <a:prstGeom prst="rect">
            <a:avLst/>
          </a:prstGeom>
          <a:noFill/>
          <a:ln w="9525">
            <a:noFill/>
          </a:ln>
        </p:spPr>
        <p:txBody>
          <a:bodyPr>
            <a:spAutoFit/>
          </a:bodyPr>
          <a:p>
            <a:pPr eaLnBrk="1" hangingPunct="1">
              <a:lnSpc>
                <a:spcPct val="120000"/>
              </a:lnSpc>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用可编程逻辑器件来设计电路需要相应的开发软件平台和编程器，可编程逻辑器件开发软件和相应的编程器多种多样。</a:t>
            </a:r>
            <a:endParaRPr lang="zh-CN" altLang="en-US" sz="2400" b="1" dirty="0">
              <a:latin typeface="Times New Roman" panose="02020603050405020304" pitchFamily="18" charset="0"/>
            </a:endParaRPr>
          </a:p>
        </p:txBody>
      </p:sp>
      <p:sp>
        <p:nvSpPr>
          <p:cNvPr id="56331" name="Text Box 11"/>
          <p:cNvSpPr txBox="1"/>
          <p:nvPr/>
        </p:nvSpPr>
        <p:spPr>
          <a:xfrm>
            <a:off x="609600" y="3200400"/>
            <a:ext cx="7162800" cy="457200"/>
          </a:xfrm>
          <a:prstGeom prst="rect">
            <a:avLst/>
          </a:prstGeom>
          <a:noFill/>
          <a:ln w="9525">
            <a:noFill/>
          </a:ln>
        </p:spPr>
        <p:txBody>
          <a:bodyPr>
            <a:spAutoFit/>
          </a:bodyPr>
          <a:p>
            <a:pPr eaLnBrk="1" hangingPunct="1">
              <a:spcBef>
                <a:spcPct val="50000"/>
              </a:spcBef>
            </a:pPr>
            <a:r>
              <a:rPr lang="zh-CN" altLang="en-US" sz="2400" b="1" dirty="0">
                <a:solidFill>
                  <a:schemeClr val="accent2"/>
                </a:solidFill>
                <a:latin typeface="Times New Roman" panose="02020603050405020304" pitchFamily="18" charset="0"/>
              </a:rPr>
              <a:t>可编程逻辑器件设计电路过程如下图所示</a:t>
            </a:r>
            <a:endParaRPr lang="zh-CN" altLang="en-US" sz="2400" b="1" dirty="0">
              <a:latin typeface="Times New Roman" panose="02020603050405020304" pitchFamily="18" charset="0"/>
            </a:endParaRPr>
          </a:p>
        </p:txBody>
      </p:sp>
      <p:grpSp>
        <p:nvGrpSpPr>
          <p:cNvPr id="56334" name="Group 14"/>
          <p:cNvGrpSpPr/>
          <p:nvPr/>
        </p:nvGrpSpPr>
        <p:grpSpPr>
          <a:xfrm>
            <a:off x="914400" y="4038600"/>
            <a:ext cx="1219200" cy="1371600"/>
            <a:chOff x="432" y="2544"/>
            <a:chExt cx="768" cy="864"/>
          </a:xfrm>
        </p:grpSpPr>
        <p:sp>
          <p:nvSpPr>
            <p:cNvPr id="18452" name="Rectangle 12"/>
            <p:cNvSpPr/>
            <p:nvPr/>
          </p:nvSpPr>
          <p:spPr>
            <a:xfrm>
              <a:off x="432" y="2544"/>
              <a:ext cx="480" cy="864"/>
            </a:xfrm>
            <a:prstGeom prst="rect">
              <a:avLst/>
            </a:prstGeom>
            <a:solidFill>
              <a:srgbClr val="FFCC99"/>
            </a:solidFill>
            <a:ln w="38100" cap="flat" cmpd="sng">
              <a:solidFill>
                <a:srgbClr val="990033"/>
              </a:solidFill>
              <a:prstDash val="solid"/>
              <a:miter/>
              <a:headEnd type="none" w="med" len="med"/>
              <a:tailEnd type="none" w="med" len="med"/>
            </a:ln>
          </p:spPr>
          <p:txBody>
            <a:bodyPr wrap="none" anchor="ctr" anchorCtr="0"/>
            <a:p>
              <a:pPr eaLnBrk="1" hangingPunct="1"/>
              <a:r>
                <a:rPr lang="en-US" altLang="zh-CN" sz="2000" b="1" dirty="0">
                  <a:solidFill>
                    <a:srgbClr val="990033"/>
                  </a:solidFill>
                  <a:latin typeface="Times New Roman" panose="02020603050405020304" pitchFamily="18" charset="0"/>
                </a:rPr>
                <a:t> </a:t>
              </a:r>
              <a:r>
                <a:rPr lang="zh-CN" altLang="en-US" sz="2000" b="1" dirty="0">
                  <a:solidFill>
                    <a:srgbClr val="990033"/>
                  </a:solidFill>
                  <a:latin typeface="Times New Roman" panose="02020603050405020304" pitchFamily="18" charset="0"/>
                </a:rPr>
                <a:t>电</a:t>
              </a:r>
              <a:endParaRPr lang="zh-CN" altLang="en-US" sz="2000" b="1" dirty="0">
                <a:solidFill>
                  <a:srgbClr val="990033"/>
                </a:solidFill>
                <a:latin typeface="Times New Roman" panose="02020603050405020304" pitchFamily="18" charset="0"/>
              </a:endParaRPr>
            </a:p>
            <a:p>
              <a:pPr eaLnBrk="1" hangingPunct="1"/>
              <a:r>
                <a:rPr lang="zh-CN" altLang="en-US" sz="2000" b="1" dirty="0">
                  <a:solidFill>
                    <a:srgbClr val="990033"/>
                  </a:solidFill>
                  <a:latin typeface="Times New Roman" panose="02020603050405020304" pitchFamily="18" charset="0"/>
                </a:rPr>
                <a:t> 路方</a:t>
              </a:r>
              <a:endParaRPr lang="zh-CN" altLang="en-US" sz="2000" b="1" dirty="0">
                <a:solidFill>
                  <a:srgbClr val="990033"/>
                </a:solidFill>
                <a:latin typeface="Times New Roman" panose="02020603050405020304" pitchFamily="18" charset="0"/>
              </a:endParaRPr>
            </a:p>
            <a:p>
              <a:pPr eaLnBrk="1" hangingPunct="1"/>
              <a:r>
                <a:rPr lang="zh-CN" altLang="en-US" sz="2000" b="1" dirty="0">
                  <a:solidFill>
                    <a:srgbClr val="990033"/>
                  </a:solidFill>
                  <a:latin typeface="Times New Roman" panose="02020603050405020304" pitchFamily="18" charset="0"/>
                </a:rPr>
                <a:t> 设案</a:t>
              </a:r>
              <a:endParaRPr lang="zh-CN" altLang="en-US" sz="2000" b="1" dirty="0">
                <a:solidFill>
                  <a:srgbClr val="990033"/>
                </a:solidFill>
                <a:latin typeface="Times New Roman" panose="02020603050405020304" pitchFamily="18" charset="0"/>
              </a:endParaRPr>
            </a:p>
            <a:p>
              <a:pPr eaLnBrk="1" hangingPunct="1"/>
              <a:r>
                <a:rPr lang="zh-CN" altLang="en-US" sz="2000" b="1" dirty="0">
                  <a:solidFill>
                    <a:srgbClr val="990033"/>
                  </a:solidFill>
                  <a:latin typeface="Times New Roman" panose="02020603050405020304" pitchFamily="18" charset="0"/>
                </a:rPr>
                <a:t> 计</a:t>
              </a:r>
              <a:endParaRPr lang="zh-CN" altLang="en-US" sz="2000" b="1" dirty="0">
                <a:solidFill>
                  <a:srgbClr val="990033"/>
                </a:solidFill>
                <a:latin typeface="Times New Roman" panose="02020603050405020304" pitchFamily="18" charset="0"/>
              </a:endParaRPr>
            </a:p>
          </p:txBody>
        </p:sp>
        <p:sp>
          <p:nvSpPr>
            <p:cNvPr id="18453" name="Line 13"/>
            <p:cNvSpPr/>
            <p:nvPr/>
          </p:nvSpPr>
          <p:spPr>
            <a:xfrm>
              <a:off x="912" y="2976"/>
              <a:ext cx="288" cy="0"/>
            </a:xfrm>
            <a:prstGeom prst="line">
              <a:avLst/>
            </a:prstGeom>
            <a:ln w="38100" cap="flat" cmpd="sng">
              <a:solidFill>
                <a:srgbClr val="990033"/>
              </a:solidFill>
              <a:prstDash val="solid"/>
              <a:headEnd type="none" w="med" len="med"/>
              <a:tailEnd type="triangle" w="med" len="med"/>
            </a:ln>
          </p:spPr>
        </p:sp>
      </p:grpSp>
      <p:grpSp>
        <p:nvGrpSpPr>
          <p:cNvPr id="56335" name="Group 15"/>
          <p:cNvGrpSpPr/>
          <p:nvPr/>
        </p:nvGrpSpPr>
        <p:grpSpPr>
          <a:xfrm>
            <a:off x="2133600" y="4038600"/>
            <a:ext cx="1219200" cy="1371600"/>
            <a:chOff x="432" y="2544"/>
            <a:chExt cx="768" cy="864"/>
          </a:xfrm>
        </p:grpSpPr>
        <p:sp>
          <p:nvSpPr>
            <p:cNvPr id="18450" name="Rectangle 16"/>
            <p:cNvSpPr/>
            <p:nvPr/>
          </p:nvSpPr>
          <p:spPr>
            <a:xfrm>
              <a:off x="432" y="2544"/>
              <a:ext cx="480" cy="864"/>
            </a:xfrm>
            <a:prstGeom prst="rect">
              <a:avLst/>
            </a:prstGeom>
            <a:solidFill>
              <a:srgbClr val="FFCC99"/>
            </a:solidFill>
            <a:ln w="38100" cap="flat" cmpd="sng">
              <a:solidFill>
                <a:srgbClr val="990033"/>
              </a:solidFill>
              <a:prstDash val="solid"/>
              <a:miter/>
              <a:headEnd type="none" w="med" len="med"/>
              <a:tailEnd type="none" w="med" len="med"/>
            </a:ln>
          </p:spPr>
          <p:txBody>
            <a:bodyPr wrap="none" anchor="ctr" anchorCtr="0"/>
            <a:p>
              <a:pPr algn="ctr" eaLnBrk="1" hangingPunct="1"/>
              <a:r>
                <a:rPr lang="zh-CN" altLang="en-US" sz="2000" b="1" dirty="0">
                  <a:solidFill>
                    <a:srgbClr val="990033"/>
                  </a:solidFill>
                  <a:latin typeface="Times New Roman" panose="02020603050405020304" pitchFamily="18" charset="0"/>
                </a:rPr>
                <a:t>设</a:t>
              </a:r>
              <a:endParaRPr lang="zh-CN" altLang="en-US" sz="2000" b="1" dirty="0">
                <a:solidFill>
                  <a:srgbClr val="990033"/>
                </a:solidFill>
                <a:latin typeface="Times New Roman" panose="02020603050405020304" pitchFamily="18" charset="0"/>
              </a:endParaRPr>
            </a:p>
            <a:p>
              <a:pPr algn="ctr" eaLnBrk="1" hangingPunct="1"/>
              <a:r>
                <a:rPr lang="zh-CN" altLang="en-US" sz="2000" b="1" dirty="0">
                  <a:solidFill>
                    <a:srgbClr val="990033"/>
                  </a:solidFill>
                  <a:latin typeface="Times New Roman" panose="02020603050405020304" pitchFamily="18" charset="0"/>
                </a:rPr>
                <a:t>计</a:t>
              </a:r>
              <a:endParaRPr lang="zh-CN" altLang="en-US" sz="2000" b="1" dirty="0">
                <a:solidFill>
                  <a:srgbClr val="990033"/>
                </a:solidFill>
                <a:latin typeface="Times New Roman" panose="02020603050405020304" pitchFamily="18" charset="0"/>
              </a:endParaRPr>
            </a:p>
            <a:p>
              <a:pPr algn="ctr" eaLnBrk="1" hangingPunct="1"/>
              <a:r>
                <a:rPr lang="zh-CN" altLang="en-US" sz="2000" b="1" dirty="0">
                  <a:solidFill>
                    <a:srgbClr val="990033"/>
                  </a:solidFill>
                  <a:latin typeface="Times New Roman" panose="02020603050405020304" pitchFamily="18" charset="0"/>
                </a:rPr>
                <a:t>输</a:t>
              </a:r>
              <a:endParaRPr lang="zh-CN" altLang="en-US" sz="2000" b="1" dirty="0">
                <a:solidFill>
                  <a:srgbClr val="990033"/>
                </a:solidFill>
                <a:latin typeface="Times New Roman" panose="02020603050405020304" pitchFamily="18" charset="0"/>
              </a:endParaRPr>
            </a:p>
            <a:p>
              <a:pPr algn="ctr" eaLnBrk="1" hangingPunct="1"/>
              <a:r>
                <a:rPr lang="zh-CN" altLang="en-US" sz="2000" b="1" dirty="0">
                  <a:solidFill>
                    <a:srgbClr val="990033"/>
                  </a:solidFill>
                  <a:latin typeface="Times New Roman" panose="02020603050405020304" pitchFamily="18" charset="0"/>
                </a:rPr>
                <a:t>入</a:t>
              </a:r>
              <a:endParaRPr lang="zh-CN" altLang="en-US" sz="2000" b="1" dirty="0">
                <a:solidFill>
                  <a:srgbClr val="990033"/>
                </a:solidFill>
                <a:latin typeface="Times New Roman" panose="02020603050405020304" pitchFamily="18" charset="0"/>
              </a:endParaRPr>
            </a:p>
          </p:txBody>
        </p:sp>
        <p:sp>
          <p:nvSpPr>
            <p:cNvPr id="18451" name="Line 17"/>
            <p:cNvSpPr/>
            <p:nvPr/>
          </p:nvSpPr>
          <p:spPr>
            <a:xfrm>
              <a:off x="912" y="2976"/>
              <a:ext cx="288" cy="0"/>
            </a:xfrm>
            <a:prstGeom prst="line">
              <a:avLst/>
            </a:prstGeom>
            <a:ln w="38100" cap="flat" cmpd="sng">
              <a:solidFill>
                <a:srgbClr val="990033"/>
              </a:solidFill>
              <a:prstDash val="solid"/>
              <a:headEnd type="none" w="med" len="med"/>
              <a:tailEnd type="triangle" w="med" len="med"/>
            </a:ln>
          </p:spPr>
        </p:sp>
      </p:grpSp>
      <p:grpSp>
        <p:nvGrpSpPr>
          <p:cNvPr id="56338" name="Group 18"/>
          <p:cNvGrpSpPr/>
          <p:nvPr/>
        </p:nvGrpSpPr>
        <p:grpSpPr>
          <a:xfrm>
            <a:off x="3352800" y="4038600"/>
            <a:ext cx="1219200" cy="1371600"/>
            <a:chOff x="432" y="2544"/>
            <a:chExt cx="768" cy="864"/>
          </a:xfrm>
        </p:grpSpPr>
        <p:sp>
          <p:nvSpPr>
            <p:cNvPr id="18448" name="Rectangle 19"/>
            <p:cNvSpPr/>
            <p:nvPr/>
          </p:nvSpPr>
          <p:spPr>
            <a:xfrm>
              <a:off x="432" y="2544"/>
              <a:ext cx="480" cy="864"/>
            </a:xfrm>
            <a:prstGeom prst="rect">
              <a:avLst/>
            </a:prstGeom>
            <a:solidFill>
              <a:srgbClr val="FFCC99"/>
            </a:solidFill>
            <a:ln w="38100" cap="flat" cmpd="sng">
              <a:solidFill>
                <a:srgbClr val="990033"/>
              </a:solidFill>
              <a:prstDash val="solid"/>
              <a:miter/>
              <a:headEnd type="none" w="med" len="med"/>
              <a:tailEnd type="none" w="med" len="med"/>
            </a:ln>
          </p:spPr>
          <p:txBody>
            <a:bodyPr wrap="none" anchor="ctr" anchorCtr="0"/>
            <a:p>
              <a:pPr algn="ctr" eaLnBrk="1" hangingPunct="1"/>
              <a:r>
                <a:rPr lang="zh-CN" altLang="en-US" sz="2000" b="1" dirty="0">
                  <a:solidFill>
                    <a:srgbClr val="990033"/>
                  </a:solidFill>
                  <a:latin typeface="Times New Roman" panose="02020603050405020304" pitchFamily="18" charset="0"/>
                </a:rPr>
                <a:t>优</a:t>
              </a:r>
              <a:endParaRPr lang="zh-CN" altLang="en-US" sz="2000" b="1" dirty="0">
                <a:solidFill>
                  <a:srgbClr val="990033"/>
                </a:solidFill>
                <a:latin typeface="Times New Roman" panose="02020603050405020304" pitchFamily="18" charset="0"/>
              </a:endParaRPr>
            </a:p>
            <a:p>
              <a:pPr algn="ctr" eaLnBrk="1" hangingPunct="1"/>
              <a:r>
                <a:rPr lang="zh-CN" altLang="en-US" sz="2000" b="1" dirty="0">
                  <a:solidFill>
                    <a:srgbClr val="990033"/>
                  </a:solidFill>
                  <a:latin typeface="Times New Roman" panose="02020603050405020304" pitchFamily="18" charset="0"/>
                </a:rPr>
                <a:t>化</a:t>
              </a:r>
              <a:endParaRPr lang="zh-CN" altLang="en-US" sz="2000" b="1" dirty="0">
                <a:solidFill>
                  <a:srgbClr val="990033"/>
                </a:solidFill>
                <a:latin typeface="Times New Roman" panose="02020603050405020304" pitchFamily="18" charset="0"/>
              </a:endParaRPr>
            </a:p>
            <a:p>
              <a:pPr algn="ctr" eaLnBrk="1" hangingPunct="1"/>
              <a:r>
                <a:rPr lang="zh-CN" altLang="en-US" sz="2000" b="1" dirty="0">
                  <a:solidFill>
                    <a:srgbClr val="990033"/>
                  </a:solidFill>
                  <a:latin typeface="Times New Roman" panose="02020603050405020304" pitchFamily="18" charset="0"/>
                </a:rPr>
                <a:t>电</a:t>
              </a:r>
              <a:endParaRPr lang="zh-CN" altLang="en-US" sz="2000" b="1" dirty="0">
                <a:solidFill>
                  <a:srgbClr val="990033"/>
                </a:solidFill>
                <a:latin typeface="Times New Roman" panose="02020603050405020304" pitchFamily="18" charset="0"/>
              </a:endParaRPr>
            </a:p>
            <a:p>
              <a:pPr algn="ctr" eaLnBrk="1" hangingPunct="1"/>
              <a:r>
                <a:rPr lang="zh-CN" altLang="en-US" sz="2000" b="1" dirty="0">
                  <a:solidFill>
                    <a:srgbClr val="990033"/>
                  </a:solidFill>
                  <a:latin typeface="Times New Roman" panose="02020603050405020304" pitchFamily="18" charset="0"/>
                </a:rPr>
                <a:t>路</a:t>
              </a:r>
              <a:endParaRPr lang="zh-CN" altLang="en-US" sz="2000" b="1" dirty="0">
                <a:solidFill>
                  <a:srgbClr val="990033"/>
                </a:solidFill>
                <a:latin typeface="Times New Roman" panose="02020603050405020304" pitchFamily="18" charset="0"/>
              </a:endParaRPr>
            </a:p>
          </p:txBody>
        </p:sp>
        <p:sp>
          <p:nvSpPr>
            <p:cNvPr id="18449" name="Line 20"/>
            <p:cNvSpPr/>
            <p:nvPr/>
          </p:nvSpPr>
          <p:spPr>
            <a:xfrm>
              <a:off x="912" y="2976"/>
              <a:ext cx="288" cy="0"/>
            </a:xfrm>
            <a:prstGeom prst="line">
              <a:avLst/>
            </a:prstGeom>
            <a:ln w="38100" cap="flat" cmpd="sng">
              <a:solidFill>
                <a:srgbClr val="990033"/>
              </a:solidFill>
              <a:prstDash val="solid"/>
              <a:headEnd type="none" w="med" len="med"/>
              <a:tailEnd type="triangle" w="med" len="med"/>
            </a:ln>
          </p:spPr>
        </p:sp>
      </p:grpSp>
      <p:grpSp>
        <p:nvGrpSpPr>
          <p:cNvPr id="56341" name="Group 21"/>
          <p:cNvGrpSpPr/>
          <p:nvPr/>
        </p:nvGrpSpPr>
        <p:grpSpPr>
          <a:xfrm>
            <a:off x="4572000" y="4038600"/>
            <a:ext cx="1219200" cy="1371600"/>
            <a:chOff x="432" y="2544"/>
            <a:chExt cx="768" cy="864"/>
          </a:xfrm>
        </p:grpSpPr>
        <p:sp>
          <p:nvSpPr>
            <p:cNvPr id="18446" name="Rectangle 22"/>
            <p:cNvSpPr/>
            <p:nvPr/>
          </p:nvSpPr>
          <p:spPr>
            <a:xfrm>
              <a:off x="432" y="2544"/>
              <a:ext cx="480" cy="864"/>
            </a:xfrm>
            <a:prstGeom prst="rect">
              <a:avLst/>
            </a:prstGeom>
            <a:solidFill>
              <a:srgbClr val="FFCC99"/>
            </a:solidFill>
            <a:ln w="38100" cap="flat" cmpd="sng">
              <a:solidFill>
                <a:srgbClr val="990033"/>
              </a:solidFill>
              <a:prstDash val="solid"/>
              <a:miter/>
              <a:headEnd type="none" w="med" len="med"/>
              <a:tailEnd type="none" w="med" len="med"/>
            </a:ln>
          </p:spPr>
          <p:txBody>
            <a:bodyPr wrap="none" anchor="ctr" anchorCtr="0"/>
            <a:p>
              <a:pPr algn="ctr" eaLnBrk="1" hangingPunct="1"/>
              <a:r>
                <a:rPr lang="zh-CN" altLang="en-US" sz="2000" b="1" dirty="0">
                  <a:solidFill>
                    <a:srgbClr val="990033"/>
                  </a:solidFill>
                  <a:latin typeface="Times New Roman" panose="02020603050405020304" pitchFamily="18" charset="0"/>
                </a:rPr>
                <a:t>选</a:t>
              </a:r>
              <a:endParaRPr lang="zh-CN" altLang="en-US" sz="2000" b="1" dirty="0">
                <a:solidFill>
                  <a:srgbClr val="990033"/>
                </a:solidFill>
                <a:latin typeface="Times New Roman" panose="02020603050405020304" pitchFamily="18" charset="0"/>
              </a:endParaRPr>
            </a:p>
            <a:p>
              <a:pPr algn="ctr" eaLnBrk="1" hangingPunct="1"/>
              <a:r>
                <a:rPr lang="zh-CN" altLang="en-US" sz="2000" b="1" dirty="0">
                  <a:solidFill>
                    <a:srgbClr val="990033"/>
                  </a:solidFill>
                  <a:latin typeface="Times New Roman" panose="02020603050405020304" pitchFamily="18" charset="0"/>
                </a:rPr>
                <a:t>择</a:t>
              </a:r>
              <a:endParaRPr lang="zh-CN" altLang="en-US" sz="2000" b="1" dirty="0">
                <a:solidFill>
                  <a:srgbClr val="990033"/>
                </a:solidFill>
                <a:latin typeface="Times New Roman" panose="02020603050405020304" pitchFamily="18" charset="0"/>
              </a:endParaRPr>
            </a:p>
            <a:p>
              <a:pPr algn="ctr" eaLnBrk="1" hangingPunct="1"/>
              <a:r>
                <a:rPr lang="zh-CN" altLang="en-US" sz="2000" b="1" dirty="0">
                  <a:solidFill>
                    <a:srgbClr val="990033"/>
                  </a:solidFill>
                  <a:latin typeface="Times New Roman" panose="02020603050405020304" pitchFamily="18" charset="0"/>
                </a:rPr>
                <a:t>器</a:t>
              </a:r>
              <a:endParaRPr lang="zh-CN" altLang="en-US" sz="2000" b="1" dirty="0">
                <a:solidFill>
                  <a:srgbClr val="990033"/>
                </a:solidFill>
                <a:latin typeface="Times New Roman" panose="02020603050405020304" pitchFamily="18" charset="0"/>
              </a:endParaRPr>
            </a:p>
            <a:p>
              <a:pPr algn="ctr" eaLnBrk="1" hangingPunct="1"/>
              <a:r>
                <a:rPr lang="zh-CN" altLang="en-US" sz="2000" b="1" dirty="0">
                  <a:solidFill>
                    <a:srgbClr val="990033"/>
                  </a:solidFill>
                  <a:latin typeface="Times New Roman" panose="02020603050405020304" pitchFamily="18" charset="0"/>
                </a:rPr>
                <a:t>件</a:t>
              </a:r>
              <a:endParaRPr lang="zh-CN" altLang="en-US" sz="2000" b="1" dirty="0">
                <a:solidFill>
                  <a:srgbClr val="990033"/>
                </a:solidFill>
                <a:latin typeface="Times New Roman" panose="02020603050405020304" pitchFamily="18" charset="0"/>
              </a:endParaRPr>
            </a:p>
          </p:txBody>
        </p:sp>
        <p:sp>
          <p:nvSpPr>
            <p:cNvPr id="18447" name="Line 23"/>
            <p:cNvSpPr/>
            <p:nvPr/>
          </p:nvSpPr>
          <p:spPr>
            <a:xfrm>
              <a:off x="912" y="2976"/>
              <a:ext cx="288" cy="0"/>
            </a:xfrm>
            <a:prstGeom prst="line">
              <a:avLst/>
            </a:prstGeom>
            <a:ln w="38100" cap="flat" cmpd="sng">
              <a:solidFill>
                <a:srgbClr val="990033"/>
              </a:solidFill>
              <a:prstDash val="solid"/>
              <a:headEnd type="none" w="med" len="med"/>
              <a:tailEnd type="triangle" w="med" len="med"/>
            </a:ln>
          </p:spPr>
        </p:sp>
      </p:grpSp>
      <p:grpSp>
        <p:nvGrpSpPr>
          <p:cNvPr id="56344" name="Group 24"/>
          <p:cNvGrpSpPr/>
          <p:nvPr/>
        </p:nvGrpSpPr>
        <p:grpSpPr>
          <a:xfrm>
            <a:off x="5791200" y="4038600"/>
            <a:ext cx="1219200" cy="1371600"/>
            <a:chOff x="432" y="2544"/>
            <a:chExt cx="768" cy="864"/>
          </a:xfrm>
        </p:grpSpPr>
        <p:sp>
          <p:nvSpPr>
            <p:cNvPr id="18444" name="Rectangle 25"/>
            <p:cNvSpPr/>
            <p:nvPr/>
          </p:nvSpPr>
          <p:spPr>
            <a:xfrm>
              <a:off x="432" y="2544"/>
              <a:ext cx="480" cy="864"/>
            </a:xfrm>
            <a:prstGeom prst="rect">
              <a:avLst/>
            </a:prstGeom>
            <a:solidFill>
              <a:srgbClr val="FFCC99"/>
            </a:solidFill>
            <a:ln w="38100" cap="flat" cmpd="sng">
              <a:solidFill>
                <a:srgbClr val="990033"/>
              </a:solidFill>
              <a:prstDash val="solid"/>
              <a:miter/>
              <a:headEnd type="none" w="med" len="med"/>
              <a:tailEnd type="none" w="med" len="med"/>
            </a:ln>
          </p:spPr>
          <p:txBody>
            <a:bodyPr wrap="none" anchor="ctr" anchorCtr="0"/>
            <a:p>
              <a:pPr algn="ctr" eaLnBrk="1" hangingPunct="1"/>
              <a:r>
                <a:rPr lang="zh-CN" altLang="en-US" sz="2000" b="1" dirty="0">
                  <a:solidFill>
                    <a:srgbClr val="990033"/>
                  </a:solidFill>
                  <a:latin typeface="Times New Roman" panose="02020603050405020304" pitchFamily="18" charset="0"/>
                </a:rPr>
                <a:t>编</a:t>
              </a:r>
              <a:endParaRPr lang="zh-CN" altLang="en-US" sz="2000" b="1" dirty="0">
                <a:solidFill>
                  <a:srgbClr val="990033"/>
                </a:solidFill>
                <a:latin typeface="Times New Roman" panose="02020603050405020304" pitchFamily="18" charset="0"/>
              </a:endParaRPr>
            </a:p>
            <a:p>
              <a:pPr algn="ctr" eaLnBrk="1" hangingPunct="1"/>
              <a:r>
                <a:rPr lang="zh-CN" altLang="en-US" sz="2000" b="1" dirty="0">
                  <a:solidFill>
                    <a:srgbClr val="990033"/>
                  </a:solidFill>
                  <a:latin typeface="Times New Roman" panose="02020603050405020304" pitchFamily="18" charset="0"/>
                </a:rPr>
                <a:t>程</a:t>
              </a:r>
              <a:endParaRPr lang="zh-CN" altLang="en-US" sz="2000" b="1" dirty="0">
                <a:solidFill>
                  <a:srgbClr val="990033"/>
                </a:solidFill>
                <a:latin typeface="Times New Roman" panose="02020603050405020304" pitchFamily="18" charset="0"/>
              </a:endParaRPr>
            </a:p>
          </p:txBody>
        </p:sp>
        <p:sp>
          <p:nvSpPr>
            <p:cNvPr id="18445" name="Line 26"/>
            <p:cNvSpPr/>
            <p:nvPr/>
          </p:nvSpPr>
          <p:spPr>
            <a:xfrm>
              <a:off x="912" y="2976"/>
              <a:ext cx="288" cy="0"/>
            </a:xfrm>
            <a:prstGeom prst="line">
              <a:avLst/>
            </a:prstGeom>
            <a:ln w="38100" cap="flat" cmpd="sng">
              <a:solidFill>
                <a:srgbClr val="990033"/>
              </a:solidFill>
              <a:prstDash val="solid"/>
              <a:headEnd type="none" w="med" len="med"/>
              <a:tailEnd type="triangle" w="med" len="med"/>
            </a:ln>
          </p:spPr>
        </p:sp>
      </p:grpSp>
      <p:sp>
        <p:nvSpPr>
          <p:cNvPr id="56348" name="Rectangle 28"/>
          <p:cNvSpPr/>
          <p:nvPr/>
        </p:nvSpPr>
        <p:spPr>
          <a:xfrm>
            <a:off x="7010400" y="4038600"/>
            <a:ext cx="762000" cy="1371600"/>
          </a:xfrm>
          <a:prstGeom prst="rect">
            <a:avLst/>
          </a:prstGeom>
          <a:solidFill>
            <a:srgbClr val="FFCC99"/>
          </a:solidFill>
          <a:ln w="38100" cap="flat" cmpd="sng">
            <a:solidFill>
              <a:srgbClr val="990033"/>
            </a:solidFill>
            <a:prstDash val="solid"/>
            <a:miter/>
            <a:headEnd type="none" w="med" len="med"/>
            <a:tailEnd type="none" w="med" len="med"/>
          </a:ln>
        </p:spPr>
        <p:txBody>
          <a:bodyPr wrap="none" anchor="ctr" anchorCtr="0"/>
          <a:p>
            <a:pPr eaLnBrk="1" hangingPunct="1"/>
            <a:r>
              <a:rPr lang="en-US" altLang="zh-CN" sz="2000" b="1" dirty="0">
                <a:solidFill>
                  <a:srgbClr val="990033"/>
                </a:solidFill>
                <a:latin typeface="Times New Roman" panose="02020603050405020304" pitchFamily="18" charset="0"/>
              </a:rPr>
              <a:t> </a:t>
            </a:r>
            <a:r>
              <a:rPr lang="zh-CN" altLang="en-US" sz="2000" b="1" dirty="0">
                <a:solidFill>
                  <a:srgbClr val="990033"/>
                </a:solidFill>
                <a:latin typeface="Times New Roman" panose="02020603050405020304" pitchFamily="18" charset="0"/>
              </a:rPr>
              <a:t>器时</a:t>
            </a:r>
            <a:endParaRPr lang="zh-CN" altLang="en-US" sz="2000" b="1" dirty="0">
              <a:solidFill>
                <a:srgbClr val="990033"/>
              </a:solidFill>
              <a:latin typeface="Times New Roman" panose="02020603050405020304" pitchFamily="18" charset="0"/>
            </a:endParaRPr>
          </a:p>
          <a:p>
            <a:pPr eaLnBrk="1" hangingPunct="1"/>
            <a:r>
              <a:rPr lang="zh-CN" altLang="en-US" sz="2000" b="1" dirty="0">
                <a:solidFill>
                  <a:srgbClr val="990033"/>
                </a:solidFill>
                <a:latin typeface="Times New Roman" panose="02020603050405020304" pitchFamily="18" charset="0"/>
              </a:rPr>
              <a:t> 件序</a:t>
            </a:r>
            <a:endParaRPr lang="zh-CN" altLang="en-US" sz="2000" b="1" dirty="0">
              <a:solidFill>
                <a:srgbClr val="990033"/>
              </a:solidFill>
              <a:latin typeface="Times New Roman" panose="02020603050405020304" pitchFamily="18" charset="0"/>
            </a:endParaRPr>
          </a:p>
          <a:p>
            <a:pPr eaLnBrk="1" hangingPunct="1"/>
            <a:r>
              <a:rPr lang="zh-CN" altLang="en-US" sz="2000" b="1" dirty="0">
                <a:solidFill>
                  <a:srgbClr val="990033"/>
                </a:solidFill>
                <a:latin typeface="Times New Roman" panose="02020603050405020304" pitchFamily="18" charset="0"/>
              </a:rPr>
              <a:t> 功检</a:t>
            </a:r>
            <a:endParaRPr lang="zh-CN" altLang="en-US" sz="2000" b="1" dirty="0">
              <a:solidFill>
                <a:srgbClr val="990033"/>
              </a:solidFill>
              <a:latin typeface="Times New Roman" panose="02020603050405020304" pitchFamily="18" charset="0"/>
            </a:endParaRPr>
          </a:p>
          <a:p>
            <a:pPr eaLnBrk="1" hangingPunct="1"/>
            <a:r>
              <a:rPr lang="zh-CN" altLang="en-US" sz="2000" b="1" dirty="0">
                <a:solidFill>
                  <a:srgbClr val="990033"/>
                </a:solidFill>
                <a:latin typeface="Times New Roman" panose="02020603050405020304" pitchFamily="18" charset="0"/>
              </a:rPr>
              <a:t> 能查</a:t>
            </a:r>
            <a:endParaRPr lang="zh-CN" altLang="en-US" sz="2000" b="1" dirty="0">
              <a:solidFill>
                <a:srgbClr val="990033"/>
              </a:solidFill>
              <a:latin typeface="Times New Roman" panose="02020603050405020304" pitchFamily="18" charset="0"/>
            </a:endParaRPr>
          </a:p>
        </p:txBody>
      </p:sp>
      <p:sp>
        <p:nvSpPr>
          <p:cNvPr id="56350" name="Text Box 30"/>
          <p:cNvSpPr txBox="1"/>
          <p:nvPr/>
        </p:nvSpPr>
        <p:spPr>
          <a:xfrm>
            <a:off x="381000" y="2079625"/>
            <a:ext cx="7543800" cy="968375"/>
          </a:xfrm>
          <a:prstGeom prst="rect">
            <a:avLst/>
          </a:prstGeom>
          <a:noFill/>
          <a:ln w="9525">
            <a:noFill/>
          </a:ln>
        </p:spPr>
        <p:txBody>
          <a:bodyPr>
            <a:spAutoFit/>
          </a:bodyPr>
          <a:p>
            <a:pPr eaLnBrk="1" hangingPunct="1">
              <a:lnSpc>
                <a:spcPct val="120000"/>
              </a:lnSpc>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特别是一些较高级的软件平台，一个系统除了方案设计和输入电路外，其它功能都可用编程软件自动完成。</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330"/>
                                        </p:tgtEl>
                                        <p:attrNameLst>
                                          <p:attrName>style.visibility</p:attrName>
                                        </p:attrNameLst>
                                      </p:cBhvr>
                                      <p:to>
                                        <p:strVal val="visible"/>
                                      </p:to>
                                    </p:set>
                                    <p:animEffect transition="in" filter="wipe(left)">
                                      <p:cBhvr>
                                        <p:cTn id="7" dur="500"/>
                                        <p:tgtEl>
                                          <p:spTgt spid="5633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5635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grpId="0" nodeType="clickEffect">
                                  <p:stCondLst>
                                    <p:cond delay="0"/>
                                  </p:stCondLst>
                                  <p:childTnLst>
                                    <p:set>
                                      <p:cBhvr>
                                        <p:cTn id="15" dur="1" fill="hold">
                                          <p:stCondLst>
                                            <p:cond delay="0"/>
                                          </p:stCondLst>
                                        </p:cTn>
                                        <p:tgtEl>
                                          <p:spTgt spid="56331"/>
                                        </p:tgtEl>
                                        <p:attrNameLst>
                                          <p:attrName>style.visibility</p:attrName>
                                        </p:attrNameLst>
                                      </p:cBhvr>
                                      <p:to>
                                        <p:strVal val="visible"/>
                                      </p:to>
                                    </p:set>
                                    <p:anim calcmode="lin" valueType="num">
                                      <p:cBhvr additive="base">
                                        <p:cTn id="16" dur="500" fill="hold"/>
                                        <p:tgtEl>
                                          <p:spTgt spid="56331"/>
                                        </p:tgtEl>
                                        <p:attrNameLst>
                                          <p:attrName>ppt_x</p:attrName>
                                        </p:attrNameLst>
                                      </p:cBhvr>
                                      <p:tavLst>
                                        <p:tav tm="0">
                                          <p:val>
                                            <p:strVal val="1+#ppt_w/2"/>
                                          </p:val>
                                        </p:tav>
                                        <p:tav tm="100000">
                                          <p:val>
                                            <p:strVal val="#ppt_x"/>
                                          </p:val>
                                        </p:tav>
                                      </p:tavLst>
                                    </p:anim>
                                    <p:anim calcmode="lin" valueType="num">
                                      <p:cBhvr additive="base">
                                        <p:cTn id="17" dur="500" fill="hold"/>
                                        <p:tgtEl>
                                          <p:spTgt spid="56331"/>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6334"/>
                                        </p:tgtEl>
                                        <p:attrNameLst>
                                          <p:attrName>style.visibility</p:attrName>
                                        </p:attrNameLst>
                                      </p:cBhvr>
                                      <p:to>
                                        <p:strVal val="visible"/>
                                      </p:to>
                                    </p:set>
                                    <p:animEffect transition="in" filter="wipe(left)">
                                      <p:cBhvr>
                                        <p:cTn id="22" dur="500"/>
                                        <p:tgtEl>
                                          <p:spTgt spid="563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6335"/>
                                        </p:tgtEl>
                                        <p:attrNameLst>
                                          <p:attrName>style.visibility</p:attrName>
                                        </p:attrNameLst>
                                      </p:cBhvr>
                                      <p:to>
                                        <p:strVal val="visible"/>
                                      </p:to>
                                    </p:set>
                                    <p:animEffect transition="in" filter="wipe(left)">
                                      <p:cBhvr>
                                        <p:cTn id="27" dur="500"/>
                                        <p:tgtEl>
                                          <p:spTgt spid="5633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6338"/>
                                        </p:tgtEl>
                                        <p:attrNameLst>
                                          <p:attrName>style.visibility</p:attrName>
                                        </p:attrNameLst>
                                      </p:cBhvr>
                                      <p:to>
                                        <p:strVal val="visible"/>
                                      </p:to>
                                    </p:set>
                                    <p:animEffect transition="in" filter="wipe(left)">
                                      <p:cBhvr>
                                        <p:cTn id="32" dur="500"/>
                                        <p:tgtEl>
                                          <p:spTgt spid="5633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6341"/>
                                        </p:tgtEl>
                                        <p:attrNameLst>
                                          <p:attrName>style.visibility</p:attrName>
                                        </p:attrNameLst>
                                      </p:cBhvr>
                                      <p:to>
                                        <p:strVal val="visible"/>
                                      </p:to>
                                    </p:set>
                                    <p:animEffect transition="in" filter="wipe(left)">
                                      <p:cBhvr>
                                        <p:cTn id="37" dur="500"/>
                                        <p:tgtEl>
                                          <p:spTgt spid="5634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6344"/>
                                        </p:tgtEl>
                                        <p:attrNameLst>
                                          <p:attrName>style.visibility</p:attrName>
                                        </p:attrNameLst>
                                      </p:cBhvr>
                                      <p:to>
                                        <p:strVal val="visible"/>
                                      </p:to>
                                    </p:set>
                                    <p:animEffect transition="in" filter="wipe(left)">
                                      <p:cBhvr>
                                        <p:cTn id="42" dur="500"/>
                                        <p:tgtEl>
                                          <p:spTgt spid="56344"/>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56348"/>
                                        </p:tgtEl>
                                        <p:attrNameLst>
                                          <p:attrName>style.visibility</p:attrName>
                                        </p:attrNameLst>
                                      </p:cBhvr>
                                      <p:to>
                                        <p:strVal val="visible"/>
                                      </p:to>
                                    </p:set>
                                    <p:anim calcmode="lin" valueType="num">
                                      <p:cBhvr additive="base">
                                        <p:cTn id="47" dur="500" fill="hold"/>
                                        <p:tgtEl>
                                          <p:spTgt spid="56348"/>
                                        </p:tgtEl>
                                        <p:attrNameLst>
                                          <p:attrName>ppt_x</p:attrName>
                                        </p:attrNameLst>
                                      </p:cBhvr>
                                      <p:tavLst>
                                        <p:tav tm="0">
                                          <p:val>
                                            <p:strVal val="1+#ppt_w/2"/>
                                          </p:val>
                                        </p:tav>
                                        <p:tav tm="100000">
                                          <p:val>
                                            <p:strVal val="#ppt_x"/>
                                          </p:val>
                                        </p:tav>
                                      </p:tavLst>
                                    </p:anim>
                                    <p:anim calcmode="lin" valueType="num">
                                      <p:cBhvr additive="base">
                                        <p:cTn id="48" dur="500" fill="hold"/>
                                        <p:tgtEl>
                                          <p:spTgt spid="563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0" grpId="0"/>
      <p:bldP spid="56331" grpId="0"/>
      <p:bldP spid="56348" grpId="0" animBg="1"/>
      <p:bldP spid="5635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9"/>
          <p:cNvSpPr>
            <a:spLocks noGrp="1"/>
          </p:cNvSpPr>
          <p:nvPr>
            <p:ph type="title"/>
          </p:nvPr>
        </p:nvSpPr>
        <p:spPr>
          <a:xfrm>
            <a:off x="457200" y="152400"/>
            <a:ext cx="8458200" cy="609600"/>
          </a:xfrm>
          <a:solidFill>
            <a:srgbClr val="FF0066">
              <a:alpha val="100000"/>
            </a:srgbClr>
          </a:solidFill>
          <a:ln>
            <a:miter/>
          </a:ln>
          <a:scene3d>
            <a:camera prst="legacyObliqueBottomLeft">
              <a:rot lat="0" lon="0" rev="0"/>
            </a:camera>
            <a:lightRig rig="legacyFlat3" dir="t"/>
          </a:scene3d>
          <a:sp3d extrusionH="430200" prstMaterial="legacyMatte">
            <a:bevelT w="13500" h="13500" prst="angle"/>
            <a:bevelB w="13500" h="13500" prst="angle"/>
            <a:extrusionClr>
              <a:srgbClr val="FF0066"/>
            </a:extrusionClr>
          </a:sp3d>
        </p:spPr>
        <p:txBody>
          <a:bodyPr vert="horz" wrap="square" lIns="91440" tIns="45720" rIns="91440" bIns="45720" anchor="ctr" anchorCtr="0">
            <a:flatTx/>
          </a:bodyPr>
          <a:p>
            <a:pPr eaLnBrk="1" hangingPunct="1"/>
            <a:r>
              <a:rPr lang="en-US" altLang="zh-CN" sz="3600" b="1" dirty="0">
                <a:solidFill>
                  <a:srgbClr val="FFFF66"/>
                </a:solidFill>
              </a:rPr>
              <a:t>§8-2</a:t>
            </a:r>
            <a:r>
              <a:rPr lang="en-US" altLang="zh-CN" sz="3600" b="1" dirty="0">
                <a:solidFill>
                  <a:srgbClr val="FFCC00"/>
                </a:solidFill>
              </a:rPr>
              <a:t>     </a:t>
            </a:r>
            <a:r>
              <a:rPr lang="zh-CN" altLang="en-US" sz="3600" b="1" dirty="0">
                <a:solidFill>
                  <a:srgbClr val="FFFF99"/>
                </a:solidFill>
              </a:rPr>
              <a:t>可编程逻辑器件</a:t>
            </a:r>
            <a:r>
              <a:rPr lang="en-US" altLang="zh-CN" sz="3600" b="1" dirty="0">
                <a:solidFill>
                  <a:srgbClr val="FFFF99"/>
                </a:solidFill>
              </a:rPr>
              <a:t>PLD</a:t>
            </a:r>
            <a:r>
              <a:rPr lang="zh-CN" altLang="en-US" sz="3600" b="1" dirty="0">
                <a:solidFill>
                  <a:srgbClr val="FFFF99"/>
                </a:solidFill>
              </a:rPr>
              <a:t>的基本单元</a:t>
            </a:r>
            <a:endParaRPr lang="zh-CN" altLang="en-US" b="1" dirty="0">
              <a:solidFill>
                <a:srgbClr val="FFFF99"/>
              </a:solidFill>
            </a:endParaRPr>
          </a:p>
        </p:txBody>
      </p:sp>
      <p:sp>
        <p:nvSpPr>
          <p:cNvPr id="58378" name="Text Box 10"/>
          <p:cNvSpPr txBox="1"/>
          <p:nvPr/>
        </p:nvSpPr>
        <p:spPr>
          <a:xfrm>
            <a:off x="0" y="1143000"/>
            <a:ext cx="6858000" cy="457200"/>
          </a:xfrm>
          <a:prstGeom prst="rect">
            <a:avLst/>
          </a:prstGeom>
          <a:noFill/>
          <a:ln w="9525">
            <a:noFill/>
          </a:ln>
        </p:spPr>
        <p:txBody>
          <a:bodyPr>
            <a:spAutoFit/>
          </a:bodyPr>
          <a:p>
            <a:pPr lvl="1" algn="l" eaLnBrk="1" hangingPunct="1"/>
            <a:r>
              <a:rPr lang="zh-CN" altLang="en-US" sz="2400" b="1" dirty="0">
                <a:solidFill>
                  <a:srgbClr val="990033"/>
                </a:solidFill>
                <a:latin typeface="Times New Roman" panose="02020603050405020304" pitchFamily="18" charset="0"/>
              </a:rPr>
              <a:t>编程单元：</a:t>
            </a:r>
            <a:r>
              <a:rPr lang="en-US" altLang="zh-CN" sz="2400" b="1" dirty="0">
                <a:latin typeface="Times New Roman" panose="02020603050405020304" pitchFamily="18" charset="0"/>
              </a:rPr>
              <a:t>PLD</a:t>
            </a:r>
            <a:r>
              <a:rPr lang="zh-CN" altLang="en-US" sz="2400" b="1" dirty="0">
                <a:latin typeface="Times New Roman" panose="02020603050405020304" pitchFamily="18" charset="0"/>
              </a:rPr>
              <a:t>中用来存放数据的基本单元</a:t>
            </a:r>
            <a:endParaRPr lang="zh-CN" altLang="en-US" sz="2400" b="1" dirty="0">
              <a:latin typeface="Times New Roman" panose="02020603050405020304" pitchFamily="18" charset="0"/>
            </a:endParaRPr>
          </a:p>
        </p:txBody>
      </p:sp>
      <p:sp>
        <p:nvSpPr>
          <p:cNvPr id="58381" name="Text Box 13"/>
          <p:cNvSpPr txBox="1"/>
          <p:nvPr/>
        </p:nvSpPr>
        <p:spPr>
          <a:xfrm>
            <a:off x="2895600" y="3200400"/>
            <a:ext cx="6019800" cy="1187450"/>
          </a:xfrm>
          <a:prstGeom prst="rect">
            <a:avLst/>
          </a:prstGeom>
          <a:noFill/>
          <a:ln w="9525">
            <a:noFill/>
          </a:ln>
        </p:spPr>
        <p:txBody>
          <a:bodyPr>
            <a:spAutoFit/>
          </a:bodyPr>
          <a:p>
            <a:pPr eaLnBrk="1" hangingPunct="1"/>
            <a:r>
              <a:rPr lang="zh-CN" altLang="en-US" sz="2400" b="1" dirty="0">
                <a:latin typeface="Times New Roman" panose="02020603050405020304" pitchFamily="18" charset="0"/>
              </a:rPr>
              <a:t>非易失性有多种编程单元，其特点为掉电后信息不会丢失，它一般用于只读存储器</a:t>
            </a:r>
            <a:r>
              <a:rPr lang="en-US" altLang="zh-CN" sz="2400" b="1" dirty="0">
                <a:latin typeface="Times New Roman" panose="02020603050405020304" pitchFamily="18" charset="0"/>
              </a:rPr>
              <a:t>ROM</a:t>
            </a:r>
            <a:r>
              <a:rPr lang="zh-CN" altLang="en-US" sz="2400" b="1" dirty="0">
                <a:latin typeface="Times New Roman" panose="02020603050405020304" pitchFamily="18" charset="0"/>
              </a:rPr>
              <a:t>。</a:t>
            </a:r>
            <a:endParaRPr lang="zh-CN" altLang="en-US" b="1" dirty="0">
              <a:latin typeface="Times New Roman" panose="02020603050405020304" pitchFamily="18" charset="0"/>
            </a:endParaRPr>
          </a:p>
        </p:txBody>
      </p:sp>
      <p:sp>
        <p:nvSpPr>
          <p:cNvPr id="58386" name="Text Box 18"/>
          <p:cNvSpPr txBox="1"/>
          <p:nvPr/>
        </p:nvSpPr>
        <p:spPr>
          <a:xfrm>
            <a:off x="914400" y="1828800"/>
            <a:ext cx="2000250" cy="457200"/>
          </a:xfrm>
          <a:prstGeom prst="rect">
            <a:avLst/>
          </a:prstGeom>
          <a:noFill/>
          <a:ln w="9525">
            <a:noFill/>
          </a:ln>
        </p:spPr>
        <p:txBody>
          <a:bodyPr wrap="none">
            <a:spAutoFit/>
          </a:bodyPr>
          <a:p>
            <a:pPr algn="ctr" eaLnBrk="1" hangingPunct="1"/>
            <a:r>
              <a:rPr lang="zh-CN" altLang="en-US" sz="2400" b="1" dirty="0">
                <a:solidFill>
                  <a:srgbClr val="990033"/>
                </a:solidFill>
                <a:latin typeface="Times New Roman" panose="02020603050405020304" pitchFamily="18" charset="0"/>
              </a:rPr>
              <a:t>易失性单元：</a:t>
            </a:r>
            <a:endParaRPr lang="zh-CN" altLang="en-US" sz="2400" b="1" dirty="0">
              <a:solidFill>
                <a:srgbClr val="990033"/>
              </a:solidFill>
              <a:latin typeface="Times New Roman" panose="02020603050405020304" pitchFamily="18" charset="0"/>
            </a:endParaRPr>
          </a:p>
        </p:txBody>
      </p:sp>
      <p:sp>
        <p:nvSpPr>
          <p:cNvPr id="58387" name="Text Box 19"/>
          <p:cNvSpPr txBox="1"/>
          <p:nvPr/>
        </p:nvSpPr>
        <p:spPr>
          <a:xfrm>
            <a:off x="2590800" y="1752600"/>
            <a:ext cx="6324600" cy="1827213"/>
          </a:xfrm>
          <a:prstGeom prst="rect">
            <a:avLst/>
          </a:prstGeom>
          <a:noFill/>
          <a:ln w="9525">
            <a:noFill/>
          </a:ln>
        </p:spPr>
        <p:txBody>
          <a:bodyPr>
            <a:spAutoFit/>
          </a:bodyPr>
          <a:p>
            <a:pPr algn="just" eaLnBrk="1" hangingPunct="1"/>
            <a:r>
              <a:rPr lang="zh-CN" altLang="en-US" sz="2400" b="1" dirty="0">
                <a:latin typeface="Times New Roman" panose="02020603050405020304" pitchFamily="18" charset="0"/>
              </a:rPr>
              <a:t>这种基本单元采用的是静态随机存储器（</a:t>
            </a:r>
            <a:r>
              <a:rPr lang="en-US" altLang="zh-CN" sz="2400" b="1" dirty="0">
                <a:latin typeface="Times New Roman" panose="02020603050405020304" pitchFamily="18" charset="0"/>
              </a:rPr>
              <a:t>SRAM</a:t>
            </a:r>
            <a:r>
              <a:rPr lang="zh-CN" altLang="en-US" sz="2400" b="1" dirty="0">
                <a:latin typeface="Times New Roman" panose="02020603050405020304" pitchFamily="18" charset="0"/>
              </a:rPr>
              <a:t>）结构，其特点为掉电以后信息就要丢失，现场可编程门阵列（</a:t>
            </a:r>
            <a:r>
              <a:rPr lang="en-US" altLang="zh-CN" sz="2400" b="1" dirty="0">
                <a:latin typeface="Times New Roman" panose="02020603050405020304" pitchFamily="18" charset="0"/>
              </a:rPr>
              <a:t>FPGA</a:t>
            </a:r>
            <a:r>
              <a:rPr lang="zh-CN" altLang="en-US" sz="2400" b="1" dirty="0">
                <a:latin typeface="Times New Roman" panose="02020603050405020304" pitchFamily="18" charset="0"/>
              </a:rPr>
              <a:t>）采用这种编程单元。</a:t>
            </a:r>
            <a:endParaRPr lang="zh-CN" altLang="en-US" sz="2400" b="1" dirty="0">
              <a:latin typeface="Times New Roman" panose="02020603050405020304" pitchFamily="18" charset="0"/>
            </a:endParaRPr>
          </a:p>
          <a:p>
            <a:pPr algn="ctr" eaLnBrk="1" hangingPunct="1"/>
            <a:endParaRPr lang="en-US" altLang="zh-CN" dirty="0">
              <a:latin typeface="Times New Roman" panose="02020603050405020304" pitchFamily="18" charset="0"/>
            </a:endParaRPr>
          </a:p>
        </p:txBody>
      </p:sp>
      <p:sp>
        <p:nvSpPr>
          <p:cNvPr id="58388" name="Text Box 20"/>
          <p:cNvSpPr txBox="1"/>
          <p:nvPr/>
        </p:nvSpPr>
        <p:spPr>
          <a:xfrm>
            <a:off x="822325" y="3200400"/>
            <a:ext cx="2301875" cy="457200"/>
          </a:xfrm>
          <a:prstGeom prst="rect">
            <a:avLst/>
          </a:prstGeom>
          <a:noFill/>
          <a:ln w="9525">
            <a:noFill/>
          </a:ln>
        </p:spPr>
        <p:txBody>
          <a:bodyPr wrap="none">
            <a:spAutoFit/>
          </a:bodyPr>
          <a:p>
            <a:pPr algn="ctr" eaLnBrk="1" hangingPunct="1"/>
            <a:r>
              <a:rPr lang="zh-CN" altLang="en-US" sz="2400" b="1" dirty="0">
                <a:solidFill>
                  <a:srgbClr val="990033"/>
                </a:solidFill>
                <a:latin typeface="Times New Roman" panose="02020603050405020304" pitchFamily="18" charset="0"/>
              </a:rPr>
              <a:t>非易失性单元：</a:t>
            </a:r>
            <a:endParaRPr lang="zh-CN" altLang="en-US" sz="2400" b="1" dirty="0">
              <a:solidFill>
                <a:srgbClr val="990033"/>
              </a:solidFill>
              <a:latin typeface="Times New Roman" panose="02020603050405020304" pitchFamily="18" charset="0"/>
            </a:endParaRPr>
          </a:p>
        </p:txBody>
      </p:sp>
      <p:grpSp>
        <p:nvGrpSpPr>
          <p:cNvPr id="58391" name="Group 23"/>
          <p:cNvGrpSpPr/>
          <p:nvPr/>
        </p:nvGrpSpPr>
        <p:grpSpPr>
          <a:xfrm>
            <a:off x="76200" y="1676400"/>
            <a:ext cx="8915400" cy="2895600"/>
            <a:chOff x="156" y="1344"/>
            <a:chExt cx="5616" cy="1824"/>
          </a:xfrm>
        </p:grpSpPr>
        <p:sp>
          <p:nvSpPr>
            <p:cNvPr id="19473" name="Oval 16"/>
            <p:cNvSpPr/>
            <p:nvPr/>
          </p:nvSpPr>
          <p:spPr>
            <a:xfrm>
              <a:off x="336" y="1488"/>
              <a:ext cx="384" cy="1104"/>
            </a:xfrm>
            <a:prstGeom prst="ellipse">
              <a:avLst/>
            </a:prstGeom>
            <a:solidFill>
              <a:srgbClr val="FFFF00"/>
            </a:solidFill>
            <a:ln w="9525" cap="flat" cmpd="sng">
              <a:solidFill>
                <a:srgbClr val="990033"/>
              </a:solidFill>
              <a:prstDash val="solid"/>
              <a:headEnd type="none" w="med" len="med"/>
              <a:tailEnd type="none" w="med" len="med"/>
            </a:ln>
          </p:spPr>
          <p:txBody>
            <a:bodyPr wrap="none" anchor="ctr" anchorCtr="0"/>
            <a:p>
              <a:pPr algn="just" eaLnBrk="1" hangingPunct="1"/>
              <a:r>
                <a:rPr lang="zh-CN" altLang="en-US" sz="2400" b="1" dirty="0">
                  <a:solidFill>
                    <a:srgbClr val="990033"/>
                  </a:solidFill>
                  <a:latin typeface="Times New Roman" panose="02020603050405020304" pitchFamily="18" charset="0"/>
                </a:rPr>
                <a:t>编</a:t>
              </a:r>
              <a:endParaRPr lang="zh-CN" altLang="en-US" sz="2400" b="1" dirty="0">
                <a:solidFill>
                  <a:srgbClr val="990033"/>
                </a:solidFill>
                <a:latin typeface="Times New Roman" panose="02020603050405020304" pitchFamily="18" charset="0"/>
              </a:endParaRPr>
            </a:p>
            <a:p>
              <a:pPr algn="just" eaLnBrk="1" hangingPunct="1"/>
              <a:r>
                <a:rPr lang="zh-CN" altLang="en-US" sz="2400" b="1" dirty="0">
                  <a:solidFill>
                    <a:srgbClr val="990033"/>
                  </a:solidFill>
                  <a:latin typeface="Times New Roman" panose="02020603050405020304" pitchFamily="18" charset="0"/>
                </a:rPr>
                <a:t>程</a:t>
              </a:r>
              <a:endParaRPr lang="zh-CN" altLang="en-US" sz="2400" b="1" dirty="0">
                <a:solidFill>
                  <a:srgbClr val="990033"/>
                </a:solidFill>
                <a:latin typeface="Times New Roman" panose="02020603050405020304" pitchFamily="18" charset="0"/>
              </a:endParaRPr>
            </a:p>
            <a:p>
              <a:pPr algn="just" eaLnBrk="1" hangingPunct="1"/>
              <a:r>
                <a:rPr lang="zh-CN" altLang="en-US" sz="2400" b="1" dirty="0">
                  <a:solidFill>
                    <a:srgbClr val="990033"/>
                  </a:solidFill>
                  <a:latin typeface="Times New Roman" panose="02020603050405020304" pitchFamily="18" charset="0"/>
                </a:rPr>
                <a:t>单</a:t>
              </a:r>
              <a:endParaRPr lang="zh-CN" altLang="en-US" sz="2400" b="1" dirty="0">
                <a:solidFill>
                  <a:srgbClr val="990033"/>
                </a:solidFill>
                <a:latin typeface="Times New Roman" panose="02020603050405020304" pitchFamily="18" charset="0"/>
              </a:endParaRPr>
            </a:p>
            <a:p>
              <a:pPr algn="just" eaLnBrk="1" hangingPunct="1"/>
              <a:r>
                <a:rPr lang="zh-CN" altLang="en-US" sz="2400" b="1" dirty="0">
                  <a:solidFill>
                    <a:srgbClr val="990033"/>
                  </a:solidFill>
                  <a:latin typeface="Times New Roman" panose="02020603050405020304" pitchFamily="18" charset="0"/>
                </a:rPr>
                <a:t>元</a:t>
              </a:r>
              <a:endParaRPr lang="zh-CN" altLang="en-US" sz="2400" b="1" dirty="0">
                <a:solidFill>
                  <a:srgbClr val="990033"/>
                </a:solidFill>
                <a:latin typeface="Times New Roman" panose="02020603050405020304" pitchFamily="18" charset="0"/>
              </a:endParaRPr>
            </a:p>
          </p:txBody>
        </p:sp>
        <p:sp>
          <p:nvSpPr>
            <p:cNvPr id="19474" name="Rectangle 21"/>
            <p:cNvSpPr/>
            <p:nvPr/>
          </p:nvSpPr>
          <p:spPr>
            <a:xfrm>
              <a:off x="156" y="1344"/>
              <a:ext cx="5616" cy="1824"/>
            </a:xfrm>
            <a:prstGeom prst="rect">
              <a:avLst/>
            </a:prstGeom>
            <a:noFill/>
            <a:ln w="57150" cap="flat" cmpd="thinThick">
              <a:solidFill>
                <a:srgbClr val="FFCC99"/>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grpSp>
        <p:nvGrpSpPr>
          <p:cNvPr id="58399" name="Group 31"/>
          <p:cNvGrpSpPr/>
          <p:nvPr/>
        </p:nvGrpSpPr>
        <p:grpSpPr>
          <a:xfrm>
            <a:off x="95250" y="4648200"/>
            <a:ext cx="8915400" cy="2057400"/>
            <a:chOff x="60" y="3000"/>
            <a:chExt cx="5616" cy="1296"/>
          </a:xfrm>
        </p:grpSpPr>
        <p:sp>
          <p:nvSpPr>
            <p:cNvPr id="19471" name="Oval 22"/>
            <p:cNvSpPr/>
            <p:nvPr/>
          </p:nvSpPr>
          <p:spPr>
            <a:xfrm>
              <a:off x="192" y="3120"/>
              <a:ext cx="384" cy="1104"/>
            </a:xfrm>
            <a:prstGeom prst="ellipse">
              <a:avLst/>
            </a:prstGeom>
            <a:solidFill>
              <a:srgbClr val="FFFF00"/>
            </a:solidFill>
            <a:ln w="9525" cap="flat" cmpd="sng">
              <a:solidFill>
                <a:srgbClr val="990033"/>
              </a:solidFill>
              <a:prstDash val="solid"/>
              <a:headEnd type="none" w="med" len="med"/>
              <a:tailEnd type="none" w="med" len="med"/>
            </a:ln>
          </p:spPr>
          <p:txBody>
            <a:bodyPr wrap="none" anchor="ctr" anchorCtr="0"/>
            <a:p>
              <a:pPr algn="just" eaLnBrk="1" hangingPunct="1"/>
              <a:r>
                <a:rPr lang="zh-CN" altLang="en-US" sz="2400" b="1" dirty="0">
                  <a:solidFill>
                    <a:srgbClr val="990033"/>
                  </a:solidFill>
                  <a:latin typeface="Times New Roman" panose="02020603050405020304" pitchFamily="18" charset="0"/>
                </a:rPr>
                <a:t>编</a:t>
              </a:r>
              <a:endParaRPr lang="zh-CN" altLang="en-US" sz="2400" b="1" dirty="0">
                <a:solidFill>
                  <a:srgbClr val="990033"/>
                </a:solidFill>
                <a:latin typeface="Times New Roman" panose="02020603050405020304" pitchFamily="18" charset="0"/>
              </a:endParaRPr>
            </a:p>
            <a:p>
              <a:pPr algn="just" eaLnBrk="1" hangingPunct="1"/>
              <a:r>
                <a:rPr lang="zh-CN" altLang="en-US" sz="2400" b="1" dirty="0">
                  <a:solidFill>
                    <a:srgbClr val="990033"/>
                  </a:solidFill>
                  <a:latin typeface="Times New Roman" panose="02020603050405020304" pitchFamily="18" charset="0"/>
                </a:rPr>
                <a:t>程</a:t>
              </a:r>
              <a:endParaRPr lang="zh-CN" altLang="en-US" sz="2400" b="1" dirty="0">
                <a:solidFill>
                  <a:srgbClr val="990033"/>
                </a:solidFill>
                <a:latin typeface="Times New Roman" panose="02020603050405020304" pitchFamily="18" charset="0"/>
              </a:endParaRPr>
            </a:p>
            <a:p>
              <a:pPr algn="just" eaLnBrk="1" hangingPunct="1"/>
              <a:r>
                <a:rPr lang="zh-CN" altLang="en-US" sz="2400" b="1" dirty="0">
                  <a:solidFill>
                    <a:srgbClr val="990033"/>
                  </a:solidFill>
                  <a:latin typeface="Times New Roman" panose="02020603050405020304" pitchFamily="18" charset="0"/>
                </a:rPr>
                <a:t>方</a:t>
              </a:r>
              <a:endParaRPr lang="zh-CN" altLang="en-US" sz="2400" b="1" dirty="0">
                <a:solidFill>
                  <a:srgbClr val="990033"/>
                </a:solidFill>
                <a:latin typeface="Times New Roman" panose="02020603050405020304" pitchFamily="18" charset="0"/>
              </a:endParaRPr>
            </a:p>
            <a:p>
              <a:pPr algn="just" eaLnBrk="1" hangingPunct="1"/>
              <a:r>
                <a:rPr lang="zh-CN" altLang="en-US" sz="2400" b="1" dirty="0">
                  <a:solidFill>
                    <a:srgbClr val="990033"/>
                  </a:solidFill>
                  <a:latin typeface="Times New Roman" panose="02020603050405020304" pitchFamily="18" charset="0"/>
                </a:rPr>
                <a:t>式</a:t>
              </a:r>
              <a:endParaRPr lang="zh-CN" altLang="en-US" sz="2400" b="1" dirty="0">
                <a:solidFill>
                  <a:srgbClr val="990033"/>
                </a:solidFill>
                <a:latin typeface="Times New Roman" panose="02020603050405020304" pitchFamily="18" charset="0"/>
              </a:endParaRPr>
            </a:p>
          </p:txBody>
        </p:sp>
        <p:sp>
          <p:nvSpPr>
            <p:cNvPr id="19472" name="Rectangle 24"/>
            <p:cNvSpPr/>
            <p:nvPr/>
          </p:nvSpPr>
          <p:spPr>
            <a:xfrm>
              <a:off x="60" y="3000"/>
              <a:ext cx="5616" cy="1296"/>
            </a:xfrm>
            <a:prstGeom prst="rect">
              <a:avLst/>
            </a:prstGeom>
            <a:noFill/>
            <a:ln w="57150" cap="flat" cmpd="thinThick">
              <a:solidFill>
                <a:srgbClr val="FFCC99"/>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sp>
        <p:nvSpPr>
          <p:cNvPr id="58393" name="Text Box 25"/>
          <p:cNvSpPr txBox="1"/>
          <p:nvPr/>
        </p:nvSpPr>
        <p:spPr>
          <a:xfrm>
            <a:off x="892175" y="4800600"/>
            <a:ext cx="1698625" cy="457200"/>
          </a:xfrm>
          <a:prstGeom prst="rect">
            <a:avLst/>
          </a:prstGeom>
          <a:noFill/>
          <a:ln w="9525">
            <a:noFill/>
          </a:ln>
        </p:spPr>
        <p:txBody>
          <a:bodyPr wrap="none">
            <a:spAutoFit/>
          </a:bodyPr>
          <a:p>
            <a:pPr algn="ctr" eaLnBrk="1" hangingPunct="1"/>
            <a:r>
              <a:rPr lang="zh-CN" altLang="en-US" sz="2400" b="1" dirty="0">
                <a:solidFill>
                  <a:srgbClr val="990033"/>
                </a:solidFill>
                <a:latin typeface="Times New Roman" panose="02020603050405020304" pitchFamily="18" charset="0"/>
              </a:rPr>
              <a:t>一次编程：</a:t>
            </a:r>
            <a:endParaRPr lang="zh-CN" altLang="en-US" sz="2400" b="1" dirty="0">
              <a:latin typeface="Times New Roman" panose="02020603050405020304" pitchFamily="18" charset="0"/>
            </a:endParaRPr>
          </a:p>
        </p:txBody>
      </p:sp>
      <p:sp>
        <p:nvSpPr>
          <p:cNvPr id="58394" name="Text Box 26"/>
          <p:cNvSpPr txBox="1"/>
          <p:nvPr/>
        </p:nvSpPr>
        <p:spPr>
          <a:xfrm>
            <a:off x="2362200" y="4800600"/>
            <a:ext cx="5638800" cy="457200"/>
          </a:xfrm>
          <a:prstGeom prst="rect">
            <a:avLst/>
          </a:prstGeom>
          <a:noFill/>
          <a:ln w="9525">
            <a:noFill/>
          </a:ln>
        </p:spPr>
        <p:txBody>
          <a:bodyPr wrap="none">
            <a:spAutoFit/>
          </a:bodyPr>
          <a:p>
            <a:pPr algn="ctr" eaLnBrk="1" hangingPunct="1"/>
            <a:r>
              <a:rPr lang="zh-CN" altLang="en-US" sz="2400" b="1" dirty="0">
                <a:latin typeface="Times New Roman" panose="02020603050405020304" pitchFamily="18" charset="0"/>
              </a:rPr>
              <a:t>信息一次编程固定好的，编程元件</a:t>
            </a:r>
            <a:r>
              <a:rPr lang="en-US" altLang="zh-CN" sz="2400" b="1" dirty="0">
                <a:latin typeface="Times New Roman" panose="02020603050405020304" pitchFamily="18" charset="0"/>
              </a:rPr>
              <a:t>PROM</a:t>
            </a:r>
            <a:endParaRPr lang="en-US" altLang="zh-CN" sz="2400" b="1" dirty="0">
              <a:latin typeface="Times New Roman" panose="02020603050405020304" pitchFamily="18" charset="0"/>
            </a:endParaRPr>
          </a:p>
        </p:txBody>
      </p:sp>
      <p:sp>
        <p:nvSpPr>
          <p:cNvPr id="58396" name="Text Box 28"/>
          <p:cNvSpPr txBox="1"/>
          <p:nvPr/>
        </p:nvSpPr>
        <p:spPr>
          <a:xfrm>
            <a:off x="892175" y="5964238"/>
            <a:ext cx="1698625" cy="457200"/>
          </a:xfrm>
          <a:prstGeom prst="rect">
            <a:avLst/>
          </a:prstGeom>
          <a:noFill/>
          <a:ln w="9525">
            <a:noFill/>
          </a:ln>
        </p:spPr>
        <p:txBody>
          <a:bodyPr wrap="none">
            <a:spAutoFit/>
          </a:bodyPr>
          <a:p>
            <a:pPr algn="ctr" eaLnBrk="1" hangingPunct="1"/>
            <a:r>
              <a:rPr lang="zh-CN" altLang="en-US" sz="2400" b="1" dirty="0">
                <a:solidFill>
                  <a:srgbClr val="990033"/>
                </a:solidFill>
                <a:latin typeface="Times New Roman" panose="02020603050405020304" pitchFamily="18" charset="0"/>
              </a:rPr>
              <a:t>多次编程：</a:t>
            </a:r>
            <a:endParaRPr lang="zh-CN" altLang="en-US" sz="2400" b="1" dirty="0">
              <a:solidFill>
                <a:srgbClr val="990033"/>
              </a:solidFill>
              <a:latin typeface="Times New Roman" panose="02020603050405020304" pitchFamily="18" charset="0"/>
            </a:endParaRPr>
          </a:p>
        </p:txBody>
      </p:sp>
      <p:sp>
        <p:nvSpPr>
          <p:cNvPr id="58397" name="Text Box 29"/>
          <p:cNvSpPr txBox="1"/>
          <p:nvPr/>
        </p:nvSpPr>
        <p:spPr>
          <a:xfrm>
            <a:off x="2362200" y="5410200"/>
            <a:ext cx="6096000" cy="1196975"/>
          </a:xfrm>
          <a:prstGeom prst="rect">
            <a:avLst/>
          </a:prstGeom>
          <a:noFill/>
          <a:ln w="9525" cap="flat" cmpd="sng">
            <a:solidFill>
              <a:srgbClr val="990033"/>
            </a:solidFill>
            <a:prstDash val="solid"/>
            <a:miter/>
            <a:headEnd type="none" w="med" len="med"/>
            <a:tailEnd type="none" w="med" len="med"/>
          </a:ln>
        </p:spPr>
        <p:txBody>
          <a:bodyPr>
            <a:spAutoFit/>
          </a:bodyPr>
          <a:p>
            <a:pPr algn="just" eaLnBrk="1" hangingPunct="1"/>
            <a:r>
              <a:rPr lang="zh-CN" altLang="en-US" sz="2400" b="1" dirty="0">
                <a:latin typeface="Times New Roman" panose="02020603050405020304" pitchFamily="18" charset="0"/>
              </a:rPr>
              <a:t>用户根据需要将数据储存在编程单元中，并可以多次写入和擦除，编程元件</a:t>
            </a:r>
            <a:r>
              <a:rPr lang="en-US" altLang="zh-CN" sz="2400" b="1" dirty="0">
                <a:latin typeface="Times New Roman" panose="02020603050405020304" pitchFamily="18" charset="0"/>
              </a:rPr>
              <a:t>UV EPROM</a:t>
            </a:r>
            <a:r>
              <a:rPr lang="zh-CN" altLang="en-US" sz="2400" b="1" dirty="0">
                <a:latin typeface="Times New Roman" panose="02020603050405020304" pitchFamily="18" charset="0"/>
              </a:rPr>
              <a:t>和</a:t>
            </a:r>
            <a:r>
              <a:rPr lang="en-US" altLang="zh-CN" sz="2400" b="1" dirty="0">
                <a:latin typeface="Times New Roman" panose="02020603050405020304" pitchFamily="18" charset="0"/>
              </a:rPr>
              <a:t>E</a:t>
            </a:r>
            <a:r>
              <a:rPr lang="en-US" altLang="zh-CN" sz="2400" b="1" baseline="30000" dirty="0">
                <a:latin typeface="Times New Roman" panose="02020603050405020304" pitchFamily="18" charset="0"/>
              </a:rPr>
              <a:t>2</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a:t>
            </a:r>
            <a:endParaRPr lang="zh-CN" altLang="en-US" dirty="0">
              <a:latin typeface="Times New Roman" panose="02020603050405020304" pitchFamily="18" charset="0"/>
            </a:endParaRPr>
          </a:p>
        </p:txBody>
      </p:sp>
      <p:sp>
        <p:nvSpPr>
          <p:cNvPr id="58398" name="AutoShape 30"/>
          <p:cNvSpPr/>
          <p:nvPr/>
        </p:nvSpPr>
        <p:spPr>
          <a:xfrm>
            <a:off x="1447800" y="4572000"/>
            <a:ext cx="2743200" cy="1143000"/>
          </a:xfrm>
          <a:prstGeom prst="wedgeRoundRectCallout">
            <a:avLst>
              <a:gd name="adj1" fmla="val -44616"/>
              <a:gd name="adj2" fmla="val 79306"/>
              <a:gd name="adj3" fmla="val 16667"/>
            </a:avLst>
          </a:prstGeom>
          <a:solidFill>
            <a:srgbClr val="CCFFFF"/>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sz="2400" b="1" dirty="0">
                <a:latin typeface="Times New Roman" panose="02020603050405020304" pitchFamily="18" charset="0"/>
              </a:rPr>
              <a:t>编程单元采用的是</a:t>
            </a:r>
            <a:endParaRPr lang="zh-CN" altLang="en-US" sz="2400" b="1" dirty="0">
              <a:latin typeface="Times New Roman" panose="02020603050405020304" pitchFamily="18" charset="0"/>
            </a:endParaRPr>
          </a:p>
          <a:p>
            <a:pPr algn="ctr" eaLnBrk="1" hangingPunct="1"/>
            <a:r>
              <a:rPr lang="zh-CN" altLang="en-US" sz="2400" b="1" dirty="0">
                <a:solidFill>
                  <a:srgbClr val="990033"/>
                </a:solidFill>
                <a:latin typeface="Times New Roman" panose="02020603050405020304" pitchFamily="18" charset="0"/>
              </a:rPr>
              <a:t>浮栅技术</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78"/>
                                        </p:tgtEl>
                                        <p:attrNameLst>
                                          <p:attrName>style.visibility</p:attrName>
                                        </p:attrNameLst>
                                      </p:cBhvr>
                                      <p:to>
                                        <p:strVal val="visible"/>
                                      </p:to>
                                    </p:set>
                                    <p:animEffect transition="in" filter="wipe(left)">
                                      <p:cBhvr>
                                        <p:cTn id="7" dur="500"/>
                                        <p:tgtEl>
                                          <p:spTgt spid="5837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58391"/>
                                        </p:tgtEl>
                                        <p:attrNameLst>
                                          <p:attrName>style.visibility</p:attrName>
                                        </p:attrNameLst>
                                      </p:cBhvr>
                                      <p:to>
                                        <p:strVal val="visible"/>
                                      </p:to>
                                    </p:set>
                                    <p:animEffect transition="in" filter="barn(outHorizontal)">
                                      <p:cBhvr>
                                        <p:cTn id="12" dur="500"/>
                                        <p:tgtEl>
                                          <p:spTgt spid="5839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8386"/>
                                        </p:tgtEl>
                                        <p:attrNameLst>
                                          <p:attrName>style.visibility</p:attrName>
                                        </p:attrNameLst>
                                      </p:cBhvr>
                                      <p:to>
                                        <p:strVal val="visible"/>
                                      </p:to>
                                    </p:set>
                                    <p:animEffect transition="in" filter="wipe(left)">
                                      <p:cBhvr>
                                        <p:cTn id="17" dur="500"/>
                                        <p:tgtEl>
                                          <p:spTgt spid="5838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8387"/>
                                        </p:tgtEl>
                                        <p:attrNameLst>
                                          <p:attrName>style.visibility</p:attrName>
                                        </p:attrNameLst>
                                      </p:cBhvr>
                                      <p:to>
                                        <p:strVal val="visible"/>
                                      </p:to>
                                    </p:set>
                                    <p:animEffect transition="in" filter="wipe(left)">
                                      <p:cBhvr>
                                        <p:cTn id="22" dur="500"/>
                                        <p:tgtEl>
                                          <p:spTgt spid="5838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8388"/>
                                        </p:tgtEl>
                                        <p:attrNameLst>
                                          <p:attrName>style.visibility</p:attrName>
                                        </p:attrNameLst>
                                      </p:cBhvr>
                                      <p:to>
                                        <p:strVal val="visible"/>
                                      </p:to>
                                    </p:set>
                                    <p:animEffect transition="in" filter="wipe(left)">
                                      <p:cBhvr>
                                        <p:cTn id="27" dur="500"/>
                                        <p:tgtEl>
                                          <p:spTgt spid="5838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8381"/>
                                        </p:tgtEl>
                                        <p:attrNameLst>
                                          <p:attrName>style.visibility</p:attrName>
                                        </p:attrNameLst>
                                      </p:cBhvr>
                                      <p:to>
                                        <p:strVal val="visible"/>
                                      </p:to>
                                    </p:set>
                                    <p:animEffect transition="in" filter="wipe(left)">
                                      <p:cBhvr>
                                        <p:cTn id="32" dur="500"/>
                                        <p:tgtEl>
                                          <p:spTgt spid="58381"/>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58399"/>
                                        </p:tgtEl>
                                        <p:attrNameLst>
                                          <p:attrName>style.visibility</p:attrName>
                                        </p:attrNameLst>
                                      </p:cBhvr>
                                      <p:to>
                                        <p:strVal val="visible"/>
                                      </p:to>
                                    </p:set>
                                    <p:animEffect transition="in" filter="barn(outHorizontal)">
                                      <p:cBhvr>
                                        <p:cTn id="37" dur="500"/>
                                        <p:tgtEl>
                                          <p:spTgt spid="5839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8393"/>
                                        </p:tgtEl>
                                        <p:attrNameLst>
                                          <p:attrName>style.visibility</p:attrName>
                                        </p:attrNameLst>
                                      </p:cBhvr>
                                      <p:to>
                                        <p:strVal val="visible"/>
                                      </p:to>
                                    </p:set>
                                    <p:animEffect transition="in" filter="wipe(left)">
                                      <p:cBhvr>
                                        <p:cTn id="42" dur="500"/>
                                        <p:tgtEl>
                                          <p:spTgt spid="5839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8394"/>
                                        </p:tgtEl>
                                        <p:attrNameLst>
                                          <p:attrName>style.visibility</p:attrName>
                                        </p:attrNameLst>
                                      </p:cBhvr>
                                      <p:to>
                                        <p:strVal val="visible"/>
                                      </p:to>
                                    </p:set>
                                    <p:animEffect transition="in" filter="wipe(left)">
                                      <p:cBhvr>
                                        <p:cTn id="47" dur="500"/>
                                        <p:tgtEl>
                                          <p:spTgt spid="5839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8396"/>
                                        </p:tgtEl>
                                        <p:attrNameLst>
                                          <p:attrName>style.visibility</p:attrName>
                                        </p:attrNameLst>
                                      </p:cBhvr>
                                      <p:to>
                                        <p:strVal val="visible"/>
                                      </p:to>
                                    </p:set>
                                    <p:animEffect transition="in" filter="wipe(left)">
                                      <p:cBhvr>
                                        <p:cTn id="52" dur="500"/>
                                        <p:tgtEl>
                                          <p:spTgt spid="5839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8397"/>
                                        </p:tgtEl>
                                        <p:attrNameLst>
                                          <p:attrName>style.visibility</p:attrName>
                                        </p:attrNameLst>
                                      </p:cBhvr>
                                      <p:to>
                                        <p:strVal val="visible"/>
                                      </p:to>
                                    </p:set>
                                    <p:animEffect transition="in" filter="wipe(left)">
                                      <p:cBhvr>
                                        <p:cTn id="57" dur="500"/>
                                        <p:tgtEl>
                                          <p:spTgt spid="58397"/>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2" fill="hold" grpId="0" nodeType="clickEffect">
                                  <p:stCondLst>
                                    <p:cond delay="0"/>
                                  </p:stCondLst>
                                  <p:childTnLst>
                                    <p:set>
                                      <p:cBhvr>
                                        <p:cTn id="61" dur="1" fill="hold">
                                          <p:stCondLst>
                                            <p:cond delay="0"/>
                                          </p:stCondLst>
                                        </p:cTn>
                                        <p:tgtEl>
                                          <p:spTgt spid="58398"/>
                                        </p:tgtEl>
                                        <p:attrNameLst>
                                          <p:attrName>style.visibility</p:attrName>
                                        </p:attrNameLst>
                                      </p:cBhvr>
                                      <p:to>
                                        <p:strVal val="visible"/>
                                      </p:to>
                                    </p:set>
                                    <p:anim calcmode="lin" valueType="num">
                                      <p:cBhvr additive="base">
                                        <p:cTn id="62" dur="500" fill="hold"/>
                                        <p:tgtEl>
                                          <p:spTgt spid="58398"/>
                                        </p:tgtEl>
                                        <p:attrNameLst>
                                          <p:attrName>ppt_x</p:attrName>
                                        </p:attrNameLst>
                                      </p:cBhvr>
                                      <p:tavLst>
                                        <p:tav tm="0">
                                          <p:val>
                                            <p:strVal val="1+#ppt_w/2"/>
                                          </p:val>
                                        </p:tav>
                                        <p:tav tm="100000">
                                          <p:val>
                                            <p:strVal val="#ppt_x"/>
                                          </p:val>
                                        </p:tav>
                                      </p:tavLst>
                                    </p:anim>
                                    <p:anim calcmode="lin" valueType="num">
                                      <p:cBhvr additive="base">
                                        <p:cTn id="63" dur="500" fill="hold"/>
                                        <p:tgtEl>
                                          <p:spTgt spid="583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8" grpId="0"/>
      <p:bldP spid="58381" grpId="0"/>
      <p:bldP spid="58386" grpId="0"/>
      <p:bldP spid="58387" grpId="0"/>
      <p:bldP spid="58388" grpId="0"/>
      <p:bldP spid="58393" grpId="0"/>
      <p:bldP spid="58394" grpId="0"/>
      <p:bldP spid="58396" grpId="0"/>
      <p:bldP spid="58397" grpId="0" animBg="1"/>
      <p:bldP spid="5839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ext Box 10"/>
          <p:cNvSpPr txBox="1"/>
          <p:nvPr/>
        </p:nvSpPr>
        <p:spPr>
          <a:xfrm>
            <a:off x="76200" y="76200"/>
            <a:ext cx="5410200" cy="457200"/>
          </a:xfrm>
          <a:prstGeom prst="rect">
            <a:avLst/>
          </a:prstGeom>
          <a:noFill/>
          <a:ln w="9525">
            <a:noFill/>
          </a:ln>
        </p:spPr>
        <p:txBody>
          <a:bodyPr>
            <a:spAutoFit/>
          </a:bodyPr>
          <a:p>
            <a:pPr eaLnBrk="1" hangingPunct="1">
              <a:spcBef>
                <a:spcPct val="50000"/>
              </a:spcBef>
            </a:pPr>
            <a:r>
              <a:rPr lang="zh-CN" altLang="en-US" sz="2400" b="1" dirty="0">
                <a:solidFill>
                  <a:srgbClr val="990033"/>
                </a:solidFill>
                <a:latin typeface="Times New Roman" panose="02020603050405020304" pitchFamily="18" charset="0"/>
                <a:ea typeface="黑体" panose="02010609060101010101" pitchFamily="2" charset="-122"/>
              </a:rPr>
              <a:t>一、熔丝型开关</a:t>
            </a:r>
            <a:endParaRPr lang="zh-CN" altLang="en-US" sz="2400" b="1" dirty="0">
              <a:latin typeface="Times New Roman" panose="02020603050405020304" pitchFamily="18" charset="0"/>
              <a:ea typeface="黑体" panose="02010609060101010101" pitchFamily="2" charset="-122"/>
            </a:endParaRPr>
          </a:p>
        </p:txBody>
      </p:sp>
      <p:graphicFrame>
        <p:nvGraphicFramePr>
          <p:cNvPr id="59403" name="Object 11"/>
          <p:cNvGraphicFramePr>
            <a:graphicFrameLocks noChangeAspect="1"/>
          </p:cNvGraphicFramePr>
          <p:nvPr/>
        </p:nvGraphicFramePr>
        <p:xfrm>
          <a:off x="228600" y="685800"/>
          <a:ext cx="4267200" cy="3270250"/>
        </p:xfrm>
        <a:graphic>
          <a:graphicData uri="http://schemas.openxmlformats.org/presentationml/2006/ole">
            <mc:AlternateContent xmlns:mc="http://schemas.openxmlformats.org/markup-compatibility/2006">
              <mc:Choice xmlns:v="urn:schemas-microsoft-com:vml" Requires="v">
                <p:oleObj spid="_x0000_s3078" name="" r:id="rId1" imgW="2886075" imgH="2200275" progId="Paint.Picture">
                  <p:embed/>
                </p:oleObj>
              </mc:Choice>
              <mc:Fallback>
                <p:oleObj name="" r:id="rId1" imgW="2886075" imgH="2200275" progId="Paint.Picture">
                  <p:embed/>
                  <p:pic>
                    <p:nvPicPr>
                      <p:cNvPr id="0" name="图片 3077"/>
                      <p:cNvPicPr/>
                      <p:nvPr/>
                    </p:nvPicPr>
                    <p:blipFill>
                      <a:blip r:embed="rId2"/>
                      <a:stretch>
                        <a:fillRect/>
                      </a:stretch>
                    </p:blipFill>
                    <p:spPr>
                      <a:xfrm>
                        <a:off x="228600" y="685800"/>
                        <a:ext cx="4267200" cy="3270250"/>
                      </a:xfrm>
                      <a:prstGeom prst="rect">
                        <a:avLst/>
                      </a:prstGeom>
                      <a:noFill/>
                      <a:ln w="38100">
                        <a:noFill/>
                        <a:miter/>
                      </a:ln>
                    </p:spPr>
                  </p:pic>
                </p:oleObj>
              </mc:Fallback>
            </mc:AlternateContent>
          </a:graphicData>
        </a:graphic>
      </p:graphicFrame>
      <p:graphicFrame>
        <p:nvGraphicFramePr>
          <p:cNvPr id="59405" name="Object 13"/>
          <p:cNvGraphicFramePr>
            <a:graphicFrameLocks noChangeAspect="1"/>
          </p:cNvGraphicFramePr>
          <p:nvPr/>
        </p:nvGraphicFramePr>
        <p:xfrm>
          <a:off x="0" y="304800"/>
          <a:ext cx="9144000" cy="4200525"/>
        </p:xfrm>
        <a:graphic>
          <a:graphicData uri="http://schemas.openxmlformats.org/presentationml/2006/ole">
            <mc:AlternateContent xmlns:mc="http://schemas.openxmlformats.org/markup-compatibility/2006">
              <mc:Choice xmlns:v="urn:schemas-microsoft-com:vml" Requires="v">
                <p:oleObj spid="_x0000_s3077" name="" r:id="rId3" imgW="5486400" imgH="2077085" progId="Word.Document.8">
                  <p:embed/>
                </p:oleObj>
              </mc:Choice>
              <mc:Fallback>
                <p:oleObj name="" r:id="rId3" imgW="5486400" imgH="2077085" progId="Word.Document.8">
                  <p:embed/>
                  <p:pic>
                    <p:nvPicPr>
                      <p:cNvPr id="0" name="图片 3076"/>
                      <p:cNvPicPr/>
                      <p:nvPr/>
                    </p:nvPicPr>
                    <p:blipFill>
                      <a:blip r:embed="rId4"/>
                      <a:stretch>
                        <a:fillRect/>
                      </a:stretch>
                    </p:blipFill>
                    <p:spPr>
                      <a:xfrm>
                        <a:off x="0" y="304800"/>
                        <a:ext cx="9144000" cy="4200525"/>
                      </a:xfrm>
                      <a:prstGeom prst="rect">
                        <a:avLst/>
                      </a:prstGeom>
                      <a:noFill/>
                      <a:ln w="38100">
                        <a:noFill/>
                        <a:miter/>
                      </a:ln>
                    </p:spPr>
                  </p:pic>
                </p:oleObj>
              </mc:Fallback>
            </mc:AlternateContent>
          </a:graphicData>
        </a:graphic>
      </p:graphicFrame>
      <p:sp>
        <p:nvSpPr>
          <p:cNvPr id="59406" name="Text Box 14"/>
          <p:cNvSpPr txBox="1"/>
          <p:nvPr/>
        </p:nvSpPr>
        <p:spPr>
          <a:xfrm>
            <a:off x="152400" y="4038600"/>
            <a:ext cx="3352800" cy="533400"/>
          </a:xfrm>
          <a:prstGeom prst="rect">
            <a:avLst/>
          </a:prstGeom>
          <a:noFill/>
          <a:ln w="9525">
            <a:noFill/>
          </a:ln>
        </p:spPr>
        <p:txBody>
          <a:bodyPr>
            <a:spAutoFit/>
          </a:bodyPr>
          <a:p>
            <a:pPr algn="just" eaLnBrk="1" hangingPunct="1">
              <a:spcAft>
                <a:spcPts val="600"/>
              </a:spcAft>
            </a:pPr>
            <a:r>
              <a:rPr lang="zh-CN" altLang="en-US" sz="2400" b="1" dirty="0">
                <a:solidFill>
                  <a:srgbClr val="990033"/>
                </a:solidFill>
                <a:latin typeface="Times New Roman" panose="02020603050405020304" pitchFamily="18" charset="0"/>
                <a:ea typeface="黑体" panose="02010609060101010101" pitchFamily="2" charset="-122"/>
              </a:rPr>
              <a:t>二、反熔丝型开关</a:t>
            </a:r>
            <a:endParaRPr lang="zh-CN" altLang="en-US" dirty="0">
              <a:latin typeface="Times New Roman" panose="02020603050405020304" pitchFamily="18" charset="0"/>
            </a:endParaRPr>
          </a:p>
        </p:txBody>
      </p:sp>
      <p:graphicFrame>
        <p:nvGraphicFramePr>
          <p:cNvPr id="59407" name="Object 15"/>
          <p:cNvGraphicFramePr>
            <a:graphicFrameLocks noChangeAspect="1"/>
          </p:cNvGraphicFramePr>
          <p:nvPr/>
        </p:nvGraphicFramePr>
        <p:xfrm>
          <a:off x="304800" y="4572000"/>
          <a:ext cx="4343400" cy="1752600"/>
        </p:xfrm>
        <a:graphic>
          <a:graphicData uri="http://schemas.openxmlformats.org/presentationml/2006/ole">
            <mc:AlternateContent xmlns:mc="http://schemas.openxmlformats.org/markup-compatibility/2006">
              <mc:Choice xmlns:v="urn:schemas-microsoft-com:vml" Requires="v">
                <p:oleObj spid="_x0000_s3085" name="" r:id="rId5" imgW="2828925" imgH="1171575" progId="Paint.Picture">
                  <p:embed/>
                </p:oleObj>
              </mc:Choice>
              <mc:Fallback>
                <p:oleObj name="" r:id="rId5" imgW="2828925" imgH="1171575" progId="Paint.Picture">
                  <p:embed/>
                  <p:pic>
                    <p:nvPicPr>
                      <p:cNvPr id="0" name="图片 3084"/>
                      <p:cNvPicPr/>
                      <p:nvPr/>
                    </p:nvPicPr>
                    <p:blipFill>
                      <a:blip r:embed="rId6"/>
                      <a:stretch>
                        <a:fillRect/>
                      </a:stretch>
                    </p:blipFill>
                    <p:spPr>
                      <a:xfrm>
                        <a:off x="304800" y="4572000"/>
                        <a:ext cx="4343400" cy="1752600"/>
                      </a:xfrm>
                      <a:prstGeom prst="rect">
                        <a:avLst/>
                      </a:prstGeom>
                      <a:noFill/>
                      <a:ln w="38100">
                        <a:noFill/>
                        <a:miter/>
                      </a:ln>
                    </p:spPr>
                  </p:pic>
                </p:oleObj>
              </mc:Fallback>
            </mc:AlternateContent>
          </a:graphicData>
        </a:graphic>
      </p:graphicFrame>
      <p:graphicFrame>
        <p:nvGraphicFramePr>
          <p:cNvPr id="59408" name="Object 16"/>
          <p:cNvGraphicFramePr>
            <a:graphicFrameLocks noChangeAspect="1"/>
          </p:cNvGraphicFramePr>
          <p:nvPr/>
        </p:nvGraphicFramePr>
        <p:xfrm>
          <a:off x="4724400" y="4572000"/>
          <a:ext cx="4191000" cy="1974850"/>
        </p:xfrm>
        <a:graphic>
          <a:graphicData uri="http://schemas.openxmlformats.org/presentationml/2006/ole">
            <mc:AlternateContent xmlns:mc="http://schemas.openxmlformats.org/markup-compatibility/2006">
              <mc:Choice xmlns:v="urn:schemas-microsoft-com:vml" Requires="v">
                <p:oleObj spid="_x0000_s3086" name="" r:id="rId7" imgW="2828925" imgH="1333500" progId="Paint.Picture">
                  <p:embed/>
                </p:oleObj>
              </mc:Choice>
              <mc:Fallback>
                <p:oleObj name="" r:id="rId7" imgW="2828925" imgH="1333500" progId="Paint.Picture">
                  <p:embed/>
                  <p:pic>
                    <p:nvPicPr>
                      <p:cNvPr id="0" name="图片 3085"/>
                      <p:cNvPicPr/>
                      <p:nvPr/>
                    </p:nvPicPr>
                    <p:blipFill>
                      <a:blip r:embed="rId8"/>
                      <a:stretch>
                        <a:fillRect/>
                      </a:stretch>
                    </p:blipFill>
                    <p:spPr>
                      <a:xfrm>
                        <a:off x="4724400" y="4572000"/>
                        <a:ext cx="4191000" cy="1974850"/>
                      </a:xfrm>
                      <a:prstGeom prst="rect">
                        <a:avLst/>
                      </a:prstGeom>
                      <a:noFill/>
                      <a:ln w="38100">
                        <a:noFill/>
                        <a:miter/>
                      </a:ln>
                    </p:spPr>
                  </p:pic>
                </p:oleObj>
              </mc:Fallback>
            </mc:AlternateContent>
          </a:graphicData>
        </a:graphic>
      </p:graphicFrame>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94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94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59406"/>
                                        </p:tgtEl>
                                        <p:attrNameLst>
                                          <p:attrName>style.visibility</p:attrName>
                                        </p:attrNameLst>
                                      </p:cBhvr>
                                      <p:to>
                                        <p:strVal val="visible"/>
                                      </p:to>
                                    </p:set>
                                    <p:anim calcmode="lin" valueType="num">
                                      <p:cBhvr additive="base">
                                        <p:cTn id="15" dur="500" fill="hold"/>
                                        <p:tgtEl>
                                          <p:spTgt spid="59406"/>
                                        </p:tgtEl>
                                        <p:attrNameLst>
                                          <p:attrName>ppt_x</p:attrName>
                                        </p:attrNameLst>
                                      </p:cBhvr>
                                      <p:tavLst>
                                        <p:tav tm="0">
                                          <p:val>
                                            <p:strVal val="0-#ppt_w/2"/>
                                          </p:val>
                                        </p:tav>
                                        <p:tav tm="100000">
                                          <p:val>
                                            <p:strVal val="#ppt_x"/>
                                          </p:val>
                                        </p:tav>
                                      </p:tavLst>
                                    </p:anim>
                                    <p:anim calcmode="lin" valueType="num">
                                      <p:cBhvr additive="base">
                                        <p:cTn id="16" dur="500" fill="hold"/>
                                        <p:tgtEl>
                                          <p:spTgt spid="59406"/>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5940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59408"/>
                                        </p:tgtEl>
                                        <p:attrNameLst>
                                          <p:attrName>style.visibility</p:attrName>
                                        </p:attrNameLst>
                                      </p:cBhvr>
                                      <p:to>
                                        <p:strVal val="visible"/>
                                      </p:to>
                                    </p:set>
                                    <p:anim calcmode="lin" valueType="num">
                                      <p:cBhvr additive="base">
                                        <p:cTn id="25" dur="500" fill="hold"/>
                                        <p:tgtEl>
                                          <p:spTgt spid="59408"/>
                                        </p:tgtEl>
                                        <p:attrNameLst>
                                          <p:attrName>ppt_x</p:attrName>
                                        </p:attrNameLst>
                                      </p:cBhvr>
                                      <p:tavLst>
                                        <p:tav tm="0">
                                          <p:val>
                                            <p:strVal val="1+#ppt_w/2"/>
                                          </p:val>
                                        </p:tav>
                                        <p:tav tm="100000">
                                          <p:val>
                                            <p:strVal val="#ppt_x"/>
                                          </p:val>
                                        </p:tav>
                                      </p:tavLst>
                                    </p:anim>
                                    <p:anim calcmode="lin" valueType="num">
                                      <p:cBhvr additive="base">
                                        <p:cTn id="26" dur="500" fill="hold"/>
                                        <p:tgtEl>
                                          <p:spTgt spid="594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0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1456" name="Object 16"/>
          <p:cNvGraphicFramePr>
            <a:graphicFrameLocks noChangeAspect="1"/>
          </p:cNvGraphicFramePr>
          <p:nvPr/>
        </p:nvGraphicFramePr>
        <p:xfrm>
          <a:off x="685800" y="2209800"/>
          <a:ext cx="7543800" cy="4343400"/>
        </p:xfrm>
        <a:graphic>
          <a:graphicData uri="http://schemas.openxmlformats.org/presentationml/2006/ole">
            <mc:AlternateContent xmlns:mc="http://schemas.openxmlformats.org/markup-compatibility/2006">
              <mc:Choice xmlns:v="urn:schemas-microsoft-com:vml" Requires="v">
                <p:oleObj spid="_x0000_s3084" name="" r:id="rId1" imgW="3819525" imgH="2066925" progId="Paint.Picture">
                  <p:embed/>
                </p:oleObj>
              </mc:Choice>
              <mc:Fallback>
                <p:oleObj name="" r:id="rId1" imgW="3819525" imgH="2066925" progId="Paint.Picture">
                  <p:embed/>
                  <p:pic>
                    <p:nvPicPr>
                      <p:cNvPr id="0" name="图片 3083"/>
                      <p:cNvPicPr/>
                      <p:nvPr/>
                    </p:nvPicPr>
                    <p:blipFill>
                      <a:blip r:embed="rId2"/>
                      <a:stretch>
                        <a:fillRect/>
                      </a:stretch>
                    </p:blipFill>
                    <p:spPr>
                      <a:xfrm>
                        <a:off x="685800" y="2209800"/>
                        <a:ext cx="7543800" cy="4343400"/>
                      </a:xfrm>
                      <a:prstGeom prst="rect">
                        <a:avLst/>
                      </a:prstGeom>
                      <a:noFill/>
                      <a:ln w="38100">
                        <a:noFill/>
                        <a:miter/>
                      </a:ln>
                    </p:spPr>
                  </p:pic>
                </p:oleObj>
              </mc:Fallback>
            </mc:AlternateContent>
          </a:graphicData>
        </a:graphic>
      </p:graphicFrame>
      <p:sp>
        <p:nvSpPr>
          <p:cNvPr id="21507" name="Text Box 13"/>
          <p:cNvSpPr txBox="1"/>
          <p:nvPr/>
        </p:nvSpPr>
        <p:spPr>
          <a:xfrm>
            <a:off x="76200" y="76200"/>
            <a:ext cx="6172200" cy="457200"/>
          </a:xfrm>
          <a:prstGeom prst="rect">
            <a:avLst/>
          </a:prstGeom>
          <a:noFill/>
          <a:ln w="9525">
            <a:noFill/>
          </a:ln>
        </p:spPr>
        <p:txBody>
          <a:bodyPr>
            <a:spAutoFit/>
          </a:bodyPr>
          <a:p>
            <a:pPr eaLnBrk="1" hangingPunct="1">
              <a:spcBef>
                <a:spcPct val="50000"/>
              </a:spcBef>
            </a:pPr>
            <a:r>
              <a:rPr lang="zh-CN" altLang="en-US" sz="2400" b="1" dirty="0">
                <a:solidFill>
                  <a:srgbClr val="990033"/>
                </a:solidFill>
                <a:latin typeface="Times New Roman" panose="02020603050405020304" pitchFamily="18" charset="0"/>
                <a:ea typeface="黑体" panose="02010609060101010101" pitchFamily="2" charset="-122"/>
              </a:rPr>
              <a:t>三、浮栅编程技术</a:t>
            </a:r>
            <a:endParaRPr lang="zh-CN" altLang="en-US" sz="2400" b="1" dirty="0">
              <a:latin typeface="Times New Roman" panose="02020603050405020304" pitchFamily="18" charset="0"/>
              <a:ea typeface="黑体" panose="02010609060101010101" pitchFamily="2" charset="-122"/>
            </a:endParaRPr>
          </a:p>
        </p:txBody>
      </p:sp>
      <p:sp>
        <p:nvSpPr>
          <p:cNvPr id="61454" name="Text Box 14"/>
          <p:cNvSpPr txBox="1"/>
          <p:nvPr/>
        </p:nvSpPr>
        <p:spPr>
          <a:xfrm>
            <a:off x="381000" y="762000"/>
            <a:ext cx="8229600" cy="822325"/>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用浮栅编程技术生产的编程单元是一种能多次改写的</a:t>
            </a:r>
            <a:r>
              <a:rPr lang="en-US" altLang="zh-CN" sz="2400" b="1" dirty="0">
                <a:latin typeface="Times New Roman" panose="02020603050405020304" pitchFamily="18" charset="0"/>
              </a:rPr>
              <a:t>ROM</a:t>
            </a:r>
            <a:r>
              <a:rPr lang="zh-CN" altLang="en-US" sz="2400" b="1" dirty="0">
                <a:latin typeface="Times New Roman" panose="02020603050405020304" pitchFamily="18" charset="0"/>
              </a:rPr>
              <a:t>，即已写入的内容可以擦去，也可以重新写入新的内容。</a:t>
            </a:r>
            <a:endParaRPr lang="zh-CN" altLang="en-US" sz="2400" b="1" dirty="0">
              <a:latin typeface="Times New Roman" panose="02020603050405020304" pitchFamily="18" charset="0"/>
            </a:endParaRPr>
          </a:p>
        </p:txBody>
      </p:sp>
      <p:sp>
        <p:nvSpPr>
          <p:cNvPr id="61455" name="Text Box 15"/>
          <p:cNvSpPr txBox="1"/>
          <p:nvPr/>
        </p:nvSpPr>
        <p:spPr>
          <a:xfrm>
            <a:off x="228600" y="1752600"/>
            <a:ext cx="6934200" cy="457200"/>
          </a:xfrm>
          <a:prstGeom prst="rect">
            <a:avLst/>
          </a:prstGeom>
          <a:noFill/>
          <a:ln w="9525">
            <a:noFill/>
          </a:ln>
        </p:spPr>
        <p:txBody>
          <a:bodyPr>
            <a:spAutoFit/>
          </a:bodyPr>
          <a:p>
            <a:pPr eaLnBrk="1" hangingPunct="1">
              <a:spcBef>
                <a:spcPct val="50000"/>
              </a:spcBef>
            </a:pPr>
            <a:r>
              <a:rPr lang="zh-CN" altLang="en-US" sz="2400" b="1" dirty="0">
                <a:solidFill>
                  <a:srgbClr val="990033"/>
                </a:solidFill>
                <a:latin typeface="Times New Roman" panose="02020603050405020304" pitchFamily="18" charset="0"/>
              </a:rPr>
              <a:t>（一）叠栅型（</a:t>
            </a:r>
            <a:r>
              <a:rPr lang="en-US" altLang="zh-CN" sz="2400" b="1" dirty="0">
                <a:solidFill>
                  <a:srgbClr val="990033"/>
                </a:solidFill>
                <a:latin typeface="Times New Roman" panose="02020603050405020304" pitchFamily="18" charset="0"/>
              </a:rPr>
              <a:t>SIMOS</a:t>
            </a:r>
            <a:r>
              <a:rPr lang="zh-CN" altLang="en-US" sz="2400" b="1" dirty="0">
                <a:solidFill>
                  <a:srgbClr val="990033"/>
                </a:solidFill>
                <a:latin typeface="Times New Roman" panose="02020603050405020304" pitchFamily="18" charset="0"/>
              </a:rPr>
              <a:t>）存储单元</a:t>
            </a:r>
            <a:endParaRPr lang="zh-CN" altLang="en-US" sz="2400" b="1" dirty="0">
              <a:latin typeface="Times New Roman" panose="02020603050405020304" pitchFamily="18" charset="0"/>
            </a:endParaRPr>
          </a:p>
        </p:txBody>
      </p:sp>
      <p:grpSp>
        <p:nvGrpSpPr>
          <p:cNvPr id="61465" name="Group 25"/>
          <p:cNvGrpSpPr/>
          <p:nvPr/>
        </p:nvGrpSpPr>
        <p:grpSpPr>
          <a:xfrm>
            <a:off x="990600" y="2971800"/>
            <a:ext cx="3124200" cy="1828800"/>
            <a:chOff x="624" y="1920"/>
            <a:chExt cx="1968" cy="1152"/>
          </a:xfrm>
        </p:grpSpPr>
        <p:grpSp>
          <p:nvGrpSpPr>
            <p:cNvPr id="21545" name="Group 20"/>
            <p:cNvGrpSpPr/>
            <p:nvPr/>
          </p:nvGrpSpPr>
          <p:grpSpPr>
            <a:xfrm>
              <a:off x="624" y="1920"/>
              <a:ext cx="1968" cy="279"/>
              <a:chOff x="624" y="1920"/>
              <a:chExt cx="1968" cy="279"/>
            </a:xfrm>
          </p:grpSpPr>
          <p:sp>
            <p:nvSpPr>
              <p:cNvPr id="21550" name="Text Box 17"/>
              <p:cNvSpPr txBox="1"/>
              <p:nvPr/>
            </p:nvSpPr>
            <p:spPr>
              <a:xfrm>
                <a:off x="1968" y="1968"/>
                <a:ext cx="624" cy="231"/>
              </a:xfrm>
              <a:prstGeom prst="rect">
                <a:avLst/>
              </a:prstGeom>
              <a:noFill/>
              <a:ln w="9525">
                <a:noFill/>
              </a:ln>
            </p:spPr>
            <p:txBody>
              <a:bodyPr>
                <a:spAutoFit/>
              </a:bodyPr>
              <a:p>
                <a:pPr eaLnBrk="1" hangingPunct="1">
                  <a:spcBef>
                    <a:spcPct val="50000"/>
                  </a:spcBef>
                </a:pPr>
                <a:r>
                  <a:rPr lang="en-US" altLang="zh-CN" b="1" dirty="0">
                    <a:solidFill>
                      <a:srgbClr val="FF0000"/>
                    </a:solidFill>
                    <a:latin typeface="Times New Roman" panose="02020603050405020304" pitchFamily="18" charset="0"/>
                  </a:rPr>
                  <a:t>25V</a:t>
                </a:r>
                <a:endParaRPr lang="en-US" altLang="zh-CN" b="1" dirty="0">
                  <a:solidFill>
                    <a:srgbClr val="FF0000"/>
                  </a:solidFill>
                  <a:latin typeface="Times New Roman" panose="02020603050405020304" pitchFamily="18" charset="0"/>
                </a:endParaRPr>
              </a:p>
            </p:txBody>
          </p:sp>
          <p:sp>
            <p:nvSpPr>
              <p:cNvPr id="21551" name="Text Box 18"/>
              <p:cNvSpPr txBox="1"/>
              <p:nvPr/>
            </p:nvSpPr>
            <p:spPr>
              <a:xfrm>
                <a:off x="1296" y="1920"/>
                <a:ext cx="624" cy="231"/>
              </a:xfrm>
              <a:prstGeom prst="rect">
                <a:avLst/>
              </a:prstGeom>
              <a:noFill/>
              <a:ln w="9525">
                <a:noFill/>
              </a:ln>
            </p:spPr>
            <p:txBody>
              <a:bodyPr>
                <a:spAutoFit/>
              </a:bodyPr>
              <a:p>
                <a:pPr eaLnBrk="1" hangingPunct="1">
                  <a:spcBef>
                    <a:spcPct val="50000"/>
                  </a:spcBef>
                </a:pPr>
                <a:r>
                  <a:rPr lang="en-US" altLang="zh-CN" b="1" dirty="0">
                    <a:solidFill>
                      <a:srgbClr val="FF0000"/>
                    </a:solidFill>
                    <a:latin typeface="Times New Roman" panose="02020603050405020304" pitchFamily="18" charset="0"/>
                  </a:rPr>
                  <a:t>25V</a:t>
                </a:r>
                <a:endParaRPr lang="en-US" altLang="zh-CN" b="1" dirty="0">
                  <a:solidFill>
                    <a:srgbClr val="FF0000"/>
                  </a:solidFill>
                  <a:latin typeface="Times New Roman" panose="02020603050405020304" pitchFamily="18" charset="0"/>
                </a:endParaRPr>
              </a:p>
            </p:txBody>
          </p:sp>
          <p:sp>
            <p:nvSpPr>
              <p:cNvPr id="21552" name="Text Box 19"/>
              <p:cNvSpPr txBox="1"/>
              <p:nvPr/>
            </p:nvSpPr>
            <p:spPr>
              <a:xfrm>
                <a:off x="624" y="1920"/>
                <a:ext cx="624" cy="231"/>
              </a:xfrm>
              <a:prstGeom prst="rect">
                <a:avLst/>
              </a:prstGeom>
              <a:noFill/>
              <a:ln w="9525">
                <a:noFill/>
              </a:ln>
            </p:spPr>
            <p:txBody>
              <a:bodyPr>
                <a:spAutoFit/>
              </a:bodyPr>
              <a:p>
                <a:pPr eaLnBrk="1" hangingPunct="1">
                  <a:spcBef>
                    <a:spcPct val="50000"/>
                  </a:spcBef>
                </a:pPr>
                <a:r>
                  <a:rPr lang="en-US" altLang="zh-CN" b="1" dirty="0">
                    <a:solidFill>
                      <a:srgbClr val="FF0000"/>
                    </a:solidFill>
                    <a:latin typeface="Times New Roman" panose="02020603050405020304" pitchFamily="18" charset="0"/>
                  </a:rPr>
                  <a:t>GND</a:t>
                </a:r>
                <a:endParaRPr lang="en-US" altLang="zh-CN" b="1" dirty="0">
                  <a:solidFill>
                    <a:srgbClr val="FF0000"/>
                  </a:solidFill>
                  <a:latin typeface="Times New Roman" panose="02020603050405020304" pitchFamily="18" charset="0"/>
                </a:endParaRPr>
              </a:p>
            </p:txBody>
          </p:sp>
        </p:grpSp>
        <p:grpSp>
          <p:nvGrpSpPr>
            <p:cNvPr id="21546" name="Group 24"/>
            <p:cNvGrpSpPr/>
            <p:nvPr/>
          </p:nvGrpSpPr>
          <p:grpSpPr>
            <a:xfrm>
              <a:off x="1056" y="2832"/>
              <a:ext cx="480" cy="240"/>
              <a:chOff x="1056" y="2832"/>
              <a:chExt cx="480" cy="240"/>
            </a:xfrm>
          </p:grpSpPr>
          <p:sp>
            <p:nvSpPr>
              <p:cNvPr id="21547" name="Line 21"/>
              <p:cNvSpPr/>
              <p:nvPr/>
            </p:nvSpPr>
            <p:spPr>
              <a:xfrm flipV="1">
                <a:off x="1056" y="2880"/>
                <a:ext cx="288" cy="192"/>
              </a:xfrm>
              <a:prstGeom prst="line">
                <a:avLst/>
              </a:prstGeom>
              <a:ln w="38100" cap="flat" cmpd="sng">
                <a:solidFill>
                  <a:srgbClr val="FF0000"/>
                </a:solidFill>
                <a:prstDash val="solid"/>
                <a:headEnd type="none" w="med" len="med"/>
                <a:tailEnd type="triangle" w="med" len="med"/>
              </a:ln>
            </p:spPr>
          </p:sp>
          <p:sp>
            <p:nvSpPr>
              <p:cNvPr id="21548" name="Line 22"/>
              <p:cNvSpPr/>
              <p:nvPr/>
            </p:nvSpPr>
            <p:spPr>
              <a:xfrm>
                <a:off x="1392" y="2832"/>
                <a:ext cx="48" cy="0"/>
              </a:xfrm>
              <a:prstGeom prst="line">
                <a:avLst/>
              </a:prstGeom>
              <a:ln w="9525" cap="flat" cmpd="sng">
                <a:solidFill>
                  <a:srgbClr val="FF0000"/>
                </a:solidFill>
                <a:prstDash val="solid"/>
                <a:headEnd type="none" w="med" len="med"/>
                <a:tailEnd type="none" w="med" len="med"/>
              </a:ln>
            </p:spPr>
          </p:sp>
          <p:sp>
            <p:nvSpPr>
              <p:cNvPr id="21549" name="Line 23"/>
              <p:cNvSpPr/>
              <p:nvPr/>
            </p:nvSpPr>
            <p:spPr>
              <a:xfrm>
                <a:off x="1488" y="2832"/>
                <a:ext cx="48" cy="0"/>
              </a:xfrm>
              <a:prstGeom prst="line">
                <a:avLst/>
              </a:prstGeom>
              <a:ln w="9525" cap="flat" cmpd="sng">
                <a:solidFill>
                  <a:srgbClr val="FF0000"/>
                </a:solidFill>
                <a:prstDash val="solid"/>
                <a:headEnd type="none" w="med" len="med"/>
                <a:tailEnd type="none" w="med" len="med"/>
              </a:ln>
            </p:spPr>
          </p:sp>
        </p:grpSp>
      </p:grpSp>
      <p:grpSp>
        <p:nvGrpSpPr>
          <p:cNvPr id="61488" name="Group 48"/>
          <p:cNvGrpSpPr/>
          <p:nvPr/>
        </p:nvGrpSpPr>
        <p:grpSpPr>
          <a:xfrm>
            <a:off x="4800600" y="4343400"/>
            <a:ext cx="3505200" cy="1966913"/>
            <a:chOff x="3024" y="2736"/>
            <a:chExt cx="2208" cy="1239"/>
          </a:xfrm>
        </p:grpSpPr>
        <p:sp>
          <p:nvSpPr>
            <p:cNvPr id="21542" name="Text Box 45"/>
            <p:cNvSpPr txBox="1"/>
            <p:nvPr/>
          </p:nvSpPr>
          <p:spPr>
            <a:xfrm>
              <a:off x="4176" y="3504"/>
              <a:ext cx="432" cy="231"/>
            </a:xfrm>
            <a:prstGeom prst="rect">
              <a:avLst/>
            </a:prstGeom>
            <a:noFill/>
            <a:ln w="9525">
              <a:noFill/>
            </a:ln>
          </p:spPr>
          <p:txBody>
            <a:bodyPr>
              <a:spAutoFit/>
            </a:bodyPr>
            <a:p>
              <a:pPr eaLnBrk="1" hangingPunct="1">
                <a:spcBef>
                  <a:spcPct val="50000"/>
                </a:spcBef>
              </a:pPr>
              <a:r>
                <a:rPr lang="en-US" altLang="zh-CN" b="1" dirty="0">
                  <a:solidFill>
                    <a:srgbClr val="FF0000"/>
                  </a:solidFill>
                  <a:latin typeface="Times New Roman" panose="02020603050405020304" pitchFamily="18" charset="0"/>
                </a:rPr>
                <a:t>—</a:t>
              </a:r>
              <a:endParaRPr lang="en-US" altLang="zh-CN" b="1" dirty="0">
                <a:latin typeface="Times New Roman" panose="02020603050405020304" pitchFamily="18" charset="0"/>
              </a:endParaRPr>
            </a:p>
          </p:txBody>
        </p:sp>
        <p:sp>
          <p:nvSpPr>
            <p:cNvPr id="21543" name="Text Box 46"/>
            <p:cNvSpPr txBox="1"/>
            <p:nvPr/>
          </p:nvSpPr>
          <p:spPr>
            <a:xfrm>
              <a:off x="4800" y="2736"/>
              <a:ext cx="432" cy="231"/>
            </a:xfrm>
            <a:prstGeom prst="rect">
              <a:avLst/>
            </a:prstGeom>
            <a:noFill/>
            <a:ln w="9525">
              <a:noFill/>
            </a:ln>
          </p:spPr>
          <p:txBody>
            <a:bodyPr>
              <a:spAutoFit/>
            </a:bodyPr>
            <a:p>
              <a:pPr eaLnBrk="1" hangingPunct="1">
                <a:spcBef>
                  <a:spcPct val="50000"/>
                </a:spcBef>
              </a:pPr>
              <a:r>
                <a:rPr lang="en-US" altLang="zh-CN" b="1" dirty="0">
                  <a:solidFill>
                    <a:srgbClr val="FF0000"/>
                  </a:solidFill>
                  <a:latin typeface="Times New Roman" panose="02020603050405020304" pitchFamily="18" charset="0"/>
                </a:rPr>
                <a:t>1</a:t>
              </a:r>
              <a:endParaRPr lang="en-US" altLang="zh-CN" b="1" dirty="0">
                <a:latin typeface="Times New Roman" panose="02020603050405020304" pitchFamily="18" charset="0"/>
              </a:endParaRPr>
            </a:p>
          </p:txBody>
        </p:sp>
        <p:sp>
          <p:nvSpPr>
            <p:cNvPr id="21544" name="Text Box 47"/>
            <p:cNvSpPr txBox="1"/>
            <p:nvPr/>
          </p:nvSpPr>
          <p:spPr>
            <a:xfrm>
              <a:off x="3024" y="3744"/>
              <a:ext cx="432" cy="231"/>
            </a:xfrm>
            <a:prstGeom prst="rect">
              <a:avLst/>
            </a:prstGeom>
            <a:noFill/>
            <a:ln w="9525">
              <a:noFill/>
            </a:ln>
          </p:spPr>
          <p:txBody>
            <a:bodyPr>
              <a:spAutoFit/>
            </a:bodyPr>
            <a:p>
              <a:pPr eaLnBrk="1" hangingPunct="1">
                <a:spcBef>
                  <a:spcPct val="50000"/>
                </a:spcBef>
              </a:pPr>
              <a:r>
                <a:rPr lang="en-US" altLang="zh-CN" b="1" dirty="0">
                  <a:solidFill>
                    <a:srgbClr val="FF0000"/>
                  </a:solidFill>
                  <a:latin typeface="Times New Roman" panose="02020603050405020304" pitchFamily="18" charset="0"/>
                </a:rPr>
                <a:t>1</a:t>
              </a:r>
              <a:endParaRPr lang="en-US" altLang="zh-CN" b="1" dirty="0">
                <a:latin typeface="Times New Roman" panose="02020603050405020304" pitchFamily="18" charset="0"/>
              </a:endParaRPr>
            </a:p>
          </p:txBody>
        </p:sp>
      </p:grpSp>
      <p:grpSp>
        <p:nvGrpSpPr>
          <p:cNvPr id="61492" name="Group 52"/>
          <p:cNvGrpSpPr/>
          <p:nvPr/>
        </p:nvGrpSpPr>
        <p:grpSpPr>
          <a:xfrm>
            <a:off x="5715000" y="2590800"/>
            <a:ext cx="2590800" cy="1524000"/>
            <a:chOff x="3600" y="1632"/>
            <a:chExt cx="1632" cy="960"/>
          </a:xfrm>
        </p:grpSpPr>
        <p:sp>
          <p:nvSpPr>
            <p:cNvPr id="21539" name="Line 49"/>
            <p:cNvSpPr/>
            <p:nvPr/>
          </p:nvSpPr>
          <p:spPr>
            <a:xfrm>
              <a:off x="3600" y="1632"/>
              <a:ext cx="0" cy="720"/>
            </a:xfrm>
            <a:prstGeom prst="line">
              <a:avLst/>
            </a:prstGeom>
            <a:ln w="38100" cap="flat" cmpd="sng">
              <a:solidFill>
                <a:schemeClr val="accent1"/>
              </a:solidFill>
              <a:prstDash val="solid"/>
              <a:headEnd type="none" w="med" len="med"/>
              <a:tailEnd type="none" w="med" len="med"/>
            </a:ln>
          </p:spPr>
        </p:sp>
        <p:sp>
          <p:nvSpPr>
            <p:cNvPr id="21540" name="Line 50"/>
            <p:cNvSpPr/>
            <p:nvPr/>
          </p:nvSpPr>
          <p:spPr>
            <a:xfrm>
              <a:off x="3600" y="2352"/>
              <a:ext cx="1056" cy="0"/>
            </a:xfrm>
            <a:prstGeom prst="line">
              <a:avLst/>
            </a:prstGeom>
            <a:ln w="38100" cap="flat" cmpd="sng">
              <a:solidFill>
                <a:schemeClr val="accent1"/>
              </a:solidFill>
              <a:prstDash val="solid"/>
              <a:headEnd type="none" w="med" len="med"/>
              <a:tailEnd type="triangle" w="med" len="med"/>
            </a:ln>
          </p:spPr>
        </p:sp>
        <p:sp>
          <p:nvSpPr>
            <p:cNvPr id="21541" name="Text Box 51"/>
            <p:cNvSpPr txBox="1"/>
            <p:nvPr/>
          </p:nvSpPr>
          <p:spPr>
            <a:xfrm>
              <a:off x="4752" y="2361"/>
              <a:ext cx="480" cy="231"/>
            </a:xfrm>
            <a:prstGeom prst="rect">
              <a:avLst/>
            </a:prstGeom>
            <a:noFill/>
            <a:ln w="9525">
              <a:noFill/>
            </a:ln>
          </p:spPr>
          <p:txBody>
            <a:bodyPr>
              <a:spAutoFit/>
            </a:bodyPr>
            <a:p>
              <a:pPr eaLnBrk="1" hangingPunct="1">
                <a:spcBef>
                  <a:spcPct val="50000"/>
                </a:spcBef>
              </a:pPr>
              <a:r>
                <a:rPr lang="en-US" altLang="zh-CN" b="1" dirty="0">
                  <a:solidFill>
                    <a:srgbClr val="FF0000"/>
                  </a:solidFill>
                  <a:latin typeface="Times New Roman" panose="02020603050405020304" pitchFamily="18" charset="0"/>
                </a:rPr>
                <a:t>1</a:t>
              </a:r>
              <a:endParaRPr lang="en-US" altLang="zh-CN" b="1" dirty="0">
                <a:latin typeface="Times New Roman" panose="02020603050405020304" pitchFamily="18" charset="0"/>
              </a:endParaRPr>
            </a:p>
          </p:txBody>
        </p:sp>
      </p:grpSp>
      <p:grpSp>
        <p:nvGrpSpPr>
          <p:cNvPr id="61493" name="Group 53"/>
          <p:cNvGrpSpPr/>
          <p:nvPr/>
        </p:nvGrpSpPr>
        <p:grpSpPr>
          <a:xfrm>
            <a:off x="4800600" y="4343400"/>
            <a:ext cx="3505200" cy="1978025"/>
            <a:chOff x="3024" y="2736"/>
            <a:chExt cx="2208" cy="1237"/>
          </a:xfrm>
        </p:grpSpPr>
        <p:sp>
          <p:nvSpPr>
            <p:cNvPr id="21536" name="Text Box 54"/>
            <p:cNvSpPr txBox="1"/>
            <p:nvPr/>
          </p:nvSpPr>
          <p:spPr>
            <a:xfrm>
              <a:off x="4176" y="3504"/>
              <a:ext cx="432" cy="230"/>
            </a:xfrm>
            <a:prstGeom prst="rect">
              <a:avLst/>
            </a:prstGeom>
            <a:noFill/>
            <a:ln w="9525">
              <a:noFill/>
            </a:ln>
          </p:spPr>
          <p:txBody>
            <a:bodyPr>
              <a:spAutoFit/>
            </a:bodyPr>
            <a:p>
              <a:pPr eaLnBrk="1" hangingPunct="1">
                <a:spcBef>
                  <a:spcPct val="50000"/>
                </a:spcBef>
              </a:pPr>
              <a:r>
                <a:rPr lang="zh-CN" altLang="en-US" b="1" dirty="0">
                  <a:solidFill>
                    <a:srgbClr val="FF0000"/>
                  </a:solidFill>
                  <a:latin typeface="Times New Roman" panose="02020603050405020304" pitchFamily="18" charset="0"/>
                </a:rPr>
                <a:t>无</a:t>
              </a:r>
              <a:endParaRPr lang="zh-CN" altLang="en-US" b="1" dirty="0">
                <a:latin typeface="Times New Roman" panose="02020603050405020304" pitchFamily="18" charset="0"/>
              </a:endParaRPr>
            </a:p>
          </p:txBody>
        </p:sp>
        <p:sp>
          <p:nvSpPr>
            <p:cNvPr id="21537" name="Text Box 55"/>
            <p:cNvSpPr txBox="1"/>
            <p:nvPr/>
          </p:nvSpPr>
          <p:spPr>
            <a:xfrm>
              <a:off x="4800" y="2736"/>
              <a:ext cx="432" cy="229"/>
            </a:xfrm>
            <a:prstGeom prst="rect">
              <a:avLst/>
            </a:prstGeom>
            <a:noFill/>
            <a:ln w="9525">
              <a:noFill/>
            </a:ln>
          </p:spPr>
          <p:txBody>
            <a:bodyPr>
              <a:spAutoFit/>
            </a:bodyPr>
            <a:p>
              <a:pPr eaLnBrk="1" hangingPunct="1">
                <a:spcBef>
                  <a:spcPct val="50000"/>
                </a:spcBef>
              </a:pPr>
              <a:r>
                <a:rPr lang="en-US" altLang="zh-CN" b="1" dirty="0">
                  <a:solidFill>
                    <a:srgbClr val="FF0000"/>
                  </a:solidFill>
                  <a:latin typeface="Times New Roman" panose="02020603050405020304" pitchFamily="18" charset="0"/>
                </a:rPr>
                <a:t>1</a:t>
              </a:r>
              <a:endParaRPr lang="en-US" altLang="zh-CN" b="1" dirty="0">
                <a:latin typeface="Times New Roman" panose="02020603050405020304" pitchFamily="18" charset="0"/>
              </a:endParaRPr>
            </a:p>
          </p:txBody>
        </p:sp>
        <p:sp>
          <p:nvSpPr>
            <p:cNvPr id="21538" name="Text Box 56"/>
            <p:cNvSpPr txBox="1"/>
            <p:nvPr/>
          </p:nvSpPr>
          <p:spPr>
            <a:xfrm>
              <a:off x="3024" y="3744"/>
              <a:ext cx="432" cy="229"/>
            </a:xfrm>
            <a:prstGeom prst="rect">
              <a:avLst/>
            </a:prstGeom>
            <a:noFill/>
            <a:ln w="9525">
              <a:noFill/>
            </a:ln>
          </p:spPr>
          <p:txBody>
            <a:bodyPr>
              <a:spAutoFit/>
            </a:bodyPr>
            <a:p>
              <a:pPr eaLnBrk="1" hangingPunct="1">
                <a:spcBef>
                  <a:spcPct val="50000"/>
                </a:spcBef>
              </a:pPr>
              <a:r>
                <a:rPr lang="en-US" altLang="zh-CN" b="1" dirty="0">
                  <a:solidFill>
                    <a:srgbClr val="FF0000"/>
                  </a:solidFill>
                  <a:latin typeface="Times New Roman" panose="02020603050405020304" pitchFamily="18" charset="0"/>
                </a:rPr>
                <a:t>1</a:t>
              </a:r>
              <a:endParaRPr lang="en-US" altLang="zh-CN" b="1" dirty="0">
                <a:latin typeface="Times New Roman" panose="02020603050405020304" pitchFamily="18" charset="0"/>
              </a:endParaRPr>
            </a:p>
          </p:txBody>
        </p:sp>
      </p:grpSp>
      <p:grpSp>
        <p:nvGrpSpPr>
          <p:cNvPr id="61497" name="Group 57"/>
          <p:cNvGrpSpPr/>
          <p:nvPr/>
        </p:nvGrpSpPr>
        <p:grpSpPr>
          <a:xfrm>
            <a:off x="5715000" y="2590800"/>
            <a:ext cx="2590800" cy="1524000"/>
            <a:chOff x="3600" y="1632"/>
            <a:chExt cx="1632" cy="960"/>
          </a:xfrm>
        </p:grpSpPr>
        <p:sp>
          <p:nvSpPr>
            <p:cNvPr id="21533" name="Line 58"/>
            <p:cNvSpPr/>
            <p:nvPr/>
          </p:nvSpPr>
          <p:spPr>
            <a:xfrm>
              <a:off x="3600" y="1632"/>
              <a:ext cx="0" cy="720"/>
            </a:xfrm>
            <a:prstGeom prst="line">
              <a:avLst/>
            </a:prstGeom>
            <a:ln w="38100" cap="flat" cmpd="sng">
              <a:solidFill>
                <a:schemeClr val="accent1"/>
              </a:solidFill>
              <a:prstDash val="solid"/>
              <a:headEnd type="none" w="med" len="med"/>
              <a:tailEnd type="none" w="med" len="med"/>
            </a:ln>
          </p:spPr>
        </p:sp>
        <p:sp>
          <p:nvSpPr>
            <p:cNvPr id="21534" name="Line 59"/>
            <p:cNvSpPr/>
            <p:nvPr/>
          </p:nvSpPr>
          <p:spPr>
            <a:xfrm>
              <a:off x="3600" y="2352"/>
              <a:ext cx="1056" cy="0"/>
            </a:xfrm>
            <a:prstGeom prst="line">
              <a:avLst/>
            </a:prstGeom>
            <a:ln w="38100" cap="flat" cmpd="sng">
              <a:solidFill>
                <a:schemeClr val="accent1"/>
              </a:solidFill>
              <a:prstDash val="solid"/>
              <a:headEnd type="none" w="med" len="med"/>
              <a:tailEnd type="triangle" w="med" len="med"/>
            </a:ln>
          </p:spPr>
        </p:sp>
        <p:sp>
          <p:nvSpPr>
            <p:cNvPr id="21535" name="Text Box 60"/>
            <p:cNvSpPr txBox="1"/>
            <p:nvPr/>
          </p:nvSpPr>
          <p:spPr>
            <a:xfrm>
              <a:off x="4752" y="2361"/>
              <a:ext cx="480" cy="231"/>
            </a:xfrm>
            <a:prstGeom prst="rect">
              <a:avLst/>
            </a:prstGeom>
            <a:noFill/>
            <a:ln w="9525">
              <a:noFill/>
            </a:ln>
          </p:spPr>
          <p:txBody>
            <a:bodyPr>
              <a:spAutoFit/>
            </a:bodyPr>
            <a:p>
              <a:pPr eaLnBrk="1" hangingPunct="1">
                <a:spcBef>
                  <a:spcPct val="50000"/>
                </a:spcBef>
              </a:pPr>
              <a:r>
                <a:rPr lang="en-US" altLang="zh-CN" b="1" dirty="0">
                  <a:solidFill>
                    <a:srgbClr val="FF0000"/>
                  </a:solidFill>
                  <a:latin typeface="Times New Roman" panose="02020603050405020304" pitchFamily="18" charset="0"/>
                </a:rPr>
                <a:t>0</a:t>
              </a:r>
              <a:endParaRPr lang="en-US" altLang="zh-CN" b="1" dirty="0">
                <a:latin typeface="Times New Roman" panose="02020603050405020304" pitchFamily="18" charset="0"/>
              </a:endParaRPr>
            </a:p>
          </p:txBody>
        </p:sp>
      </p:grpSp>
      <p:grpSp>
        <p:nvGrpSpPr>
          <p:cNvPr id="61484" name="Group 44"/>
          <p:cNvGrpSpPr/>
          <p:nvPr/>
        </p:nvGrpSpPr>
        <p:grpSpPr>
          <a:xfrm>
            <a:off x="1905000" y="4495800"/>
            <a:ext cx="1905000" cy="1828800"/>
            <a:chOff x="2448" y="3168"/>
            <a:chExt cx="1200" cy="1152"/>
          </a:xfrm>
        </p:grpSpPr>
        <p:sp>
          <p:nvSpPr>
            <p:cNvPr id="21526" name="Line 34"/>
            <p:cNvSpPr/>
            <p:nvPr/>
          </p:nvSpPr>
          <p:spPr>
            <a:xfrm>
              <a:off x="2448" y="3456"/>
              <a:ext cx="528" cy="0"/>
            </a:xfrm>
            <a:prstGeom prst="line">
              <a:avLst/>
            </a:prstGeom>
            <a:ln w="38100" cap="flat" cmpd="sng">
              <a:solidFill>
                <a:srgbClr val="FF0000"/>
              </a:solidFill>
              <a:prstDash val="solid"/>
              <a:headEnd type="none" w="med" len="med"/>
              <a:tailEnd type="none" w="med" len="med"/>
            </a:ln>
          </p:spPr>
        </p:sp>
        <p:grpSp>
          <p:nvGrpSpPr>
            <p:cNvPr id="21527" name="Group 43"/>
            <p:cNvGrpSpPr/>
            <p:nvPr/>
          </p:nvGrpSpPr>
          <p:grpSpPr>
            <a:xfrm>
              <a:off x="2496" y="3168"/>
              <a:ext cx="1152" cy="1152"/>
              <a:chOff x="2448" y="3168"/>
              <a:chExt cx="1152" cy="1152"/>
            </a:xfrm>
          </p:grpSpPr>
          <p:sp>
            <p:nvSpPr>
              <p:cNvPr id="21528" name="Text Box 35"/>
              <p:cNvSpPr txBox="1"/>
              <p:nvPr/>
            </p:nvSpPr>
            <p:spPr>
              <a:xfrm>
                <a:off x="2448" y="3264"/>
                <a:ext cx="648" cy="231"/>
              </a:xfrm>
              <a:prstGeom prst="rect">
                <a:avLst/>
              </a:prstGeom>
              <a:noFill/>
              <a:ln w="9525">
                <a:noFill/>
              </a:ln>
            </p:spPr>
            <p:txBody>
              <a:bodyPr>
                <a:spAutoFit/>
              </a:bodyPr>
              <a:p>
                <a:pPr eaLnBrk="1" hangingPunct="1">
                  <a:spcBef>
                    <a:spcPct val="50000"/>
                  </a:spcBef>
                </a:pPr>
                <a:r>
                  <a:rPr lang="en-US" altLang="zh-CN" b="1" dirty="0">
                    <a:solidFill>
                      <a:srgbClr val="FF0000"/>
                    </a:solidFill>
                    <a:latin typeface="Times New Roman" panose="02020603050405020304" pitchFamily="18" charset="0"/>
                  </a:rPr>
                  <a:t>+ + + +</a:t>
                </a:r>
                <a:endParaRPr lang="en-US" altLang="zh-CN" b="1" dirty="0">
                  <a:solidFill>
                    <a:srgbClr val="FF0000"/>
                  </a:solidFill>
                  <a:latin typeface="Times New Roman" panose="02020603050405020304" pitchFamily="18" charset="0"/>
                </a:endParaRPr>
              </a:p>
            </p:txBody>
          </p:sp>
          <p:grpSp>
            <p:nvGrpSpPr>
              <p:cNvPr id="21529" name="Group 41"/>
              <p:cNvGrpSpPr/>
              <p:nvPr/>
            </p:nvGrpSpPr>
            <p:grpSpPr>
              <a:xfrm>
                <a:off x="2496" y="3465"/>
                <a:ext cx="1104" cy="855"/>
                <a:chOff x="1248" y="3120"/>
                <a:chExt cx="1104" cy="855"/>
              </a:xfrm>
            </p:grpSpPr>
            <p:sp>
              <p:nvSpPr>
                <p:cNvPr id="21531" name="Line 36"/>
                <p:cNvSpPr/>
                <p:nvPr/>
              </p:nvSpPr>
              <p:spPr>
                <a:xfrm flipV="1">
                  <a:off x="1392" y="3120"/>
                  <a:ext cx="0" cy="624"/>
                </a:xfrm>
                <a:prstGeom prst="line">
                  <a:avLst/>
                </a:prstGeom>
                <a:ln w="38100" cap="flat" cmpd="sng">
                  <a:solidFill>
                    <a:schemeClr val="accent1"/>
                  </a:solidFill>
                  <a:prstDash val="solid"/>
                  <a:headEnd type="none" w="med" len="med"/>
                  <a:tailEnd type="triangle" w="med" len="med"/>
                </a:ln>
              </p:spPr>
            </p:sp>
            <p:sp>
              <p:nvSpPr>
                <p:cNvPr id="21532" name="Text Box 37"/>
                <p:cNvSpPr txBox="1"/>
                <p:nvPr/>
              </p:nvSpPr>
              <p:spPr>
                <a:xfrm>
                  <a:off x="1248" y="3744"/>
                  <a:ext cx="1104" cy="231"/>
                </a:xfrm>
                <a:prstGeom prst="rect">
                  <a:avLst/>
                </a:prstGeom>
                <a:noFill/>
                <a:ln w="9525">
                  <a:noFill/>
                </a:ln>
              </p:spPr>
              <p:txBody>
                <a:bodyPr>
                  <a:spAutoFit/>
                </a:bodyPr>
                <a:p>
                  <a:pPr eaLnBrk="1" hangingPunct="1">
                    <a:spcBef>
                      <a:spcPct val="50000"/>
                    </a:spcBef>
                  </a:pPr>
                  <a:r>
                    <a:rPr lang="zh-CN" altLang="en-US" b="1" dirty="0">
                      <a:latin typeface="Times New Roman" panose="02020603050405020304" pitchFamily="18" charset="0"/>
                    </a:rPr>
                    <a:t>开启电压加大</a:t>
                  </a:r>
                  <a:endParaRPr lang="zh-CN" altLang="en-US" b="1" dirty="0">
                    <a:latin typeface="Times New Roman" panose="02020603050405020304" pitchFamily="18" charset="0"/>
                  </a:endParaRPr>
                </a:p>
              </p:txBody>
            </p:sp>
          </p:grpSp>
          <p:sp>
            <p:nvSpPr>
              <p:cNvPr id="21530" name="Text Box 38"/>
              <p:cNvSpPr txBox="1"/>
              <p:nvPr/>
            </p:nvSpPr>
            <p:spPr>
              <a:xfrm>
                <a:off x="2448" y="3168"/>
                <a:ext cx="648" cy="231"/>
              </a:xfrm>
              <a:prstGeom prst="rect">
                <a:avLst/>
              </a:prstGeom>
              <a:noFill/>
              <a:ln w="9525">
                <a:noFill/>
              </a:ln>
            </p:spPr>
            <p:txBody>
              <a:bodyPr>
                <a:spAutoFit/>
              </a:bodyPr>
              <a:p>
                <a:pPr eaLnBrk="1" hangingPunct="1">
                  <a:spcBef>
                    <a:spcPct val="50000"/>
                  </a:spcBef>
                </a:pPr>
                <a:r>
                  <a:rPr lang="en-US" altLang="zh-CN" b="1" dirty="0">
                    <a:solidFill>
                      <a:srgbClr val="FF0000"/>
                    </a:solidFill>
                    <a:latin typeface="Times New Roman" panose="02020603050405020304" pitchFamily="18" charset="0"/>
                  </a:rPr>
                  <a:t>+ + + +</a:t>
                </a:r>
                <a:endParaRPr lang="en-US" altLang="zh-CN" b="1" dirty="0">
                  <a:solidFill>
                    <a:srgbClr val="FF0000"/>
                  </a:solidFill>
                  <a:latin typeface="Times New Roman" panose="02020603050405020304" pitchFamily="18" charset="0"/>
                </a:endParaRPr>
              </a:p>
            </p:txBody>
          </p:sp>
        </p:grpSp>
      </p:grpSp>
      <p:grpSp>
        <p:nvGrpSpPr>
          <p:cNvPr id="61506" name="Group 66"/>
          <p:cNvGrpSpPr/>
          <p:nvPr/>
        </p:nvGrpSpPr>
        <p:grpSpPr>
          <a:xfrm>
            <a:off x="990600" y="2590800"/>
            <a:ext cx="3200400" cy="3871913"/>
            <a:chOff x="624" y="1632"/>
            <a:chExt cx="2016" cy="2439"/>
          </a:xfrm>
        </p:grpSpPr>
        <p:grpSp>
          <p:nvGrpSpPr>
            <p:cNvPr id="21517" name="Group 31"/>
            <p:cNvGrpSpPr/>
            <p:nvPr/>
          </p:nvGrpSpPr>
          <p:grpSpPr>
            <a:xfrm>
              <a:off x="1248" y="2880"/>
              <a:ext cx="1392" cy="1191"/>
              <a:chOff x="1200" y="2880"/>
              <a:chExt cx="1392" cy="1191"/>
            </a:xfrm>
          </p:grpSpPr>
          <p:grpSp>
            <p:nvGrpSpPr>
              <p:cNvPr id="21521" name="Group 28"/>
              <p:cNvGrpSpPr/>
              <p:nvPr/>
            </p:nvGrpSpPr>
            <p:grpSpPr>
              <a:xfrm>
                <a:off x="1200" y="2880"/>
                <a:ext cx="576" cy="231"/>
                <a:chOff x="1200" y="2880"/>
                <a:chExt cx="576" cy="231"/>
              </a:xfrm>
            </p:grpSpPr>
            <p:sp>
              <p:nvSpPr>
                <p:cNvPr id="21524" name="Line 26"/>
                <p:cNvSpPr/>
                <p:nvPr/>
              </p:nvSpPr>
              <p:spPr>
                <a:xfrm>
                  <a:off x="1200" y="3072"/>
                  <a:ext cx="480" cy="0"/>
                </a:xfrm>
                <a:prstGeom prst="line">
                  <a:avLst/>
                </a:prstGeom>
                <a:ln w="38100" cap="flat" cmpd="sng">
                  <a:solidFill>
                    <a:srgbClr val="FF0000"/>
                  </a:solidFill>
                  <a:prstDash val="solid"/>
                  <a:headEnd type="none" w="med" len="med"/>
                  <a:tailEnd type="none" w="med" len="med"/>
                </a:ln>
              </p:spPr>
            </p:sp>
            <p:sp>
              <p:nvSpPr>
                <p:cNvPr id="21525" name="Text Box 27"/>
                <p:cNvSpPr txBox="1"/>
                <p:nvPr/>
              </p:nvSpPr>
              <p:spPr>
                <a:xfrm>
                  <a:off x="1344" y="2880"/>
                  <a:ext cx="432" cy="231"/>
                </a:xfrm>
                <a:prstGeom prst="rect">
                  <a:avLst/>
                </a:prstGeom>
                <a:noFill/>
                <a:ln w="9525">
                  <a:noFill/>
                </a:ln>
              </p:spPr>
              <p:txBody>
                <a:bodyPr>
                  <a:spAutoFit/>
                </a:bodyPr>
                <a:p>
                  <a:pPr eaLnBrk="1" hangingPunct="1">
                    <a:spcBef>
                      <a:spcPct val="50000"/>
                    </a:spcBef>
                  </a:pPr>
                  <a:r>
                    <a:rPr lang="en-US" altLang="zh-CN" b="1" dirty="0">
                      <a:solidFill>
                        <a:srgbClr val="FF0000"/>
                      </a:solidFill>
                      <a:latin typeface="Times New Roman" panose="02020603050405020304" pitchFamily="18" charset="0"/>
                    </a:rPr>
                    <a:t>+ +</a:t>
                  </a:r>
                  <a:endParaRPr lang="en-US" altLang="zh-CN" b="1" dirty="0">
                    <a:latin typeface="Times New Roman" panose="02020603050405020304" pitchFamily="18" charset="0"/>
                  </a:endParaRPr>
                </a:p>
              </p:txBody>
            </p:sp>
          </p:grpSp>
          <p:sp>
            <p:nvSpPr>
              <p:cNvPr id="21522" name="Line 29"/>
              <p:cNvSpPr/>
              <p:nvPr/>
            </p:nvSpPr>
            <p:spPr>
              <a:xfrm flipV="1">
                <a:off x="1440" y="3072"/>
                <a:ext cx="0" cy="816"/>
              </a:xfrm>
              <a:prstGeom prst="line">
                <a:avLst/>
              </a:prstGeom>
              <a:ln w="38100" cap="flat" cmpd="sng">
                <a:solidFill>
                  <a:schemeClr val="accent1"/>
                </a:solidFill>
                <a:prstDash val="solid"/>
                <a:headEnd type="none" w="med" len="med"/>
                <a:tailEnd type="triangle" w="med" len="med"/>
              </a:ln>
            </p:spPr>
          </p:sp>
          <p:sp>
            <p:nvSpPr>
              <p:cNvPr id="21523" name="Text Box 30"/>
              <p:cNvSpPr txBox="1"/>
              <p:nvPr/>
            </p:nvSpPr>
            <p:spPr>
              <a:xfrm>
                <a:off x="1488" y="3840"/>
                <a:ext cx="1104" cy="231"/>
              </a:xfrm>
              <a:prstGeom prst="rect">
                <a:avLst/>
              </a:prstGeom>
              <a:noFill/>
              <a:ln w="9525">
                <a:noFill/>
              </a:ln>
            </p:spPr>
            <p:txBody>
              <a:bodyPr>
                <a:spAutoFit/>
              </a:bodyPr>
              <a:p>
                <a:pPr eaLnBrk="1" hangingPunct="1">
                  <a:spcBef>
                    <a:spcPct val="50000"/>
                  </a:spcBef>
                </a:pPr>
                <a:r>
                  <a:rPr lang="zh-CN" altLang="en-US" b="1" dirty="0">
                    <a:latin typeface="Times New Roman" panose="02020603050405020304" pitchFamily="18" charset="0"/>
                  </a:rPr>
                  <a:t>开启电压</a:t>
                </a:r>
                <a:endParaRPr lang="zh-CN" altLang="en-US" b="1" dirty="0">
                  <a:latin typeface="Times New Roman" panose="02020603050405020304" pitchFamily="18" charset="0"/>
                </a:endParaRPr>
              </a:p>
            </p:txBody>
          </p:sp>
        </p:grpSp>
        <p:sp>
          <p:nvSpPr>
            <p:cNvPr id="21518" name="Text Box 61"/>
            <p:cNvSpPr txBox="1"/>
            <p:nvPr/>
          </p:nvSpPr>
          <p:spPr>
            <a:xfrm>
              <a:off x="1296" y="1632"/>
              <a:ext cx="384" cy="231"/>
            </a:xfrm>
            <a:prstGeom prst="rect">
              <a:avLst/>
            </a:prstGeom>
            <a:noFill/>
            <a:ln w="9525">
              <a:noFill/>
            </a:ln>
          </p:spPr>
          <p:txBody>
            <a:bodyPr>
              <a:spAutoFit/>
            </a:bodyPr>
            <a:p>
              <a:pPr algn="ctr" eaLnBrk="1" hangingPunct="1">
                <a:spcBef>
                  <a:spcPct val="50000"/>
                </a:spcBef>
              </a:pPr>
              <a:r>
                <a:rPr lang="en-US" altLang="zh-CN" b="1" dirty="0">
                  <a:solidFill>
                    <a:srgbClr val="FF0000"/>
                  </a:solidFill>
                  <a:latin typeface="Times New Roman" panose="02020603050405020304" pitchFamily="18" charset="0"/>
                </a:rPr>
                <a:t>5V</a:t>
              </a:r>
              <a:endParaRPr lang="en-US" altLang="zh-CN" b="1" dirty="0">
                <a:latin typeface="Times New Roman" panose="02020603050405020304" pitchFamily="18" charset="0"/>
              </a:endParaRPr>
            </a:p>
          </p:txBody>
        </p:sp>
        <p:sp>
          <p:nvSpPr>
            <p:cNvPr id="21519" name="Text Box 62"/>
            <p:cNvSpPr txBox="1"/>
            <p:nvPr/>
          </p:nvSpPr>
          <p:spPr>
            <a:xfrm>
              <a:off x="2016" y="1680"/>
              <a:ext cx="384" cy="231"/>
            </a:xfrm>
            <a:prstGeom prst="rect">
              <a:avLst/>
            </a:prstGeom>
            <a:noFill/>
            <a:ln w="9525">
              <a:noFill/>
            </a:ln>
          </p:spPr>
          <p:txBody>
            <a:bodyPr>
              <a:spAutoFit/>
            </a:bodyPr>
            <a:p>
              <a:pPr algn="ctr" eaLnBrk="1" hangingPunct="1">
                <a:spcBef>
                  <a:spcPct val="50000"/>
                </a:spcBef>
              </a:pPr>
              <a:r>
                <a:rPr lang="en-US" altLang="zh-CN" b="1" dirty="0">
                  <a:solidFill>
                    <a:srgbClr val="FF0000"/>
                  </a:solidFill>
                  <a:latin typeface="Times New Roman" panose="02020603050405020304" pitchFamily="18" charset="0"/>
                </a:rPr>
                <a:t>5V</a:t>
              </a:r>
              <a:endParaRPr lang="en-US" altLang="zh-CN" b="1" dirty="0">
                <a:latin typeface="Times New Roman" panose="02020603050405020304" pitchFamily="18" charset="0"/>
              </a:endParaRPr>
            </a:p>
          </p:txBody>
        </p:sp>
        <p:sp>
          <p:nvSpPr>
            <p:cNvPr id="21520" name="Text Box 63"/>
            <p:cNvSpPr txBox="1"/>
            <p:nvPr/>
          </p:nvSpPr>
          <p:spPr>
            <a:xfrm>
              <a:off x="624" y="1632"/>
              <a:ext cx="528" cy="231"/>
            </a:xfrm>
            <a:prstGeom prst="rect">
              <a:avLst/>
            </a:prstGeom>
            <a:noFill/>
            <a:ln w="9525">
              <a:noFill/>
            </a:ln>
          </p:spPr>
          <p:txBody>
            <a:bodyPr>
              <a:spAutoFit/>
            </a:bodyPr>
            <a:p>
              <a:pPr algn="ctr" eaLnBrk="1" hangingPunct="1">
                <a:spcBef>
                  <a:spcPct val="50000"/>
                </a:spcBef>
              </a:pPr>
              <a:r>
                <a:rPr lang="en-US" altLang="zh-CN" b="1" dirty="0">
                  <a:solidFill>
                    <a:srgbClr val="FF0000"/>
                  </a:solidFill>
                  <a:latin typeface="Times New Roman" panose="02020603050405020304" pitchFamily="18" charset="0"/>
                </a:rPr>
                <a:t>GND</a:t>
              </a:r>
              <a:endParaRPr lang="en-US" altLang="zh-CN" b="1" dirty="0">
                <a:latin typeface="Times New Roman" panose="02020603050405020304" pitchFamily="18" charset="0"/>
              </a:endParaRPr>
            </a:p>
          </p:txBody>
        </p:sp>
      </p:gr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54"/>
                                        </p:tgtEl>
                                        <p:attrNameLst>
                                          <p:attrName>style.visibility</p:attrName>
                                        </p:attrNameLst>
                                      </p:cBhvr>
                                      <p:to>
                                        <p:strVal val="visible"/>
                                      </p:to>
                                    </p:set>
                                    <p:animEffect transition="in" filter="wipe(left)">
                                      <p:cBhvr>
                                        <p:cTn id="7" dur="500"/>
                                        <p:tgtEl>
                                          <p:spTgt spid="614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55"/>
                                        </p:tgtEl>
                                        <p:attrNameLst>
                                          <p:attrName>style.visibility</p:attrName>
                                        </p:attrNameLst>
                                      </p:cBhvr>
                                      <p:to>
                                        <p:strVal val="visible"/>
                                      </p:to>
                                    </p:set>
                                    <p:animEffect transition="in" filter="wipe(left)">
                                      <p:cBhvr>
                                        <p:cTn id="12" dur="500"/>
                                        <p:tgtEl>
                                          <p:spTgt spid="6145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614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61506"/>
                                        </p:tgtEl>
                                        <p:attrNameLst>
                                          <p:attrName>style.visibility</p:attrName>
                                        </p:attrNameLst>
                                      </p:cBhvr>
                                      <p:to>
                                        <p:strVal val="visible"/>
                                      </p:to>
                                    </p:set>
                                  </p:childTnLst>
                                  <p:subTnLst>
                                    <p:set>
                                      <p:cBhvr override="childStyle">
                                        <p:cTn dur="1" fill="hold" display="0" masterRel="nextClick" afterEffect="1"/>
                                        <p:tgtEl>
                                          <p:spTgt spid="61506"/>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1465"/>
                                        </p:tgtEl>
                                        <p:attrNameLst>
                                          <p:attrName>style.visibility</p:attrName>
                                        </p:attrNameLst>
                                      </p:cBhvr>
                                      <p:to>
                                        <p:strVal val="visible"/>
                                      </p:to>
                                    </p:set>
                                    <p:anim calcmode="lin" valueType="num">
                                      <p:cBhvr additive="base">
                                        <p:cTn id="25" dur="500" fill="hold"/>
                                        <p:tgtEl>
                                          <p:spTgt spid="61465"/>
                                        </p:tgtEl>
                                        <p:attrNameLst>
                                          <p:attrName>ppt_x</p:attrName>
                                        </p:attrNameLst>
                                      </p:cBhvr>
                                      <p:tavLst>
                                        <p:tav tm="0">
                                          <p:val>
                                            <p:strVal val="0-#ppt_w/2"/>
                                          </p:val>
                                        </p:tav>
                                        <p:tav tm="100000">
                                          <p:val>
                                            <p:strVal val="#ppt_x"/>
                                          </p:val>
                                        </p:tav>
                                      </p:tavLst>
                                    </p:anim>
                                    <p:anim calcmode="lin" valueType="num">
                                      <p:cBhvr additive="base">
                                        <p:cTn id="26" dur="500" fill="hold"/>
                                        <p:tgtEl>
                                          <p:spTgt spid="61465"/>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61465"/>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61484"/>
                                        </p:tgtEl>
                                        <p:attrNameLst>
                                          <p:attrName>style.visibility</p:attrName>
                                        </p:attrNameLst>
                                      </p:cBhvr>
                                      <p:to>
                                        <p:strVal val="visible"/>
                                      </p:to>
                                    </p:set>
                                    <p:anim calcmode="lin" valueType="num">
                                      <p:cBhvr additive="base">
                                        <p:cTn id="31" dur="500" fill="hold"/>
                                        <p:tgtEl>
                                          <p:spTgt spid="61484"/>
                                        </p:tgtEl>
                                        <p:attrNameLst>
                                          <p:attrName>ppt_x</p:attrName>
                                        </p:attrNameLst>
                                      </p:cBhvr>
                                      <p:tavLst>
                                        <p:tav tm="0">
                                          <p:val>
                                            <p:strVal val="0-#ppt_w/2"/>
                                          </p:val>
                                        </p:tav>
                                        <p:tav tm="100000">
                                          <p:val>
                                            <p:strVal val="#ppt_x"/>
                                          </p:val>
                                        </p:tav>
                                      </p:tavLst>
                                    </p:anim>
                                    <p:anim calcmode="lin" valueType="num">
                                      <p:cBhvr additive="base">
                                        <p:cTn id="32" dur="500" fill="hold"/>
                                        <p:tgtEl>
                                          <p:spTgt spid="61484"/>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61484"/>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61488"/>
                                        </p:tgtEl>
                                        <p:attrNameLst>
                                          <p:attrName>style.visibility</p:attrName>
                                        </p:attrNameLst>
                                      </p:cBhvr>
                                      <p:to>
                                        <p:strVal val="visible"/>
                                      </p:to>
                                    </p:set>
                                  </p:childTnLst>
                                  <p:subTnLst>
                                    <p:set>
                                      <p:cBhvr override="childStyle">
                                        <p:cTn dur="1" fill="hold" display="0" masterRel="nextClick" afterEffect="1"/>
                                        <p:tgtEl>
                                          <p:spTgt spid="61488"/>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18" presetClass="entr" presetSubtype="6" fill="hold" nodeType="clickEffect">
                                  <p:stCondLst>
                                    <p:cond delay="0"/>
                                  </p:stCondLst>
                                  <p:childTnLst>
                                    <p:set>
                                      <p:cBhvr>
                                        <p:cTn id="40" dur="1" fill="hold">
                                          <p:stCondLst>
                                            <p:cond delay="0"/>
                                          </p:stCondLst>
                                        </p:cTn>
                                        <p:tgtEl>
                                          <p:spTgt spid="61492"/>
                                        </p:tgtEl>
                                        <p:attrNameLst>
                                          <p:attrName>style.visibility</p:attrName>
                                        </p:attrNameLst>
                                      </p:cBhvr>
                                      <p:to>
                                        <p:strVal val="visible"/>
                                      </p:to>
                                    </p:set>
                                    <p:animEffect transition="in" filter="strips(downRight)">
                                      <p:cBhvr>
                                        <p:cTn id="41" dur="500"/>
                                        <p:tgtEl>
                                          <p:spTgt spid="61492"/>
                                        </p:tgtEl>
                                      </p:cBhvr>
                                    </p:animEffect>
                                  </p:childTnLst>
                                  <p:subTnLst>
                                    <p:set>
                                      <p:cBhvr override="childStyle">
                                        <p:cTn dur="1" fill="hold" display="0" masterRel="nextClick" afterEffect="1"/>
                                        <p:tgtEl>
                                          <p:spTgt spid="61492"/>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499"/>
                                          </p:stCondLst>
                                        </p:cTn>
                                        <p:tgtEl>
                                          <p:spTgt spid="61493"/>
                                        </p:tgtEl>
                                        <p:attrNameLst>
                                          <p:attrName>style.visibility</p:attrName>
                                        </p:attrNameLst>
                                      </p:cBhvr>
                                      <p:to>
                                        <p:strVal val="visible"/>
                                      </p:to>
                                    </p:set>
                                  </p:childTnLst>
                                  <p:subTnLst>
                                    <p:set>
                                      <p:cBhvr override="childStyle">
                                        <p:cTn dur="1" fill="hold" display="0" masterRel="nextClick" afterEffect="1"/>
                                        <p:tgtEl>
                                          <p:spTgt spid="61493"/>
                                        </p:tgtEl>
                                        <p:attrNameLst>
                                          <p:attrName>style.visibility</p:attrName>
                                        </p:attrNameLst>
                                      </p:cBhvr>
                                      <p:to>
                                        <p:strVal val="hidden"/>
                                      </p:to>
                                    </p:set>
                                  </p:subTnLst>
                                </p:cTn>
                              </p:par>
                            </p:childTnLst>
                          </p:cTn>
                        </p:par>
                      </p:childTnLst>
                    </p:cTn>
                  </p:par>
                  <p:par>
                    <p:cTn id="46" fill="hold">
                      <p:stCondLst>
                        <p:cond delay="indefinite"/>
                      </p:stCondLst>
                      <p:childTnLst>
                        <p:par>
                          <p:cTn id="47" fill="hold">
                            <p:stCondLst>
                              <p:cond delay="0"/>
                            </p:stCondLst>
                            <p:childTnLst>
                              <p:par>
                                <p:cTn id="48" presetID="18" presetClass="entr" presetSubtype="6" fill="hold" nodeType="clickEffect">
                                  <p:stCondLst>
                                    <p:cond delay="0"/>
                                  </p:stCondLst>
                                  <p:childTnLst>
                                    <p:set>
                                      <p:cBhvr>
                                        <p:cTn id="49" dur="1" fill="hold">
                                          <p:stCondLst>
                                            <p:cond delay="0"/>
                                          </p:stCondLst>
                                        </p:cTn>
                                        <p:tgtEl>
                                          <p:spTgt spid="61497"/>
                                        </p:tgtEl>
                                        <p:attrNameLst>
                                          <p:attrName>style.visibility</p:attrName>
                                        </p:attrNameLst>
                                      </p:cBhvr>
                                      <p:to>
                                        <p:strVal val="visible"/>
                                      </p:to>
                                    </p:set>
                                    <p:animEffect transition="in" filter="strips(downRight)">
                                      <p:cBhvr>
                                        <p:cTn id="50" dur="500"/>
                                        <p:tgtEl>
                                          <p:spTgt spid="61497"/>
                                        </p:tgtEl>
                                      </p:cBhvr>
                                    </p:animEffect>
                                  </p:childTnLst>
                                  <p:subTnLst>
                                    <p:set>
                                      <p:cBhvr override="childStyle">
                                        <p:cTn dur="1" fill="hold" display="0" masterRel="nextClick" afterEffect="1"/>
                                        <p:tgtEl>
                                          <p:spTgt spid="6149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54" grpId="0"/>
      <p:bldP spid="6145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3506" name="Group 18"/>
          <p:cNvGrpSpPr/>
          <p:nvPr/>
        </p:nvGrpSpPr>
        <p:grpSpPr>
          <a:xfrm>
            <a:off x="990600" y="1828800"/>
            <a:ext cx="3505200" cy="1600200"/>
            <a:chOff x="144" y="1152"/>
            <a:chExt cx="2208" cy="1008"/>
          </a:xfrm>
        </p:grpSpPr>
        <p:pic>
          <p:nvPicPr>
            <p:cNvPr id="22538" name="Picture 16" descr="P0001184"/>
            <p:cNvPicPr>
              <a:picLocks noChangeAspect="1"/>
            </p:cNvPicPr>
            <p:nvPr/>
          </p:nvPicPr>
          <p:blipFill>
            <a:blip r:embed="rId1"/>
            <a:stretch>
              <a:fillRect/>
            </a:stretch>
          </p:blipFill>
          <p:spPr>
            <a:xfrm>
              <a:off x="144" y="1152"/>
              <a:ext cx="2208" cy="1003"/>
            </a:xfrm>
            <a:prstGeom prst="rect">
              <a:avLst/>
            </a:prstGeom>
            <a:noFill/>
            <a:ln w="9525">
              <a:noFill/>
            </a:ln>
          </p:spPr>
        </p:pic>
        <p:sp>
          <p:nvSpPr>
            <p:cNvPr id="22539" name="Rectangle 17"/>
            <p:cNvSpPr/>
            <p:nvPr/>
          </p:nvSpPr>
          <p:spPr>
            <a:xfrm>
              <a:off x="144" y="1152"/>
              <a:ext cx="2208" cy="1008"/>
            </a:xfrm>
            <a:prstGeom prst="rect">
              <a:avLst/>
            </a:prstGeom>
            <a:noFill/>
            <a:ln w="57150" cap="flat" cmpd="thinThick">
              <a:solidFill>
                <a:srgbClr val="00FFFF"/>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pic>
        <p:nvPicPr>
          <p:cNvPr id="63503" name="Picture 15" descr="P0001183"/>
          <p:cNvPicPr>
            <a:picLocks noChangeAspect="1"/>
          </p:cNvPicPr>
          <p:nvPr/>
        </p:nvPicPr>
        <p:blipFill>
          <a:blip r:embed="rId2"/>
          <a:stretch>
            <a:fillRect/>
          </a:stretch>
        </p:blipFill>
        <p:spPr>
          <a:xfrm>
            <a:off x="838200" y="1676400"/>
            <a:ext cx="7135813" cy="4876800"/>
          </a:xfrm>
          <a:prstGeom prst="rect">
            <a:avLst/>
          </a:prstGeom>
          <a:noFill/>
          <a:ln w="9525">
            <a:noFill/>
          </a:ln>
        </p:spPr>
      </p:pic>
      <p:sp>
        <p:nvSpPr>
          <p:cNvPr id="22532" name="Text Box 10"/>
          <p:cNvSpPr txBox="1"/>
          <p:nvPr/>
        </p:nvSpPr>
        <p:spPr>
          <a:xfrm>
            <a:off x="152400" y="107950"/>
            <a:ext cx="8458200" cy="4572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浮栅上的电荷无放电通路，没法泄漏。</a:t>
            </a:r>
            <a:endParaRPr lang="zh-CN" altLang="en-US" sz="2400" b="1" dirty="0">
              <a:latin typeface="Times New Roman" panose="02020603050405020304" pitchFamily="18" charset="0"/>
            </a:endParaRPr>
          </a:p>
        </p:txBody>
      </p:sp>
      <p:sp>
        <p:nvSpPr>
          <p:cNvPr id="63502" name="Text Box 14"/>
          <p:cNvSpPr txBox="1"/>
          <p:nvPr/>
        </p:nvSpPr>
        <p:spPr>
          <a:xfrm>
            <a:off x="152400" y="685800"/>
            <a:ext cx="8534400" cy="822325"/>
          </a:xfrm>
          <a:prstGeom prst="rect">
            <a:avLst/>
          </a:prstGeom>
          <a:noFill/>
          <a:ln w="9525">
            <a:noFill/>
          </a:ln>
        </p:spPr>
        <p:txBody>
          <a:bodyPr>
            <a:spAutoFit/>
          </a:bodyPr>
          <a:lst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stStyle>
          <a:p>
            <a:pPr marL="0" lvl="0" indent="571500" algn="just" eaLnBrk="1" hangingPunct="1">
              <a:spcBef>
                <a:spcPct val="50000"/>
              </a:spcBef>
              <a:buNone/>
            </a:pPr>
            <a:r>
              <a:rPr lang="zh-CN" altLang="en-US" sz="2400" b="1" dirty="0"/>
              <a:t>用</a:t>
            </a:r>
            <a:r>
              <a:rPr lang="zh-CN" altLang="en-US" sz="2400" b="1" dirty="0">
                <a:solidFill>
                  <a:srgbClr val="990033"/>
                </a:solidFill>
              </a:rPr>
              <a:t>紫外线照射</a:t>
            </a:r>
            <a:r>
              <a:rPr lang="zh-CN" altLang="en-US" sz="2400" b="1" dirty="0"/>
              <a:t>芯片上的玻璃窗，则形成光电电流，把栅极电子带回到多晶硅衬底，</a:t>
            </a:r>
            <a:r>
              <a:rPr lang="en-US" altLang="zh-CN" sz="2400" b="1" dirty="0"/>
              <a:t>SIMOS</a:t>
            </a:r>
            <a:r>
              <a:rPr lang="zh-CN" altLang="en-US" sz="2400" b="1" dirty="0"/>
              <a:t>管恢复到初始的导通状态。</a:t>
            </a:r>
            <a:endParaRPr lang="zh-CN" altLang="en-US" sz="2400" b="1" dirty="0"/>
          </a:p>
        </p:txBody>
      </p:sp>
      <p:grpSp>
        <p:nvGrpSpPr>
          <p:cNvPr id="63507" name="Group 19"/>
          <p:cNvGrpSpPr/>
          <p:nvPr/>
        </p:nvGrpSpPr>
        <p:grpSpPr>
          <a:xfrm>
            <a:off x="2819400" y="2971800"/>
            <a:ext cx="3505200" cy="1600200"/>
            <a:chOff x="144" y="1152"/>
            <a:chExt cx="2208" cy="1008"/>
          </a:xfrm>
        </p:grpSpPr>
        <p:pic>
          <p:nvPicPr>
            <p:cNvPr id="22536" name="Picture 20" descr="P0001184"/>
            <p:cNvPicPr>
              <a:picLocks noChangeAspect="1"/>
            </p:cNvPicPr>
            <p:nvPr/>
          </p:nvPicPr>
          <p:blipFill>
            <a:blip r:embed="rId1"/>
            <a:stretch>
              <a:fillRect/>
            </a:stretch>
          </p:blipFill>
          <p:spPr>
            <a:xfrm>
              <a:off x="144" y="1152"/>
              <a:ext cx="2208" cy="1003"/>
            </a:xfrm>
            <a:prstGeom prst="rect">
              <a:avLst/>
            </a:prstGeom>
            <a:noFill/>
            <a:ln w="9525">
              <a:noFill/>
            </a:ln>
          </p:spPr>
        </p:pic>
        <p:sp>
          <p:nvSpPr>
            <p:cNvPr id="22537" name="Rectangle 21"/>
            <p:cNvSpPr/>
            <p:nvPr/>
          </p:nvSpPr>
          <p:spPr>
            <a:xfrm>
              <a:off x="144" y="1152"/>
              <a:ext cx="2208" cy="1008"/>
            </a:xfrm>
            <a:prstGeom prst="rect">
              <a:avLst/>
            </a:prstGeom>
            <a:noFill/>
            <a:ln w="57150" cap="flat" cmpd="thinThick">
              <a:solidFill>
                <a:srgbClr val="00FFFF"/>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sp>
        <p:nvSpPr>
          <p:cNvPr id="63510" name="Rectangle 22"/>
          <p:cNvSpPr/>
          <p:nvPr/>
        </p:nvSpPr>
        <p:spPr>
          <a:xfrm>
            <a:off x="4038600" y="3581400"/>
            <a:ext cx="990600" cy="609600"/>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35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63506"/>
                                        </p:tgtEl>
                                        <p:attrNameLst>
                                          <p:attrName>style.visibility</p:attrName>
                                        </p:attrNameLst>
                                      </p:cBhvr>
                                      <p:to>
                                        <p:strVal val="visible"/>
                                      </p:to>
                                    </p:set>
                                  </p:childTnLst>
                                  <p:subTnLst>
                                    <p:set>
                                      <p:cBhvr override="childStyle">
                                        <p:cTn dur="1" fill="hold" display="0" masterRel="nextClick" afterEffect="1"/>
                                        <p:tgtEl>
                                          <p:spTgt spid="63506"/>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635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6350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63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0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4519" name="Object 7"/>
          <p:cNvGraphicFramePr>
            <a:graphicFrameLocks noChangeAspect="1"/>
          </p:cNvGraphicFramePr>
          <p:nvPr/>
        </p:nvGraphicFramePr>
        <p:xfrm>
          <a:off x="914400" y="2514600"/>
          <a:ext cx="6629400" cy="4038600"/>
        </p:xfrm>
        <a:graphic>
          <a:graphicData uri="http://schemas.openxmlformats.org/presentationml/2006/ole">
            <mc:AlternateContent xmlns:mc="http://schemas.openxmlformats.org/markup-compatibility/2006">
              <mc:Choice xmlns:v="urn:schemas-microsoft-com:vml" Requires="v">
                <p:oleObj spid="_x0000_s3079" name="" r:id="rId1" imgW="3905250" imgH="2133600" progId="Paint.Picture">
                  <p:embed/>
                </p:oleObj>
              </mc:Choice>
              <mc:Fallback>
                <p:oleObj name="" r:id="rId1" imgW="3905250" imgH="2133600" progId="Paint.Picture">
                  <p:embed/>
                  <p:pic>
                    <p:nvPicPr>
                      <p:cNvPr id="0" name="图片 3078"/>
                      <p:cNvPicPr/>
                      <p:nvPr/>
                    </p:nvPicPr>
                    <p:blipFill>
                      <a:blip r:embed="rId2"/>
                      <a:stretch>
                        <a:fillRect/>
                      </a:stretch>
                    </p:blipFill>
                    <p:spPr>
                      <a:xfrm>
                        <a:off x="914400" y="2514600"/>
                        <a:ext cx="6629400" cy="4038600"/>
                      </a:xfrm>
                      <a:prstGeom prst="rect">
                        <a:avLst/>
                      </a:prstGeom>
                      <a:noFill/>
                      <a:ln w="38100">
                        <a:noFill/>
                        <a:miter/>
                      </a:ln>
                    </p:spPr>
                  </p:pic>
                </p:oleObj>
              </mc:Fallback>
            </mc:AlternateContent>
          </a:graphicData>
        </a:graphic>
      </p:graphicFrame>
      <p:grpSp>
        <p:nvGrpSpPr>
          <p:cNvPr id="64522" name="Group 10"/>
          <p:cNvGrpSpPr/>
          <p:nvPr/>
        </p:nvGrpSpPr>
        <p:grpSpPr>
          <a:xfrm>
            <a:off x="76200" y="4800600"/>
            <a:ext cx="2514600" cy="1965325"/>
            <a:chOff x="240" y="1584"/>
            <a:chExt cx="1584" cy="1238"/>
          </a:xfrm>
        </p:grpSpPr>
        <p:sp>
          <p:nvSpPr>
            <p:cNvPr id="23566" name="Line 8"/>
            <p:cNvSpPr/>
            <p:nvPr/>
          </p:nvSpPr>
          <p:spPr>
            <a:xfrm flipV="1">
              <a:off x="720" y="1584"/>
              <a:ext cx="1104" cy="864"/>
            </a:xfrm>
            <a:prstGeom prst="line">
              <a:avLst/>
            </a:prstGeom>
            <a:ln w="57150" cap="flat" cmpd="sng">
              <a:solidFill>
                <a:schemeClr val="accent1"/>
              </a:solidFill>
              <a:prstDash val="solid"/>
              <a:headEnd type="none" w="med" len="med"/>
              <a:tailEnd type="triangle" w="med" len="med"/>
            </a:ln>
          </p:spPr>
        </p:sp>
        <p:sp>
          <p:nvSpPr>
            <p:cNvPr id="23567" name="Text Box 9"/>
            <p:cNvSpPr txBox="1"/>
            <p:nvPr/>
          </p:nvSpPr>
          <p:spPr>
            <a:xfrm>
              <a:off x="240" y="2304"/>
              <a:ext cx="624" cy="518"/>
            </a:xfrm>
            <a:prstGeom prst="rect">
              <a:avLst/>
            </a:prstGeom>
            <a:noFill/>
            <a:ln w="9525">
              <a:noFill/>
            </a:ln>
          </p:spPr>
          <p:txBody>
            <a:bodyPr>
              <a:spAutoFit/>
            </a:bodyPr>
            <a:p>
              <a:pPr eaLnBrk="1" hangingPunct="1">
                <a:spcBef>
                  <a:spcPct val="50000"/>
                </a:spcBef>
              </a:pPr>
              <a:r>
                <a:rPr lang="zh-CN" altLang="en-US" sz="2400" dirty="0">
                  <a:solidFill>
                    <a:schemeClr val="accent1"/>
                  </a:solidFill>
                  <a:latin typeface="Times New Roman" panose="02020603050405020304" pitchFamily="18" charset="0"/>
                </a:rPr>
                <a:t>隧道</a:t>
              </a:r>
              <a:r>
                <a:rPr lang="en-US" altLang="zh-CN" sz="2400" dirty="0">
                  <a:solidFill>
                    <a:schemeClr val="accent1"/>
                  </a:solidFill>
                  <a:latin typeface="Times New Roman" panose="02020603050405020304" pitchFamily="18" charset="0"/>
                </a:rPr>
                <a:t>80</a:t>
              </a:r>
              <a:r>
                <a:rPr lang="zh-CN" altLang="en-US" sz="2400" dirty="0">
                  <a:solidFill>
                    <a:schemeClr val="accent1"/>
                  </a:solidFill>
                  <a:latin typeface="Times New Roman" panose="02020603050405020304" pitchFamily="18" charset="0"/>
                </a:rPr>
                <a:t>埃</a:t>
              </a:r>
              <a:endParaRPr lang="zh-CN" altLang="en-US" sz="2400" dirty="0">
                <a:latin typeface="Times New Roman" panose="02020603050405020304" pitchFamily="18" charset="0"/>
              </a:endParaRPr>
            </a:p>
          </p:txBody>
        </p:sp>
      </p:grpSp>
      <p:grpSp>
        <p:nvGrpSpPr>
          <p:cNvPr id="64526" name="Group 14"/>
          <p:cNvGrpSpPr/>
          <p:nvPr/>
        </p:nvGrpSpPr>
        <p:grpSpPr>
          <a:xfrm>
            <a:off x="5334000" y="4724400"/>
            <a:ext cx="3810000" cy="1676400"/>
            <a:chOff x="3552" y="1584"/>
            <a:chExt cx="2400" cy="1056"/>
          </a:xfrm>
        </p:grpSpPr>
        <p:sp>
          <p:nvSpPr>
            <p:cNvPr id="23563" name="Rectangle 11"/>
            <p:cNvSpPr/>
            <p:nvPr/>
          </p:nvSpPr>
          <p:spPr>
            <a:xfrm>
              <a:off x="3552" y="1584"/>
              <a:ext cx="1008" cy="1056"/>
            </a:xfrm>
            <a:prstGeom prst="rect">
              <a:avLst/>
            </a:prstGeom>
            <a:noFill/>
            <a:ln w="38100" cap="flat" cmpd="sng">
              <a:solidFill>
                <a:schemeClr val="accent1"/>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23564" name="Line 12"/>
            <p:cNvSpPr/>
            <p:nvPr/>
          </p:nvSpPr>
          <p:spPr>
            <a:xfrm flipH="1" flipV="1">
              <a:off x="4560" y="2352"/>
              <a:ext cx="480" cy="192"/>
            </a:xfrm>
            <a:prstGeom prst="line">
              <a:avLst/>
            </a:prstGeom>
            <a:ln w="57150" cap="flat" cmpd="sng">
              <a:solidFill>
                <a:schemeClr val="accent1"/>
              </a:solidFill>
              <a:prstDash val="solid"/>
              <a:headEnd type="none" w="med" len="med"/>
              <a:tailEnd type="triangle" w="med" len="med"/>
            </a:ln>
          </p:spPr>
        </p:sp>
        <p:sp>
          <p:nvSpPr>
            <p:cNvPr id="23565" name="Text Box 13"/>
            <p:cNvSpPr txBox="1"/>
            <p:nvPr/>
          </p:nvSpPr>
          <p:spPr>
            <a:xfrm>
              <a:off x="5088" y="2352"/>
              <a:ext cx="864" cy="288"/>
            </a:xfrm>
            <a:prstGeom prst="rect">
              <a:avLst/>
            </a:prstGeom>
            <a:noFill/>
            <a:ln w="9525">
              <a:noFill/>
            </a:ln>
          </p:spPr>
          <p:txBody>
            <a:bodyPr>
              <a:spAutoFit/>
            </a:bodyPr>
            <a:p>
              <a:pPr eaLnBrk="1" hangingPunct="1">
                <a:spcBef>
                  <a:spcPct val="50000"/>
                </a:spcBef>
              </a:pPr>
              <a:r>
                <a:rPr lang="zh-CN" altLang="en-US" sz="2400" dirty="0">
                  <a:solidFill>
                    <a:schemeClr val="accent1"/>
                  </a:solidFill>
                  <a:latin typeface="Times New Roman" panose="02020603050405020304" pitchFamily="18" charset="0"/>
                </a:rPr>
                <a:t>面积大</a:t>
              </a:r>
              <a:endParaRPr lang="zh-CN" altLang="en-US" sz="2400" dirty="0">
                <a:solidFill>
                  <a:schemeClr val="accent1"/>
                </a:solidFill>
                <a:latin typeface="Times New Roman" panose="02020603050405020304" pitchFamily="18" charset="0"/>
              </a:endParaRPr>
            </a:p>
          </p:txBody>
        </p:sp>
      </p:grpSp>
      <p:sp>
        <p:nvSpPr>
          <p:cNvPr id="64527" name="AutoShape 15"/>
          <p:cNvSpPr/>
          <p:nvPr/>
        </p:nvSpPr>
        <p:spPr>
          <a:xfrm>
            <a:off x="2514600" y="2057400"/>
            <a:ext cx="2438400" cy="1295400"/>
          </a:xfrm>
          <a:prstGeom prst="wedgeRectCallout">
            <a:avLst>
              <a:gd name="adj1" fmla="val -50782"/>
              <a:gd name="adj2" fmla="val 99755"/>
            </a:avLst>
          </a:prstGeom>
          <a:solidFill>
            <a:srgbClr val="FFCC99"/>
          </a:solidFill>
          <a:ln w="9525" cap="flat" cmpd="sng">
            <a:solidFill>
              <a:schemeClr val="tx1"/>
            </a:solidFill>
            <a:prstDash val="solid"/>
            <a:miter/>
            <a:headEnd type="none" w="med" len="med"/>
            <a:tailEnd type="none" w="med" len="med"/>
          </a:ln>
        </p:spPr>
        <p:txBody>
          <a:bodyPr wrap="none" anchor="ctr" anchorCtr="0"/>
          <a:p>
            <a:pPr algn="just" eaLnBrk="1" hangingPunct="1"/>
            <a:r>
              <a:rPr lang="zh-CN" altLang="en-US" sz="2400" b="1" dirty="0">
                <a:solidFill>
                  <a:srgbClr val="990033"/>
                </a:solidFill>
                <a:latin typeface="Times New Roman" panose="02020603050405020304" pitchFamily="18" charset="0"/>
              </a:rPr>
              <a:t>向浮栅写入</a:t>
            </a:r>
            <a:endParaRPr lang="zh-CN" altLang="en-US" sz="2400" b="1" dirty="0">
              <a:solidFill>
                <a:srgbClr val="990033"/>
              </a:solidFill>
              <a:latin typeface="Times New Roman" panose="02020603050405020304" pitchFamily="18" charset="0"/>
            </a:endParaRPr>
          </a:p>
          <a:p>
            <a:pPr algn="just" eaLnBrk="1" hangingPunct="1"/>
            <a:r>
              <a:rPr lang="zh-CN" altLang="en-US" sz="2400" b="1" dirty="0">
                <a:solidFill>
                  <a:srgbClr val="990033"/>
                </a:solidFill>
                <a:latin typeface="Times New Roman" panose="02020603050405020304" pitchFamily="18" charset="0"/>
              </a:rPr>
              <a:t>电荷时，</a:t>
            </a:r>
            <a:r>
              <a:rPr lang="en-US" altLang="zh-CN" sz="2400" b="1" dirty="0">
                <a:solidFill>
                  <a:srgbClr val="990033"/>
                </a:solidFill>
                <a:latin typeface="Times New Roman" panose="02020603050405020304" pitchFamily="18" charset="0"/>
              </a:rPr>
              <a:t>G</a:t>
            </a:r>
            <a:r>
              <a:rPr lang="zh-CN" altLang="en-US" sz="2400" b="1" dirty="0">
                <a:solidFill>
                  <a:srgbClr val="990033"/>
                </a:solidFill>
                <a:latin typeface="Times New Roman" panose="02020603050405020304" pitchFamily="18" charset="0"/>
              </a:rPr>
              <a:t>加</a:t>
            </a:r>
            <a:endParaRPr lang="zh-CN" altLang="en-US" sz="2400" b="1" dirty="0">
              <a:solidFill>
                <a:srgbClr val="990033"/>
              </a:solidFill>
              <a:latin typeface="Times New Roman" panose="02020603050405020304" pitchFamily="18" charset="0"/>
            </a:endParaRPr>
          </a:p>
          <a:p>
            <a:pPr algn="just" eaLnBrk="1" hangingPunct="1"/>
            <a:r>
              <a:rPr lang="en-US" altLang="zh-CN" sz="2400" b="1" dirty="0">
                <a:solidFill>
                  <a:srgbClr val="990033"/>
                </a:solidFill>
                <a:latin typeface="Times New Roman" panose="02020603050405020304" pitchFamily="18" charset="0"/>
              </a:rPr>
              <a:t>25V</a:t>
            </a:r>
            <a:r>
              <a:rPr lang="zh-CN" altLang="en-US" sz="2400" b="1" dirty="0">
                <a:solidFill>
                  <a:srgbClr val="990033"/>
                </a:solidFill>
                <a:latin typeface="Times New Roman" panose="02020603050405020304" pitchFamily="18" charset="0"/>
              </a:rPr>
              <a:t>，</a:t>
            </a:r>
            <a:r>
              <a:rPr lang="en-US" altLang="zh-CN" sz="2400" b="1" dirty="0">
                <a:solidFill>
                  <a:srgbClr val="990033"/>
                </a:solidFill>
                <a:latin typeface="Times New Roman" panose="02020603050405020304" pitchFamily="18" charset="0"/>
              </a:rPr>
              <a:t>D</a:t>
            </a:r>
            <a:r>
              <a:rPr lang="zh-CN" altLang="en-US" sz="2400" b="1" dirty="0">
                <a:solidFill>
                  <a:srgbClr val="990033"/>
                </a:solidFill>
                <a:latin typeface="Times New Roman" panose="02020603050405020304" pitchFamily="18" charset="0"/>
              </a:rPr>
              <a:t>接</a:t>
            </a:r>
            <a:r>
              <a:rPr lang="en-US" altLang="zh-CN" sz="2400" b="1" dirty="0">
                <a:solidFill>
                  <a:srgbClr val="990033"/>
                </a:solidFill>
                <a:latin typeface="Times New Roman" panose="02020603050405020304" pitchFamily="18" charset="0"/>
              </a:rPr>
              <a:t>GND</a:t>
            </a:r>
            <a:endParaRPr lang="en-US" altLang="zh-CN" sz="2400" b="1" dirty="0">
              <a:solidFill>
                <a:srgbClr val="990033"/>
              </a:solidFill>
              <a:latin typeface="Times New Roman" panose="02020603050405020304" pitchFamily="18" charset="0"/>
            </a:endParaRPr>
          </a:p>
        </p:txBody>
      </p:sp>
      <p:sp>
        <p:nvSpPr>
          <p:cNvPr id="64528" name="AutoShape 16"/>
          <p:cNvSpPr/>
          <p:nvPr/>
        </p:nvSpPr>
        <p:spPr>
          <a:xfrm>
            <a:off x="609600" y="2133600"/>
            <a:ext cx="2438400" cy="1371600"/>
          </a:xfrm>
          <a:prstGeom prst="wedgeRectCallout">
            <a:avLst>
              <a:gd name="adj1" fmla="val 57815"/>
              <a:gd name="adj2" fmla="val 85880"/>
            </a:avLst>
          </a:prstGeom>
          <a:solidFill>
            <a:srgbClr val="FFCC99"/>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solidFill>
                  <a:srgbClr val="990033"/>
                </a:solidFill>
                <a:latin typeface="Times New Roman" panose="02020603050405020304" pitchFamily="18" charset="0"/>
              </a:rPr>
              <a:t>擦除浮栅电荷</a:t>
            </a:r>
            <a:endParaRPr lang="zh-CN" altLang="en-US" sz="2400" b="1" dirty="0">
              <a:solidFill>
                <a:srgbClr val="990033"/>
              </a:solidFill>
              <a:latin typeface="Times New Roman" panose="02020603050405020304" pitchFamily="18" charset="0"/>
            </a:endParaRPr>
          </a:p>
          <a:p>
            <a:pPr eaLnBrk="1" hangingPunct="1"/>
            <a:r>
              <a:rPr lang="zh-CN" altLang="en-US" sz="2400" b="1" dirty="0">
                <a:solidFill>
                  <a:srgbClr val="990033"/>
                </a:solidFill>
                <a:latin typeface="Times New Roman" panose="02020603050405020304" pitchFamily="18" charset="0"/>
              </a:rPr>
              <a:t>时，</a:t>
            </a:r>
            <a:r>
              <a:rPr lang="en-US" altLang="zh-CN" sz="2400" b="1" dirty="0">
                <a:solidFill>
                  <a:srgbClr val="990033"/>
                </a:solidFill>
                <a:latin typeface="Times New Roman" panose="02020603050405020304" pitchFamily="18" charset="0"/>
              </a:rPr>
              <a:t>G</a:t>
            </a:r>
            <a:r>
              <a:rPr lang="zh-CN" altLang="en-US" sz="2400" b="1" dirty="0">
                <a:solidFill>
                  <a:srgbClr val="990033"/>
                </a:solidFill>
                <a:latin typeface="Times New Roman" panose="02020603050405020304" pitchFamily="18" charset="0"/>
              </a:rPr>
              <a:t>加</a:t>
            </a:r>
            <a:r>
              <a:rPr lang="en-US" altLang="zh-CN" sz="2400" b="1" dirty="0">
                <a:solidFill>
                  <a:srgbClr val="990033"/>
                </a:solidFill>
                <a:latin typeface="Times New Roman" panose="02020603050405020304" pitchFamily="18" charset="0"/>
              </a:rPr>
              <a:t>5V</a:t>
            </a:r>
            <a:r>
              <a:rPr lang="zh-CN" altLang="en-US" sz="2400" b="1" dirty="0">
                <a:solidFill>
                  <a:srgbClr val="990033"/>
                </a:solidFill>
                <a:latin typeface="Times New Roman" panose="02020603050405020304" pitchFamily="18" charset="0"/>
              </a:rPr>
              <a:t>，</a:t>
            </a:r>
            <a:endParaRPr lang="zh-CN" altLang="en-US" sz="2400" b="1" dirty="0">
              <a:solidFill>
                <a:srgbClr val="990033"/>
              </a:solidFill>
              <a:latin typeface="Times New Roman" panose="02020603050405020304" pitchFamily="18" charset="0"/>
            </a:endParaRPr>
          </a:p>
          <a:p>
            <a:pPr eaLnBrk="1" hangingPunct="1"/>
            <a:r>
              <a:rPr lang="en-US" altLang="zh-CN" sz="2400" b="1" dirty="0">
                <a:solidFill>
                  <a:srgbClr val="990033"/>
                </a:solidFill>
                <a:latin typeface="Times New Roman" panose="02020603050405020304" pitchFamily="18" charset="0"/>
              </a:rPr>
              <a:t>D</a:t>
            </a:r>
            <a:r>
              <a:rPr lang="zh-CN" altLang="en-US" sz="2400" b="1" dirty="0">
                <a:solidFill>
                  <a:srgbClr val="990033"/>
                </a:solidFill>
                <a:latin typeface="Times New Roman" panose="02020603050405020304" pitchFamily="18" charset="0"/>
              </a:rPr>
              <a:t>接</a:t>
            </a:r>
            <a:r>
              <a:rPr lang="en-US" altLang="zh-CN" sz="2400" b="1" dirty="0">
                <a:solidFill>
                  <a:srgbClr val="990033"/>
                </a:solidFill>
                <a:latin typeface="Times New Roman" panose="02020603050405020304" pitchFamily="18" charset="0"/>
              </a:rPr>
              <a:t>25V</a:t>
            </a:r>
            <a:endParaRPr lang="en-US" altLang="zh-CN" sz="2400" b="1" dirty="0">
              <a:solidFill>
                <a:srgbClr val="990033"/>
              </a:solidFill>
              <a:latin typeface="Times New Roman" panose="02020603050405020304" pitchFamily="18" charset="0"/>
            </a:endParaRPr>
          </a:p>
        </p:txBody>
      </p:sp>
      <p:sp>
        <p:nvSpPr>
          <p:cNvPr id="23559" name="Text Box 17"/>
          <p:cNvSpPr txBox="1"/>
          <p:nvPr/>
        </p:nvSpPr>
        <p:spPr>
          <a:xfrm>
            <a:off x="0" y="76200"/>
            <a:ext cx="5791200" cy="457200"/>
          </a:xfrm>
          <a:prstGeom prst="rect">
            <a:avLst/>
          </a:prstGeom>
          <a:noFill/>
          <a:ln w="9525">
            <a:noFill/>
          </a:ln>
        </p:spPr>
        <p:txBody>
          <a:bodyPr>
            <a:spAutoFit/>
          </a:bodyPr>
          <a:p>
            <a:pPr eaLnBrk="1" hangingPunct="1">
              <a:spcBef>
                <a:spcPct val="50000"/>
              </a:spcBef>
            </a:pPr>
            <a:r>
              <a:rPr lang="zh-CN" altLang="en-US" sz="2400" b="1" dirty="0">
                <a:solidFill>
                  <a:srgbClr val="990033"/>
                </a:solidFill>
                <a:latin typeface="Times New Roman" panose="02020603050405020304" pitchFamily="18" charset="0"/>
              </a:rPr>
              <a:t>（二）隧道型（</a:t>
            </a:r>
            <a:r>
              <a:rPr lang="en-US" altLang="zh-CN" sz="2400" b="1" dirty="0">
                <a:solidFill>
                  <a:srgbClr val="990033"/>
                </a:solidFill>
                <a:latin typeface="Times New Roman" panose="02020603050405020304" pitchFamily="18" charset="0"/>
              </a:rPr>
              <a:t>FLOTOX</a:t>
            </a:r>
            <a:r>
              <a:rPr lang="zh-CN" altLang="en-US" sz="2400" b="1" dirty="0">
                <a:solidFill>
                  <a:srgbClr val="990033"/>
                </a:solidFill>
                <a:latin typeface="Times New Roman" panose="02020603050405020304" pitchFamily="18" charset="0"/>
              </a:rPr>
              <a:t>）储存单元</a:t>
            </a:r>
            <a:endParaRPr lang="zh-CN" altLang="en-US" sz="2400" dirty="0">
              <a:latin typeface="Times New Roman" panose="02020603050405020304" pitchFamily="18" charset="0"/>
            </a:endParaRPr>
          </a:p>
        </p:txBody>
      </p:sp>
      <p:sp>
        <p:nvSpPr>
          <p:cNvPr id="64530" name="Text Box 18"/>
          <p:cNvSpPr txBox="1"/>
          <p:nvPr/>
        </p:nvSpPr>
        <p:spPr>
          <a:xfrm>
            <a:off x="0" y="457200"/>
            <a:ext cx="9144000" cy="1990725"/>
          </a:xfrm>
          <a:prstGeom prst="rect">
            <a:avLst/>
          </a:prstGeom>
          <a:noFill/>
          <a:ln w="9525">
            <a:noFill/>
          </a:ln>
        </p:spPr>
        <p:txBody>
          <a:bodyPr>
            <a:spAutoFit/>
          </a:bodyPr>
          <a:p>
            <a:pPr algn="just" eaLnBrk="1" hangingPunct="1">
              <a:lnSpc>
                <a:spcPct val="130000"/>
              </a:lnSpc>
            </a:pPr>
            <a:r>
              <a:rPr lang="en-US" altLang="zh-CN" sz="2400" dirty="0">
                <a:latin typeface="Times New Roman" panose="02020603050405020304" pitchFamily="18" charset="0"/>
              </a:rPr>
              <a:t>      </a:t>
            </a:r>
            <a:r>
              <a:rPr lang="zh-CN" altLang="en-US" sz="2400" b="1" dirty="0">
                <a:latin typeface="Times New Roman" panose="02020603050405020304" pitchFamily="18" charset="0"/>
              </a:rPr>
              <a:t>前面研究的可擦写存储器的缺点是要擦除已存入的信息必须用紫外光照射一定的时间，因此不能用于快速改变储存信息的场合，用隧道型储存单元制成的存储器克服了这一缺点，它称为电可改写只读存储器</a:t>
            </a:r>
            <a:r>
              <a:rPr lang="en-US" altLang="zh-CN" sz="2400" b="1" dirty="0">
                <a:latin typeface="Times New Roman" panose="02020603050405020304" pitchFamily="18" charset="0"/>
              </a:rPr>
              <a:t>E</a:t>
            </a:r>
            <a:r>
              <a:rPr lang="en-US" altLang="zh-CN" sz="2400" b="1" baseline="30000" dirty="0">
                <a:latin typeface="Times New Roman" panose="02020603050405020304" pitchFamily="18" charset="0"/>
              </a:rPr>
              <a:t>2</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，即电擦除、电编程的只读存储器。</a:t>
            </a:r>
            <a:endParaRPr lang="zh-CN" altLang="en-US" sz="2400" b="1" dirty="0">
              <a:latin typeface="Times New Roman" panose="02020603050405020304" pitchFamily="18" charset="0"/>
            </a:endParaRPr>
          </a:p>
        </p:txBody>
      </p:sp>
      <p:sp>
        <p:nvSpPr>
          <p:cNvPr id="64531" name="Text Box 19"/>
          <p:cNvSpPr txBox="1"/>
          <p:nvPr/>
        </p:nvSpPr>
        <p:spPr>
          <a:xfrm>
            <a:off x="0" y="457200"/>
            <a:ext cx="9144000" cy="566738"/>
          </a:xfrm>
          <a:prstGeom prst="rect">
            <a:avLst/>
          </a:prstGeom>
          <a:noFill/>
          <a:ln w="9525">
            <a:noFill/>
          </a:ln>
        </p:spPr>
        <p:txBody>
          <a:bodyPr>
            <a:spAutoFit/>
          </a:bodyPr>
          <a:p>
            <a:pPr eaLnBrk="1" hangingPunct="1">
              <a:lnSpc>
                <a:spcPct val="130000"/>
              </a:lnSpc>
            </a:pPr>
            <a:r>
              <a:rPr lang="en-US" altLang="zh-CN" sz="2400" dirty="0">
                <a:latin typeface="Times New Roman" panose="02020603050405020304" pitchFamily="18" charset="0"/>
              </a:rPr>
              <a:t>        </a:t>
            </a:r>
            <a:r>
              <a:rPr lang="en-US" altLang="zh-CN" sz="2400" b="1" dirty="0">
                <a:latin typeface="Times New Roman" panose="02020603050405020304" pitchFamily="18" charset="0"/>
              </a:rPr>
              <a:t>FLOTOX</a:t>
            </a:r>
            <a:r>
              <a:rPr lang="zh-CN" altLang="en-US" sz="2400" b="1" dirty="0">
                <a:latin typeface="Times New Roman" panose="02020603050405020304" pitchFamily="18" charset="0"/>
              </a:rPr>
              <a:t>管的结构剖面示意图如图所示。</a:t>
            </a:r>
            <a:endParaRPr lang="zh-CN" altLang="en-US" dirty="0">
              <a:latin typeface="Times New Roman" panose="02020603050405020304" pitchFamily="18" charset="0"/>
            </a:endParaRPr>
          </a:p>
        </p:txBody>
      </p:sp>
      <p:sp>
        <p:nvSpPr>
          <p:cNvPr id="64532" name="Text Box 20"/>
          <p:cNvSpPr txBox="1"/>
          <p:nvPr/>
        </p:nvSpPr>
        <p:spPr>
          <a:xfrm>
            <a:off x="304800" y="457200"/>
            <a:ext cx="8305800" cy="1041400"/>
          </a:xfrm>
          <a:prstGeom prst="rect">
            <a:avLst/>
          </a:prstGeom>
          <a:noFill/>
          <a:ln w="9525">
            <a:noFill/>
          </a:ln>
        </p:spPr>
        <p:txBody>
          <a:bodyPr>
            <a:spAutoFit/>
          </a:bodyPr>
          <a:p>
            <a:pPr eaLnBrk="1" hangingPunct="1">
              <a:lnSpc>
                <a:spcPct val="130000"/>
              </a:lnSpc>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它与叠栅型管的不同在于浮栅延长区与漏区</a:t>
            </a:r>
            <a:r>
              <a:rPr lang="en-US" altLang="zh-CN" sz="2400" b="1" dirty="0">
                <a:latin typeface="Times New Roman" panose="02020603050405020304" pitchFamily="18" charset="0"/>
              </a:rPr>
              <a:t>N </a:t>
            </a:r>
            <a:r>
              <a:rPr lang="zh-CN" altLang="en-US" sz="2400" b="1" dirty="0">
                <a:latin typeface="Times New Roman" panose="02020603050405020304" pitchFamily="18" charset="0"/>
              </a:rPr>
              <a:t>之间的交叠处有一个厚度约为</a:t>
            </a:r>
            <a:r>
              <a:rPr lang="en-US" altLang="zh-CN" sz="2400" b="1" dirty="0">
                <a:latin typeface="Times New Roman" panose="02020603050405020304" pitchFamily="18" charset="0"/>
              </a:rPr>
              <a:t>80</a:t>
            </a:r>
            <a:r>
              <a:rPr lang="zh-CN" altLang="en-US" sz="2400" b="1" dirty="0">
                <a:latin typeface="Times New Roman" panose="02020603050405020304" pitchFamily="18" charset="0"/>
              </a:rPr>
              <a:t>埃的薄绝缘层</a:t>
            </a:r>
            <a:endParaRPr lang="zh-CN" altLang="en-US"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530"/>
                                        </p:tgtEl>
                                        <p:attrNameLst>
                                          <p:attrName>style.visibility</p:attrName>
                                        </p:attrNameLst>
                                      </p:cBhvr>
                                      <p:to>
                                        <p:strVal val="visible"/>
                                      </p:to>
                                    </p:set>
                                    <p:animEffect transition="in" filter="wipe(left)">
                                      <p:cBhvr>
                                        <p:cTn id="7" dur="500"/>
                                        <p:tgtEl>
                                          <p:spTgt spid="64530"/>
                                        </p:tgtEl>
                                      </p:cBhvr>
                                    </p:animEffect>
                                  </p:childTnLst>
                                  <p:subTnLst>
                                    <p:set>
                                      <p:cBhvr override="childStyle">
                                        <p:cTn dur="1" fill="hold" display="0" masterRel="nextClick" afterEffect="1"/>
                                        <p:tgtEl>
                                          <p:spTgt spid="64530"/>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531"/>
                                        </p:tgtEl>
                                        <p:attrNameLst>
                                          <p:attrName>style.visibility</p:attrName>
                                        </p:attrNameLst>
                                      </p:cBhvr>
                                      <p:to>
                                        <p:strVal val="visible"/>
                                      </p:to>
                                    </p:set>
                                    <p:animEffect transition="in" filter="wipe(left)">
                                      <p:cBhvr>
                                        <p:cTn id="12" dur="500"/>
                                        <p:tgtEl>
                                          <p:spTgt spid="64531"/>
                                        </p:tgtEl>
                                      </p:cBhvr>
                                    </p:animEffect>
                                  </p:childTnLst>
                                  <p:subTnLst>
                                    <p:set>
                                      <p:cBhvr override="childStyle">
                                        <p:cTn dur="1" fill="hold" display="0" masterRel="nextClick" afterEffect="1"/>
                                        <p:tgtEl>
                                          <p:spTgt spid="64531"/>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4519"/>
                                        </p:tgtEl>
                                        <p:attrNameLst>
                                          <p:attrName>style.visibility</p:attrName>
                                        </p:attrNameLst>
                                      </p:cBhvr>
                                      <p:to>
                                        <p:strVal val="visible"/>
                                      </p:to>
                                    </p:set>
                                    <p:animEffect transition="in" filter="wipe(left)">
                                      <p:cBhvr>
                                        <p:cTn id="17" dur="500"/>
                                        <p:tgtEl>
                                          <p:spTgt spid="645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4532"/>
                                        </p:tgtEl>
                                        <p:attrNameLst>
                                          <p:attrName>style.visibility</p:attrName>
                                        </p:attrNameLst>
                                      </p:cBhvr>
                                      <p:to>
                                        <p:strVal val="visible"/>
                                      </p:to>
                                    </p:set>
                                    <p:animEffect transition="in" filter="wipe(left)">
                                      <p:cBhvr>
                                        <p:cTn id="22" dur="500"/>
                                        <p:tgtEl>
                                          <p:spTgt spid="6453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4522"/>
                                        </p:tgtEl>
                                        <p:attrNameLst>
                                          <p:attrName>style.visibility</p:attrName>
                                        </p:attrNameLst>
                                      </p:cBhvr>
                                      <p:to>
                                        <p:strVal val="visible"/>
                                      </p:to>
                                    </p:set>
                                    <p:animEffect transition="in" filter="wipe(left)">
                                      <p:cBhvr>
                                        <p:cTn id="27" dur="500"/>
                                        <p:tgtEl>
                                          <p:spTgt spid="64522"/>
                                        </p:tgtEl>
                                      </p:cBhvr>
                                    </p:animEffect>
                                  </p:childTnLst>
                                  <p:subTnLst>
                                    <p:set>
                                      <p:cBhvr override="childStyle">
                                        <p:cTn dur="1" fill="hold" display="0" masterRel="nextClick" afterEffect="1"/>
                                        <p:tgtEl>
                                          <p:spTgt spid="64522"/>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2" presetClass="entr" presetSubtype="1" fill="hold" grpId="0" nodeType="clickEffect">
                                  <p:stCondLst>
                                    <p:cond delay="0"/>
                                  </p:stCondLst>
                                  <p:childTnLst>
                                    <p:set>
                                      <p:cBhvr>
                                        <p:cTn id="31" dur="1" fill="hold">
                                          <p:stCondLst>
                                            <p:cond delay="0"/>
                                          </p:stCondLst>
                                        </p:cTn>
                                        <p:tgtEl>
                                          <p:spTgt spid="64527"/>
                                        </p:tgtEl>
                                        <p:attrNameLst>
                                          <p:attrName>style.visibility</p:attrName>
                                        </p:attrNameLst>
                                      </p:cBhvr>
                                      <p:to>
                                        <p:strVal val="visible"/>
                                      </p:to>
                                    </p:set>
                                    <p:anim calcmode="lin" valueType="num">
                                      <p:cBhvr additive="base">
                                        <p:cTn id="32" dur="500" fill="hold"/>
                                        <p:tgtEl>
                                          <p:spTgt spid="64527"/>
                                        </p:tgtEl>
                                        <p:attrNameLst>
                                          <p:attrName>ppt_x</p:attrName>
                                        </p:attrNameLst>
                                      </p:cBhvr>
                                      <p:tavLst>
                                        <p:tav tm="0">
                                          <p:val>
                                            <p:strVal val="#ppt_x"/>
                                          </p:val>
                                        </p:tav>
                                        <p:tav tm="100000">
                                          <p:val>
                                            <p:strVal val="#ppt_x"/>
                                          </p:val>
                                        </p:tav>
                                      </p:tavLst>
                                    </p:anim>
                                    <p:anim calcmode="lin" valueType="num">
                                      <p:cBhvr additive="base">
                                        <p:cTn id="33" dur="500" fill="hold"/>
                                        <p:tgtEl>
                                          <p:spTgt spid="64527"/>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64527"/>
                                        </p:tgtEl>
                                        <p:attrNameLst>
                                          <p:attrName>style.visibility</p:attrName>
                                        </p:attrNameLst>
                                      </p:cBhvr>
                                      <p:to>
                                        <p:strVal val="hidden"/>
                                      </p:to>
                                    </p:set>
                                  </p:subTnLst>
                                </p:cTn>
                              </p:par>
                            </p:childTnLst>
                          </p:cTn>
                        </p:par>
                      </p:childTnLst>
                    </p:cTn>
                  </p:par>
                  <p:par>
                    <p:cTn id="34" fill="hold">
                      <p:stCondLst>
                        <p:cond delay="indefinite"/>
                      </p:stCondLst>
                      <p:childTnLst>
                        <p:par>
                          <p:cTn id="35" fill="hold">
                            <p:stCondLst>
                              <p:cond delay="0"/>
                            </p:stCondLst>
                            <p:childTnLst>
                              <p:par>
                                <p:cTn id="36" presetID="2" presetClass="entr" presetSubtype="1" fill="hold" grpId="0" nodeType="clickEffect">
                                  <p:stCondLst>
                                    <p:cond delay="0"/>
                                  </p:stCondLst>
                                  <p:childTnLst>
                                    <p:set>
                                      <p:cBhvr>
                                        <p:cTn id="37" dur="1" fill="hold">
                                          <p:stCondLst>
                                            <p:cond delay="0"/>
                                          </p:stCondLst>
                                        </p:cTn>
                                        <p:tgtEl>
                                          <p:spTgt spid="64528"/>
                                        </p:tgtEl>
                                        <p:attrNameLst>
                                          <p:attrName>style.visibility</p:attrName>
                                        </p:attrNameLst>
                                      </p:cBhvr>
                                      <p:to>
                                        <p:strVal val="visible"/>
                                      </p:to>
                                    </p:set>
                                    <p:anim calcmode="lin" valueType="num">
                                      <p:cBhvr additive="base">
                                        <p:cTn id="38" dur="500" fill="hold"/>
                                        <p:tgtEl>
                                          <p:spTgt spid="64528"/>
                                        </p:tgtEl>
                                        <p:attrNameLst>
                                          <p:attrName>ppt_x</p:attrName>
                                        </p:attrNameLst>
                                      </p:cBhvr>
                                      <p:tavLst>
                                        <p:tav tm="0">
                                          <p:val>
                                            <p:strVal val="#ppt_x"/>
                                          </p:val>
                                        </p:tav>
                                        <p:tav tm="100000">
                                          <p:val>
                                            <p:strVal val="#ppt_x"/>
                                          </p:val>
                                        </p:tav>
                                      </p:tavLst>
                                    </p:anim>
                                    <p:anim calcmode="lin" valueType="num">
                                      <p:cBhvr additive="base">
                                        <p:cTn id="39" dur="500" fill="hold"/>
                                        <p:tgtEl>
                                          <p:spTgt spid="64528"/>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64528"/>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2" presetClass="entr" presetSubtype="2" fill="hold" nodeType="clickEffect">
                                  <p:stCondLst>
                                    <p:cond delay="0"/>
                                  </p:stCondLst>
                                  <p:childTnLst>
                                    <p:set>
                                      <p:cBhvr>
                                        <p:cTn id="43" dur="1" fill="hold">
                                          <p:stCondLst>
                                            <p:cond delay="0"/>
                                          </p:stCondLst>
                                        </p:cTn>
                                        <p:tgtEl>
                                          <p:spTgt spid="64526"/>
                                        </p:tgtEl>
                                        <p:attrNameLst>
                                          <p:attrName>style.visibility</p:attrName>
                                        </p:attrNameLst>
                                      </p:cBhvr>
                                      <p:to>
                                        <p:strVal val="visible"/>
                                      </p:to>
                                    </p:set>
                                    <p:anim calcmode="lin" valueType="num">
                                      <p:cBhvr additive="base">
                                        <p:cTn id="44" dur="500" fill="hold"/>
                                        <p:tgtEl>
                                          <p:spTgt spid="64526"/>
                                        </p:tgtEl>
                                        <p:attrNameLst>
                                          <p:attrName>ppt_x</p:attrName>
                                        </p:attrNameLst>
                                      </p:cBhvr>
                                      <p:tavLst>
                                        <p:tav tm="0">
                                          <p:val>
                                            <p:strVal val="1+#ppt_w/2"/>
                                          </p:val>
                                        </p:tav>
                                        <p:tav tm="100000">
                                          <p:val>
                                            <p:strVal val="#ppt_x"/>
                                          </p:val>
                                        </p:tav>
                                      </p:tavLst>
                                    </p:anim>
                                    <p:anim calcmode="lin" valueType="num">
                                      <p:cBhvr additive="base">
                                        <p:cTn id="45" dur="500" fill="hold"/>
                                        <p:tgtEl>
                                          <p:spTgt spid="64526"/>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6452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27" grpId="0" animBg="1"/>
      <p:bldP spid="64528" grpId="0" animBg="1"/>
      <p:bldP spid="64530" grpId="0"/>
      <p:bldP spid="64531" grpId="0"/>
      <p:bldP spid="645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ext Box 5"/>
          <p:cNvSpPr txBox="1"/>
          <p:nvPr/>
        </p:nvSpPr>
        <p:spPr>
          <a:xfrm>
            <a:off x="76200" y="76200"/>
            <a:ext cx="6705600" cy="457200"/>
          </a:xfrm>
          <a:prstGeom prst="rect">
            <a:avLst/>
          </a:prstGeom>
          <a:noFill/>
          <a:ln w="9525">
            <a:noFill/>
          </a:ln>
        </p:spPr>
        <p:txBody>
          <a:bodyPr>
            <a:spAutoFit/>
          </a:bodyPr>
          <a:p>
            <a:pPr eaLnBrk="1" hangingPunct="1">
              <a:spcBef>
                <a:spcPct val="50000"/>
              </a:spcBef>
            </a:pPr>
            <a:r>
              <a:rPr lang="zh-CN" altLang="en-US" sz="2400" b="1" dirty="0">
                <a:solidFill>
                  <a:srgbClr val="990033"/>
                </a:solidFill>
                <a:latin typeface="Times New Roman" panose="02020603050405020304" pitchFamily="18" charset="0"/>
              </a:rPr>
              <a:t>（三）闪速型（</a:t>
            </a:r>
            <a:r>
              <a:rPr lang="en-US" altLang="zh-CN" sz="2400" b="1" dirty="0">
                <a:solidFill>
                  <a:srgbClr val="990033"/>
                </a:solidFill>
                <a:latin typeface="Times New Roman" panose="02020603050405020304" pitchFamily="18" charset="0"/>
              </a:rPr>
              <a:t>Flash</a:t>
            </a:r>
            <a:r>
              <a:rPr lang="zh-CN" altLang="en-US" sz="2400" b="1" dirty="0">
                <a:solidFill>
                  <a:srgbClr val="990033"/>
                </a:solidFill>
                <a:latin typeface="Times New Roman" panose="02020603050405020304" pitchFamily="18" charset="0"/>
              </a:rPr>
              <a:t>）存储单元</a:t>
            </a:r>
            <a:endParaRPr lang="zh-CN" altLang="en-US" sz="2400" b="1" dirty="0">
              <a:latin typeface="Times New Roman" panose="02020603050405020304" pitchFamily="18" charset="0"/>
            </a:endParaRPr>
          </a:p>
        </p:txBody>
      </p:sp>
      <p:graphicFrame>
        <p:nvGraphicFramePr>
          <p:cNvPr id="67590" name="Object 6"/>
          <p:cNvGraphicFramePr>
            <a:graphicFrameLocks noChangeAspect="1"/>
          </p:cNvGraphicFramePr>
          <p:nvPr/>
        </p:nvGraphicFramePr>
        <p:xfrm>
          <a:off x="4876800" y="117475"/>
          <a:ext cx="3886200" cy="2473325"/>
        </p:xfrm>
        <a:graphic>
          <a:graphicData uri="http://schemas.openxmlformats.org/presentationml/2006/ole">
            <mc:AlternateContent xmlns:mc="http://schemas.openxmlformats.org/markup-compatibility/2006">
              <mc:Choice xmlns:v="urn:schemas-microsoft-com:vml" Requires="v">
                <p:oleObj spid="_x0000_s3081" name="" r:id="rId1" imgW="2314575" imgH="1409700" progId="Paint.Picture">
                  <p:embed/>
                </p:oleObj>
              </mc:Choice>
              <mc:Fallback>
                <p:oleObj name="" r:id="rId1" imgW="2314575" imgH="1409700" progId="Paint.Picture">
                  <p:embed/>
                  <p:pic>
                    <p:nvPicPr>
                      <p:cNvPr id="0" name="图片 3080"/>
                      <p:cNvPicPr/>
                      <p:nvPr/>
                    </p:nvPicPr>
                    <p:blipFill>
                      <a:blip r:embed="rId2"/>
                      <a:stretch>
                        <a:fillRect/>
                      </a:stretch>
                    </p:blipFill>
                    <p:spPr>
                      <a:xfrm>
                        <a:off x="4876800" y="117475"/>
                        <a:ext cx="3886200" cy="2473325"/>
                      </a:xfrm>
                      <a:prstGeom prst="rect">
                        <a:avLst/>
                      </a:prstGeom>
                      <a:noFill/>
                      <a:ln w="38100">
                        <a:noFill/>
                        <a:miter/>
                      </a:ln>
                    </p:spPr>
                  </p:pic>
                </p:oleObj>
              </mc:Fallback>
            </mc:AlternateContent>
          </a:graphicData>
        </a:graphic>
      </p:graphicFrame>
      <p:sp>
        <p:nvSpPr>
          <p:cNvPr id="67592" name="Text Box 8"/>
          <p:cNvSpPr txBox="1"/>
          <p:nvPr/>
        </p:nvSpPr>
        <p:spPr>
          <a:xfrm>
            <a:off x="0" y="609600"/>
            <a:ext cx="4648200" cy="118745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闪速存储单元又称为</a:t>
            </a:r>
            <a:r>
              <a:rPr lang="zh-CN" altLang="en-US" sz="2400" b="1" dirty="0">
                <a:solidFill>
                  <a:srgbClr val="990033"/>
                </a:solidFill>
                <a:latin typeface="Times New Roman" panose="02020603050405020304" pitchFamily="18" charset="0"/>
              </a:rPr>
              <a:t>快擦快写存储单元</a:t>
            </a:r>
            <a:r>
              <a:rPr lang="zh-CN" altLang="en-US" sz="2400" b="1" dirty="0">
                <a:latin typeface="Times New Roman" panose="02020603050405020304" pitchFamily="18" charset="0"/>
              </a:rPr>
              <a:t>。右图是闪速存储单元剖面图。</a:t>
            </a:r>
            <a:endParaRPr lang="zh-CN" altLang="en-US" sz="2400" b="1" dirty="0">
              <a:latin typeface="Times New Roman" panose="02020603050405020304" pitchFamily="18" charset="0"/>
            </a:endParaRPr>
          </a:p>
        </p:txBody>
      </p:sp>
      <p:sp>
        <p:nvSpPr>
          <p:cNvPr id="67593" name="Text Box 9"/>
          <p:cNvSpPr txBox="1"/>
          <p:nvPr/>
        </p:nvSpPr>
        <p:spPr>
          <a:xfrm>
            <a:off x="0" y="1752600"/>
            <a:ext cx="4876800" cy="19177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闪速存储单元去掉了隧道型存储单元的选择管，它不像</a:t>
            </a:r>
            <a:r>
              <a:rPr lang="en-US" altLang="zh-CN" sz="2400" b="1" dirty="0">
                <a:latin typeface="Times New Roman" panose="02020603050405020304" pitchFamily="18" charset="0"/>
              </a:rPr>
              <a:t>E</a:t>
            </a:r>
            <a:r>
              <a:rPr lang="en-US" altLang="zh-CN" sz="2400" b="1" baseline="30000" dirty="0">
                <a:latin typeface="Times New Roman" panose="02020603050405020304" pitchFamily="18" charset="0"/>
              </a:rPr>
              <a:t>2</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那样一次只能擦除一个字，而是可以用一个信号，在几毫秒内擦除一大区段。</a:t>
            </a:r>
            <a:endParaRPr lang="zh-CN" altLang="en-US" b="1" dirty="0">
              <a:latin typeface="Times New Roman" panose="02020603050405020304" pitchFamily="18" charset="0"/>
            </a:endParaRPr>
          </a:p>
        </p:txBody>
      </p:sp>
      <p:sp>
        <p:nvSpPr>
          <p:cNvPr id="67594" name="Text Box 10"/>
          <p:cNvSpPr txBox="1"/>
          <p:nvPr/>
        </p:nvSpPr>
        <p:spPr>
          <a:xfrm>
            <a:off x="0" y="3733800"/>
            <a:ext cx="8229600" cy="822325"/>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因此，闪速存储单元比隧道型存储单元的芯片结构更简单、更有效，使用闪速存储单元制成的</a:t>
            </a:r>
            <a:r>
              <a:rPr lang="en-US" altLang="zh-CN" sz="2400" b="1" dirty="0">
                <a:latin typeface="Times New Roman" panose="02020603050405020304" pitchFamily="18" charset="0"/>
              </a:rPr>
              <a:t>PLD</a:t>
            </a:r>
            <a:r>
              <a:rPr lang="zh-CN" altLang="en-US" sz="2400" b="1" dirty="0">
                <a:latin typeface="Times New Roman" panose="02020603050405020304" pitchFamily="18" charset="0"/>
              </a:rPr>
              <a:t>器件密度更高。</a:t>
            </a:r>
            <a:endParaRPr lang="zh-CN" altLang="en-US" sz="2400" b="1" dirty="0">
              <a:latin typeface="Times New Roman" panose="02020603050405020304" pitchFamily="18" charset="0"/>
            </a:endParaRPr>
          </a:p>
        </p:txBody>
      </p:sp>
      <p:sp>
        <p:nvSpPr>
          <p:cNvPr id="67595" name="Text Box 11"/>
          <p:cNvSpPr txBox="1"/>
          <p:nvPr/>
        </p:nvSpPr>
        <p:spPr>
          <a:xfrm>
            <a:off x="533400" y="3657600"/>
            <a:ext cx="8210550" cy="457200"/>
          </a:xfrm>
          <a:prstGeom prst="rect">
            <a:avLst/>
          </a:prstGeom>
          <a:noFill/>
          <a:ln w="9525">
            <a:noFill/>
          </a:ln>
        </p:spPr>
        <p:txBody>
          <a:bodyPr wrap="none">
            <a:spAutoFit/>
          </a:bodyPr>
          <a:p>
            <a:pPr eaLnBrk="1" hangingPunct="1"/>
            <a:r>
              <a:rPr lang="en-US" altLang="zh-CN" sz="2400" b="1" dirty="0">
                <a:latin typeface="Times New Roman" panose="02020603050405020304" pitchFamily="18" charset="0"/>
              </a:rPr>
              <a:t>Flash</a:t>
            </a:r>
            <a:r>
              <a:rPr lang="zh-CN" altLang="en-US" sz="2400" b="1" dirty="0">
                <a:latin typeface="Times New Roman" panose="02020603050405020304" pitchFamily="18" charset="0"/>
              </a:rPr>
              <a:t>工作原理类似于叠栅型存储单元，但有两点不同之处：</a:t>
            </a:r>
            <a:endParaRPr lang="zh-CN" altLang="en-US" sz="2400" b="1" dirty="0">
              <a:latin typeface="Times New Roman" panose="02020603050405020304" pitchFamily="18" charset="0"/>
            </a:endParaRPr>
          </a:p>
        </p:txBody>
      </p:sp>
      <p:sp>
        <p:nvSpPr>
          <p:cNvPr id="67596" name="Text Box 12"/>
          <p:cNvSpPr txBox="1"/>
          <p:nvPr/>
        </p:nvSpPr>
        <p:spPr>
          <a:xfrm>
            <a:off x="76200" y="4343400"/>
            <a:ext cx="8153400" cy="1187450"/>
          </a:xfrm>
          <a:prstGeom prst="rect">
            <a:avLst/>
          </a:prstGeom>
          <a:noFill/>
          <a:ln w="9525">
            <a:noFill/>
          </a:ln>
        </p:spPr>
        <p:txBody>
          <a:bodyPr>
            <a:spAutoFit/>
          </a:bodyPr>
          <a:p>
            <a:pPr eaLnBrk="1" hangingPunct="1"/>
            <a:r>
              <a:rPr lang="en-US" altLang="zh-CN" sz="2400" b="1" dirty="0">
                <a:latin typeface="Times New Roman" panose="02020603050405020304" pitchFamily="18" charset="0"/>
              </a:rPr>
              <a:t>       1. </a:t>
            </a:r>
            <a:r>
              <a:rPr lang="zh-CN" altLang="en-US" sz="2400" b="1" dirty="0">
                <a:latin typeface="Times New Roman" panose="02020603050405020304" pitchFamily="18" charset="0"/>
              </a:rPr>
              <a:t>闪速存储单元源极的区域</a:t>
            </a:r>
            <a:r>
              <a:rPr lang="en-US" altLang="zh-CN" sz="2400" b="1" dirty="0">
                <a:latin typeface="Times New Roman" panose="02020603050405020304" pitchFamily="18" charset="0"/>
              </a:rPr>
              <a:t>S</a:t>
            </a:r>
            <a:r>
              <a:rPr lang="en-US" altLang="zh-CN" sz="2400" b="1" baseline="30000" dirty="0">
                <a:latin typeface="Times New Roman" panose="02020603050405020304" pitchFamily="18" charset="0"/>
              </a:rPr>
              <a:t>n+</a:t>
            </a:r>
            <a:r>
              <a:rPr lang="zh-CN" altLang="en-US" sz="2400" b="1" dirty="0">
                <a:latin typeface="Times New Roman" panose="02020603050405020304" pitchFamily="18" charset="0"/>
              </a:rPr>
              <a:t>大于漏极的区域</a:t>
            </a:r>
            <a:r>
              <a:rPr lang="en-US" altLang="zh-CN" sz="2400" b="1" dirty="0">
                <a:latin typeface="Times New Roman" panose="02020603050405020304" pitchFamily="18" charset="0"/>
              </a:rPr>
              <a:t>D</a:t>
            </a:r>
            <a:r>
              <a:rPr lang="en-US" altLang="zh-CN" sz="2400" b="1" baseline="30000" dirty="0">
                <a:latin typeface="Times New Roman" panose="02020603050405020304" pitchFamily="18" charset="0"/>
              </a:rPr>
              <a:t>n+</a:t>
            </a:r>
            <a:r>
              <a:rPr lang="zh-CN" altLang="en-US" sz="2400" b="1" dirty="0">
                <a:latin typeface="Times New Roman" panose="02020603050405020304" pitchFamily="18" charset="0"/>
              </a:rPr>
              <a:t>，两区域不是对称的，使浮栅上的电子进行分级双扩散，电子扩散的速度远远大于叠栅型存储单元；</a:t>
            </a:r>
            <a:endParaRPr lang="zh-CN" altLang="en-US" sz="2400" b="1" dirty="0">
              <a:latin typeface="Times New Roman" panose="02020603050405020304" pitchFamily="18" charset="0"/>
            </a:endParaRPr>
          </a:p>
        </p:txBody>
      </p:sp>
      <p:grpSp>
        <p:nvGrpSpPr>
          <p:cNvPr id="67599" name="Group 15"/>
          <p:cNvGrpSpPr/>
          <p:nvPr/>
        </p:nvGrpSpPr>
        <p:grpSpPr>
          <a:xfrm>
            <a:off x="4495800" y="1524000"/>
            <a:ext cx="2895600" cy="2971800"/>
            <a:chOff x="2832" y="960"/>
            <a:chExt cx="1824" cy="1872"/>
          </a:xfrm>
        </p:grpSpPr>
        <p:sp>
          <p:nvSpPr>
            <p:cNvPr id="24588" name="Line 13"/>
            <p:cNvSpPr/>
            <p:nvPr/>
          </p:nvSpPr>
          <p:spPr>
            <a:xfrm flipV="1">
              <a:off x="2832" y="960"/>
              <a:ext cx="1008" cy="1872"/>
            </a:xfrm>
            <a:prstGeom prst="line">
              <a:avLst/>
            </a:prstGeom>
            <a:ln w="57150" cap="flat" cmpd="sng">
              <a:solidFill>
                <a:schemeClr val="accent1"/>
              </a:solidFill>
              <a:prstDash val="solid"/>
              <a:headEnd type="none" w="med" len="med"/>
              <a:tailEnd type="triangle" w="med" len="med"/>
            </a:ln>
          </p:spPr>
        </p:sp>
        <p:sp>
          <p:nvSpPr>
            <p:cNvPr id="24589" name="Line 14"/>
            <p:cNvSpPr/>
            <p:nvPr/>
          </p:nvSpPr>
          <p:spPr>
            <a:xfrm flipV="1">
              <a:off x="4416" y="1056"/>
              <a:ext cx="240" cy="1776"/>
            </a:xfrm>
            <a:prstGeom prst="line">
              <a:avLst/>
            </a:prstGeom>
            <a:ln w="57150" cap="flat" cmpd="sng">
              <a:solidFill>
                <a:schemeClr val="accent1"/>
              </a:solidFill>
              <a:prstDash val="solid"/>
              <a:headEnd type="none" w="med" len="med"/>
              <a:tailEnd type="triangle" w="med" len="med"/>
            </a:ln>
          </p:spPr>
        </p:sp>
      </p:grpSp>
      <p:sp>
        <p:nvSpPr>
          <p:cNvPr id="67600" name="Text Box 16"/>
          <p:cNvSpPr txBox="1"/>
          <p:nvPr/>
        </p:nvSpPr>
        <p:spPr>
          <a:xfrm>
            <a:off x="0" y="5638800"/>
            <a:ext cx="8610600" cy="822325"/>
          </a:xfrm>
          <a:prstGeom prst="rect">
            <a:avLst/>
          </a:prstGeom>
          <a:noFill/>
          <a:ln w="9525">
            <a:noFill/>
          </a:ln>
        </p:spPr>
        <p:txBody>
          <a:bodyPr>
            <a:spAutoFit/>
          </a:bodyPr>
          <a:p>
            <a:pPr eaLnBrk="1" hangingPunct="1"/>
            <a:r>
              <a:rPr lang="en-US" altLang="zh-CN" sz="2400" b="1" dirty="0">
                <a:latin typeface="Times New Roman" panose="02020603050405020304" pitchFamily="18" charset="0"/>
              </a:rPr>
              <a:t>        2. </a:t>
            </a:r>
            <a:r>
              <a:rPr lang="zh-CN" altLang="en-US" sz="2400" b="1" dirty="0">
                <a:latin typeface="Times New Roman" panose="02020603050405020304" pitchFamily="18" charset="0"/>
              </a:rPr>
              <a:t>叠栅存储单元的浮栅到</a:t>
            </a:r>
            <a:r>
              <a:rPr lang="en-US" altLang="zh-CN" sz="2400" b="1" dirty="0">
                <a:latin typeface="Times New Roman" panose="02020603050405020304" pitchFamily="18" charset="0"/>
              </a:rPr>
              <a:t>P</a:t>
            </a:r>
            <a:r>
              <a:rPr lang="zh-CN" altLang="en-US" sz="2400" b="1" dirty="0">
                <a:latin typeface="Times New Roman" panose="02020603050405020304" pitchFamily="18" charset="0"/>
              </a:rPr>
              <a:t>型衬底间的氧化物层约</a:t>
            </a:r>
            <a:r>
              <a:rPr lang="en-US" altLang="zh-CN" sz="2400" b="1" dirty="0">
                <a:latin typeface="Times New Roman" panose="02020603050405020304" pitchFamily="18" charset="0"/>
              </a:rPr>
              <a:t>200</a:t>
            </a:r>
            <a:r>
              <a:rPr lang="zh-CN" altLang="en-US" sz="2400" b="1" dirty="0">
                <a:latin typeface="Times New Roman" panose="02020603050405020304" pitchFamily="18" charset="0"/>
              </a:rPr>
              <a:t>埃左右，而闪速存储单元的氧化物层更薄，约为</a:t>
            </a:r>
            <a:r>
              <a:rPr lang="en-US" altLang="zh-CN" sz="2400" b="1" dirty="0">
                <a:latin typeface="Times New Roman" panose="02020603050405020304" pitchFamily="18" charset="0"/>
              </a:rPr>
              <a:t>100</a:t>
            </a:r>
            <a:r>
              <a:rPr lang="zh-CN" altLang="en-US" sz="2400" b="1" dirty="0">
                <a:latin typeface="Times New Roman" panose="02020603050405020304" pitchFamily="18" charset="0"/>
              </a:rPr>
              <a:t>埃。</a:t>
            </a:r>
            <a:endParaRPr lang="zh-CN" altLang="en-US" b="1" dirty="0">
              <a:latin typeface="Times New Roman" panose="02020603050405020304" pitchFamily="18" charset="0"/>
            </a:endParaRPr>
          </a:p>
        </p:txBody>
      </p:sp>
      <p:sp>
        <p:nvSpPr>
          <p:cNvPr id="67601" name="Line 17"/>
          <p:cNvSpPr/>
          <p:nvPr/>
        </p:nvSpPr>
        <p:spPr>
          <a:xfrm flipV="1">
            <a:off x="6096000" y="1371600"/>
            <a:ext cx="762000" cy="4724400"/>
          </a:xfrm>
          <a:prstGeom prst="line">
            <a:avLst/>
          </a:prstGeom>
          <a:ln w="57150" cap="flat" cmpd="sng">
            <a:solidFill>
              <a:schemeClr val="accent1"/>
            </a:solidFill>
            <a:prstDash val="solid"/>
            <a:headEnd type="none" w="med" len="med"/>
            <a:tailEnd type="triangle" w="med" len="med"/>
          </a:ln>
        </p:spPr>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592"/>
                                        </p:tgtEl>
                                        <p:attrNameLst>
                                          <p:attrName>style.visibility</p:attrName>
                                        </p:attrNameLst>
                                      </p:cBhvr>
                                      <p:to>
                                        <p:strVal val="visible"/>
                                      </p:to>
                                    </p:set>
                                    <p:animEffect transition="in" filter="wipe(left)">
                                      <p:cBhvr>
                                        <p:cTn id="7" dur="500"/>
                                        <p:tgtEl>
                                          <p:spTgt spid="6759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67590"/>
                                        </p:tgtEl>
                                        <p:attrNameLst>
                                          <p:attrName>style.visibility</p:attrName>
                                        </p:attrNameLst>
                                      </p:cBhvr>
                                      <p:to>
                                        <p:strVal val="visible"/>
                                      </p:to>
                                    </p:set>
                                    <p:anim calcmode="lin" valueType="num">
                                      <p:cBhvr additive="base">
                                        <p:cTn id="12" dur="500" fill="hold"/>
                                        <p:tgtEl>
                                          <p:spTgt spid="67590"/>
                                        </p:tgtEl>
                                        <p:attrNameLst>
                                          <p:attrName>ppt_x</p:attrName>
                                        </p:attrNameLst>
                                      </p:cBhvr>
                                      <p:tavLst>
                                        <p:tav tm="0">
                                          <p:val>
                                            <p:strVal val="1+#ppt_w/2"/>
                                          </p:val>
                                        </p:tav>
                                        <p:tav tm="100000">
                                          <p:val>
                                            <p:strVal val="#ppt_x"/>
                                          </p:val>
                                        </p:tav>
                                      </p:tavLst>
                                    </p:anim>
                                    <p:anim calcmode="lin" valueType="num">
                                      <p:cBhvr additive="base">
                                        <p:cTn id="13" dur="500" fill="hold"/>
                                        <p:tgtEl>
                                          <p:spTgt spid="6759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7593"/>
                                        </p:tgtEl>
                                        <p:attrNameLst>
                                          <p:attrName>style.visibility</p:attrName>
                                        </p:attrNameLst>
                                      </p:cBhvr>
                                      <p:to>
                                        <p:strVal val="visible"/>
                                      </p:to>
                                    </p:set>
                                    <p:animEffect transition="in" filter="wipe(left)">
                                      <p:cBhvr>
                                        <p:cTn id="18" dur="500"/>
                                        <p:tgtEl>
                                          <p:spTgt spid="6759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7594"/>
                                        </p:tgtEl>
                                        <p:attrNameLst>
                                          <p:attrName>style.visibility</p:attrName>
                                        </p:attrNameLst>
                                      </p:cBhvr>
                                      <p:to>
                                        <p:strVal val="visible"/>
                                      </p:to>
                                    </p:set>
                                    <p:animEffect transition="in" filter="wipe(left)">
                                      <p:cBhvr>
                                        <p:cTn id="23" dur="500"/>
                                        <p:tgtEl>
                                          <p:spTgt spid="67594"/>
                                        </p:tgtEl>
                                      </p:cBhvr>
                                    </p:animEffect>
                                  </p:childTnLst>
                                  <p:subTnLst>
                                    <p:set>
                                      <p:cBhvr override="childStyle">
                                        <p:cTn dur="1" fill="hold" display="0" masterRel="nextClick" afterEffect="1"/>
                                        <p:tgtEl>
                                          <p:spTgt spid="67594"/>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7595"/>
                                        </p:tgtEl>
                                        <p:attrNameLst>
                                          <p:attrName>style.visibility</p:attrName>
                                        </p:attrNameLst>
                                      </p:cBhvr>
                                      <p:to>
                                        <p:strVal val="visible"/>
                                      </p:to>
                                    </p:set>
                                    <p:animEffect transition="in" filter="wipe(left)">
                                      <p:cBhvr>
                                        <p:cTn id="28" dur="500"/>
                                        <p:tgtEl>
                                          <p:spTgt spid="6759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7596"/>
                                        </p:tgtEl>
                                        <p:attrNameLst>
                                          <p:attrName>style.visibility</p:attrName>
                                        </p:attrNameLst>
                                      </p:cBhvr>
                                      <p:to>
                                        <p:strVal val="visible"/>
                                      </p:to>
                                    </p:set>
                                    <p:animEffect transition="in" filter="wipe(left)">
                                      <p:cBhvr>
                                        <p:cTn id="33" dur="500"/>
                                        <p:tgtEl>
                                          <p:spTgt spid="67596"/>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3" fill="hold" nodeType="clickEffect">
                                  <p:stCondLst>
                                    <p:cond delay="0"/>
                                  </p:stCondLst>
                                  <p:childTnLst>
                                    <p:set>
                                      <p:cBhvr>
                                        <p:cTn id="37" dur="1" fill="hold">
                                          <p:stCondLst>
                                            <p:cond delay="0"/>
                                          </p:stCondLst>
                                        </p:cTn>
                                        <p:tgtEl>
                                          <p:spTgt spid="67599"/>
                                        </p:tgtEl>
                                        <p:attrNameLst>
                                          <p:attrName>style.visibility</p:attrName>
                                        </p:attrNameLst>
                                      </p:cBhvr>
                                      <p:to>
                                        <p:strVal val="visible"/>
                                      </p:to>
                                    </p:set>
                                    <p:animEffect transition="in" filter="strips(upRight)">
                                      <p:cBhvr>
                                        <p:cTn id="38" dur="500"/>
                                        <p:tgtEl>
                                          <p:spTgt spid="67599"/>
                                        </p:tgtEl>
                                      </p:cBhvr>
                                    </p:animEffect>
                                  </p:childTnLst>
                                  <p:subTnLst>
                                    <p:set>
                                      <p:cBhvr override="childStyle">
                                        <p:cTn dur="1" fill="hold" display="0" masterRel="nextClick" afterEffect="1"/>
                                        <p:tgtEl>
                                          <p:spTgt spid="67599"/>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67600"/>
                                        </p:tgtEl>
                                        <p:attrNameLst>
                                          <p:attrName>style.visibility</p:attrName>
                                        </p:attrNameLst>
                                      </p:cBhvr>
                                      <p:to>
                                        <p:strVal val="visible"/>
                                      </p:to>
                                    </p:set>
                                    <p:animEffect transition="in" filter="wipe(left)">
                                      <p:cBhvr>
                                        <p:cTn id="43" dur="500"/>
                                        <p:tgtEl>
                                          <p:spTgt spid="67600"/>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3" fill="hold" nodeType="clickEffect">
                                  <p:stCondLst>
                                    <p:cond delay="0"/>
                                  </p:stCondLst>
                                  <p:childTnLst>
                                    <p:set>
                                      <p:cBhvr>
                                        <p:cTn id="47" dur="1" fill="hold">
                                          <p:stCondLst>
                                            <p:cond delay="0"/>
                                          </p:stCondLst>
                                        </p:cTn>
                                        <p:tgtEl>
                                          <p:spTgt spid="67601"/>
                                        </p:tgtEl>
                                        <p:attrNameLst>
                                          <p:attrName>style.visibility</p:attrName>
                                        </p:attrNameLst>
                                      </p:cBhvr>
                                      <p:to>
                                        <p:strVal val="visible"/>
                                      </p:to>
                                    </p:set>
                                    <p:animEffect transition="in" filter="strips(upRight)">
                                      <p:cBhvr>
                                        <p:cTn id="48" dur="500"/>
                                        <p:tgtEl>
                                          <p:spTgt spid="676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2" grpId="0"/>
      <p:bldP spid="67593" grpId="0"/>
      <p:bldP spid="67594" grpId="0"/>
      <p:bldP spid="67595" grpId="0"/>
      <p:bldP spid="67596" grpId="0"/>
      <p:bldP spid="6760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ext Box 6"/>
          <p:cNvSpPr txBox="1"/>
          <p:nvPr/>
        </p:nvSpPr>
        <p:spPr>
          <a:xfrm>
            <a:off x="76200" y="152400"/>
            <a:ext cx="5257800" cy="457200"/>
          </a:xfrm>
          <a:prstGeom prst="rect">
            <a:avLst/>
          </a:prstGeom>
          <a:noFill/>
          <a:ln w="9525">
            <a:noFill/>
          </a:ln>
        </p:spPr>
        <p:txBody>
          <a:bodyPr>
            <a:spAutoFit/>
          </a:bodyPr>
          <a:p>
            <a:pPr eaLnBrk="1" hangingPunct="1">
              <a:spcBef>
                <a:spcPct val="50000"/>
              </a:spcBef>
            </a:pPr>
            <a:r>
              <a:rPr lang="zh-CN" altLang="en-US" sz="2400" b="1" dirty="0">
                <a:solidFill>
                  <a:srgbClr val="990033"/>
                </a:solidFill>
                <a:latin typeface="Times New Roman" panose="02020603050405020304" pitchFamily="18" charset="0"/>
                <a:ea typeface="黑体" panose="02010609060101010101" pitchFamily="2" charset="-122"/>
              </a:rPr>
              <a:t>（四）、六管静态存储单元</a:t>
            </a:r>
            <a:endParaRPr lang="zh-CN" altLang="en-US" sz="2400" b="1" dirty="0">
              <a:latin typeface="Times New Roman" panose="02020603050405020304" pitchFamily="18" charset="0"/>
              <a:ea typeface="黑体" panose="02010609060101010101" pitchFamily="2" charset="-122"/>
            </a:endParaRPr>
          </a:p>
        </p:txBody>
      </p:sp>
      <p:sp>
        <p:nvSpPr>
          <p:cNvPr id="68615" name="Text Box 7"/>
          <p:cNvSpPr txBox="1"/>
          <p:nvPr/>
        </p:nvSpPr>
        <p:spPr>
          <a:xfrm>
            <a:off x="228600" y="685800"/>
            <a:ext cx="8458200" cy="1552575"/>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闪速存储单元的可再编程能力约为</a:t>
            </a:r>
            <a:r>
              <a:rPr lang="en-US" altLang="zh-CN" sz="2400" b="1" dirty="0">
                <a:latin typeface="Times New Roman" panose="02020603050405020304" pitchFamily="18" charset="0"/>
              </a:rPr>
              <a:t>10</a:t>
            </a:r>
            <a:r>
              <a:rPr lang="zh-CN" altLang="en-US" sz="2400" b="1" dirty="0">
                <a:latin typeface="Times New Roman" panose="02020603050405020304" pitchFamily="18" charset="0"/>
              </a:rPr>
              <a:t>万次左右，但还是不及</a:t>
            </a:r>
            <a:r>
              <a:rPr lang="en-US" altLang="zh-CN" sz="2400" b="1" dirty="0">
                <a:latin typeface="Times New Roman" panose="02020603050405020304" pitchFamily="18" charset="0"/>
              </a:rPr>
              <a:t>SRAM</a:t>
            </a:r>
            <a:r>
              <a:rPr lang="zh-CN" altLang="en-US" sz="2400" b="1" dirty="0">
                <a:latin typeface="Times New Roman" panose="02020603050405020304" pitchFamily="18" charset="0"/>
              </a:rPr>
              <a:t>那样有无限制的再编程能力，以</a:t>
            </a:r>
            <a:r>
              <a:rPr lang="en-US" altLang="zh-CN" sz="2400" b="1" dirty="0">
                <a:latin typeface="Times New Roman" panose="02020603050405020304" pitchFamily="18" charset="0"/>
              </a:rPr>
              <a:t>SRAM</a:t>
            </a:r>
            <a:r>
              <a:rPr lang="zh-CN" altLang="en-US" sz="2400" b="1" dirty="0">
                <a:latin typeface="Times New Roman" panose="02020603050405020304" pitchFamily="18" charset="0"/>
              </a:rPr>
              <a:t>为存储单元的现场可编程门阵列（</a:t>
            </a:r>
            <a:r>
              <a:rPr lang="en-US" altLang="zh-CN" sz="2400" b="1" dirty="0">
                <a:latin typeface="Times New Roman" panose="02020603050405020304" pitchFamily="18" charset="0"/>
              </a:rPr>
              <a:t>FPGA</a:t>
            </a:r>
            <a:r>
              <a:rPr lang="zh-CN" altLang="en-US" sz="2400" b="1" dirty="0">
                <a:latin typeface="Times New Roman" panose="02020603050405020304" pitchFamily="18" charset="0"/>
              </a:rPr>
              <a:t>）可以实现无限次从一种运行逻辑转换到另一种运行逻辑的功能。</a:t>
            </a:r>
            <a:endParaRPr lang="zh-CN" altLang="en-US" sz="2400" b="1" dirty="0">
              <a:latin typeface="Times New Roman" panose="02020603050405020304" pitchFamily="18" charset="0"/>
            </a:endParaRPr>
          </a:p>
        </p:txBody>
      </p:sp>
      <p:sp>
        <p:nvSpPr>
          <p:cNvPr id="68616" name="Text Box 8"/>
          <p:cNvSpPr txBox="1"/>
          <p:nvPr/>
        </p:nvSpPr>
        <p:spPr>
          <a:xfrm>
            <a:off x="228600" y="2286000"/>
            <a:ext cx="8305800" cy="822325"/>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下图是</a:t>
            </a:r>
            <a:r>
              <a:rPr lang="en-US" altLang="zh-CN" sz="2400" b="1" dirty="0">
                <a:latin typeface="Times New Roman" panose="02020603050405020304" pitchFamily="18" charset="0"/>
              </a:rPr>
              <a:t>SRAM</a:t>
            </a:r>
            <a:r>
              <a:rPr lang="zh-CN" altLang="en-US" sz="2400" b="1" dirty="0">
                <a:latin typeface="Times New Roman" panose="02020603050405020304" pitchFamily="18" charset="0"/>
              </a:rPr>
              <a:t>六管存储单元，由两个具有有源下拉</a:t>
            </a:r>
            <a:r>
              <a:rPr lang="en-US" altLang="zh-CN" sz="2400" b="1" dirty="0">
                <a:latin typeface="Times New Roman" panose="02020603050405020304" pitchFamily="18" charset="0"/>
              </a:rPr>
              <a:t>n</a:t>
            </a:r>
            <a:r>
              <a:rPr lang="zh-CN" altLang="en-US" sz="2400" b="1" dirty="0">
                <a:latin typeface="Times New Roman" panose="02020603050405020304" pitchFamily="18" charset="0"/>
              </a:rPr>
              <a:t>沟道晶体管和有源上拉</a:t>
            </a:r>
            <a:r>
              <a:rPr lang="en-US" altLang="zh-CN" sz="2400" b="1" dirty="0">
                <a:latin typeface="Times New Roman" panose="02020603050405020304" pitchFamily="18" charset="0"/>
              </a:rPr>
              <a:t>p</a:t>
            </a:r>
            <a:r>
              <a:rPr lang="zh-CN" altLang="en-US" sz="2400" b="1" dirty="0">
                <a:latin typeface="Times New Roman" panose="02020603050405020304" pitchFamily="18" charset="0"/>
              </a:rPr>
              <a:t>沟道晶体管交互耦合的倒相器组成。</a:t>
            </a:r>
            <a:endParaRPr lang="zh-CN" altLang="en-US" sz="2400" b="1" dirty="0">
              <a:latin typeface="Times New Roman" panose="02020603050405020304" pitchFamily="18" charset="0"/>
            </a:endParaRPr>
          </a:p>
        </p:txBody>
      </p:sp>
      <p:graphicFrame>
        <p:nvGraphicFramePr>
          <p:cNvPr id="68617" name="Object 9"/>
          <p:cNvGraphicFramePr>
            <a:graphicFrameLocks noChangeAspect="1"/>
          </p:cNvGraphicFramePr>
          <p:nvPr/>
        </p:nvGraphicFramePr>
        <p:xfrm>
          <a:off x="3657600" y="3276600"/>
          <a:ext cx="5181600" cy="3200400"/>
        </p:xfrm>
        <a:graphic>
          <a:graphicData uri="http://schemas.openxmlformats.org/presentationml/2006/ole">
            <mc:AlternateContent xmlns:mc="http://schemas.openxmlformats.org/markup-compatibility/2006">
              <mc:Choice xmlns:v="urn:schemas-microsoft-com:vml" Requires="v">
                <p:oleObj spid="_x0000_s3080" name="" r:id="rId1" imgW="3429000" imgH="2047875" progId="Paint.Picture">
                  <p:embed/>
                </p:oleObj>
              </mc:Choice>
              <mc:Fallback>
                <p:oleObj name="" r:id="rId1" imgW="3429000" imgH="2047875" progId="Paint.Picture">
                  <p:embed/>
                  <p:pic>
                    <p:nvPicPr>
                      <p:cNvPr id="0" name="图片 3079"/>
                      <p:cNvPicPr/>
                      <p:nvPr/>
                    </p:nvPicPr>
                    <p:blipFill>
                      <a:blip r:embed="rId2"/>
                      <a:stretch>
                        <a:fillRect/>
                      </a:stretch>
                    </p:blipFill>
                    <p:spPr>
                      <a:xfrm>
                        <a:off x="3657600" y="3276600"/>
                        <a:ext cx="5181600" cy="3200400"/>
                      </a:xfrm>
                      <a:prstGeom prst="rect">
                        <a:avLst/>
                      </a:prstGeom>
                      <a:noFill/>
                      <a:ln w="38100">
                        <a:noFill/>
                        <a:miter/>
                      </a:ln>
                    </p:spPr>
                  </p:pic>
                </p:oleObj>
              </mc:Fallback>
            </mc:AlternateContent>
          </a:graphicData>
        </a:graphic>
      </p:graphicFrame>
      <p:grpSp>
        <p:nvGrpSpPr>
          <p:cNvPr id="68620" name="Group 12"/>
          <p:cNvGrpSpPr/>
          <p:nvPr/>
        </p:nvGrpSpPr>
        <p:grpSpPr>
          <a:xfrm>
            <a:off x="5334000" y="2667000"/>
            <a:ext cx="1600200" cy="990600"/>
            <a:chOff x="3360" y="1680"/>
            <a:chExt cx="1008" cy="624"/>
          </a:xfrm>
        </p:grpSpPr>
        <p:sp>
          <p:nvSpPr>
            <p:cNvPr id="25609" name="Line 10"/>
            <p:cNvSpPr/>
            <p:nvPr/>
          </p:nvSpPr>
          <p:spPr>
            <a:xfrm>
              <a:off x="3360" y="1728"/>
              <a:ext cx="240" cy="528"/>
            </a:xfrm>
            <a:prstGeom prst="line">
              <a:avLst/>
            </a:prstGeom>
            <a:ln w="38100" cap="flat" cmpd="sng">
              <a:solidFill>
                <a:schemeClr val="accent1"/>
              </a:solidFill>
              <a:prstDash val="solid"/>
              <a:headEnd type="none" w="med" len="med"/>
              <a:tailEnd type="triangle" w="med" len="med"/>
            </a:ln>
          </p:spPr>
        </p:sp>
        <p:sp>
          <p:nvSpPr>
            <p:cNvPr id="25610" name="Line 11"/>
            <p:cNvSpPr/>
            <p:nvPr/>
          </p:nvSpPr>
          <p:spPr>
            <a:xfrm>
              <a:off x="3360" y="1680"/>
              <a:ext cx="1008" cy="624"/>
            </a:xfrm>
            <a:prstGeom prst="line">
              <a:avLst/>
            </a:prstGeom>
            <a:ln w="38100" cap="flat" cmpd="sng">
              <a:solidFill>
                <a:schemeClr val="accent1"/>
              </a:solidFill>
              <a:prstDash val="solid"/>
              <a:headEnd type="none" w="med" len="med"/>
              <a:tailEnd type="triangle" w="med" len="med"/>
            </a:ln>
          </p:spPr>
        </p:sp>
      </p:grpSp>
      <p:sp>
        <p:nvSpPr>
          <p:cNvPr id="68621" name="Text Box 13"/>
          <p:cNvSpPr txBox="1"/>
          <p:nvPr/>
        </p:nvSpPr>
        <p:spPr>
          <a:xfrm>
            <a:off x="228600" y="3200400"/>
            <a:ext cx="3429000" cy="1552575"/>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高和低电平是用具有分别到电源</a:t>
            </a:r>
            <a:r>
              <a:rPr lang="en-US" altLang="zh-CN" sz="2400" b="1" dirty="0">
                <a:latin typeface="Times New Roman" panose="02020603050405020304" pitchFamily="18" charset="0"/>
              </a:rPr>
              <a:t>V</a:t>
            </a:r>
            <a:r>
              <a:rPr lang="en-US" altLang="zh-CN" sz="2400" b="1" baseline="-25000" dirty="0">
                <a:latin typeface="Times New Roman" panose="02020603050405020304" pitchFamily="18" charset="0"/>
              </a:rPr>
              <a:t>CC</a:t>
            </a:r>
            <a:r>
              <a:rPr lang="zh-CN" altLang="en-US" sz="2400" b="1" dirty="0">
                <a:latin typeface="Times New Roman" panose="02020603050405020304" pitchFamily="18" charset="0"/>
              </a:rPr>
              <a:t>和地</a:t>
            </a:r>
            <a:r>
              <a:rPr lang="en-US" altLang="zh-CN" sz="2400" b="1" dirty="0">
                <a:latin typeface="Times New Roman" panose="02020603050405020304" pitchFamily="18" charset="0"/>
              </a:rPr>
              <a:t>GND</a:t>
            </a:r>
            <a:r>
              <a:rPr lang="zh-CN" altLang="en-US" sz="2400" b="1" dirty="0">
                <a:latin typeface="Times New Roman" panose="02020603050405020304" pitchFamily="18" charset="0"/>
              </a:rPr>
              <a:t>的低阻抗通道的有源器件定义的两个电平。</a:t>
            </a:r>
            <a:endParaRPr lang="zh-CN" altLang="en-US" sz="2400" b="1" dirty="0">
              <a:latin typeface="Times New Roman" panose="02020603050405020304" pitchFamily="18" charset="0"/>
            </a:endParaRPr>
          </a:p>
        </p:txBody>
      </p:sp>
      <p:sp>
        <p:nvSpPr>
          <p:cNvPr id="68622" name="Text Box 14"/>
          <p:cNvSpPr txBox="1"/>
          <p:nvPr/>
        </p:nvSpPr>
        <p:spPr>
          <a:xfrm>
            <a:off x="228600" y="4724400"/>
            <a:ext cx="3352800" cy="19177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D</a:t>
            </a:r>
            <a:r>
              <a:rPr lang="en-US" altLang="zh-CN" sz="2400" b="1" baseline="-25000" dirty="0">
                <a:latin typeface="Times New Roman" panose="02020603050405020304" pitchFamily="18" charset="0"/>
              </a:rPr>
              <a:t>1</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D</a:t>
            </a:r>
            <a:r>
              <a:rPr lang="en-US" altLang="zh-CN" sz="2400" b="1" baseline="-25000" dirty="0">
                <a:latin typeface="Times New Roman" panose="02020603050405020304" pitchFamily="18" charset="0"/>
              </a:rPr>
              <a:t>2</a:t>
            </a:r>
            <a:r>
              <a:rPr lang="zh-CN" altLang="en-US" sz="2400" b="1" dirty="0">
                <a:latin typeface="Times New Roman" panose="02020603050405020304" pitchFamily="18" charset="0"/>
              </a:rPr>
              <a:t>为两个传输</a:t>
            </a:r>
            <a:r>
              <a:rPr lang="en-US" altLang="zh-CN" sz="2400" b="1" dirty="0">
                <a:latin typeface="Times New Roman" panose="02020603050405020304" pitchFamily="18" charset="0"/>
              </a:rPr>
              <a:t>NMOS</a:t>
            </a:r>
            <a:r>
              <a:rPr lang="zh-CN" altLang="en-US" sz="2400" b="1" dirty="0">
                <a:latin typeface="Times New Roman" panose="02020603050405020304" pitchFamily="18" charset="0"/>
              </a:rPr>
              <a:t>管，其栅极接到字线，源极分别接到两条互补的位线上，起传输作用。</a:t>
            </a:r>
            <a:endParaRPr lang="zh-CN" altLang="en-US"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8615"/>
                                        </p:tgtEl>
                                        <p:attrNameLst>
                                          <p:attrName>style.visibility</p:attrName>
                                        </p:attrNameLst>
                                      </p:cBhvr>
                                      <p:to>
                                        <p:strVal val="visible"/>
                                      </p:to>
                                    </p:set>
                                    <p:animEffect transition="in" filter="wipe(left)">
                                      <p:cBhvr>
                                        <p:cTn id="7" dur="500"/>
                                        <p:tgtEl>
                                          <p:spTgt spid="686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8616"/>
                                        </p:tgtEl>
                                        <p:attrNameLst>
                                          <p:attrName>style.visibility</p:attrName>
                                        </p:attrNameLst>
                                      </p:cBhvr>
                                      <p:to>
                                        <p:strVal val="visible"/>
                                      </p:to>
                                    </p:set>
                                    <p:animEffect transition="in" filter="wipe(left)">
                                      <p:cBhvr>
                                        <p:cTn id="12" dur="500"/>
                                        <p:tgtEl>
                                          <p:spTgt spid="6861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68617"/>
                                        </p:tgtEl>
                                        <p:attrNameLst>
                                          <p:attrName>style.visibility</p:attrName>
                                        </p:attrNameLst>
                                      </p:cBhvr>
                                      <p:to>
                                        <p:strVal val="visible"/>
                                      </p:to>
                                    </p:set>
                                    <p:anim calcmode="lin" valueType="num">
                                      <p:cBhvr additive="base">
                                        <p:cTn id="17" dur="500" fill="hold"/>
                                        <p:tgtEl>
                                          <p:spTgt spid="68617"/>
                                        </p:tgtEl>
                                        <p:attrNameLst>
                                          <p:attrName>ppt_x</p:attrName>
                                        </p:attrNameLst>
                                      </p:cBhvr>
                                      <p:tavLst>
                                        <p:tav tm="0">
                                          <p:val>
                                            <p:strVal val="1+#ppt_w/2"/>
                                          </p:val>
                                        </p:tav>
                                        <p:tav tm="100000">
                                          <p:val>
                                            <p:strVal val="#ppt_x"/>
                                          </p:val>
                                        </p:tav>
                                      </p:tavLst>
                                    </p:anim>
                                    <p:anim calcmode="lin" valueType="num">
                                      <p:cBhvr additive="base">
                                        <p:cTn id="18" dur="500" fill="hold"/>
                                        <p:tgtEl>
                                          <p:spTgt spid="6861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nodeType="clickEffect">
                                  <p:stCondLst>
                                    <p:cond delay="0"/>
                                  </p:stCondLst>
                                  <p:childTnLst>
                                    <p:set>
                                      <p:cBhvr>
                                        <p:cTn id="22" dur="1" fill="hold">
                                          <p:stCondLst>
                                            <p:cond delay="0"/>
                                          </p:stCondLst>
                                        </p:cTn>
                                        <p:tgtEl>
                                          <p:spTgt spid="68620"/>
                                        </p:tgtEl>
                                        <p:attrNameLst>
                                          <p:attrName>style.visibility</p:attrName>
                                        </p:attrNameLst>
                                      </p:cBhvr>
                                      <p:to>
                                        <p:strVal val="visible"/>
                                      </p:to>
                                    </p:set>
                                    <p:animEffect transition="in" filter="strips(downRight)">
                                      <p:cBhvr>
                                        <p:cTn id="23" dur="500"/>
                                        <p:tgtEl>
                                          <p:spTgt spid="68620"/>
                                        </p:tgtEl>
                                      </p:cBhvr>
                                    </p:animEffect>
                                  </p:childTnLst>
                                  <p:subTnLst>
                                    <p:set>
                                      <p:cBhvr override="childStyle">
                                        <p:cTn dur="1" fill="hold" display="0" masterRel="nextClick" afterEffect="1"/>
                                        <p:tgtEl>
                                          <p:spTgt spid="68620"/>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8621"/>
                                        </p:tgtEl>
                                        <p:attrNameLst>
                                          <p:attrName>style.visibility</p:attrName>
                                        </p:attrNameLst>
                                      </p:cBhvr>
                                      <p:to>
                                        <p:strVal val="visible"/>
                                      </p:to>
                                    </p:set>
                                    <p:animEffect transition="in" filter="wipe(left)">
                                      <p:cBhvr>
                                        <p:cTn id="28" dur="500"/>
                                        <p:tgtEl>
                                          <p:spTgt spid="6862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8622"/>
                                        </p:tgtEl>
                                        <p:attrNameLst>
                                          <p:attrName>style.visibility</p:attrName>
                                        </p:attrNameLst>
                                      </p:cBhvr>
                                      <p:to>
                                        <p:strVal val="visible"/>
                                      </p:to>
                                    </p:set>
                                    <p:animEffect transition="in" filter="wipe(left)">
                                      <p:cBhvr>
                                        <p:cTn id="33" dur="500"/>
                                        <p:tgtEl>
                                          <p:spTgt spid="68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5" grpId="0"/>
      <p:bldP spid="68616" grpId="0"/>
      <p:bldP spid="68621" grpId="0"/>
      <p:bldP spid="6862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8"/>
          <p:cNvSpPr>
            <a:spLocks noGrp="1"/>
          </p:cNvSpPr>
          <p:nvPr>
            <p:ph type="title"/>
          </p:nvPr>
        </p:nvSpPr>
        <p:spPr>
          <a:xfrm>
            <a:off x="685800" y="304800"/>
            <a:ext cx="8077200" cy="1143000"/>
          </a:xfrm>
          <a:solidFill>
            <a:srgbClr val="FF0066">
              <a:alpha val="100000"/>
            </a:srgbClr>
          </a:solidFill>
          <a:ln>
            <a:miter/>
          </a:ln>
          <a:scene3d>
            <a:camera prst="legacyObliqueBottomLeft">
              <a:rot lat="0" lon="0" rev="0"/>
            </a:camera>
            <a:lightRig rig="legacyFlat3" dir="t"/>
          </a:scene3d>
          <a:sp3d extrusionH="430200" prstMaterial="legacyMatte">
            <a:bevelT w="13500" h="13500" prst="angle"/>
            <a:bevelB w="13500" h="13500" prst="angle"/>
            <a:extrusionClr>
              <a:srgbClr val="FF0066"/>
            </a:extrusionClr>
          </a:sp3d>
        </p:spPr>
        <p:txBody>
          <a:bodyPr vert="horz" wrap="square" lIns="91440" tIns="45720" rIns="91440" bIns="45720" anchor="ctr" anchorCtr="0">
            <a:flatTx/>
          </a:bodyPr>
          <a:p>
            <a:pPr eaLnBrk="1" hangingPunct="1"/>
            <a:r>
              <a:rPr lang="en-US" altLang="zh-CN" b="1" dirty="0">
                <a:solidFill>
                  <a:srgbClr val="FFFF66"/>
                </a:solidFill>
              </a:rPr>
              <a:t>§8-3</a:t>
            </a:r>
            <a:r>
              <a:rPr lang="en-US" altLang="zh-CN" b="1" dirty="0">
                <a:solidFill>
                  <a:srgbClr val="FFCC00"/>
                </a:solidFill>
              </a:rPr>
              <a:t>     </a:t>
            </a:r>
            <a:r>
              <a:rPr lang="zh-CN" altLang="en-US" b="1" dirty="0">
                <a:solidFill>
                  <a:srgbClr val="FFFF99"/>
                </a:solidFill>
              </a:rPr>
              <a:t>可编程只读存储器</a:t>
            </a:r>
            <a:r>
              <a:rPr lang="en-US" altLang="zh-CN" b="1" dirty="0">
                <a:solidFill>
                  <a:srgbClr val="FFFF99"/>
                </a:solidFill>
              </a:rPr>
              <a:t>PROM</a:t>
            </a:r>
            <a:r>
              <a:rPr lang="zh-CN" altLang="en-US" b="1" dirty="0">
                <a:solidFill>
                  <a:srgbClr val="FFFF99"/>
                </a:solidFill>
              </a:rPr>
              <a:t>和可编程逻辑阵列</a:t>
            </a:r>
            <a:r>
              <a:rPr lang="en-US" altLang="zh-CN" b="1" dirty="0">
                <a:solidFill>
                  <a:srgbClr val="FFFF99"/>
                </a:solidFill>
              </a:rPr>
              <a:t>PLA</a:t>
            </a:r>
            <a:endParaRPr lang="en-US" altLang="zh-CN" b="1" dirty="0">
              <a:solidFill>
                <a:srgbClr val="FFFF99"/>
              </a:solidFill>
            </a:endParaRPr>
          </a:p>
        </p:txBody>
      </p:sp>
      <p:sp>
        <p:nvSpPr>
          <p:cNvPr id="79881" name="Text Box 9"/>
          <p:cNvSpPr txBox="1"/>
          <p:nvPr/>
        </p:nvSpPr>
        <p:spPr>
          <a:xfrm>
            <a:off x="2209800" y="1752600"/>
            <a:ext cx="4038600" cy="457200"/>
          </a:xfrm>
          <a:prstGeom prst="rect">
            <a:avLst/>
          </a:prstGeom>
          <a:solidFill>
            <a:srgbClr val="FFCC99"/>
          </a:solidFill>
          <a:ln w="9525">
            <a:noFill/>
          </a:ln>
        </p:spPr>
        <p:txBody>
          <a:bodyPr>
            <a:spAutoFit/>
          </a:bodyPr>
          <a:p>
            <a:pPr eaLnBrk="1" hangingPunct="1">
              <a:spcBef>
                <a:spcPct val="50000"/>
              </a:spcBef>
            </a:pPr>
            <a:r>
              <a:rPr lang="zh-CN" altLang="en-US" sz="2400" b="1" dirty="0">
                <a:solidFill>
                  <a:srgbClr val="990033"/>
                </a:solidFill>
                <a:latin typeface="黑体" panose="02010609060101010101" pitchFamily="2" charset="-122"/>
                <a:ea typeface="黑体" panose="02010609060101010101" pitchFamily="2" charset="-122"/>
              </a:rPr>
              <a:t>一、可编程只读存储器</a:t>
            </a:r>
            <a:r>
              <a:rPr lang="en-US" altLang="zh-CN" sz="2400" b="1" dirty="0">
                <a:solidFill>
                  <a:srgbClr val="990033"/>
                </a:solidFill>
                <a:latin typeface="黑体" panose="02010609060101010101" pitchFamily="2" charset="-122"/>
                <a:ea typeface="黑体" panose="02010609060101010101" pitchFamily="2" charset="-122"/>
              </a:rPr>
              <a:t>PROM</a:t>
            </a:r>
            <a:endParaRPr lang="en-US" altLang="zh-CN" sz="2400" b="1" dirty="0">
              <a:latin typeface="黑体" panose="02010609060101010101" pitchFamily="2" charset="-122"/>
              <a:ea typeface="黑体" panose="02010609060101010101" pitchFamily="2" charset="-122"/>
            </a:endParaRPr>
          </a:p>
        </p:txBody>
      </p:sp>
      <p:grpSp>
        <p:nvGrpSpPr>
          <p:cNvPr id="79886" name="Group 14"/>
          <p:cNvGrpSpPr/>
          <p:nvPr/>
        </p:nvGrpSpPr>
        <p:grpSpPr>
          <a:xfrm>
            <a:off x="304800" y="2286000"/>
            <a:ext cx="8458200" cy="2286000"/>
            <a:chOff x="192" y="1440"/>
            <a:chExt cx="5328" cy="1440"/>
          </a:xfrm>
        </p:grpSpPr>
        <p:sp>
          <p:nvSpPr>
            <p:cNvPr id="26630" name="Text Box 10"/>
            <p:cNvSpPr txBox="1"/>
            <p:nvPr/>
          </p:nvSpPr>
          <p:spPr>
            <a:xfrm>
              <a:off x="240" y="1536"/>
              <a:ext cx="5280" cy="1208"/>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PROM</a:t>
              </a:r>
              <a:r>
                <a:rPr lang="zh-CN" altLang="en-US" sz="2400" b="1" dirty="0">
                  <a:latin typeface="Times New Roman" panose="02020603050405020304" pitchFamily="18" charset="0"/>
                </a:rPr>
                <a:t>的结构是</a:t>
              </a:r>
              <a:r>
                <a:rPr lang="zh-CN" altLang="en-US" sz="2400" b="1" dirty="0">
                  <a:solidFill>
                    <a:srgbClr val="990033"/>
                  </a:solidFill>
                  <a:latin typeface="Times New Roman" panose="02020603050405020304" pitchFamily="18" charset="0"/>
                </a:rPr>
                <a:t>与阵列固定</a:t>
              </a:r>
              <a:r>
                <a:rPr lang="zh-CN" altLang="en-US" sz="2400" b="1" dirty="0">
                  <a:latin typeface="Times New Roman" panose="02020603050405020304" pitchFamily="18" charset="0"/>
                </a:rPr>
                <a:t>、</a:t>
              </a:r>
              <a:r>
                <a:rPr lang="zh-CN" altLang="en-US" sz="2400" b="1" dirty="0">
                  <a:solidFill>
                    <a:srgbClr val="990033"/>
                  </a:solidFill>
                  <a:latin typeface="Times New Roman" panose="02020603050405020304" pitchFamily="18" charset="0"/>
                </a:rPr>
                <a:t>或阵列可编程</a:t>
              </a:r>
              <a:r>
                <a:rPr lang="zh-CN" altLang="en-US" sz="2400" b="1" dirty="0">
                  <a:latin typeface="Times New Roman" panose="02020603050405020304" pitchFamily="18" charset="0"/>
                </a:rPr>
                <a:t>的</a:t>
              </a:r>
              <a:r>
                <a:rPr lang="en-US" altLang="zh-CN" sz="2400" b="1" dirty="0">
                  <a:latin typeface="Times New Roman" panose="02020603050405020304" pitchFamily="18" charset="0"/>
                </a:rPr>
                <a:t>PLD</a:t>
              </a:r>
              <a:r>
                <a:rPr lang="zh-CN" altLang="en-US" sz="2400" b="1" dirty="0">
                  <a:latin typeface="Times New Roman" panose="02020603050405020304" pitchFamily="18" charset="0"/>
                </a:rPr>
                <a:t>器件，对于有大量输入信号的</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，比较</a:t>
              </a:r>
              <a:r>
                <a:rPr lang="zh-CN" altLang="en-US" sz="2400" b="1" dirty="0">
                  <a:solidFill>
                    <a:srgbClr val="990033"/>
                  </a:solidFill>
                  <a:latin typeface="Times New Roman" panose="02020603050405020304" pitchFamily="18" charset="0"/>
                </a:rPr>
                <a:t>适合作为存储器</a:t>
              </a:r>
              <a:r>
                <a:rPr lang="zh-CN" altLang="en-US" sz="2400" b="1" dirty="0">
                  <a:latin typeface="Times New Roman" panose="02020603050405020304" pitchFamily="18" charset="0"/>
                </a:rPr>
                <a:t>来存放数据，它在计算机系统和数据自动控制等方面起着重要的作用。对于较少的输入信号组成的与阵列固定、或阵列可编程的器件中，也可以很方便地</a:t>
              </a:r>
              <a:r>
                <a:rPr lang="zh-CN" altLang="en-US" sz="2400" b="1" dirty="0">
                  <a:solidFill>
                    <a:srgbClr val="990033"/>
                  </a:solidFill>
                  <a:latin typeface="Times New Roman" panose="02020603050405020304" pitchFamily="18" charset="0"/>
                </a:rPr>
                <a:t>实现任意组合逻辑函数</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26631" name="Rectangle 13"/>
            <p:cNvSpPr/>
            <p:nvPr/>
          </p:nvSpPr>
          <p:spPr>
            <a:xfrm>
              <a:off x="192" y="1440"/>
              <a:ext cx="5328" cy="1440"/>
            </a:xfrm>
            <a:prstGeom prst="rect">
              <a:avLst/>
            </a:prstGeom>
            <a:noFill/>
            <a:ln w="57150" cap="flat" cmpd="thinThick">
              <a:solidFill>
                <a:srgbClr val="FFCC99"/>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sp>
        <p:nvSpPr>
          <p:cNvPr id="79887" name="Text Box 15"/>
          <p:cNvSpPr txBox="1"/>
          <p:nvPr/>
        </p:nvSpPr>
        <p:spPr>
          <a:xfrm>
            <a:off x="222250" y="5070475"/>
            <a:ext cx="8616950" cy="457200"/>
          </a:xfrm>
          <a:prstGeom prst="rect">
            <a:avLst/>
          </a:prstGeom>
          <a:noFill/>
          <a:ln w="9525">
            <a:noFill/>
          </a:ln>
        </p:spPr>
        <p:txBody>
          <a:bodyPr wrap="none">
            <a:spAutoFit/>
          </a:bodyPr>
          <a:p>
            <a:pPr algn="ctr" eaLnBrk="1" hangingPunct="1"/>
            <a:r>
              <a:rPr lang="zh-CN" altLang="en-US" sz="2400" b="1" dirty="0">
                <a:latin typeface="黑体" panose="02010609060101010101" pitchFamily="2" charset="-122"/>
                <a:ea typeface="黑体" panose="02010609060101010101" pitchFamily="2" charset="-122"/>
              </a:rPr>
              <a:t>例</a:t>
            </a:r>
            <a:r>
              <a:rPr lang="en-US" altLang="zh-CN" sz="2400" b="1" dirty="0">
                <a:latin typeface="黑体" panose="02010609060101010101" pitchFamily="2" charset="-122"/>
                <a:ea typeface="黑体" panose="02010609060101010101" pitchFamily="2" charset="-122"/>
              </a:rPr>
              <a:t>1</a:t>
            </a:r>
            <a:r>
              <a:rPr lang="zh-CN" altLang="en-US" sz="2400" b="1" dirty="0">
                <a:latin typeface="黑体" panose="02010609060101010101" pitchFamily="2" charset="-122"/>
                <a:ea typeface="黑体" panose="02010609060101010101" pitchFamily="2" charset="-122"/>
              </a:rPr>
              <a:t>：</a:t>
            </a:r>
            <a:r>
              <a:rPr lang="zh-CN" altLang="en-US" sz="2400" b="1" dirty="0">
                <a:latin typeface="Times New Roman" panose="02020603050405020304" pitchFamily="18" charset="0"/>
              </a:rPr>
              <a:t> 下图是一个</a:t>
            </a:r>
            <a:r>
              <a:rPr lang="en-US" altLang="zh-CN" sz="2400" b="1" dirty="0">
                <a:latin typeface="Times New Roman" panose="02020603050405020304" pitchFamily="18" charset="0"/>
              </a:rPr>
              <a:t>8</a:t>
            </a:r>
            <a:r>
              <a:rPr lang="zh-CN" altLang="en-US" sz="2400" b="1" dirty="0">
                <a:latin typeface="Times New Roman" panose="02020603050405020304" pitchFamily="18" charset="0"/>
              </a:rPr>
              <a:t>（字线）</a:t>
            </a:r>
            <a:r>
              <a:rPr lang="en-US" altLang="zh-CN" sz="2400" b="1" dirty="0">
                <a:latin typeface="Times New Roman" panose="02020603050405020304" pitchFamily="18" charset="0"/>
              </a:rPr>
              <a:t>×4</a:t>
            </a:r>
            <a:r>
              <a:rPr lang="zh-CN" altLang="en-US" sz="2400" b="1" dirty="0">
                <a:latin typeface="Times New Roman" panose="02020603050405020304" pitchFamily="18" charset="0"/>
              </a:rPr>
              <a:t>（数据）的存储器数据阵列图。</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881"/>
                                        </p:tgtEl>
                                        <p:attrNameLst>
                                          <p:attrName>style.visibility</p:attrName>
                                        </p:attrNameLst>
                                      </p:cBhvr>
                                      <p:to>
                                        <p:strVal val="visible"/>
                                      </p:to>
                                    </p:set>
                                    <p:animEffect transition="in" filter="wipe(left)">
                                      <p:cBhvr>
                                        <p:cTn id="7" dur="500"/>
                                        <p:tgtEl>
                                          <p:spTgt spid="7988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9886"/>
                                        </p:tgtEl>
                                        <p:attrNameLst>
                                          <p:attrName>style.visibility</p:attrName>
                                        </p:attrNameLst>
                                      </p:cBhvr>
                                      <p:to>
                                        <p:strVal val="visible"/>
                                      </p:to>
                                    </p:set>
                                    <p:animEffect transition="in" filter="wipe(left)">
                                      <p:cBhvr>
                                        <p:cTn id="12" dur="500"/>
                                        <p:tgtEl>
                                          <p:spTgt spid="798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9887"/>
                                        </p:tgtEl>
                                        <p:attrNameLst>
                                          <p:attrName>style.visibility</p:attrName>
                                        </p:attrNameLst>
                                      </p:cBhvr>
                                      <p:to>
                                        <p:strVal val="visible"/>
                                      </p:to>
                                    </p:set>
                                    <p:animEffect transition="in" filter="wipe(left)">
                                      <p:cBhvr>
                                        <p:cTn id="17" dur="500"/>
                                        <p:tgtEl>
                                          <p:spTgt spid="79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81" grpId="0" animBg="1"/>
      <p:bldP spid="7988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7650" name="Object 11"/>
          <p:cNvGraphicFramePr>
            <a:graphicFrameLocks noChangeAspect="1"/>
          </p:cNvGraphicFramePr>
          <p:nvPr/>
        </p:nvGraphicFramePr>
        <p:xfrm>
          <a:off x="304800" y="838200"/>
          <a:ext cx="8534400" cy="3952875"/>
        </p:xfrm>
        <a:graphic>
          <a:graphicData uri="http://schemas.openxmlformats.org/presentationml/2006/ole">
            <mc:AlternateContent xmlns:mc="http://schemas.openxmlformats.org/markup-compatibility/2006">
              <mc:Choice xmlns:v="urn:schemas-microsoft-com:vml" Requires="v">
                <p:oleObj spid="_x0000_s3083" name="" r:id="rId1" imgW="5200650" imgH="2609850" progId="Paint.Picture">
                  <p:embed/>
                </p:oleObj>
              </mc:Choice>
              <mc:Fallback>
                <p:oleObj name="" r:id="rId1" imgW="5200650" imgH="2609850" progId="Paint.Picture">
                  <p:embed/>
                  <p:pic>
                    <p:nvPicPr>
                      <p:cNvPr id="0" name="图片 3082"/>
                      <p:cNvPicPr/>
                      <p:nvPr/>
                    </p:nvPicPr>
                    <p:blipFill>
                      <a:blip r:embed="rId2"/>
                      <a:stretch>
                        <a:fillRect/>
                      </a:stretch>
                    </p:blipFill>
                    <p:spPr>
                      <a:xfrm>
                        <a:off x="304800" y="838200"/>
                        <a:ext cx="8534400" cy="3952875"/>
                      </a:xfrm>
                      <a:prstGeom prst="rect">
                        <a:avLst/>
                      </a:prstGeom>
                      <a:noFill/>
                      <a:ln w="38100">
                        <a:noFill/>
                        <a:miter/>
                      </a:ln>
                    </p:spPr>
                  </p:pic>
                </p:oleObj>
              </mc:Fallback>
            </mc:AlternateContent>
          </a:graphicData>
        </a:graphic>
      </p:graphicFrame>
      <p:sp>
        <p:nvSpPr>
          <p:cNvPr id="82956" name="AutoShape 12"/>
          <p:cNvSpPr/>
          <p:nvPr/>
        </p:nvSpPr>
        <p:spPr>
          <a:xfrm>
            <a:off x="1524000" y="228600"/>
            <a:ext cx="1828800" cy="533400"/>
          </a:xfrm>
          <a:prstGeom prst="wedgeRectCallout">
            <a:avLst>
              <a:gd name="adj1" fmla="val -44532"/>
              <a:gd name="adj2" fmla="val 121431"/>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2400" b="1" dirty="0">
                <a:latin typeface="Times New Roman" panose="02020603050405020304" pitchFamily="18" charset="0"/>
              </a:rPr>
              <a:t>3-8</a:t>
            </a:r>
            <a:r>
              <a:rPr lang="zh-CN" altLang="en-US" sz="2400" b="1" dirty="0">
                <a:latin typeface="Times New Roman" panose="02020603050405020304" pitchFamily="18" charset="0"/>
              </a:rPr>
              <a:t>线译码器</a:t>
            </a:r>
            <a:endParaRPr lang="zh-CN" altLang="en-US" sz="2400" b="1" dirty="0">
              <a:latin typeface="Times New Roman" panose="02020603050405020304" pitchFamily="18" charset="0"/>
            </a:endParaRPr>
          </a:p>
        </p:txBody>
      </p:sp>
      <p:sp>
        <p:nvSpPr>
          <p:cNvPr id="82957" name="AutoShape 13"/>
          <p:cNvSpPr/>
          <p:nvPr/>
        </p:nvSpPr>
        <p:spPr>
          <a:xfrm>
            <a:off x="3581400" y="228600"/>
            <a:ext cx="2667000" cy="533400"/>
          </a:xfrm>
          <a:prstGeom prst="wedgeRectCallout">
            <a:avLst>
              <a:gd name="adj1" fmla="val -51069"/>
              <a:gd name="adj2" fmla="val 151486"/>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2400" b="1" dirty="0">
                <a:latin typeface="Times New Roman" panose="02020603050405020304" pitchFamily="18" charset="0"/>
              </a:rPr>
              <a:t>8×4</a:t>
            </a:r>
            <a:r>
              <a:rPr lang="zh-CN" altLang="en-US" sz="2400" b="1" dirty="0">
                <a:latin typeface="Times New Roman" panose="02020603050405020304" pitchFamily="18" charset="0"/>
              </a:rPr>
              <a:t>存储单元矩阵</a:t>
            </a:r>
            <a:endParaRPr lang="zh-CN" altLang="en-US" sz="2400" b="1" dirty="0">
              <a:latin typeface="Times New Roman" panose="02020603050405020304" pitchFamily="18" charset="0"/>
            </a:endParaRPr>
          </a:p>
        </p:txBody>
      </p:sp>
      <p:sp>
        <p:nvSpPr>
          <p:cNvPr id="82958" name="AutoShape 14"/>
          <p:cNvSpPr/>
          <p:nvPr/>
        </p:nvSpPr>
        <p:spPr>
          <a:xfrm>
            <a:off x="3352800" y="2209800"/>
            <a:ext cx="1828800" cy="609600"/>
          </a:xfrm>
          <a:prstGeom prst="wedgeRectCallout">
            <a:avLst>
              <a:gd name="adj1" fmla="val -36718"/>
              <a:gd name="adj2" fmla="val 161199"/>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输出缓冲器</a:t>
            </a:r>
            <a:endParaRPr lang="zh-CN" altLang="en-US" sz="2400" b="1" dirty="0">
              <a:latin typeface="Times New Roman" panose="02020603050405020304" pitchFamily="18" charset="0"/>
            </a:endParaRPr>
          </a:p>
        </p:txBody>
      </p:sp>
      <p:grpSp>
        <p:nvGrpSpPr>
          <p:cNvPr id="82961" name="Group 17"/>
          <p:cNvGrpSpPr/>
          <p:nvPr/>
        </p:nvGrpSpPr>
        <p:grpSpPr>
          <a:xfrm>
            <a:off x="609600" y="457200"/>
            <a:ext cx="2133600" cy="2057400"/>
            <a:chOff x="384" y="288"/>
            <a:chExt cx="1344" cy="1296"/>
          </a:xfrm>
        </p:grpSpPr>
        <p:sp>
          <p:nvSpPr>
            <p:cNvPr id="27665" name="AutoShape 15"/>
            <p:cNvSpPr/>
            <p:nvPr/>
          </p:nvSpPr>
          <p:spPr>
            <a:xfrm>
              <a:off x="480" y="288"/>
              <a:ext cx="1248" cy="432"/>
            </a:xfrm>
            <a:prstGeom prst="wedgeRectCallout">
              <a:avLst>
                <a:gd name="adj1" fmla="val -45194"/>
                <a:gd name="adj2" fmla="val 114352"/>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地址码输入端</a:t>
              </a:r>
              <a:endParaRPr lang="zh-CN" altLang="en-US" sz="2400" b="1" dirty="0">
                <a:latin typeface="Times New Roman" panose="02020603050405020304" pitchFamily="18" charset="0"/>
              </a:endParaRPr>
            </a:p>
          </p:txBody>
        </p:sp>
        <p:sp>
          <p:nvSpPr>
            <p:cNvPr id="27666" name="Rectangle 16"/>
            <p:cNvSpPr/>
            <p:nvPr/>
          </p:nvSpPr>
          <p:spPr>
            <a:xfrm>
              <a:off x="384" y="960"/>
              <a:ext cx="144" cy="624"/>
            </a:xfrm>
            <a:prstGeom prst="rect">
              <a:avLst/>
            </a:prstGeom>
            <a:noFill/>
            <a:ln w="38100" cap="flat" cmpd="sng">
              <a:solidFill>
                <a:schemeClr val="accent1"/>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grpSp>
        <p:nvGrpSpPr>
          <p:cNvPr id="82964" name="Group 20"/>
          <p:cNvGrpSpPr/>
          <p:nvPr/>
        </p:nvGrpSpPr>
        <p:grpSpPr>
          <a:xfrm>
            <a:off x="381000" y="3886200"/>
            <a:ext cx="3352800" cy="1676400"/>
            <a:chOff x="240" y="2448"/>
            <a:chExt cx="2112" cy="1056"/>
          </a:xfrm>
        </p:grpSpPr>
        <p:sp>
          <p:nvSpPr>
            <p:cNvPr id="27663" name="Rectangle 18"/>
            <p:cNvSpPr/>
            <p:nvPr/>
          </p:nvSpPr>
          <p:spPr>
            <a:xfrm>
              <a:off x="1488" y="2448"/>
              <a:ext cx="864" cy="288"/>
            </a:xfrm>
            <a:prstGeom prst="rect">
              <a:avLst/>
            </a:prstGeom>
            <a:noFill/>
            <a:ln w="57150" cap="flat" cmpd="sng">
              <a:solidFill>
                <a:schemeClr val="accent1"/>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27664" name="AutoShape 19"/>
            <p:cNvSpPr/>
            <p:nvPr/>
          </p:nvSpPr>
          <p:spPr>
            <a:xfrm>
              <a:off x="240" y="3120"/>
              <a:ext cx="1104" cy="384"/>
            </a:xfrm>
            <a:prstGeom prst="wedgeRectCallout">
              <a:avLst>
                <a:gd name="adj1" fmla="val 80977"/>
                <a:gd name="adj2" fmla="val -148699"/>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数据输出端</a:t>
              </a:r>
              <a:endParaRPr lang="zh-CN" altLang="en-US" sz="2400" b="1" dirty="0">
                <a:latin typeface="Times New Roman" panose="02020603050405020304" pitchFamily="18" charset="0"/>
              </a:endParaRPr>
            </a:p>
          </p:txBody>
        </p:sp>
      </p:grpSp>
      <p:grpSp>
        <p:nvGrpSpPr>
          <p:cNvPr id="82967" name="Group 23"/>
          <p:cNvGrpSpPr/>
          <p:nvPr/>
        </p:nvGrpSpPr>
        <p:grpSpPr>
          <a:xfrm>
            <a:off x="533400" y="914400"/>
            <a:ext cx="1828800" cy="3352800"/>
            <a:chOff x="336" y="576"/>
            <a:chExt cx="1152" cy="2112"/>
          </a:xfrm>
        </p:grpSpPr>
        <p:sp>
          <p:nvSpPr>
            <p:cNvPr id="27661" name="Rectangle 21"/>
            <p:cNvSpPr/>
            <p:nvPr/>
          </p:nvSpPr>
          <p:spPr>
            <a:xfrm>
              <a:off x="1248" y="576"/>
              <a:ext cx="240" cy="1440"/>
            </a:xfrm>
            <a:prstGeom prst="rect">
              <a:avLst/>
            </a:prstGeom>
            <a:noFill/>
            <a:ln w="38100" cap="flat" cmpd="sng">
              <a:solidFill>
                <a:schemeClr val="accent1"/>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27662" name="AutoShape 22"/>
            <p:cNvSpPr/>
            <p:nvPr/>
          </p:nvSpPr>
          <p:spPr>
            <a:xfrm>
              <a:off x="336" y="2352"/>
              <a:ext cx="672" cy="336"/>
            </a:xfrm>
            <a:prstGeom prst="wedgeRectCallout">
              <a:avLst>
                <a:gd name="adj1" fmla="val 92856"/>
                <a:gd name="adj2" fmla="val -150000"/>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字线</a:t>
              </a:r>
              <a:endParaRPr lang="zh-CN" altLang="en-US" sz="2400" b="1" dirty="0">
                <a:latin typeface="Times New Roman" panose="02020603050405020304" pitchFamily="18" charset="0"/>
              </a:endParaRPr>
            </a:p>
          </p:txBody>
        </p:sp>
      </p:grpSp>
      <p:sp>
        <p:nvSpPr>
          <p:cNvPr id="82968" name="Text Box 24"/>
          <p:cNvSpPr txBox="1"/>
          <p:nvPr/>
        </p:nvSpPr>
        <p:spPr>
          <a:xfrm>
            <a:off x="381000" y="4191000"/>
            <a:ext cx="8229600" cy="822325"/>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由地址译码器选中不同的字线，被选中字线上的四位数据通过输出缓冲器输出。</a:t>
            </a:r>
            <a:endParaRPr lang="zh-CN" altLang="en-US" sz="2400" b="1" dirty="0">
              <a:latin typeface="Times New Roman" panose="02020603050405020304" pitchFamily="18" charset="0"/>
            </a:endParaRPr>
          </a:p>
        </p:txBody>
      </p:sp>
      <p:sp>
        <p:nvSpPr>
          <p:cNvPr id="82969" name="Text Box 25"/>
          <p:cNvSpPr txBox="1"/>
          <p:nvPr/>
        </p:nvSpPr>
        <p:spPr>
          <a:xfrm>
            <a:off x="304800" y="5486400"/>
            <a:ext cx="8305800" cy="118745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如当地址码</a:t>
            </a:r>
            <a:r>
              <a:rPr lang="en-US" altLang="zh-CN" sz="2400" b="1" dirty="0">
                <a:latin typeface="Times New Roman" panose="02020603050405020304" pitchFamily="18" charset="0"/>
              </a:rPr>
              <a:t>A</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A</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A</a:t>
            </a:r>
            <a:r>
              <a:rPr lang="en-US" altLang="zh-CN" sz="2400" b="1" baseline="-25000" dirty="0">
                <a:latin typeface="Times New Roman" panose="02020603050405020304" pitchFamily="18" charset="0"/>
              </a:rPr>
              <a:t>0</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000</a:t>
            </a:r>
            <a:r>
              <a:rPr lang="zh-CN" altLang="en-US" sz="2400" b="1" dirty="0">
                <a:latin typeface="Times New Roman" panose="02020603050405020304" pitchFamily="18" charset="0"/>
              </a:rPr>
              <a:t>时，通过地址译码器，使字线</a:t>
            </a:r>
            <a:r>
              <a:rPr lang="en-US" altLang="zh-CN" sz="2400" b="1" dirty="0">
                <a:latin typeface="Times New Roman" panose="02020603050405020304" pitchFamily="18" charset="0"/>
              </a:rPr>
              <a:t>P</a:t>
            </a:r>
            <a:r>
              <a:rPr lang="en-US" altLang="zh-CN" sz="2400" b="1" baseline="-25000" dirty="0">
                <a:latin typeface="Times New Roman" panose="02020603050405020304" pitchFamily="18" charset="0"/>
              </a:rPr>
              <a:t>0</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，将字线</a:t>
            </a:r>
            <a:r>
              <a:rPr lang="en-US" altLang="zh-CN" sz="2400" b="1" dirty="0">
                <a:latin typeface="Times New Roman" panose="02020603050405020304" pitchFamily="18" charset="0"/>
              </a:rPr>
              <a:t>P</a:t>
            </a:r>
            <a:r>
              <a:rPr lang="en-US" altLang="zh-CN" sz="2400" b="1" baseline="-25000" dirty="0">
                <a:latin typeface="Times New Roman" panose="02020603050405020304" pitchFamily="18" charset="0"/>
              </a:rPr>
              <a:t>0</a:t>
            </a:r>
            <a:r>
              <a:rPr lang="zh-CN" altLang="en-US" sz="2400" b="1" dirty="0">
                <a:latin typeface="Times New Roman" panose="02020603050405020304" pitchFamily="18" charset="0"/>
              </a:rPr>
              <a:t>上的存储单元存储的数据</a:t>
            </a:r>
            <a:r>
              <a:rPr lang="en-US" altLang="zh-CN" sz="2400" b="1" dirty="0">
                <a:latin typeface="Times New Roman" panose="02020603050405020304" pitchFamily="18" charset="0"/>
              </a:rPr>
              <a:t>0000</a:t>
            </a:r>
            <a:r>
              <a:rPr lang="zh-CN" altLang="en-US" sz="2400" b="1" dirty="0">
                <a:latin typeface="Times New Roman" panose="02020603050405020304" pitchFamily="18" charset="0"/>
              </a:rPr>
              <a:t>输出，即</a:t>
            </a:r>
            <a:r>
              <a:rPr lang="en-US" altLang="zh-CN" sz="2400" b="1" dirty="0">
                <a:latin typeface="Times New Roman" panose="02020603050405020304" pitchFamily="18" charset="0"/>
              </a:rPr>
              <a:t>D</a:t>
            </a:r>
            <a:r>
              <a:rPr lang="en-US" altLang="zh-CN" sz="2400" b="1" baseline="-25000" dirty="0">
                <a:latin typeface="Times New Roman" panose="02020603050405020304" pitchFamily="18" charset="0"/>
              </a:rPr>
              <a:t>0</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D</a:t>
            </a:r>
            <a:r>
              <a:rPr lang="en-US" altLang="zh-CN" sz="2400" b="1" baseline="-25000" dirty="0">
                <a:latin typeface="Times New Roman" panose="02020603050405020304" pitchFamily="18" charset="0"/>
              </a:rPr>
              <a:t>3</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0000</a:t>
            </a:r>
            <a:r>
              <a:rPr lang="zh-CN" altLang="en-US" sz="2400" b="1" dirty="0">
                <a:latin typeface="Times New Roman" panose="02020603050405020304" pitchFamily="18" charset="0"/>
              </a:rPr>
              <a:t>。更详细的内容，请同学参看表</a:t>
            </a:r>
            <a:r>
              <a:rPr lang="en-US" altLang="zh-CN" sz="2400" b="1" dirty="0">
                <a:latin typeface="Times New Roman" panose="02020603050405020304" pitchFamily="18" charset="0"/>
              </a:rPr>
              <a:t>7-3</a:t>
            </a:r>
            <a:endParaRPr lang="en-US" altLang="zh-CN" sz="2400" b="1" dirty="0">
              <a:latin typeface="Times New Roman" panose="02020603050405020304" pitchFamily="18" charset="0"/>
            </a:endParaRPr>
          </a:p>
        </p:txBody>
      </p:sp>
      <p:sp>
        <p:nvSpPr>
          <p:cNvPr id="82970" name="Line 26"/>
          <p:cNvSpPr/>
          <p:nvPr/>
        </p:nvSpPr>
        <p:spPr>
          <a:xfrm flipH="1" flipV="1">
            <a:off x="3200400" y="1295400"/>
            <a:ext cx="381000" cy="4267200"/>
          </a:xfrm>
          <a:prstGeom prst="line">
            <a:avLst/>
          </a:prstGeom>
          <a:ln w="38100" cap="flat" cmpd="sng">
            <a:solidFill>
              <a:schemeClr val="accent1"/>
            </a:solidFill>
            <a:prstDash val="solid"/>
            <a:headEnd type="none" w="med" len="med"/>
            <a:tailEnd type="triangle" w="med" len="med"/>
          </a:ln>
        </p:spPr>
      </p:sp>
      <p:sp>
        <p:nvSpPr>
          <p:cNvPr id="82973" name="AutoShape 29"/>
          <p:cNvSpPr/>
          <p:nvPr/>
        </p:nvSpPr>
        <p:spPr>
          <a:xfrm>
            <a:off x="0" y="457200"/>
            <a:ext cx="4114800" cy="2133600"/>
          </a:xfrm>
          <a:prstGeom prst="wedgeRectCallout">
            <a:avLst>
              <a:gd name="adj1" fmla="val 71296"/>
              <a:gd name="adj2" fmla="val 14435"/>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将左图地址扩展成</a:t>
            </a:r>
            <a:r>
              <a:rPr lang="en-US" altLang="zh-CN" sz="2400" b="1" dirty="0">
                <a:latin typeface="Times New Roman" panose="02020603050405020304" pitchFamily="18" charset="0"/>
              </a:rPr>
              <a:t>n</a:t>
            </a:r>
            <a:r>
              <a:rPr lang="zh-CN" altLang="en-US" sz="2400" b="1" dirty="0">
                <a:latin typeface="Times New Roman" panose="02020603050405020304" pitchFamily="18" charset="0"/>
              </a:rPr>
              <a:t>条地址线，</a:t>
            </a:r>
            <a:endParaRPr lang="zh-CN" altLang="en-US" sz="2400" b="1" dirty="0">
              <a:latin typeface="Times New Roman" panose="02020603050405020304" pitchFamily="18" charset="0"/>
            </a:endParaRPr>
          </a:p>
          <a:p>
            <a:pPr eaLnBrk="1" hangingPunct="1"/>
            <a:r>
              <a:rPr lang="en-US" altLang="zh-CN" sz="2400" b="1" dirty="0">
                <a:latin typeface="Times New Roman" panose="02020603050405020304" pitchFamily="18" charset="0"/>
              </a:rPr>
              <a:t>n</a:t>
            </a:r>
            <a:r>
              <a:rPr lang="zh-CN" altLang="en-US" sz="2400" b="1" dirty="0">
                <a:latin typeface="Times New Roman" panose="02020603050405020304" pitchFamily="18" charset="0"/>
              </a:rPr>
              <a:t>位地址码可寻址</a:t>
            </a:r>
            <a:r>
              <a:rPr lang="en-US" altLang="zh-CN" sz="2400" b="1" dirty="0">
                <a:latin typeface="Times New Roman" panose="02020603050405020304" pitchFamily="18" charset="0"/>
              </a:rPr>
              <a:t>2</a:t>
            </a:r>
            <a:r>
              <a:rPr lang="en-US" altLang="zh-CN" sz="2400" b="1" baseline="30000" dirty="0">
                <a:latin typeface="Times New Roman" panose="02020603050405020304" pitchFamily="18" charset="0"/>
              </a:rPr>
              <a:t>n</a:t>
            </a:r>
            <a:r>
              <a:rPr lang="zh-CN" altLang="en-US" sz="2400" b="1" dirty="0">
                <a:latin typeface="Times New Roman" panose="02020603050405020304" pitchFamily="18" charset="0"/>
              </a:rPr>
              <a:t>个信息单</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元，产生字线为</a:t>
            </a:r>
            <a:r>
              <a:rPr lang="en-US" altLang="zh-CN" sz="2400" b="1" dirty="0">
                <a:latin typeface="Times New Roman" panose="02020603050405020304" pitchFamily="18" charset="0"/>
              </a:rPr>
              <a:t>2</a:t>
            </a:r>
            <a:r>
              <a:rPr lang="en-US" altLang="zh-CN" sz="2400" b="1" baseline="30000" dirty="0">
                <a:latin typeface="Times New Roman" panose="02020603050405020304" pitchFamily="18" charset="0"/>
              </a:rPr>
              <a:t>n</a:t>
            </a:r>
            <a:r>
              <a:rPr lang="zh-CN" altLang="en-US" sz="2400" b="1" dirty="0">
                <a:latin typeface="Times New Roman" panose="02020603050405020304" pitchFamily="18" charset="0"/>
              </a:rPr>
              <a:t>条，其输出</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若是</a:t>
            </a:r>
            <a:r>
              <a:rPr lang="en-US" altLang="zh-CN" sz="2400" b="1" dirty="0">
                <a:latin typeface="Times New Roman" panose="02020603050405020304" pitchFamily="18" charset="0"/>
              </a:rPr>
              <a:t>m</a:t>
            </a:r>
            <a:r>
              <a:rPr lang="zh-CN" altLang="en-US" sz="2400" b="1" dirty="0">
                <a:latin typeface="Times New Roman" panose="02020603050405020304" pitchFamily="18" charset="0"/>
              </a:rPr>
              <a:t>位，则存储器的总容量</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位</a:t>
            </a:r>
            <a:r>
              <a:rPr lang="en-US" altLang="zh-CN" sz="2400" b="1" dirty="0">
                <a:latin typeface="Times New Roman" panose="02020603050405020304" pitchFamily="18" charset="0"/>
              </a:rPr>
              <a:t>2</a:t>
            </a:r>
            <a:r>
              <a:rPr lang="en-US" altLang="zh-CN" sz="2400" b="1" baseline="30000" dirty="0">
                <a:latin typeface="Times New Roman" panose="02020603050405020304" pitchFamily="18" charset="0"/>
              </a:rPr>
              <a:t>n</a:t>
            </a:r>
            <a:r>
              <a:rPr lang="en-US" altLang="zh-CN" sz="2400" b="1" dirty="0">
                <a:latin typeface="Times New Roman" panose="02020603050405020304" pitchFamily="18" charset="0"/>
              </a:rPr>
              <a:t>×m</a:t>
            </a:r>
            <a:r>
              <a:rPr lang="zh-CN" altLang="en-US" sz="2400" b="1" dirty="0">
                <a:latin typeface="Times New Roman" panose="02020603050405020304" pitchFamily="18" charset="0"/>
              </a:rPr>
              <a:t>位。</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82956"/>
                                        </p:tgtEl>
                                        <p:attrNameLst>
                                          <p:attrName>style.visibility</p:attrName>
                                        </p:attrNameLst>
                                      </p:cBhvr>
                                      <p:to>
                                        <p:strVal val="visible"/>
                                      </p:to>
                                    </p:set>
                                    <p:anim calcmode="lin" valueType="num">
                                      <p:cBhvr additive="base">
                                        <p:cTn id="7" dur="500" fill="hold"/>
                                        <p:tgtEl>
                                          <p:spTgt spid="82956"/>
                                        </p:tgtEl>
                                        <p:attrNameLst>
                                          <p:attrName>ppt_x</p:attrName>
                                        </p:attrNameLst>
                                      </p:cBhvr>
                                      <p:tavLst>
                                        <p:tav tm="0">
                                          <p:val>
                                            <p:strVal val="#ppt_x"/>
                                          </p:val>
                                        </p:tav>
                                        <p:tav tm="100000">
                                          <p:val>
                                            <p:strVal val="#ppt_x"/>
                                          </p:val>
                                        </p:tav>
                                      </p:tavLst>
                                    </p:anim>
                                    <p:anim calcmode="lin" valueType="num">
                                      <p:cBhvr additive="base">
                                        <p:cTn id="8" dur="500" fill="hold"/>
                                        <p:tgtEl>
                                          <p:spTgt spid="82956"/>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82956"/>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82957"/>
                                        </p:tgtEl>
                                        <p:attrNameLst>
                                          <p:attrName>style.visibility</p:attrName>
                                        </p:attrNameLst>
                                      </p:cBhvr>
                                      <p:to>
                                        <p:strVal val="visible"/>
                                      </p:to>
                                    </p:set>
                                    <p:anim calcmode="lin" valueType="num">
                                      <p:cBhvr additive="base">
                                        <p:cTn id="13" dur="500" fill="hold"/>
                                        <p:tgtEl>
                                          <p:spTgt spid="82957"/>
                                        </p:tgtEl>
                                        <p:attrNameLst>
                                          <p:attrName>ppt_x</p:attrName>
                                        </p:attrNameLst>
                                      </p:cBhvr>
                                      <p:tavLst>
                                        <p:tav tm="0">
                                          <p:val>
                                            <p:strVal val="#ppt_x"/>
                                          </p:val>
                                        </p:tav>
                                        <p:tav tm="100000">
                                          <p:val>
                                            <p:strVal val="#ppt_x"/>
                                          </p:val>
                                        </p:tav>
                                      </p:tavLst>
                                    </p:anim>
                                    <p:anim calcmode="lin" valueType="num">
                                      <p:cBhvr additive="base">
                                        <p:cTn id="14" dur="500" fill="hold"/>
                                        <p:tgtEl>
                                          <p:spTgt spid="82957"/>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82957"/>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2958"/>
                                        </p:tgtEl>
                                        <p:attrNameLst>
                                          <p:attrName>style.visibility</p:attrName>
                                        </p:attrNameLst>
                                      </p:cBhvr>
                                      <p:to>
                                        <p:strVal val="visible"/>
                                      </p:to>
                                    </p:set>
                                    <p:anim calcmode="lin" valueType="num">
                                      <p:cBhvr additive="base">
                                        <p:cTn id="19" dur="500" fill="hold"/>
                                        <p:tgtEl>
                                          <p:spTgt spid="82958"/>
                                        </p:tgtEl>
                                        <p:attrNameLst>
                                          <p:attrName>ppt_x</p:attrName>
                                        </p:attrNameLst>
                                      </p:cBhvr>
                                      <p:tavLst>
                                        <p:tav tm="0">
                                          <p:val>
                                            <p:strVal val="1+#ppt_w/2"/>
                                          </p:val>
                                        </p:tav>
                                        <p:tav tm="100000">
                                          <p:val>
                                            <p:strVal val="#ppt_x"/>
                                          </p:val>
                                        </p:tav>
                                      </p:tavLst>
                                    </p:anim>
                                    <p:anim calcmode="lin" valueType="num">
                                      <p:cBhvr additive="base">
                                        <p:cTn id="20" dur="500" fill="hold"/>
                                        <p:tgtEl>
                                          <p:spTgt spid="8295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82958"/>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82961"/>
                                        </p:tgtEl>
                                        <p:attrNameLst>
                                          <p:attrName>style.visibility</p:attrName>
                                        </p:attrNameLst>
                                      </p:cBhvr>
                                      <p:to>
                                        <p:strVal val="visible"/>
                                      </p:to>
                                    </p:set>
                                    <p:anim calcmode="lin" valueType="num">
                                      <p:cBhvr additive="base">
                                        <p:cTn id="25" dur="500" fill="hold"/>
                                        <p:tgtEl>
                                          <p:spTgt spid="82961"/>
                                        </p:tgtEl>
                                        <p:attrNameLst>
                                          <p:attrName>ppt_x</p:attrName>
                                        </p:attrNameLst>
                                      </p:cBhvr>
                                      <p:tavLst>
                                        <p:tav tm="0">
                                          <p:val>
                                            <p:strVal val="0-#ppt_w/2"/>
                                          </p:val>
                                        </p:tav>
                                        <p:tav tm="100000">
                                          <p:val>
                                            <p:strVal val="#ppt_x"/>
                                          </p:val>
                                        </p:tav>
                                      </p:tavLst>
                                    </p:anim>
                                    <p:anim calcmode="lin" valueType="num">
                                      <p:cBhvr additive="base">
                                        <p:cTn id="26" dur="500" fill="hold"/>
                                        <p:tgtEl>
                                          <p:spTgt spid="82961"/>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82961"/>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82964"/>
                                        </p:tgtEl>
                                        <p:attrNameLst>
                                          <p:attrName>style.visibility</p:attrName>
                                        </p:attrNameLst>
                                      </p:cBhvr>
                                      <p:to>
                                        <p:strVal val="visible"/>
                                      </p:to>
                                    </p:set>
                                    <p:anim calcmode="lin" valueType="num">
                                      <p:cBhvr additive="base">
                                        <p:cTn id="31" dur="500" fill="hold"/>
                                        <p:tgtEl>
                                          <p:spTgt spid="82964"/>
                                        </p:tgtEl>
                                        <p:attrNameLst>
                                          <p:attrName>ppt_x</p:attrName>
                                        </p:attrNameLst>
                                      </p:cBhvr>
                                      <p:tavLst>
                                        <p:tav tm="0">
                                          <p:val>
                                            <p:strVal val="0-#ppt_w/2"/>
                                          </p:val>
                                        </p:tav>
                                        <p:tav tm="100000">
                                          <p:val>
                                            <p:strVal val="#ppt_x"/>
                                          </p:val>
                                        </p:tav>
                                      </p:tavLst>
                                    </p:anim>
                                    <p:anim calcmode="lin" valueType="num">
                                      <p:cBhvr additive="base">
                                        <p:cTn id="32" dur="500" fill="hold"/>
                                        <p:tgtEl>
                                          <p:spTgt spid="82964"/>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82964"/>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82967"/>
                                        </p:tgtEl>
                                        <p:attrNameLst>
                                          <p:attrName>style.visibility</p:attrName>
                                        </p:attrNameLst>
                                      </p:cBhvr>
                                      <p:to>
                                        <p:strVal val="visible"/>
                                      </p:to>
                                    </p:set>
                                    <p:anim calcmode="lin" valueType="num">
                                      <p:cBhvr additive="base">
                                        <p:cTn id="37" dur="500" fill="hold"/>
                                        <p:tgtEl>
                                          <p:spTgt spid="82967"/>
                                        </p:tgtEl>
                                        <p:attrNameLst>
                                          <p:attrName>ppt_x</p:attrName>
                                        </p:attrNameLst>
                                      </p:cBhvr>
                                      <p:tavLst>
                                        <p:tav tm="0">
                                          <p:val>
                                            <p:strVal val="0-#ppt_w/2"/>
                                          </p:val>
                                        </p:tav>
                                        <p:tav tm="100000">
                                          <p:val>
                                            <p:strVal val="#ppt_x"/>
                                          </p:val>
                                        </p:tav>
                                      </p:tavLst>
                                    </p:anim>
                                    <p:anim calcmode="lin" valueType="num">
                                      <p:cBhvr additive="base">
                                        <p:cTn id="38" dur="500" fill="hold"/>
                                        <p:tgtEl>
                                          <p:spTgt spid="82967"/>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82967"/>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82968"/>
                                        </p:tgtEl>
                                        <p:attrNameLst>
                                          <p:attrName>style.visibility</p:attrName>
                                        </p:attrNameLst>
                                      </p:cBhvr>
                                      <p:to>
                                        <p:strVal val="visible"/>
                                      </p:to>
                                    </p:set>
                                    <p:anim calcmode="lin" valueType="num">
                                      <p:cBhvr additive="base">
                                        <p:cTn id="43" dur="500" fill="hold"/>
                                        <p:tgtEl>
                                          <p:spTgt spid="82968"/>
                                        </p:tgtEl>
                                        <p:attrNameLst>
                                          <p:attrName>ppt_x</p:attrName>
                                        </p:attrNameLst>
                                      </p:cBhvr>
                                      <p:tavLst>
                                        <p:tav tm="0">
                                          <p:val>
                                            <p:strVal val="1+#ppt_w/2"/>
                                          </p:val>
                                        </p:tav>
                                        <p:tav tm="100000">
                                          <p:val>
                                            <p:strVal val="#ppt_x"/>
                                          </p:val>
                                        </p:tav>
                                      </p:tavLst>
                                    </p:anim>
                                    <p:anim calcmode="lin" valueType="num">
                                      <p:cBhvr additive="base">
                                        <p:cTn id="44" dur="500" fill="hold"/>
                                        <p:tgtEl>
                                          <p:spTgt spid="82968"/>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2969"/>
                                        </p:tgtEl>
                                        <p:attrNameLst>
                                          <p:attrName>style.visibility</p:attrName>
                                        </p:attrNameLst>
                                      </p:cBhvr>
                                      <p:to>
                                        <p:strVal val="visible"/>
                                      </p:to>
                                    </p:set>
                                    <p:anim calcmode="lin" valueType="num">
                                      <p:cBhvr additive="base">
                                        <p:cTn id="49" dur="500" fill="hold"/>
                                        <p:tgtEl>
                                          <p:spTgt spid="82969"/>
                                        </p:tgtEl>
                                        <p:attrNameLst>
                                          <p:attrName>ppt_x</p:attrName>
                                        </p:attrNameLst>
                                      </p:cBhvr>
                                      <p:tavLst>
                                        <p:tav tm="0">
                                          <p:val>
                                            <p:strVal val="#ppt_x"/>
                                          </p:val>
                                        </p:tav>
                                        <p:tav tm="100000">
                                          <p:val>
                                            <p:strVal val="#ppt_x"/>
                                          </p:val>
                                        </p:tav>
                                      </p:tavLst>
                                    </p:anim>
                                    <p:anim calcmode="lin" valueType="num">
                                      <p:cBhvr additive="base">
                                        <p:cTn id="50" dur="500" fill="hold"/>
                                        <p:tgtEl>
                                          <p:spTgt spid="8296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7" presetClass="entr" presetSubtype="4" fill="hold" nodeType="clickEffect">
                                  <p:stCondLst>
                                    <p:cond delay="0"/>
                                  </p:stCondLst>
                                  <p:childTnLst>
                                    <p:set>
                                      <p:cBhvr>
                                        <p:cTn id="54" dur="1" fill="hold">
                                          <p:stCondLst>
                                            <p:cond delay="0"/>
                                          </p:stCondLst>
                                        </p:cTn>
                                        <p:tgtEl>
                                          <p:spTgt spid="82970"/>
                                        </p:tgtEl>
                                        <p:attrNameLst>
                                          <p:attrName>style.visibility</p:attrName>
                                        </p:attrNameLst>
                                      </p:cBhvr>
                                      <p:to>
                                        <p:strVal val="visible"/>
                                      </p:to>
                                    </p:set>
                                    <p:anim calcmode="lin" valueType="num">
                                      <p:cBhvr>
                                        <p:cTn id="55" dur="500" fill="hold"/>
                                        <p:tgtEl>
                                          <p:spTgt spid="82970"/>
                                        </p:tgtEl>
                                        <p:attrNameLst>
                                          <p:attrName>ppt_x</p:attrName>
                                        </p:attrNameLst>
                                      </p:cBhvr>
                                      <p:tavLst>
                                        <p:tav tm="0">
                                          <p:val>
                                            <p:strVal val="#ppt_x"/>
                                          </p:val>
                                        </p:tav>
                                        <p:tav tm="100000">
                                          <p:val>
                                            <p:strVal val="#ppt_x"/>
                                          </p:val>
                                        </p:tav>
                                      </p:tavLst>
                                    </p:anim>
                                    <p:anim calcmode="lin" valueType="num">
                                      <p:cBhvr>
                                        <p:cTn id="56" dur="500" fill="hold"/>
                                        <p:tgtEl>
                                          <p:spTgt spid="82970"/>
                                        </p:tgtEl>
                                        <p:attrNameLst>
                                          <p:attrName>ppt_y</p:attrName>
                                        </p:attrNameLst>
                                      </p:cBhvr>
                                      <p:tavLst>
                                        <p:tav tm="0">
                                          <p:val>
                                            <p:strVal val="#ppt_y+#ppt_h/2"/>
                                          </p:val>
                                        </p:tav>
                                        <p:tav tm="100000">
                                          <p:val>
                                            <p:strVal val="#ppt_y"/>
                                          </p:val>
                                        </p:tav>
                                      </p:tavLst>
                                    </p:anim>
                                    <p:anim calcmode="lin" valueType="num">
                                      <p:cBhvr>
                                        <p:cTn id="57" dur="500" fill="hold"/>
                                        <p:tgtEl>
                                          <p:spTgt spid="82970"/>
                                        </p:tgtEl>
                                        <p:attrNameLst>
                                          <p:attrName>ppt_w</p:attrName>
                                        </p:attrNameLst>
                                      </p:cBhvr>
                                      <p:tavLst>
                                        <p:tav tm="0">
                                          <p:val>
                                            <p:strVal val="#ppt_w"/>
                                          </p:val>
                                        </p:tav>
                                        <p:tav tm="100000">
                                          <p:val>
                                            <p:strVal val="#ppt_w"/>
                                          </p:val>
                                        </p:tav>
                                      </p:tavLst>
                                    </p:anim>
                                    <p:anim calcmode="lin" valueType="num">
                                      <p:cBhvr>
                                        <p:cTn id="58" dur="500" fill="hold"/>
                                        <p:tgtEl>
                                          <p:spTgt spid="82970"/>
                                        </p:tgtEl>
                                        <p:attrNameLst>
                                          <p:attrName>ppt_h</p:attrName>
                                        </p:attrNameLst>
                                      </p:cBhvr>
                                      <p:tavLst>
                                        <p:tav tm="0">
                                          <p:val>
                                            <p:fltVal val="0.000000"/>
                                          </p:val>
                                        </p:tav>
                                        <p:tav tm="100000">
                                          <p:val>
                                            <p:strVal val="#ppt_h"/>
                                          </p:val>
                                        </p:tav>
                                      </p:tavLst>
                                    </p:anim>
                                  </p:childTnLst>
                                  <p:subTnLst>
                                    <p:set>
                                      <p:cBhvr override="childStyle">
                                        <p:cTn dur="1" fill="hold" display="0" masterRel="nextClick" afterEffect="1"/>
                                        <p:tgtEl>
                                          <p:spTgt spid="82970"/>
                                        </p:tgtEl>
                                        <p:attrNameLst>
                                          <p:attrName>style.visibility</p:attrName>
                                        </p:attrNameLst>
                                      </p:cBhvr>
                                      <p:to>
                                        <p:strVal val="hidden"/>
                                      </p:to>
                                    </p:set>
                                  </p:sub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82973"/>
                                        </p:tgtEl>
                                        <p:attrNameLst>
                                          <p:attrName>style.visibility</p:attrName>
                                        </p:attrNameLst>
                                      </p:cBhvr>
                                      <p:to>
                                        <p:strVal val="visible"/>
                                      </p:to>
                                    </p:set>
                                    <p:anim calcmode="lin" valueType="num">
                                      <p:cBhvr additive="base">
                                        <p:cTn id="63" dur="500" fill="hold"/>
                                        <p:tgtEl>
                                          <p:spTgt spid="82973"/>
                                        </p:tgtEl>
                                        <p:attrNameLst>
                                          <p:attrName>ppt_x</p:attrName>
                                        </p:attrNameLst>
                                      </p:cBhvr>
                                      <p:tavLst>
                                        <p:tav tm="0">
                                          <p:val>
                                            <p:strVal val="0-#ppt_w/2"/>
                                          </p:val>
                                        </p:tav>
                                        <p:tav tm="100000">
                                          <p:val>
                                            <p:strVal val="#ppt_x"/>
                                          </p:val>
                                        </p:tav>
                                      </p:tavLst>
                                    </p:anim>
                                    <p:anim calcmode="lin" valueType="num">
                                      <p:cBhvr additive="base">
                                        <p:cTn id="64" dur="500" fill="hold"/>
                                        <p:tgtEl>
                                          <p:spTgt spid="829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6" grpId="0" animBg="1"/>
      <p:bldP spid="82957" grpId="0" animBg="1"/>
      <p:bldP spid="82958" grpId="0" animBg="1"/>
      <p:bldP spid="82968" grpId="0"/>
      <p:bldP spid="82969" grpId="0"/>
      <p:bldP spid="8297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ext Box 8"/>
          <p:cNvSpPr txBox="1"/>
          <p:nvPr/>
        </p:nvSpPr>
        <p:spPr>
          <a:xfrm>
            <a:off x="76200" y="95250"/>
            <a:ext cx="8839200" cy="822325"/>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EPROM</a:t>
            </a:r>
            <a:r>
              <a:rPr lang="zh-CN" altLang="en-US" sz="2400" b="1" dirty="0">
                <a:latin typeface="Times New Roman" panose="02020603050405020304" pitchFamily="18" charset="0"/>
              </a:rPr>
              <a:t>有各种类型的产品，下图是紫外线擦除、电可编程的</a:t>
            </a:r>
            <a:r>
              <a:rPr lang="en-US" altLang="zh-CN" sz="2400" b="1" dirty="0">
                <a:latin typeface="Times New Roman" panose="02020603050405020304" pitchFamily="18" charset="0"/>
              </a:rPr>
              <a:t>EPROM2716</a:t>
            </a:r>
            <a:r>
              <a:rPr lang="zh-CN" altLang="en-US" sz="2400" b="1" dirty="0">
                <a:latin typeface="Times New Roman" panose="02020603050405020304" pitchFamily="18" charset="0"/>
              </a:rPr>
              <a:t>器件逻辑框图和引脚图。</a:t>
            </a:r>
            <a:endParaRPr lang="zh-CN" altLang="en-US" sz="2400" b="1" dirty="0">
              <a:latin typeface="Times New Roman" panose="02020603050405020304" pitchFamily="18" charset="0"/>
            </a:endParaRPr>
          </a:p>
        </p:txBody>
      </p:sp>
      <p:graphicFrame>
        <p:nvGraphicFramePr>
          <p:cNvPr id="87050" name="Object 10"/>
          <p:cNvGraphicFramePr>
            <a:graphicFrameLocks noChangeAspect="1"/>
          </p:cNvGraphicFramePr>
          <p:nvPr/>
        </p:nvGraphicFramePr>
        <p:xfrm>
          <a:off x="5472113" y="1143000"/>
          <a:ext cx="3508375" cy="4876800"/>
        </p:xfrm>
        <a:graphic>
          <a:graphicData uri="http://schemas.openxmlformats.org/presentationml/2006/ole">
            <mc:AlternateContent xmlns:mc="http://schemas.openxmlformats.org/markup-compatibility/2006">
              <mc:Choice xmlns:v="urn:schemas-microsoft-com:vml" Requires="v">
                <p:oleObj spid="_x0000_s3082" name="" r:id="rId1" imgW="2076450" imgH="2886075" progId="Paint.Picture">
                  <p:embed/>
                </p:oleObj>
              </mc:Choice>
              <mc:Fallback>
                <p:oleObj name="" r:id="rId1" imgW="2076450" imgH="2886075" progId="Paint.Picture">
                  <p:embed/>
                  <p:pic>
                    <p:nvPicPr>
                      <p:cNvPr id="0" name="图片 3081"/>
                      <p:cNvPicPr/>
                      <p:nvPr/>
                    </p:nvPicPr>
                    <p:blipFill>
                      <a:blip r:embed="rId2"/>
                      <a:stretch>
                        <a:fillRect/>
                      </a:stretch>
                    </p:blipFill>
                    <p:spPr>
                      <a:xfrm>
                        <a:off x="5472113" y="1143000"/>
                        <a:ext cx="3508375" cy="4876800"/>
                      </a:xfrm>
                      <a:prstGeom prst="rect">
                        <a:avLst/>
                      </a:prstGeom>
                      <a:noFill/>
                      <a:ln w="38100">
                        <a:noFill/>
                        <a:miter/>
                      </a:ln>
                    </p:spPr>
                  </p:pic>
                </p:oleObj>
              </mc:Fallback>
            </mc:AlternateContent>
          </a:graphicData>
        </a:graphic>
      </p:graphicFrame>
      <p:sp>
        <p:nvSpPr>
          <p:cNvPr id="87051" name="Text Box 11"/>
          <p:cNvSpPr txBox="1"/>
          <p:nvPr/>
        </p:nvSpPr>
        <p:spPr>
          <a:xfrm>
            <a:off x="381000" y="1676400"/>
            <a:ext cx="4495800" cy="233045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EPROM2716</a:t>
            </a:r>
            <a:r>
              <a:rPr lang="zh-CN" altLang="en-US" sz="2400" b="1" dirty="0">
                <a:latin typeface="Times New Roman" panose="02020603050405020304" pitchFamily="18" charset="0"/>
              </a:rPr>
              <a:t>是</a:t>
            </a:r>
            <a:r>
              <a:rPr lang="en-US" altLang="zh-CN" sz="2400" b="1" dirty="0">
                <a:latin typeface="Times New Roman" panose="02020603050405020304" pitchFamily="18" charset="0"/>
              </a:rPr>
              <a:t>2</a:t>
            </a:r>
            <a:r>
              <a:rPr lang="en-US" altLang="zh-CN" sz="2400" b="1" baseline="30000" dirty="0">
                <a:latin typeface="Times New Roman" panose="02020603050405020304" pitchFamily="18" charset="0"/>
              </a:rPr>
              <a:t>11</a:t>
            </a:r>
            <a:r>
              <a:rPr lang="en-US" altLang="zh-CN" sz="2400" b="1" dirty="0">
                <a:latin typeface="Times New Roman" panose="02020603050405020304" pitchFamily="18" charset="0"/>
              </a:rPr>
              <a:t>×8</a:t>
            </a:r>
            <a:r>
              <a:rPr lang="zh-CN" altLang="en-US" sz="2400" b="1" dirty="0">
                <a:latin typeface="Times New Roman" panose="02020603050405020304" pitchFamily="18" charset="0"/>
              </a:rPr>
              <a:t>位可改写存储器，有</a:t>
            </a:r>
            <a:r>
              <a:rPr lang="en-US" altLang="zh-CN" sz="2400" b="1" dirty="0">
                <a:latin typeface="Times New Roman" panose="02020603050405020304" pitchFamily="18" charset="0"/>
              </a:rPr>
              <a:t>11</a:t>
            </a:r>
            <a:r>
              <a:rPr lang="zh-CN" altLang="en-US" sz="2400" b="1" dirty="0">
                <a:latin typeface="Times New Roman" panose="02020603050405020304" pitchFamily="18" charset="0"/>
              </a:rPr>
              <a:t>位地址线</a:t>
            </a:r>
            <a:r>
              <a:rPr lang="en-US" altLang="zh-CN" sz="2400" b="1" dirty="0">
                <a:latin typeface="Times New Roman" panose="02020603050405020304" pitchFamily="18" charset="0"/>
              </a:rPr>
              <a:t>A</a:t>
            </a:r>
            <a:r>
              <a:rPr lang="en-US" altLang="zh-CN" sz="2400" b="1" baseline="-25000" dirty="0">
                <a:latin typeface="Times New Roman" panose="02020603050405020304" pitchFamily="18" charset="0"/>
              </a:rPr>
              <a:t>0</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A</a:t>
            </a:r>
            <a:r>
              <a:rPr lang="en-US" altLang="zh-CN" sz="2400" b="1" baseline="-25000" dirty="0">
                <a:latin typeface="Times New Roman" panose="02020603050405020304" pitchFamily="18" charset="0"/>
              </a:rPr>
              <a:t>10</a:t>
            </a:r>
            <a:r>
              <a:rPr lang="zh-CN" altLang="en-US" sz="2400" b="1" dirty="0">
                <a:latin typeface="Times New Roman" panose="02020603050405020304" pitchFamily="18" charset="0"/>
              </a:rPr>
              <a:t>，产生字线为</a:t>
            </a:r>
            <a:r>
              <a:rPr lang="en-US" altLang="zh-CN" sz="2400" b="1" dirty="0">
                <a:latin typeface="Times New Roman" panose="02020603050405020304" pitchFamily="18" charset="0"/>
              </a:rPr>
              <a:t>2048</a:t>
            </a:r>
            <a:r>
              <a:rPr lang="zh-CN" altLang="en-US" sz="2400" b="1" dirty="0">
                <a:latin typeface="Times New Roman" panose="02020603050405020304" pitchFamily="18" charset="0"/>
              </a:rPr>
              <a:t>条，</a:t>
            </a:r>
            <a:r>
              <a:rPr lang="en-US" altLang="zh-CN" sz="2400" b="1" dirty="0">
                <a:latin typeface="Times New Roman" panose="02020603050405020304" pitchFamily="18" charset="0"/>
              </a:rPr>
              <a:t>D</a:t>
            </a:r>
            <a:r>
              <a:rPr lang="en-US" altLang="zh-CN" sz="2400" b="1" baseline="-25000" dirty="0">
                <a:latin typeface="Times New Roman" panose="02020603050405020304" pitchFamily="18" charset="0"/>
              </a:rPr>
              <a:t>7</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D</a:t>
            </a:r>
            <a:r>
              <a:rPr lang="en-US" altLang="zh-CN" sz="2400" b="1" baseline="-25000" dirty="0">
                <a:latin typeface="Times New Roman" panose="02020603050405020304" pitchFamily="18" charset="0"/>
              </a:rPr>
              <a:t>0</a:t>
            </a:r>
            <a:r>
              <a:rPr lang="zh-CN" altLang="en-US" sz="2400" b="1" dirty="0">
                <a:latin typeface="Times New Roman" panose="02020603050405020304" pitchFamily="18" charset="0"/>
              </a:rPr>
              <a:t>是</a:t>
            </a:r>
            <a:r>
              <a:rPr lang="en-US" altLang="zh-CN" sz="2400" b="1" dirty="0">
                <a:latin typeface="Times New Roman" panose="02020603050405020304" pitchFamily="18" charset="0"/>
              </a:rPr>
              <a:t>8</a:t>
            </a:r>
            <a:r>
              <a:rPr lang="zh-CN" altLang="en-US" sz="2400" b="1" dirty="0">
                <a:latin typeface="Times New Roman" panose="02020603050405020304" pitchFamily="18" charset="0"/>
              </a:rPr>
              <a:t>位数据输出</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输入线，编程或读操作时，数据由此输入输出。</a:t>
            </a:r>
            <a:endParaRPr lang="zh-CN" altLang="en-US" sz="2400" b="1" dirty="0">
              <a:latin typeface="Times New Roman" panose="02020603050405020304" pitchFamily="18" charset="0"/>
            </a:endParaRPr>
          </a:p>
          <a:p>
            <a:pPr eaLnBrk="1" hangingPunct="1">
              <a:spcBef>
                <a:spcPct val="50000"/>
              </a:spcBef>
            </a:pPr>
            <a:endParaRPr lang="en-US" altLang="zh-CN" b="1" dirty="0">
              <a:latin typeface="Times New Roman" panose="02020603050405020304" pitchFamily="18" charset="0"/>
            </a:endParaRPr>
          </a:p>
        </p:txBody>
      </p:sp>
      <p:grpSp>
        <p:nvGrpSpPr>
          <p:cNvPr id="87056" name="Group 16"/>
          <p:cNvGrpSpPr/>
          <p:nvPr/>
        </p:nvGrpSpPr>
        <p:grpSpPr>
          <a:xfrm>
            <a:off x="6477000" y="3048000"/>
            <a:ext cx="838200" cy="914400"/>
            <a:chOff x="4080" y="1920"/>
            <a:chExt cx="528" cy="576"/>
          </a:xfrm>
        </p:grpSpPr>
        <p:sp>
          <p:nvSpPr>
            <p:cNvPr id="28684" name="Oval 12"/>
            <p:cNvSpPr/>
            <p:nvPr/>
          </p:nvSpPr>
          <p:spPr>
            <a:xfrm>
              <a:off x="4080" y="1920"/>
              <a:ext cx="528" cy="576"/>
            </a:xfrm>
            <a:prstGeom prst="ellipse">
              <a:avLst/>
            </a:prstGeom>
            <a:solidFill>
              <a:schemeClr val="accent1">
                <a:alpha val="50195"/>
              </a:schemeClr>
            </a:solidFill>
            <a:ln w="9525" cap="flat" cmpd="sng">
              <a:solidFill>
                <a:schemeClr val="tx1"/>
              </a:solidFill>
              <a:prstDash val="solid"/>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28685" name="Line 13"/>
            <p:cNvSpPr/>
            <p:nvPr/>
          </p:nvSpPr>
          <p:spPr>
            <a:xfrm flipH="1">
              <a:off x="4176" y="2016"/>
              <a:ext cx="288" cy="384"/>
            </a:xfrm>
            <a:prstGeom prst="line">
              <a:avLst/>
            </a:prstGeom>
            <a:ln w="9525" cap="flat" cmpd="sng">
              <a:solidFill>
                <a:schemeClr val="tx1"/>
              </a:solidFill>
              <a:prstDash val="solid"/>
              <a:headEnd type="none" w="med" len="med"/>
              <a:tailEnd type="none" w="med" len="med"/>
            </a:ln>
          </p:spPr>
        </p:sp>
        <p:sp>
          <p:nvSpPr>
            <p:cNvPr id="28686" name="Line 14"/>
            <p:cNvSpPr/>
            <p:nvPr/>
          </p:nvSpPr>
          <p:spPr>
            <a:xfrm flipH="1">
              <a:off x="4176" y="2016"/>
              <a:ext cx="144" cy="192"/>
            </a:xfrm>
            <a:prstGeom prst="line">
              <a:avLst/>
            </a:prstGeom>
            <a:ln w="9525" cap="flat" cmpd="sng">
              <a:solidFill>
                <a:schemeClr val="tx1"/>
              </a:solidFill>
              <a:prstDash val="solid"/>
              <a:headEnd type="none" w="med" len="med"/>
              <a:tailEnd type="none" w="med" len="med"/>
            </a:ln>
          </p:spPr>
        </p:sp>
        <p:sp>
          <p:nvSpPr>
            <p:cNvPr id="28687" name="Line 15"/>
            <p:cNvSpPr/>
            <p:nvPr/>
          </p:nvSpPr>
          <p:spPr>
            <a:xfrm flipH="1">
              <a:off x="4320" y="2160"/>
              <a:ext cx="192" cy="240"/>
            </a:xfrm>
            <a:prstGeom prst="line">
              <a:avLst/>
            </a:prstGeom>
            <a:ln w="9525" cap="flat" cmpd="sng">
              <a:solidFill>
                <a:schemeClr val="tx1"/>
              </a:solidFill>
              <a:prstDash val="solid"/>
              <a:headEnd type="none" w="med" len="med"/>
              <a:tailEnd type="none" w="med" len="med"/>
            </a:ln>
          </p:spPr>
        </p:sp>
      </p:grpSp>
      <p:grpSp>
        <p:nvGrpSpPr>
          <p:cNvPr id="87059" name="Group 19"/>
          <p:cNvGrpSpPr/>
          <p:nvPr/>
        </p:nvGrpSpPr>
        <p:grpSpPr>
          <a:xfrm>
            <a:off x="304800" y="3886200"/>
            <a:ext cx="4724400" cy="457200"/>
            <a:chOff x="192" y="2448"/>
            <a:chExt cx="2976" cy="288"/>
          </a:xfrm>
        </p:grpSpPr>
        <p:sp>
          <p:nvSpPr>
            <p:cNvPr id="28682" name="Text Box 17"/>
            <p:cNvSpPr txBox="1"/>
            <p:nvPr/>
          </p:nvSpPr>
          <p:spPr>
            <a:xfrm>
              <a:off x="192" y="2448"/>
              <a:ext cx="2976" cy="288"/>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CS</a:t>
              </a:r>
              <a:r>
                <a:rPr lang="zh-CN" altLang="en-US" sz="2400" b="1" dirty="0">
                  <a:latin typeface="Times New Roman" panose="02020603050405020304" pitchFamily="18" charset="0"/>
                </a:rPr>
                <a:t>为片选控制信号是低电平有效。</a:t>
              </a:r>
              <a:endParaRPr lang="zh-CN" altLang="en-US" sz="2400" b="1" dirty="0">
                <a:latin typeface="Times New Roman" panose="02020603050405020304" pitchFamily="18" charset="0"/>
              </a:endParaRPr>
            </a:p>
          </p:txBody>
        </p:sp>
        <p:sp>
          <p:nvSpPr>
            <p:cNvPr id="28683" name="Line 18"/>
            <p:cNvSpPr/>
            <p:nvPr/>
          </p:nvSpPr>
          <p:spPr>
            <a:xfrm>
              <a:off x="240" y="2448"/>
              <a:ext cx="240" cy="0"/>
            </a:xfrm>
            <a:prstGeom prst="line">
              <a:avLst/>
            </a:prstGeom>
            <a:ln w="9525" cap="flat" cmpd="sng">
              <a:solidFill>
                <a:schemeClr val="tx1"/>
              </a:solidFill>
              <a:prstDash val="solid"/>
              <a:headEnd type="none" w="med" len="med"/>
              <a:tailEnd type="none" w="med" len="med"/>
            </a:ln>
          </p:spPr>
        </p:sp>
      </p:grpSp>
      <p:grpSp>
        <p:nvGrpSpPr>
          <p:cNvPr id="87061" name="Group 21"/>
          <p:cNvGrpSpPr/>
          <p:nvPr/>
        </p:nvGrpSpPr>
        <p:grpSpPr>
          <a:xfrm>
            <a:off x="228600" y="4876800"/>
            <a:ext cx="5029200" cy="1187450"/>
            <a:chOff x="0" y="3408"/>
            <a:chExt cx="3168" cy="748"/>
          </a:xfrm>
        </p:grpSpPr>
        <p:sp>
          <p:nvSpPr>
            <p:cNvPr id="28680" name="Text Box 9"/>
            <p:cNvSpPr txBox="1"/>
            <p:nvPr/>
          </p:nvSpPr>
          <p:spPr>
            <a:xfrm>
              <a:off x="0" y="3408"/>
              <a:ext cx="3168" cy="748"/>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OE/PGM</a:t>
              </a:r>
              <a:r>
                <a:rPr lang="zh-CN" altLang="en-US" sz="2400" b="1" dirty="0">
                  <a:latin typeface="Times New Roman" panose="02020603050405020304" pitchFamily="18" charset="0"/>
                </a:rPr>
                <a:t>为读出</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写入控制端低电平时输出有效，高电平进行编程，写入数据</a:t>
              </a:r>
              <a:endParaRPr lang="zh-CN" altLang="en-US" sz="2400" b="1" dirty="0">
                <a:latin typeface="Times New Roman" panose="02020603050405020304" pitchFamily="18" charset="0"/>
              </a:endParaRPr>
            </a:p>
          </p:txBody>
        </p:sp>
        <p:sp>
          <p:nvSpPr>
            <p:cNvPr id="28681" name="Line 20"/>
            <p:cNvSpPr/>
            <p:nvPr/>
          </p:nvSpPr>
          <p:spPr>
            <a:xfrm>
              <a:off x="144" y="3456"/>
              <a:ext cx="192" cy="0"/>
            </a:xfrm>
            <a:prstGeom prst="line">
              <a:avLst/>
            </a:prstGeom>
            <a:ln w="9525" cap="flat" cmpd="sng">
              <a:solidFill>
                <a:schemeClr val="tx1"/>
              </a:solidFill>
              <a:prstDash val="solid"/>
              <a:headEnd type="none" w="med" len="med"/>
              <a:tailEnd type="none" w="med" len="med"/>
            </a:ln>
          </p:spPr>
        </p:sp>
      </p:gr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7050"/>
                                        </p:tgtEl>
                                        <p:attrNameLst>
                                          <p:attrName>style.visibility</p:attrName>
                                        </p:attrNameLst>
                                      </p:cBhvr>
                                      <p:to>
                                        <p:strVal val="visible"/>
                                      </p:to>
                                    </p:set>
                                    <p:anim calcmode="lin" valueType="num">
                                      <p:cBhvr additive="base">
                                        <p:cTn id="7" dur="500" fill="hold"/>
                                        <p:tgtEl>
                                          <p:spTgt spid="87050"/>
                                        </p:tgtEl>
                                        <p:attrNameLst>
                                          <p:attrName>ppt_x</p:attrName>
                                        </p:attrNameLst>
                                      </p:cBhvr>
                                      <p:tavLst>
                                        <p:tav tm="0">
                                          <p:val>
                                            <p:strVal val="1+#ppt_w/2"/>
                                          </p:val>
                                        </p:tav>
                                        <p:tav tm="100000">
                                          <p:val>
                                            <p:strVal val="#ppt_x"/>
                                          </p:val>
                                        </p:tav>
                                      </p:tavLst>
                                    </p:anim>
                                    <p:anim calcmode="lin" valueType="num">
                                      <p:cBhvr additive="base">
                                        <p:cTn id="8" dur="500" fill="hold"/>
                                        <p:tgtEl>
                                          <p:spTgt spid="8705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8705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87051"/>
                                        </p:tgtEl>
                                        <p:attrNameLst>
                                          <p:attrName>style.visibility</p:attrName>
                                        </p:attrNameLst>
                                      </p:cBhvr>
                                      <p:to>
                                        <p:strVal val="visible"/>
                                      </p:to>
                                    </p:set>
                                    <p:anim calcmode="lin" valueType="num">
                                      <p:cBhvr additive="base">
                                        <p:cTn id="17" dur="500" fill="hold"/>
                                        <p:tgtEl>
                                          <p:spTgt spid="87051"/>
                                        </p:tgtEl>
                                        <p:attrNameLst>
                                          <p:attrName>ppt_x</p:attrName>
                                        </p:attrNameLst>
                                      </p:cBhvr>
                                      <p:tavLst>
                                        <p:tav tm="0">
                                          <p:val>
                                            <p:strVal val="0-#ppt_w/2"/>
                                          </p:val>
                                        </p:tav>
                                        <p:tav tm="100000">
                                          <p:val>
                                            <p:strVal val="#ppt_x"/>
                                          </p:val>
                                        </p:tav>
                                      </p:tavLst>
                                    </p:anim>
                                    <p:anim calcmode="lin" valueType="num">
                                      <p:cBhvr additive="base">
                                        <p:cTn id="18" dur="500" fill="hold"/>
                                        <p:tgtEl>
                                          <p:spTgt spid="8705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87059"/>
                                        </p:tgtEl>
                                        <p:attrNameLst>
                                          <p:attrName>style.visibility</p:attrName>
                                        </p:attrNameLst>
                                      </p:cBhvr>
                                      <p:to>
                                        <p:strVal val="visible"/>
                                      </p:to>
                                    </p:set>
                                    <p:anim calcmode="lin" valueType="num">
                                      <p:cBhvr additive="base">
                                        <p:cTn id="23" dur="500" fill="hold"/>
                                        <p:tgtEl>
                                          <p:spTgt spid="87059"/>
                                        </p:tgtEl>
                                        <p:attrNameLst>
                                          <p:attrName>ppt_x</p:attrName>
                                        </p:attrNameLst>
                                      </p:cBhvr>
                                      <p:tavLst>
                                        <p:tav tm="0">
                                          <p:val>
                                            <p:strVal val="0-#ppt_w/2"/>
                                          </p:val>
                                        </p:tav>
                                        <p:tav tm="100000">
                                          <p:val>
                                            <p:strVal val="#ppt_x"/>
                                          </p:val>
                                        </p:tav>
                                      </p:tavLst>
                                    </p:anim>
                                    <p:anim calcmode="lin" valueType="num">
                                      <p:cBhvr additive="base">
                                        <p:cTn id="24" dur="500" fill="hold"/>
                                        <p:tgtEl>
                                          <p:spTgt spid="87059"/>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87061"/>
                                        </p:tgtEl>
                                        <p:attrNameLst>
                                          <p:attrName>style.visibility</p:attrName>
                                        </p:attrNameLst>
                                      </p:cBhvr>
                                      <p:to>
                                        <p:strVal val="visible"/>
                                      </p:to>
                                    </p:set>
                                    <p:anim calcmode="lin" valueType="num">
                                      <p:cBhvr additive="base">
                                        <p:cTn id="29" dur="500" fill="hold"/>
                                        <p:tgtEl>
                                          <p:spTgt spid="87061"/>
                                        </p:tgtEl>
                                        <p:attrNameLst>
                                          <p:attrName>ppt_x</p:attrName>
                                        </p:attrNameLst>
                                      </p:cBhvr>
                                      <p:tavLst>
                                        <p:tav tm="0">
                                          <p:val>
                                            <p:strVal val="0-#ppt_w/2"/>
                                          </p:val>
                                        </p:tav>
                                        <p:tav tm="100000">
                                          <p:val>
                                            <p:strVal val="#ppt_x"/>
                                          </p:val>
                                        </p:tav>
                                      </p:tavLst>
                                    </p:anim>
                                    <p:anim calcmode="lin" valueType="num">
                                      <p:cBhvr additive="base">
                                        <p:cTn id="30" dur="500" fill="hold"/>
                                        <p:tgtEl>
                                          <p:spTgt spid="870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5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8078" name="Object 14"/>
          <p:cNvGraphicFramePr>
            <a:graphicFrameLocks noChangeAspect="1"/>
          </p:cNvGraphicFramePr>
          <p:nvPr/>
        </p:nvGraphicFramePr>
        <p:xfrm>
          <a:off x="838200" y="1371600"/>
          <a:ext cx="7696200" cy="3871913"/>
        </p:xfrm>
        <a:graphic>
          <a:graphicData uri="http://schemas.openxmlformats.org/presentationml/2006/ole">
            <mc:AlternateContent xmlns:mc="http://schemas.openxmlformats.org/markup-compatibility/2006">
              <mc:Choice xmlns:v="urn:schemas-microsoft-com:vml" Requires="v">
                <p:oleObj spid="_x0000_s3098" name="" r:id="rId1" imgW="5095875" imgH="2581275" progId="Paint.Picture">
                  <p:embed/>
                </p:oleObj>
              </mc:Choice>
              <mc:Fallback>
                <p:oleObj name="" r:id="rId1" imgW="5095875" imgH="2581275" progId="Paint.Picture">
                  <p:embed/>
                  <p:pic>
                    <p:nvPicPr>
                      <p:cNvPr id="0" name="图片 3097"/>
                      <p:cNvPicPr/>
                      <p:nvPr/>
                    </p:nvPicPr>
                    <p:blipFill>
                      <a:blip r:embed="rId2"/>
                      <a:stretch>
                        <a:fillRect/>
                      </a:stretch>
                    </p:blipFill>
                    <p:spPr>
                      <a:xfrm>
                        <a:off x="838200" y="1371600"/>
                        <a:ext cx="7696200" cy="3871913"/>
                      </a:xfrm>
                      <a:prstGeom prst="rect">
                        <a:avLst/>
                      </a:prstGeom>
                      <a:noFill/>
                      <a:ln w="38100">
                        <a:noFill/>
                        <a:miter/>
                      </a:ln>
                    </p:spPr>
                  </p:pic>
                </p:oleObj>
              </mc:Fallback>
            </mc:AlternateContent>
          </a:graphicData>
        </a:graphic>
      </p:graphicFrame>
      <p:sp>
        <p:nvSpPr>
          <p:cNvPr id="29699" name="Text Box 12"/>
          <p:cNvSpPr txBox="1"/>
          <p:nvPr/>
        </p:nvSpPr>
        <p:spPr>
          <a:xfrm>
            <a:off x="152400" y="107950"/>
            <a:ext cx="8305800" cy="118745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若当</a:t>
            </a:r>
            <a:r>
              <a:rPr lang="en-US" altLang="zh-CN" sz="2400" b="1" dirty="0">
                <a:latin typeface="Times New Roman" panose="02020603050405020304" pitchFamily="18" charset="0"/>
              </a:rPr>
              <a:t>EPROM2716</a:t>
            </a:r>
            <a:r>
              <a:rPr lang="zh-CN" altLang="en-US" sz="2400" b="1" dirty="0">
                <a:latin typeface="Times New Roman" panose="02020603050405020304" pitchFamily="18" charset="0"/>
              </a:rPr>
              <a:t>的容量不能满足使用要求，且仅有</a:t>
            </a:r>
            <a:r>
              <a:rPr lang="en-US" altLang="zh-CN" sz="2400" b="1" dirty="0">
                <a:latin typeface="Times New Roman" panose="02020603050405020304" pitchFamily="18" charset="0"/>
              </a:rPr>
              <a:t>2716</a:t>
            </a:r>
            <a:r>
              <a:rPr lang="zh-CN" altLang="en-US" sz="2400" b="1" dirty="0">
                <a:latin typeface="Times New Roman" panose="02020603050405020304" pitchFamily="18" charset="0"/>
              </a:rPr>
              <a:t>芯片时，可用多片并联来扩展地址线和数据线。下图是将</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片</a:t>
            </a:r>
            <a:r>
              <a:rPr lang="en-US" altLang="zh-CN" sz="2400" b="1" dirty="0">
                <a:latin typeface="Times New Roman" panose="02020603050405020304" pitchFamily="18" charset="0"/>
              </a:rPr>
              <a:t>2716</a:t>
            </a:r>
            <a:r>
              <a:rPr lang="zh-CN" altLang="en-US" sz="2400" b="1" dirty="0">
                <a:latin typeface="Times New Roman" panose="02020603050405020304" pitchFamily="18" charset="0"/>
              </a:rPr>
              <a:t>扩展成</a:t>
            </a:r>
            <a:r>
              <a:rPr lang="en-US" altLang="zh-CN" sz="2400" b="1" dirty="0">
                <a:latin typeface="Times New Roman" panose="02020603050405020304" pitchFamily="18" charset="0"/>
              </a:rPr>
              <a:t>2048×16</a:t>
            </a:r>
            <a:r>
              <a:rPr lang="zh-CN" altLang="en-US" sz="2400" b="1" dirty="0">
                <a:latin typeface="Times New Roman" panose="02020603050405020304" pitchFamily="18" charset="0"/>
              </a:rPr>
              <a:t>的数据位进行扩展连接示意图。</a:t>
            </a:r>
            <a:endParaRPr lang="zh-CN" altLang="en-US" sz="2400" b="1" dirty="0">
              <a:latin typeface="Times New Roman" panose="02020603050405020304" pitchFamily="18" charset="0"/>
            </a:endParaRPr>
          </a:p>
        </p:txBody>
      </p:sp>
      <p:grpSp>
        <p:nvGrpSpPr>
          <p:cNvPr id="88082" name="Group 18"/>
          <p:cNvGrpSpPr/>
          <p:nvPr/>
        </p:nvGrpSpPr>
        <p:grpSpPr>
          <a:xfrm>
            <a:off x="381000" y="3581400"/>
            <a:ext cx="7467600" cy="3048000"/>
            <a:chOff x="240" y="2256"/>
            <a:chExt cx="4704" cy="1920"/>
          </a:xfrm>
        </p:grpSpPr>
        <p:sp>
          <p:nvSpPr>
            <p:cNvPr id="29702" name="AutoShape 15"/>
            <p:cNvSpPr/>
            <p:nvPr/>
          </p:nvSpPr>
          <p:spPr>
            <a:xfrm>
              <a:off x="240" y="3696"/>
              <a:ext cx="1392" cy="480"/>
            </a:xfrm>
            <a:prstGeom prst="wedgeRectCallout">
              <a:avLst>
                <a:gd name="adj1" fmla="val 129741"/>
                <a:gd name="adj2" fmla="val -327083"/>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两片的数据线</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排列成</a:t>
              </a:r>
              <a:r>
                <a:rPr lang="en-US" altLang="zh-CN" sz="2400" b="1" dirty="0">
                  <a:latin typeface="Times New Roman" panose="02020603050405020304" pitchFamily="18" charset="0"/>
                </a:rPr>
                <a:t>D</a:t>
              </a:r>
              <a:r>
                <a:rPr lang="en-US" altLang="zh-CN" sz="2400" b="1" baseline="-25000" dirty="0">
                  <a:latin typeface="Times New Roman" panose="02020603050405020304" pitchFamily="18" charset="0"/>
                </a:rPr>
                <a:t>0</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D</a:t>
              </a:r>
              <a:r>
                <a:rPr lang="en-US" altLang="zh-CN" sz="2400" b="1" baseline="-25000" dirty="0">
                  <a:latin typeface="Times New Roman" panose="02020603050405020304" pitchFamily="18" charset="0"/>
                </a:rPr>
                <a:t>15</a:t>
              </a:r>
              <a:endParaRPr lang="en-US" altLang="zh-CN" sz="2400" b="1" baseline="-25000" dirty="0">
                <a:latin typeface="Times New Roman" panose="02020603050405020304" pitchFamily="18" charset="0"/>
              </a:endParaRPr>
            </a:p>
          </p:txBody>
        </p:sp>
        <p:sp>
          <p:nvSpPr>
            <p:cNvPr id="29703" name="AutoShape 17"/>
            <p:cNvSpPr/>
            <p:nvPr/>
          </p:nvSpPr>
          <p:spPr>
            <a:xfrm>
              <a:off x="1632" y="2256"/>
              <a:ext cx="3312" cy="1680"/>
            </a:xfrm>
            <a:custGeom>
              <a:avLst/>
              <a:gdLst>
                <a:gd name="txL" fmla="*/ 0 w 21600"/>
                <a:gd name="txT" fmla="*/ 20957 h 21600"/>
                <a:gd name="txR" fmla="*/ 21007 w 21600"/>
                <a:gd name="txB" fmla="*/ 21600 h 21600"/>
              </a:gdLst>
              <a:ahLst/>
              <a:cxnLst>
                <a:cxn ang="17694720">
                  <a:pos x="3173" y="0"/>
                </a:cxn>
                <a:cxn ang="11796480">
                  <a:pos x="3034" y="300"/>
                </a:cxn>
                <a:cxn ang="11796480">
                  <a:pos x="0" y="1655"/>
                </a:cxn>
                <a:cxn ang="5898240">
                  <a:pos x="1610" y="1680"/>
                </a:cxn>
                <a:cxn ang="0">
                  <a:pos x="3221" y="994"/>
                </a:cxn>
                <a:cxn ang="0">
                  <a:pos x="3312" y="300"/>
                </a:cxn>
              </a:cxnLst>
              <a:rect l="txL" t="txT" r="txR" b="txB"/>
              <a:pathLst>
                <a:path w="21600" h="21600">
                  <a:moveTo>
                    <a:pt x="20694" y="0"/>
                  </a:moveTo>
                  <a:lnTo>
                    <a:pt x="19788" y="3857"/>
                  </a:lnTo>
                  <a:lnTo>
                    <a:pt x="20382" y="3857"/>
                  </a:lnTo>
                  <a:lnTo>
                    <a:pt x="20382" y="20958"/>
                  </a:lnTo>
                  <a:lnTo>
                    <a:pt x="0" y="20958"/>
                  </a:lnTo>
                  <a:lnTo>
                    <a:pt x="0" y="21600"/>
                  </a:lnTo>
                  <a:lnTo>
                    <a:pt x="21006" y="21600"/>
                  </a:lnTo>
                  <a:lnTo>
                    <a:pt x="21006" y="3857"/>
                  </a:lnTo>
                  <a:lnTo>
                    <a:pt x="21600" y="3857"/>
                  </a:lnTo>
                  <a:lnTo>
                    <a:pt x="20694" y="0"/>
                  </a:lnTo>
                  <a:close/>
                </a:path>
              </a:pathLst>
            </a:custGeom>
            <a:solidFill>
              <a:srgbClr val="FFCC66">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grpSp>
      <p:sp>
        <p:nvSpPr>
          <p:cNvPr id="88083" name="AutoShape 19"/>
          <p:cNvSpPr/>
          <p:nvPr/>
        </p:nvSpPr>
        <p:spPr>
          <a:xfrm>
            <a:off x="4800600" y="5715000"/>
            <a:ext cx="3429000" cy="685800"/>
          </a:xfrm>
          <a:prstGeom prst="wedgeRectCallout">
            <a:avLst>
              <a:gd name="adj1" fmla="val -134167"/>
              <a:gd name="adj2" fmla="val -533796"/>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r>
              <a:rPr lang="zh-CN" altLang="en-US" sz="2400" b="1" dirty="0">
                <a:latin typeface="Times New Roman" panose="02020603050405020304" pitchFamily="18" charset="0"/>
              </a:rPr>
              <a:t>其余线全部并联。</a:t>
            </a:r>
            <a:endParaRPr lang="zh-CN" altLang="en-US" sz="2400" b="1" dirty="0">
              <a:latin typeface="Times New Roman" panose="02020603050405020304" pitchFamily="18" charset="0"/>
            </a:endParaRPr>
          </a:p>
          <a:p>
            <a:pPr eaLnBrk="1" hangingPunct="1"/>
            <a:endParaRPr lang="en-US" altLang="zh-CN"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8078"/>
                                        </p:tgtEl>
                                        <p:attrNameLst>
                                          <p:attrName>style.visibility</p:attrName>
                                        </p:attrNameLst>
                                      </p:cBhvr>
                                      <p:to>
                                        <p:strVal val="visible"/>
                                      </p:to>
                                    </p:set>
                                    <p:anim calcmode="lin" valueType="num">
                                      <p:cBhvr additive="base">
                                        <p:cTn id="7" dur="500" fill="hold"/>
                                        <p:tgtEl>
                                          <p:spTgt spid="88078"/>
                                        </p:tgtEl>
                                        <p:attrNameLst>
                                          <p:attrName>ppt_x</p:attrName>
                                        </p:attrNameLst>
                                      </p:cBhvr>
                                      <p:tavLst>
                                        <p:tav tm="0">
                                          <p:val>
                                            <p:strVal val="1+#ppt_w/2"/>
                                          </p:val>
                                        </p:tav>
                                        <p:tav tm="100000">
                                          <p:val>
                                            <p:strVal val="#ppt_x"/>
                                          </p:val>
                                        </p:tav>
                                      </p:tavLst>
                                    </p:anim>
                                    <p:anim calcmode="lin" valueType="num">
                                      <p:cBhvr additive="base">
                                        <p:cTn id="8" dur="500" fill="hold"/>
                                        <p:tgtEl>
                                          <p:spTgt spid="8807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3" fill="hold" nodeType="clickEffect">
                                  <p:stCondLst>
                                    <p:cond delay="0"/>
                                  </p:stCondLst>
                                  <p:childTnLst>
                                    <p:set>
                                      <p:cBhvr>
                                        <p:cTn id="12" dur="1" fill="hold">
                                          <p:stCondLst>
                                            <p:cond delay="0"/>
                                          </p:stCondLst>
                                        </p:cTn>
                                        <p:tgtEl>
                                          <p:spTgt spid="88082"/>
                                        </p:tgtEl>
                                        <p:attrNameLst>
                                          <p:attrName>style.visibility</p:attrName>
                                        </p:attrNameLst>
                                      </p:cBhvr>
                                      <p:to>
                                        <p:strVal val="visible"/>
                                      </p:to>
                                    </p:set>
                                    <p:animEffect transition="in" filter="strips(upRight)">
                                      <p:cBhvr>
                                        <p:cTn id="13" dur="500"/>
                                        <p:tgtEl>
                                          <p:spTgt spid="88082"/>
                                        </p:tgtEl>
                                      </p:cBhvr>
                                    </p:animEffect>
                                  </p:childTnLst>
                                  <p:subTnLst>
                                    <p:set>
                                      <p:cBhvr override="childStyle">
                                        <p:cTn dur="1" fill="hold" display="0" masterRel="nextClick" afterEffect="1"/>
                                        <p:tgtEl>
                                          <p:spTgt spid="88082"/>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18" presetClass="entr" presetSubtype="9" fill="hold" grpId="0" nodeType="clickEffect">
                                  <p:stCondLst>
                                    <p:cond delay="0"/>
                                  </p:stCondLst>
                                  <p:childTnLst>
                                    <p:set>
                                      <p:cBhvr>
                                        <p:cTn id="17" dur="1" fill="hold">
                                          <p:stCondLst>
                                            <p:cond delay="0"/>
                                          </p:stCondLst>
                                        </p:cTn>
                                        <p:tgtEl>
                                          <p:spTgt spid="88083"/>
                                        </p:tgtEl>
                                        <p:attrNameLst>
                                          <p:attrName>style.visibility</p:attrName>
                                        </p:attrNameLst>
                                      </p:cBhvr>
                                      <p:to>
                                        <p:strVal val="visible"/>
                                      </p:to>
                                    </p:set>
                                    <p:animEffect transition="in" filter="strips(upLeft)">
                                      <p:cBhvr>
                                        <p:cTn id="18" dur="500"/>
                                        <p:tgtEl>
                                          <p:spTgt spid="88083"/>
                                        </p:tgtEl>
                                      </p:cBhvr>
                                    </p:animEffect>
                                  </p:childTnLst>
                                  <p:subTnLst>
                                    <p:set>
                                      <p:cBhvr override="childStyle">
                                        <p:cTn dur="1" fill="hold" display="0" masterRel="nextClick" afterEffect="1"/>
                                        <p:tgtEl>
                                          <p:spTgt spid="8808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8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ext Box 8"/>
          <p:cNvSpPr txBox="1"/>
          <p:nvPr/>
        </p:nvSpPr>
        <p:spPr>
          <a:xfrm>
            <a:off x="228600" y="228600"/>
            <a:ext cx="7620000" cy="457200"/>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从组合电路角度来看</a:t>
            </a: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graphicFrame>
        <p:nvGraphicFramePr>
          <p:cNvPr id="90121" name="Object 9"/>
          <p:cNvGraphicFramePr>
            <a:graphicFrameLocks noChangeAspect="1"/>
          </p:cNvGraphicFramePr>
          <p:nvPr/>
        </p:nvGraphicFramePr>
        <p:xfrm>
          <a:off x="4876800" y="990600"/>
          <a:ext cx="3352800" cy="2982913"/>
        </p:xfrm>
        <a:graphic>
          <a:graphicData uri="http://schemas.openxmlformats.org/presentationml/2006/ole">
            <mc:AlternateContent xmlns:mc="http://schemas.openxmlformats.org/markup-compatibility/2006">
              <mc:Choice xmlns:v="urn:schemas-microsoft-com:vml" Requires="v">
                <p:oleObj spid="_x0000_s3095" name="" r:id="rId1" imgW="2524125" imgH="1781175" progId="Paint.Picture">
                  <p:embed/>
                </p:oleObj>
              </mc:Choice>
              <mc:Fallback>
                <p:oleObj name="" r:id="rId1" imgW="2524125" imgH="1781175" progId="Paint.Picture">
                  <p:embed/>
                  <p:pic>
                    <p:nvPicPr>
                      <p:cNvPr id="0" name="图片 3094"/>
                      <p:cNvPicPr/>
                      <p:nvPr/>
                    </p:nvPicPr>
                    <p:blipFill>
                      <a:blip r:embed="rId2"/>
                      <a:stretch>
                        <a:fillRect/>
                      </a:stretch>
                    </p:blipFill>
                    <p:spPr>
                      <a:xfrm>
                        <a:off x="4876800" y="990600"/>
                        <a:ext cx="3352800" cy="2982913"/>
                      </a:xfrm>
                      <a:prstGeom prst="rect">
                        <a:avLst/>
                      </a:prstGeom>
                      <a:noFill/>
                      <a:ln w="38100">
                        <a:noFill/>
                        <a:miter/>
                      </a:ln>
                    </p:spPr>
                  </p:pic>
                </p:oleObj>
              </mc:Fallback>
            </mc:AlternateContent>
          </a:graphicData>
        </a:graphic>
      </p:graphicFrame>
      <p:graphicFrame>
        <p:nvGraphicFramePr>
          <p:cNvPr id="90122" name="Object 10"/>
          <p:cNvGraphicFramePr>
            <a:graphicFrameLocks noChangeAspect="1"/>
          </p:cNvGraphicFramePr>
          <p:nvPr/>
        </p:nvGraphicFramePr>
        <p:xfrm>
          <a:off x="533400" y="990600"/>
          <a:ext cx="3657600" cy="2819400"/>
        </p:xfrm>
        <a:graphic>
          <a:graphicData uri="http://schemas.openxmlformats.org/presentationml/2006/ole">
            <mc:AlternateContent xmlns:mc="http://schemas.openxmlformats.org/markup-compatibility/2006">
              <mc:Choice xmlns:v="urn:schemas-microsoft-com:vml" Requires="v">
                <p:oleObj spid="_x0000_s3096" name="" r:id="rId3" imgW="2600325" imgH="1885950" progId="Paint.Picture">
                  <p:embed/>
                </p:oleObj>
              </mc:Choice>
              <mc:Fallback>
                <p:oleObj name="" r:id="rId3" imgW="2600325" imgH="1885950" progId="Paint.Picture">
                  <p:embed/>
                  <p:pic>
                    <p:nvPicPr>
                      <p:cNvPr id="0" name="图片 3095"/>
                      <p:cNvPicPr/>
                      <p:nvPr/>
                    </p:nvPicPr>
                    <p:blipFill>
                      <a:blip r:embed="rId4"/>
                      <a:stretch>
                        <a:fillRect/>
                      </a:stretch>
                    </p:blipFill>
                    <p:spPr>
                      <a:xfrm>
                        <a:off x="533400" y="990600"/>
                        <a:ext cx="3657600" cy="2819400"/>
                      </a:xfrm>
                      <a:prstGeom prst="rect">
                        <a:avLst/>
                      </a:prstGeom>
                      <a:noFill/>
                      <a:ln w="38100">
                        <a:noFill/>
                        <a:miter/>
                      </a:ln>
                    </p:spPr>
                  </p:pic>
                </p:oleObj>
              </mc:Fallback>
            </mc:AlternateContent>
          </a:graphicData>
        </a:graphic>
      </p:graphicFrame>
      <p:grpSp>
        <p:nvGrpSpPr>
          <p:cNvPr id="90126" name="Group 14"/>
          <p:cNvGrpSpPr/>
          <p:nvPr/>
        </p:nvGrpSpPr>
        <p:grpSpPr>
          <a:xfrm>
            <a:off x="1676400" y="2971800"/>
            <a:ext cx="5334000" cy="2819400"/>
            <a:chOff x="1056" y="1872"/>
            <a:chExt cx="3360" cy="1776"/>
          </a:xfrm>
        </p:grpSpPr>
        <p:sp>
          <p:nvSpPr>
            <p:cNvPr id="30734" name="AutoShape 11"/>
            <p:cNvSpPr/>
            <p:nvPr/>
          </p:nvSpPr>
          <p:spPr>
            <a:xfrm>
              <a:off x="1056" y="3216"/>
              <a:ext cx="3360" cy="432"/>
            </a:xfrm>
            <a:prstGeom prst="wedgeRectCallout">
              <a:avLst>
                <a:gd name="adj1" fmla="val -65625"/>
                <a:gd name="adj2" fmla="val -400000"/>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r>
                <a:rPr lang="zh-CN" altLang="en-US" sz="2400" b="1" dirty="0">
                  <a:latin typeface="Times New Roman" panose="02020603050405020304" pitchFamily="18" charset="0"/>
                </a:rPr>
                <a:t>输入地址信号即为电路的输入逻辑变量</a:t>
              </a:r>
              <a:endParaRPr lang="zh-CN" altLang="en-US" b="1" dirty="0">
                <a:latin typeface="Times New Roman" panose="02020603050405020304" pitchFamily="18" charset="0"/>
              </a:endParaRPr>
            </a:p>
          </p:txBody>
        </p:sp>
        <p:sp>
          <p:nvSpPr>
            <p:cNvPr id="30735" name="Line 13"/>
            <p:cNvSpPr/>
            <p:nvPr/>
          </p:nvSpPr>
          <p:spPr>
            <a:xfrm flipV="1">
              <a:off x="2160" y="1872"/>
              <a:ext cx="960" cy="1296"/>
            </a:xfrm>
            <a:prstGeom prst="line">
              <a:avLst/>
            </a:prstGeom>
            <a:ln w="76200" cap="flat" cmpd="sng">
              <a:solidFill>
                <a:srgbClr val="FFCC66"/>
              </a:solidFill>
              <a:prstDash val="solid"/>
              <a:headEnd type="none" w="med" len="med"/>
              <a:tailEnd type="triangle" w="med" len="med"/>
            </a:ln>
          </p:spPr>
        </p:sp>
      </p:grpSp>
      <p:grpSp>
        <p:nvGrpSpPr>
          <p:cNvPr id="90130" name="Group 18"/>
          <p:cNvGrpSpPr/>
          <p:nvPr/>
        </p:nvGrpSpPr>
        <p:grpSpPr>
          <a:xfrm>
            <a:off x="1066800" y="2819400"/>
            <a:ext cx="7696200" cy="3048000"/>
            <a:chOff x="672" y="1776"/>
            <a:chExt cx="4848" cy="1920"/>
          </a:xfrm>
        </p:grpSpPr>
        <p:sp>
          <p:nvSpPr>
            <p:cNvPr id="30732" name="AutoShape 15"/>
            <p:cNvSpPr/>
            <p:nvPr/>
          </p:nvSpPr>
          <p:spPr>
            <a:xfrm>
              <a:off x="672" y="3264"/>
              <a:ext cx="4848" cy="432"/>
            </a:xfrm>
            <a:prstGeom prst="wedgeRectCallout">
              <a:avLst>
                <a:gd name="adj1" fmla="val -41458"/>
                <a:gd name="adj2" fmla="val -455093"/>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spcBef>
                  <a:spcPct val="50000"/>
                </a:spcBef>
              </a:pPr>
              <a:r>
                <a:rPr lang="zh-CN" altLang="en-US" sz="2400" b="1" dirty="0">
                  <a:latin typeface="Times New Roman" panose="02020603050405020304" pitchFamily="18" charset="0"/>
                </a:rPr>
                <a:t>地址译码器产生</a:t>
              </a:r>
              <a:r>
                <a:rPr lang="en-US" altLang="zh-CN" sz="2400" b="1" dirty="0">
                  <a:latin typeface="Times New Roman" panose="02020603050405020304" pitchFamily="18" charset="0"/>
                </a:rPr>
                <a:t>2</a:t>
              </a:r>
              <a:r>
                <a:rPr lang="en-US" altLang="zh-CN" sz="2400" b="1" baseline="30000" dirty="0">
                  <a:latin typeface="Times New Roman" panose="02020603050405020304" pitchFamily="18" charset="0"/>
                </a:rPr>
                <a:t>n</a:t>
              </a:r>
              <a:r>
                <a:rPr lang="zh-CN" altLang="en-US" sz="2400" b="1" dirty="0">
                  <a:latin typeface="Times New Roman" panose="02020603050405020304" pitchFamily="18" charset="0"/>
                </a:rPr>
                <a:t>个字线即为固定与阵列产生个</a:t>
              </a:r>
              <a:r>
                <a:rPr lang="en-US" altLang="zh-CN" sz="2400" b="1" dirty="0">
                  <a:latin typeface="Times New Roman" panose="02020603050405020304" pitchFamily="18" charset="0"/>
                </a:rPr>
                <a:t>2</a:t>
              </a:r>
              <a:r>
                <a:rPr lang="en-US" altLang="zh-CN" sz="2400" b="1" baseline="30000" dirty="0">
                  <a:latin typeface="Times New Roman" panose="02020603050405020304" pitchFamily="18" charset="0"/>
                </a:rPr>
                <a:t>n</a:t>
              </a:r>
              <a:r>
                <a:rPr lang="zh-CN" altLang="en-US" sz="2400" b="1" dirty="0">
                  <a:latin typeface="Times New Roman" panose="02020603050405020304" pitchFamily="18" charset="0"/>
                </a:rPr>
                <a:t>乘积项</a:t>
              </a:r>
              <a:endParaRPr lang="zh-CN" altLang="en-US" sz="2400" b="1" dirty="0">
                <a:latin typeface="Times New Roman" panose="02020603050405020304" pitchFamily="18" charset="0"/>
              </a:endParaRPr>
            </a:p>
          </p:txBody>
        </p:sp>
        <p:sp>
          <p:nvSpPr>
            <p:cNvPr id="30733" name="Line 17"/>
            <p:cNvSpPr/>
            <p:nvPr/>
          </p:nvSpPr>
          <p:spPr>
            <a:xfrm flipV="1">
              <a:off x="2640" y="1776"/>
              <a:ext cx="1152" cy="1488"/>
            </a:xfrm>
            <a:prstGeom prst="line">
              <a:avLst/>
            </a:prstGeom>
            <a:ln w="76200" cap="flat" cmpd="sng">
              <a:solidFill>
                <a:srgbClr val="FFCC66"/>
              </a:solidFill>
              <a:prstDash val="solid"/>
              <a:headEnd type="none" w="med" len="med"/>
              <a:tailEnd type="triangle" w="med" len="med"/>
            </a:ln>
          </p:spPr>
        </p:sp>
      </p:grpSp>
      <p:grpSp>
        <p:nvGrpSpPr>
          <p:cNvPr id="90133" name="Group 21"/>
          <p:cNvGrpSpPr/>
          <p:nvPr/>
        </p:nvGrpSpPr>
        <p:grpSpPr>
          <a:xfrm>
            <a:off x="4876800" y="2895600"/>
            <a:ext cx="3886200" cy="2743200"/>
            <a:chOff x="3072" y="1824"/>
            <a:chExt cx="2448" cy="1728"/>
          </a:xfrm>
        </p:grpSpPr>
        <p:sp>
          <p:nvSpPr>
            <p:cNvPr id="30730" name="AutoShape 19"/>
            <p:cNvSpPr/>
            <p:nvPr/>
          </p:nvSpPr>
          <p:spPr>
            <a:xfrm>
              <a:off x="3072" y="2640"/>
              <a:ext cx="2448" cy="912"/>
            </a:xfrm>
            <a:prstGeom prst="wedgeRectCallout">
              <a:avLst>
                <a:gd name="adj1" fmla="val -90074"/>
                <a:gd name="adj2" fmla="val -162060"/>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存储矩阵即为或阵列把乘积</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项组合成</a:t>
              </a:r>
              <a:r>
                <a:rPr lang="en-US" altLang="zh-CN" sz="2400" b="1" dirty="0">
                  <a:latin typeface="Times New Roman" panose="02020603050405020304" pitchFamily="18" charset="0"/>
                </a:rPr>
                <a:t>m</a:t>
              </a:r>
              <a:r>
                <a:rPr lang="zh-CN" altLang="en-US" sz="2400" b="1" dirty="0">
                  <a:latin typeface="Times New Roman" panose="02020603050405020304" pitchFamily="18" charset="0"/>
                </a:rPr>
                <a:t>个逻辑函数输出。</a:t>
              </a:r>
              <a:endParaRPr lang="zh-CN" altLang="en-US" sz="2400" b="1" dirty="0">
                <a:latin typeface="Times New Roman" panose="02020603050405020304" pitchFamily="18" charset="0"/>
              </a:endParaRPr>
            </a:p>
          </p:txBody>
        </p:sp>
        <p:sp>
          <p:nvSpPr>
            <p:cNvPr id="30731" name="Line 20"/>
            <p:cNvSpPr/>
            <p:nvPr/>
          </p:nvSpPr>
          <p:spPr>
            <a:xfrm flipV="1">
              <a:off x="3984" y="1824"/>
              <a:ext cx="528" cy="816"/>
            </a:xfrm>
            <a:prstGeom prst="line">
              <a:avLst/>
            </a:prstGeom>
            <a:ln w="76200" cap="flat" cmpd="sng">
              <a:solidFill>
                <a:srgbClr val="FFCC66"/>
              </a:solidFill>
              <a:prstDash val="solid"/>
              <a:headEnd type="none" w="med" len="med"/>
              <a:tailEnd type="triangle" w="med" len="med"/>
            </a:ln>
          </p:spPr>
        </p:sp>
      </p:grpSp>
      <p:sp>
        <p:nvSpPr>
          <p:cNvPr id="90134" name="Text Box 22"/>
          <p:cNvSpPr txBox="1"/>
          <p:nvPr/>
        </p:nvSpPr>
        <p:spPr>
          <a:xfrm>
            <a:off x="0" y="4114800"/>
            <a:ext cx="9144000" cy="457200"/>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例</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：试用适当容量的</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实现两个两位二进制数比较的比较器。</a:t>
            </a:r>
            <a:endParaRPr lang="zh-CN" altLang="en-US" sz="2400" b="1" dirty="0">
              <a:latin typeface="Times New Roman" panose="02020603050405020304" pitchFamily="18" charset="0"/>
            </a:endParaRPr>
          </a:p>
        </p:txBody>
      </p:sp>
      <p:sp>
        <p:nvSpPr>
          <p:cNvPr id="90135" name="Text Box 23"/>
          <p:cNvSpPr txBox="1"/>
          <p:nvPr/>
        </p:nvSpPr>
        <p:spPr>
          <a:xfrm>
            <a:off x="76200" y="4953000"/>
            <a:ext cx="8839200" cy="1187450"/>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）两个两位二进制数分别为</a:t>
            </a:r>
            <a:r>
              <a:rPr lang="en-US" altLang="zh-CN" sz="2400" b="1" dirty="0">
                <a:solidFill>
                  <a:srgbClr val="FF0000"/>
                </a:solidFill>
                <a:latin typeface="Times New Roman" panose="02020603050405020304" pitchFamily="18" charset="0"/>
              </a:rPr>
              <a:t>A</a:t>
            </a:r>
            <a:r>
              <a:rPr lang="en-US" altLang="zh-CN" sz="2400" b="1" baseline="-25000" dirty="0">
                <a:solidFill>
                  <a:srgbClr val="FF0000"/>
                </a:solidFill>
                <a:latin typeface="Times New Roman" panose="02020603050405020304" pitchFamily="18" charset="0"/>
              </a:rPr>
              <a:t>1</a:t>
            </a:r>
            <a:r>
              <a:rPr lang="en-US" altLang="zh-CN" sz="2400" b="1" dirty="0">
                <a:solidFill>
                  <a:srgbClr val="FF0000"/>
                </a:solidFill>
                <a:latin typeface="Times New Roman" panose="02020603050405020304" pitchFamily="18" charset="0"/>
              </a:rPr>
              <a:t>A</a:t>
            </a:r>
            <a:r>
              <a:rPr lang="en-US" altLang="zh-CN" sz="2400" b="1" baseline="-25000" dirty="0">
                <a:solidFill>
                  <a:srgbClr val="FF0000"/>
                </a:solidFill>
                <a:latin typeface="Times New Roman" panose="02020603050405020304" pitchFamily="18" charset="0"/>
              </a:rPr>
              <a:t>0</a:t>
            </a:r>
            <a:r>
              <a:rPr lang="zh-CN" altLang="en-US" sz="2400" b="1" dirty="0">
                <a:latin typeface="Times New Roman" panose="02020603050405020304" pitchFamily="18" charset="0"/>
              </a:rPr>
              <a:t>和</a:t>
            </a:r>
            <a:r>
              <a:rPr lang="en-US" altLang="zh-CN" sz="2400" b="1" dirty="0">
                <a:solidFill>
                  <a:srgbClr val="FF0000"/>
                </a:solidFill>
                <a:latin typeface="Times New Roman" panose="02020603050405020304" pitchFamily="18" charset="0"/>
              </a:rPr>
              <a:t>B</a:t>
            </a:r>
            <a:r>
              <a:rPr lang="en-US" altLang="zh-CN" sz="2400" b="1" baseline="-25000" dirty="0">
                <a:solidFill>
                  <a:srgbClr val="FF0000"/>
                </a:solidFill>
                <a:latin typeface="Times New Roman" panose="02020603050405020304" pitchFamily="18" charset="0"/>
              </a:rPr>
              <a:t>1</a:t>
            </a:r>
            <a:r>
              <a:rPr lang="en-US" altLang="zh-CN" sz="2400" b="1" dirty="0">
                <a:solidFill>
                  <a:srgbClr val="FF0000"/>
                </a:solidFill>
                <a:latin typeface="Times New Roman" panose="02020603050405020304" pitchFamily="18" charset="0"/>
              </a:rPr>
              <a:t>B</a:t>
            </a:r>
            <a:r>
              <a:rPr lang="en-US" altLang="zh-CN" sz="2400" b="1" baseline="-25000" dirty="0">
                <a:solidFill>
                  <a:srgbClr val="FF0000"/>
                </a:solidFill>
                <a:latin typeface="Times New Roman" panose="02020603050405020304" pitchFamily="18" charset="0"/>
              </a:rPr>
              <a:t>0</a:t>
            </a:r>
            <a:r>
              <a:rPr lang="zh-CN" altLang="en-US" sz="2400" b="1" dirty="0">
                <a:latin typeface="Times New Roman" panose="02020603050405020304" pitchFamily="18" charset="0"/>
              </a:rPr>
              <a:t>，当</a:t>
            </a:r>
            <a:r>
              <a:rPr lang="en-US" altLang="zh-CN" sz="2400" b="1" dirty="0">
                <a:solidFill>
                  <a:srgbClr val="FF0000"/>
                </a:solidFill>
                <a:latin typeface="Times New Roman" panose="02020603050405020304" pitchFamily="18" charset="0"/>
              </a:rPr>
              <a:t>A</a:t>
            </a:r>
            <a:r>
              <a:rPr lang="en-US" altLang="zh-CN" sz="2400" b="1" baseline="-25000" dirty="0">
                <a:solidFill>
                  <a:srgbClr val="FF0000"/>
                </a:solidFill>
                <a:latin typeface="Times New Roman" panose="02020603050405020304" pitchFamily="18" charset="0"/>
              </a:rPr>
              <a:t>1</a:t>
            </a:r>
            <a:r>
              <a:rPr lang="en-US" altLang="zh-CN" sz="2400" b="1" dirty="0">
                <a:solidFill>
                  <a:srgbClr val="FF0000"/>
                </a:solidFill>
                <a:latin typeface="Times New Roman" panose="02020603050405020304" pitchFamily="18" charset="0"/>
              </a:rPr>
              <a:t>A</a:t>
            </a:r>
            <a:r>
              <a:rPr lang="en-US" altLang="zh-CN" sz="2400" b="1" baseline="-25000" dirty="0">
                <a:solidFill>
                  <a:srgbClr val="FF0000"/>
                </a:solidFill>
                <a:latin typeface="Times New Roman" panose="02020603050405020304" pitchFamily="18" charset="0"/>
              </a:rPr>
              <a:t>0</a:t>
            </a:r>
            <a:r>
              <a:rPr lang="zh-CN" altLang="en-US" sz="2400" b="1" dirty="0">
                <a:latin typeface="Times New Roman" panose="02020603050405020304" pitchFamily="18" charset="0"/>
              </a:rPr>
              <a:t>大于</a:t>
            </a:r>
            <a:r>
              <a:rPr lang="en-US" altLang="zh-CN" sz="2400" b="1" dirty="0">
                <a:solidFill>
                  <a:srgbClr val="FF0000"/>
                </a:solidFill>
                <a:latin typeface="Times New Roman" panose="02020603050405020304" pitchFamily="18" charset="0"/>
              </a:rPr>
              <a:t>B</a:t>
            </a:r>
            <a:r>
              <a:rPr lang="en-US" altLang="zh-CN" sz="2400" b="1" baseline="-25000" dirty="0">
                <a:solidFill>
                  <a:srgbClr val="FF0000"/>
                </a:solidFill>
                <a:latin typeface="Times New Roman" panose="02020603050405020304" pitchFamily="18" charset="0"/>
              </a:rPr>
              <a:t>1</a:t>
            </a:r>
            <a:r>
              <a:rPr lang="en-US" altLang="zh-CN" sz="2400" b="1" dirty="0">
                <a:solidFill>
                  <a:srgbClr val="FF0000"/>
                </a:solidFill>
                <a:latin typeface="Times New Roman" panose="02020603050405020304" pitchFamily="18" charset="0"/>
              </a:rPr>
              <a:t>B</a:t>
            </a:r>
            <a:r>
              <a:rPr lang="en-US" altLang="zh-CN" sz="2400" b="1" baseline="-25000" dirty="0">
                <a:solidFill>
                  <a:srgbClr val="FF0000"/>
                </a:solidFill>
                <a:latin typeface="Times New Roman" panose="02020603050405020304" pitchFamily="18" charset="0"/>
              </a:rPr>
              <a:t>0</a:t>
            </a:r>
            <a:r>
              <a:rPr lang="zh-CN" altLang="en-US" sz="2400" b="1" dirty="0">
                <a:latin typeface="Times New Roman" panose="02020603050405020304" pitchFamily="18" charset="0"/>
              </a:rPr>
              <a:t>时，</a:t>
            </a:r>
            <a:r>
              <a:rPr lang="en-US" altLang="zh-CN" sz="2400" b="1" dirty="0">
                <a:latin typeface="Times New Roman" panose="02020603050405020304" pitchFamily="18" charset="0"/>
              </a:rPr>
              <a:t>F</a:t>
            </a:r>
            <a:r>
              <a:rPr lang="en-US" altLang="zh-CN" sz="2400" b="1" baseline="-25000" dirty="0">
                <a:latin typeface="Times New Roman" panose="02020603050405020304" pitchFamily="18" charset="0"/>
              </a:rPr>
              <a:t>1</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a:t>
            </a:r>
            <a:r>
              <a:rPr lang="en-US" altLang="zh-CN" sz="2400" b="1" dirty="0">
                <a:solidFill>
                  <a:srgbClr val="FF0000"/>
                </a:solidFill>
                <a:latin typeface="Times New Roman" panose="02020603050405020304" pitchFamily="18" charset="0"/>
              </a:rPr>
              <a:t>A</a:t>
            </a:r>
            <a:r>
              <a:rPr lang="en-US" altLang="zh-CN" sz="2400" b="1" baseline="-25000" dirty="0">
                <a:solidFill>
                  <a:srgbClr val="FF0000"/>
                </a:solidFill>
                <a:latin typeface="Times New Roman" panose="02020603050405020304" pitchFamily="18" charset="0"/>
              </a:rPr>
              <a:t>1</a:t>
            </a:r>
            <a:r>
              <a:rPr lang="en-US" altLang="zh-CN" sz="2400" b="1" dirty="0">
                <a:solidFill>
                  <a:srgbClr val="FF0000"/>
                </a:solidFill>
                <a:latin typeface="Times New Roman" panose="02020603050405020304" pitchFamily="18" charset="0"/>
              </a:rPr>
              <a:t>A</a:t>
            </a:r>
            <a:r>
              <a:rPr lang="en-US" altLang="zh-CN" sz="2400" b="1" baseline="-25000" dirty="0">
                <a:solidFill>
                  <a:srgbClr val="FF0000"/>
                </a:solidFill>
                <a:latin typeface="Times New Roman" panose="02020603050405020304" pitchFamily="18" charset="0"/>
              </a:rPr>
              <a:t>0</a:t>
            </a:r>
            <a:r>
              <a:rPr lang="zh-CN" altLang="en-US" sz="2400" b="1" dirty="0">
                <a:latin typeface="Times New Roman" panose="02020603050405020304" pitchFamily="18" charset="0"/>
              </a:rPr>
              <a:t>等于</a:t>
            </a:r>
            <a:r>
              <a:rPr lang="en-US" altLang="zh-CN" sz="2400" b="1" dirty="0">
                <a:solidFill>
                  <a:srgbClr val="FF0000"/>
                </a:solidFill>
                <a:latin typeface="Times New Roman" panose="02020603050405020304" pitchFamily="18" charset="0"/>
              </a:rPr>
              <a:t>B</a:t>
            </a:r>
            <a:r>
              <a:rPr lang="en-US" altLang="zh-CN" sz="2400" b="1" baseline="-25000" dirty="0">
                <a:solidFill>
                  <a:srgbClr val="FF0000"/>
                </a:solidFill>
                <a:latin typeface="Times New Roman" panose="02020603050405020304" pitchFamily="18" charset="0"/>
              </a:rPr>
              <a:t>1</a:t>
            </a:r>
            <a:r>
              <a:rPr lang="en-US" altLang="zh-CN" sz="2400" b="1" dirty="0">
                <a:solidFill>
                  <a:srgbClr val="FF0000"/>
                </a:solidFill>
                <a:latin typeface="Times New Roman" panose="02020603050405020304" pitchFamily="18" charset="0"/>
              </a:rPr>
              <a:t>B</a:t>
            </a:r>
            <a:r>
              <a:rPr lang="en-US" altLang="zh-CN" sz="2400" b="1" baseline="-25000" dirty="0">
                <a:solidFill>
                  <a:srgbClr val="FF0000"/>
                </a:solidFill>
                <a:latin typeface="Times New Roman" panose="02020603050405020304" pitchFamily="18" charset="0"/>
              </a:rPr>
              <a:t>0</a:t>
            </a:r>
            <a:r>
              <a:rPr lang="zh-CN" altLang="en-US" sz="2400" b="1" dirty="0">
                <a:latin typeface="Times New Roman" panose="02020603050405020304" pitchFamily="18" charset="0"/>
              </a:rPr>
              <a:t>时，</a:t>
            </a:r>
            <a:r>
              <a:rPr lang="en-US" altLang="zh-CN" sz="2400" b="1" dirty="0">
                <a:latin typeface="Times New Roman" panose="02020603050405020304" pitchFamily="18" charset="0"/>
              </a:rPr>
              <a:t>F</a:t>
            </a:r>
            <a:r>
              <a:rPr lang="en-US" altLang="zh-CN" sz="2400" b="1" baseline="-25000" dirty="0">
                <a:latin typeface="Times New Roman" panose="02020603050405020304" pitchFamily="18" charset="0"/>
              </a:rPr>
              <a:t>2</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a:t>
            </a:r>
            <a:r>
              <a:rPr lang="en-US" altLang="zh-CN" sz="2400" b="1" dirty="0">
                <a:solidFill>
                  <a:srgbClr val="FF0000"/>
                </a:solidFill>
                <a:latin typeface="Times New Roman" panose="02020603050405020304" pitchFamily="18" charset="0"/>
              </a:rPr>
              <a:t>A</a:t>
            </a:r>
            <a:r>
              <a:rPr lang="en-US" altLang="zh-CN" sz="2400" b="1" baseline="-25000" dirty="0">
                <a:solidFill>
                  <a:srgbClr val="FF0000"/>
                </a:solidFill>
                <a:latin typeface="Times New Roman" panose="02020603050405020304" pitchFamily="18" charset="0"/>
              </a:rPr>
              <a:t>1</a:t>
            </a:r>
            <a:r>
              <a:rPr lang="en-US" altLang="zh-CN" sz="2400" b="1" dirty="0">
                <a:solidFill>
                  <a:srgbClr val="FF0000"/>
                </a:solidFill>
                <a:latin typeface="Times New Roman" panose="02020603050405020304" pitchFamily="18" charset="0"/>
              </a:rPr>
              <a:t>A</a:t>
            </a:r>
            <a:r>
              <a:rPr lang="en-US" altLang="zh-CN" sz="2400" b="1" baseline="-25000" dirty="0">
                <a:solidFill>
                  <a:srgbClr val="FF0000"/>
                </a:solidFill>
                <a:latin typeface="Times New Roman" panose="02020603050405020304" pitchFamily="18" charset="0"/>
              </a:rPr>
              <a:t>0</a:t>
            </a:r>
            <a:r>
              <a:rPr lang="zh-CN" altLang="en-US" sz="2400" b="1" dirty="0">
                <a:latin typeface="Times New Roman" panose="02020603050405020304" pitchFamily="18" charset="0"/>
              </a:rPr>
              <a:t>小于</a:t>
            </a:r>
            <a:r>
              <a:rPr lang="en-US" altLang="zh-CN" sz="2400" b="1" dirty="0">
                <a:solidFill>
                  <a:srgbClr val="FF0000"/>
                </a:solidFill>
                <a:latin typeface="Times New Roman" panose="02020603050405020304" pitchFamily="18" charset="0"/>
              </a:rPr>
              <a:t>B</a:t>
            </a:r>
            <a:r>
              <a:rPr lang="en-US" altLang="zh-CN" sz="2400" b="1" baseline="-25000" dirty="0">
                <a:solidFill>
                  <a:srgbClr val="FF0000"/>
                </a:solidFill>
                <a:latin typeface="Times New Roman" panose="02020603050405020304" pitchFamily="18" charset="0"/>
              </a:rPr>
              <a:t>1</a:t>
            </a:r>
            <a:r>
              <a:rPr lang="en-US" altLang="zh-CN" sz="2400" b="1" dirty="0">
                <a:solidFill>
                  <a:srgbClr val="FF0000"/>
                </a:solidFill>
                <a:latin typeface="Times New Roman" panose="02020603050405020304" pitchFamily="18" charset="0"/>
              </a:rPr>
              <a:t>B</a:t>
            </a:r>
            <a:r>
              <a:rPr lang="en-US" altLang="zh-CN" sz="2400" b="1" baseline="-25000" dirty="0">
                <a:solidFill>
                  <a:srgbClr val="FF0000"/>
                </a:solidFill>
                <a:latin typeface="Times New Roman" panose="02020603050405020304" pitchFamily="18" charset="0"/>
              </a:rPr>
              <a:t>0</a:t>
            </a:r>
            <a:r>
              <a:rPr lang="zh-CN" altLang="en-US" sz="2400" b="1" dirty="0">
                <a:latin typeface="Times New Roman" panose="02020603050405020304" pitchFamily="18" charset="0"/>
              </a:rPr>
              <a:t>时，</a:t>
            </a:r>
            <a:r>
              <a:rPr lang="en-US" altLang="zh-CN" sz="2400" b="1" dirty="0">
                <a:latin typeface="Times New Roman" panose="02020603050405020304" pitchFamily="18" charset="0"/>
              </a:rPr>
              <a:t>F</a:t>
            </a:r>
            <a:r>
              <a:rPr lang="en-US" altLang="zh-CN" sz="2400" b="1" baseline="-25000" dirty="0">
                <a:latin typeface="Times New Roman" panose="02020603050405020304" pitchFamily="18" charset="0"/>
              </a:rPr>
              <a:t>3</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，下表给出了两位二进制和比较结果的输入输出对照表，</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0122"/>
                                        </p:tgtEl>
                                        <p:attrNameLst>
                                          <p:attrName>style.visibility</p:attrName>
                                        </p:attrNameLst>
                                      </p:cBhvr>
                                      <p:to>
                                        <p:strVal val="visible"/>
                                      </p:to>
                                    </p:set>
                                    <p:anim calcmode="lin" valueType="num">
                                      <p:cBhvr additive="base">
                                        <p:cTn id="7" dur="500" fill="hold"/>
                                        <p:tgtEl>
                                          <p:spTgt spid="90122"/>
                                        </p:tgtEl>
                                        <p:attrNameLst>
                                          <p:attrName>ppt_x</p:attrName>
                                        </p:attrNameLst>
                                      </p:cBhvr>
                                      <p:tavLst>
                                        <p:tav tm="0">
                                          <p:val>
                                            <p:strVal val="0-#ppt_w/2"/>
                                          </p:val>
                                        </p:tav>
                                        <p:tav tm="100000">
                                          <p:val>
                                            <p:strVal val="#ppt_x"/>
                                          </p:val>
                                        </p:tav>
                                      </p:tavLst>
                                    </p:anim>
                                    <p:anim calcmode="lin" valueType="num">
                                      <p:cBhvr additive="base">
                                        <p:cTn id="8" dur="500" fill="hold"/>
                                        <p:tgtEl>
                                          <p:spTgt spid="901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0121"/>
                                        </p:tgtEl>
                                        <p:attrNameLst>
                                          <p:attrName>style.visibility</p:attrName>
                                        </p:attrNameLst>
                                      </p:cBhvr>
                                      <p:to>
                                        <p:strVal val="visible"/>
                                      </p:to>
                                    </p:set>
                                    <p:anim calcmode="lin" valueType="num">
                                      <p:cBhvr additive="base">
                                        <p:cTn id="13" dur="500" fill="hold"/>
                                        <p:tgtEl>
                                          <p:spTgt spid="90121"/>
                                        </p:tgtEl>
                                        <p:attrNameLst>
                                          <p:attrName>ppt_x</p:attrName>
                                        </p:attrNameLst>
                                      </p:cBhvr>
                                      <p:tavLst>
                                        <p:tav tm="0">
                                          <p:val>
                                            <p:strVal val="1+#ppt_w/2"/>
                                          </p:val>
                                        </p:tav>
                                        <p:tav tm="100000">
                                          <p:val>
                                            <p:strVal val="#ppt_x"/>
                                          </p:val>
                                        </p:tav>
                                      </p:tavLst>
                                    </p:anim>
                                    <p:anim calcmode="lin" valueType="num">
                                      <p:cBhvr additive="base">
                                        <p:cTn id="14" dur="500" fill="hold"/>
                                        <p:tgtEl>
                                          <p:spTgt spid="9012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0126"/>
                                        </p:tgtEl>
                                        <p:attrNameLst>
                                          <p:attrName>style.visibility</p:attrName>
                                        </p:attrNameLst>
                                      </p:cBhvr>
                                      <p:to>
                                        <p:strVal val="visible"/>
                                      </p:to>
                                    </p:set>
                                    <p:anim calcmode="lin" valueType="num">
                                      <p:cBhvr additive="base">
                                        <p:cTn id="19" dur="500" fill="hold"/>
                                        <p:tgtEl>
                                          <p:spTgt spid="90126"/>
                                        </p:tgtEl>
                                        <p:attrNameLst>
                                          <p:attrName>ppt_x</p:attrName>
                                        </p:attrNameLst>
                                      </p:cBhvr>
                                      <p:tavLst>
                                        <p:tav tm="0">
                                          <p:val>
                                            <p:strVal val="#ppt_x"/>
                                          </p:val>
                                        </p:tav>
                                        <p:tav tm="100000">
                                          <p:val>
                                            <p:strVal val="#ppt_x"/>
                                          </p:val>
                                        </p:tav>
                                      </p:tavLst>
                                    </p:anim>
                                    <p:anim calcmode="lin" valueType="num">
                                      <p:cBhvr additive="base">
                                        <p:cTn id="20" dur="500" fill="hold"/>
                                        <p:tgtEl>
                                          <p:spTgt spid="90126"/>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90126"/>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0130"/>
                                        </p:tgtEl>
                                        <p:attrNameLst>
                                          <p:attrName>style.visibility</p:attrName>
                                        </p:attrNameLst>
                                      </p:cBhvr>
                                      <p:to>
                                        <p:strVal val="visible"/>
                                      </p:to>
                                    </p:set>
                                    <p:anim calcmode="lin" valueType="num">
                                      <p:cBhvr additive="base">
                                        <p:cTn id="25" dur="500" fill="hold"/>
                                        <p:tgtEl>
                                          <p:spTgt spid="90130"/>
                                        </p:tgtEl>
                                        <p:attrNameLst>
                                          <p:attrName>ppt_x</p:attrName>
                                        </p:attrNameLst>
                                      </p:cBhvr>
                                      <p:tavLst>
                                        <p:tav tm="0">
                                          <p:val>
                                            <p:strVal val="#ppt_x"/>
                                          </p:val>
                                        </p:tav>
                                        <p:tav tm="100000">
                                          <p:val>
                                            <p:strVal val="#ppt_x"/>
                                          </p:val>
                                        </p:tav>
                                      </p:tavLst>
                                    </p:anim>
                                    <p:anim calcmode="lin" valueType="num">
                                      <p:cBhvr additive="base">
                                        <p:cTn id="26" dur="500" fill="hold"/>
                                        <p:tgtEl>
                                          <p:spTgt spid="90130"/>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90130"/>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0133"/>
                                        </p:tgtEl>
                                        <p:attrNameLst>
                                          <p:attrName>style.visibility</p:attrName>
                                        </p:attrNameLst>
                                      </p:cBhvr>
                                      <p:to>
                                        <p:strVal val="visible"/>
                                      </p:to>
                                    </p:set>
                                    <p:anim calcmode="lin" valueType="num">
                                      <p:cBhvr additive="base">
                                        <p:cTn id="31" dur="500" fill="hold"/>
                                        <p:tgtEl>
                                          <p:spTgt spid="90133"/>
                                        </p:tgtEl>
                                        <p:attrNameLst>
                                          <p:attrName>ppt_x</p:attrName>
                                        </p:attrNameLst>
                                      </p:cBhvr>
                                      <p:tavLst>
                                        <p:tav tm="0">
                                          <p:val>
                                            <p:strVal val="#ppt_x"/>
                                          </p:val>
                                        </p:tav>
                                        <p:tav tm="100000">
                                          <p:val>
                                            <p:strVal val="#ppt_x"/>
                                          </p:val>
                                        </p:tav>
                                      </p:tavLst>
                                    </p:anim>
                                    <p:anim calcmode="lin" valueType="num">
                                      <p:cBhvr additive="base">
                                        <p:cTn id="32" dur="500" fill="hold"/>
                                        <p:tgtEl>
                                          <p:spTgt spid="90133"/>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90133"/>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90134"/>
                                        </p:tgtEl>
                                        <p:attrNameLst>
                                          <p:attrName>style.visibility</p:attrName>
                                        </p:attrNameLst>
                                      </p:cBhvr>
                                      <p:to>
                                        <p:strVal val="visible"/>
                                      </p:to>
                                    </p:set>
                                    <p:anim calcmode="lin" valueType="num">
                                      <p:cBhvr additive="base">
                                        <p:cTn id="37" dur="500" fill="hold"/>
                                        <p:tgtEl>
                                          <p:spTgt spid="90134"/>
                                        </p:tgtEl>
                                        <p:attrNameLst>
                                          <p:attrName>ppt_x</p:attrName>
                                        </p:attrNameLst>
                                      </p:cBhvr>
                                      <p:tavLst>
                                        <p:tav tm="0">
                                          <p:val>
                                            <p:strVal val="1+#ppt_w/2"/>
                                          </p:val>
                                        </p:tav>
                                        <p:tav tm="100000">
                                          <p:val>
                                            <p:strVal val="#ppt_x"/>
                                          </p:val>
                                        </p:tav>
                                      </p:tavLst>
                                    </p:anim>
                                    <p:anim calcmode="lin" valueType="num">
                                      <p:cBhvr additive="base">
                                        <p:cTn id="38" dur="500" fill="hold"/>
                                        <p:tgtEl>
                                          <p:spTgt spid="90134"/>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90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34" grpId="0"/>
      <p:bldP spid="9013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1746" name="Object 10"/>
          <p:cNvGraphicFramePr>
            <a:graphicFrameLocks noChangeAspect="1"/>
          </p:cNvGraphicFramePr>
          <p:nvPr/>
        </p:nvGraphicFramePr>
        <p:xfrm>
          <a:off x="0" y="0"/>
          <a:ext cx="9753600" cy="4881563"/>
        </p:xfrm>
        <a:graphic>
          <a:graphicData uri="http://schemas.openxmlformats.org/presentationml/2006/ole">
            <mc:AlternateContent xmlns:mc="http://schemas.openxmlformats.org/markup-compatibility/2006">
              <mc:Choice xmlns:v="urn:schemas-microsoft-com:vml" Requires="v">
                <p:oleObj spid="_x0000_s3097" name="" r:id="rId1" imgW="5486400" imgH="2746375" progId="Word.Document.8">
                  <p:embed/>
                </p:oleObj>
              </mc:Choice>
              <mc:Fallback>
                <p:oleObj name="" r:id="rId1" imgW="5486400" imgH="2746375" progId="Word.Document.8">
                  <p:embed/>
                  <p:pic>
                    <p:nvPicPr>
                      <p:cNvPr id="0" name="图片 3096"/>
                      <p:cNvPicPr/>
                      <p:nvPr/>
                    </p:nvPicPr>
                    <p:blipFill>
                      <a:blip r:embed="rId2"/>
                      <a:stretch>
                        <a:fillRect/>
                      </a:stretch>
                    </p:blipFill>
                    <p:spPr>
                      <a:xfrm>
                        <a:off x="0" y="0"/>
                        <a:ext cx="9753600" cy="4881563"/>
                      </a:xfrm>
                      <a:prstGeom prst="rect">
                        <a:avLst/>
                      </a:prstGeom>
                      <a:noFill/>
                      <a:ln w="38100">
                        <a:noFill/>
                        <a:miter/>
                      </a:ln>
                    </p:spPr>
                  </p:pic>
                </p:oleObj>
              </mc:Fallback>
            </mc:AlternateContent>
          </a:graphicData>
        </a:graphic>
      </p:graphicFrame>
      <p:sp>
        <p:nvSpPr>
          <p:cNvPr id="92171" name="Text Box 11"/>
          <p:cNvSpPr txBox="1"/>
          <p:nvPr/>
        </p:nvSpPr>
        <p:spPr>
          <a:xfrm>
            <a:off x="5257800" y="762000"/>
            <a:ext cx="3657600" cy="1917700"/>
          </a:xfrm>
          <a:prstGeom prst="rect">
            <a:avLst/>
          </a:prstGeom>
          <a:noFill/>
          <a:ln w="9525">
            <a:noFill/>
          </a:ln>
        </p:spPr>
        <p:txBody>
          <a:bodyPr>
            <a:spAutoFit/>
          </a:bodyPr>
          <a:p>
            <a:pPr algn="just" eaLnBrk="1" hangingPunct="1"/>
            <a:r>
              <a:rPr lang="en-US" altLang="zh-CN" sz="2400" b="1" dirty="0">
                <a:latin typeface="Times New Roman" panose="02020603050405020304" pitchFamily="18" charset="0"/>
              </a:rPr>
              <a:t>      </a:t>
            </a:r>
            <a:r>
              <a:rPr lang="zh-CN" altLang="en-US" sz="2400" b="1" dirty="0">
                <a:latin typeface="Times New Roman" panose="02020603050405020304" pitchFamily="18" charset="0"/>
              </a:rPr>
              <a:t>由此可写出输出逻辑函数的最小项表达式为：</a:t>
            </a:r>
            <a:endParaRPr lang="zh-CN" altLang="en-US" sz="2400" b="1" dirty="0">
              <a:latin typeface="Times New Roman" panose="02020603050405020304" pitchFamily="18" charset="0"/>
            </a:endParaRPr>
          </a:p>
          <a:p>
            <a:pPr algn="just" eaLnBrk="1" hangingPunct="1"/>
            <a:r>
              <a:rPr lang="zh-CN" altLang="en-US" sz="2400" b="1" dirty="0">
                <a:latin typeface="Times New Roman" panose="02020603050405020304" pitchFamily="18" charset="0"/>
              </a:rPr>
              <a:t>   </a:t>
            </a:r>
            <a:r>
              <a:rPr lang="en-US" altLang="zh-CN" sz="2400" b="1" dirty="0">
                <a:latin typeface="Times New Roman" panose="02020603050405020304" pitchFamily="18" charset="0"/>
              </a:rPr>
              <a:t>F</a:t>
            </a:r>
            <a:r>
              <a:rPr lang="en-US" altLang="zh-CN" sz="2400" b="1" baseline="-25000" dirty="0">
                <a:latin typeface="Times New Roman" panose="02020603050405020304" pitchFamily="18" charset="0"/>
              </a:rPr>
              <a:t>1</a:t>
            </a:r>
            <a:r>
              <a:rPr lang="zh-CN" altLang="en-US" sz="2400" b="1" dirty="0">
                <a:latin typeface="Times New Roman" panose="02020603050405020304" pitchFamily="18" charset="0"/>
              </a:rPr>
              <a:t>＝</a:t>
            </a:r>
            <a:r>
              <a:rPr lang="zh-CN" altLang="en-US"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m</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4,8,9,12,13,14</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algn="just" eaLnBrk="1" hangingPunct="1"/>
            <a:r>
              <a:rPr lang="zh-CN" altLang="en-US" sz="2400" b="1" dirty="0">
                <a:latin typeface="Times New Roman" panose="02020603050405020304" pitchFamily="18" charset="0"/>
              </a:rPr>
              <a:t>   </a:t>
            </a:r>
            <a:r>
              <a:rPr lang="en-US" altLang="zh-CN" sz="2400" b="1" dirty="0">
                <a:latin typeface="Times New Roman" panose="02020603050405020304" pitchFamily="18" charset="0"/>
              </a:rPr>
              <a:t>F</a:t>
            </a:r>
            <a:r>
              <a:rPr lang="en-US" altLang="zh-CN" sz="2400" b="1" baseline="-25000" dirty="0">
                <a:latin typeface="Times New Roman" panose="02020603050405020304" pitchFamily="18" charset="0"/>
              </a:rPr>
              <a:t>2</a:t>
            </a:r>
            <a:r>
              <a:rPr lang="zh-CN" altLang="en-US" sz="2400" b="1" dirty="0">
                <a:latin typeface="Times New Roman" panose="02020603050405020304" pitchFamily="18" charset="0"/>
              </a:rPr>
              <a:t>＝</a:t>
            </a:r>
            <a:r>
              <a:rPr lang="zh-CN" altLang="en-US"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m</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0,5,10,15</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algn="just" eaLnBrk="1" hangingPunct="1"/>
            <a:r>
              <a:rPr lang="zh-CN" altLang="en-US" sz="2400" b="1" dirty="0">
                <a:latin typeface="Times New Roman" panose="02020603050405020304" pitchFamily="18" charset="0"/>
              </a:rPr>
              <a:t>   </a:t>
            </a:r>
            <a:r>
              <a:rPr lang="en-US" altLang="zh-CN" sz="2400" b="1" dirty="0">
                <a:latin typeface="Times New Roman" panose="02020603050405020304" pitchFamily="18" charset="0"/>
              </a:rPr>
              <a:t>F</a:t>
            </a:r>
            <a:r>
              <a:rPr lang="en-US" altLang="zh-CN" sz="2400" b="1" baseline="-25000" dirty="0">
                <a:latin typeface="Times New Roman" panose="02020603050405020304" pitchFamily="18" charset="0"/>
              </a:rPr>
              <a:t>3</a:t>
            </a:r>
            <a:r>
              <a:rPr lang="zh-CN" altLang="en-US" sz="2400" b="1" dirty="0">
                <a:latin typeface="Times New Roman" panose="02020603050405020304" pitchFamily="18" charset="0"/>
              </a:rPr>
              <a:t>＝</a:t>
            </a:r>
            <a:r>
              <a:rPr lang="zh-CN" altLang="en-US"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m</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1,2,3,6,7,11</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92172" name="Text Box 12"/>
          <p:cNvSpPr txBox="1"/>
          <p:nvPr/>
        </p:nvSpPr>
        <p:spPr>
          <a:xfrm>
            <a:off x="304800" y="5334000"/>
            <a:ext cx="8382000" cy="822325"/>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）把</a:t>
            </a:r>
            <a:r>
              <a:rPr lang="en-US" altLang="zh-CN" sz="2400" b="1" dirty="0">
                <a:solidFill>
                  <a:srgbClr val="FF0000"/>
                </a:solidFill>
                <a:latin typeface="Times New Roman" panose="02020603050405020304" pitchFamily="18" charset="0"/>
              </a:rPr>
              <a:t>A</a:t>
            </a:r>
            <a:r>
              <a:rPr lang="en-US" altLang="zh-CN" sz="2400" b="1" baseline="-25000" dirty="0">
                <a:solidFill>
                  <a:srgbClr val="FF0000"/>
                </a:solidFill>
                <a:latin typeface="Times New Roman" panose="02020603050405020304" pitchFamily="18" charset="0"/>
              </a:rPr>
              <a:t>1</a:t>
            </a:r>
            <a:r>
              <a:rPr lang="en-US" altLang="zh-CN" sz="2400" b="1" dirty="0">
                <a:solidFill>
                  <a:srgbClr val="FF0000"/>
                </a:solidFill>
                <a:latin typeface="Times New Roman" panose="02020603050405020304" pitchFamily="18" charset="0"/>
              </a:rPr>
              <a:t>A</a:t>
            </a:r>
            <a:r>
              <a:rPr lang="en-US" altLang="zh-CN" sz="2400" b="1" baseline="-25000" dirty="0">
                <a:solidFill>
                  <a:srgbClr val="FF0000"/>
                </a:solidFill>
                <a:latin typeface="Times New Roman" panose="02020603050405020304" pitchFamily="18" charset="0"/>
              </a:rPr>
              <a:t>0</a:t>
            </a:r>
            <a:r>
              <a:rPr lang="zh-CN" altLang="en-US" sz="2400" b="1" dirty="0">
                <a:latin typeface="Times New Roman" panose="02020603050405020304" pitchFamily="18" charset="0"/>
              </a:rPr>
              <a:t>和</a:t>
            </a:r>
            <a:r>
              <a:rPr lang="en-US" altLang="zh-CN" sz="2400" b="1" dirty="0">
                <a:solidFill>
                  <a:srgbClr val="FF0000"/>
                </a:solidFill>
                <a:latin typeface="Times New Roman" panose="02020603050405020304" pitchFamily="18" charset="0"/>
              </a:rPr>
              <a:t>B</a:t>
            </a:r>
            <a:r>
              <a:rPr lang="en-US" altLang="zh-CN" sz="2400" b="1" baseline="-25000" dirty="0">
                <a:solidFill>
                  <a:srgbClr val="FF0000"/>
                </a:solidFill>
                <a:latin typeface="Times New Roman" panose="02020603050405020304" pitchFamily="18" charset="0"/>
              </a:rPr>
              <a:t>1</a:t>
            </a:r>
            <a:r>
              <a:rPr lang="en-US" altLang="zh-CN" sz="2400" b="1" dirty="0">
                <a:solidFill>
                  <a:srgbClr val="FF0000"/>
                </a:solidFill>
                <a:latin typeface="Times New Roman" panose="02020603050405020304" pitchFamily="18" charset="0"/>
              </a:rPr>
              <a:t>B</a:t>
            </a:r>
            <a:r>
              <a:rPr lang="en-US" altLang="zh-CN" sz="2400" b="1" baseline="-25000" dirty="0">
                <a:solidFill>
                  <a:srgbClr val="FF0000"/>
                </a:solidFill>
                <a:latin typeface="Times New Roman" panose="02020603050405020304" pitchFamily="18" charset="0"/>
              </a:rPr>
              <a:t>0</a:t>
            </a:r>
            <a:r>
              <a:rPr lang="zh-CN" altLang="en-US" sz="2400" b="1" dirty="0">
                <a:latin typeface="Times New Roman" panose="02020603050405020304" pitchFamily="18" charset="0"/>
              </a:rPr>
              <a:t>作为</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的输入信号，</a:t>
            </a:r>
            <a:r>
              <a:rPr lang="en-US" altLang="zh-CN" sz="2400" b="1" dirty="0">
                <a:latin typeface="Times New Roman" panose="02020603050405020304" pitchFamily="18" charset="0"/>
              </a:rPr>
              <a:t>F</a:t>
            </a:r>
            <a:r>
              <a:rPr lang="en-US" altLang="zh-CN" sz="2400" b="1" baseline="-25000" dirty="0">
                <a:latin typeface="Times New Roman" panose="02020603050405020304" pitchFamily="18" charset="0"/>
              </a:rPr>
              <a:t>1</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F</a:t>
            </a:r>
            <a:r>
              <a:rPr lang="en-US" altLang="zh-CN" sz="2400" b="1" baseline="-25000" dirty="0">
                <a:latin typeface="Times New Roman" panose="02020603050405020304" pitchFamily="18" charset="0"/>
              </a:rPr>
              <a:t>2</a:t>
            </a:r>
            <a:r>
              <a:rPr lang="zh-CN" altLang="en-US" sz="2400" b="1" dirty="0">
                <a:latin typeface="Times New Roman" panose="02020603050405020304" pitchFamily="18" charset="0"/>
              </a:rPr>
              <a:t>和</a:t>
            </a:r>
            <a:r>
              <a:rPr lang="en-US" altLang="zh-CN" sz="2400" b="1" dirty="0">
                <a:latin typeface="Times New Roman" panose="02020603050405020304" pitchFamily="18" charset="0"/>
              </a:rPr>
              <a:t>F</a:t>
            </a:r>
            <a:r>
              <a:rPr lang="en-US" altLang="zh-CN" sz="2400" b="1" baseline="-25000" dirty="0">
                <a:latin typeface="Times New Roman" panose="02020603050405020304" pitchFamily="18" charset="0"/>
              </a:rPr>
              <a:t>3</a:t>
            </a:r>
            <a:r>
              <a:rPr lang="zh-CN" altLang="en-US" sz="2400" b="1" dirty="0">
                <a:latin typeface="Times New Roman" panose="02020603050405020304" pitchFamily="18" charset="0"/>
              </a:rPr>
              <a:t>为或阵列的输出，下图是用</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实现比较器的阵列图。</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71"/>
                                        </p:tgtEl>
                                        <p:attrNameLst>
                                          <p:attrName>style.visibility</p:attrName>
                                        </p:attrNameLst>
                                      </p:cBhvr>
                                      <p:to>
                                        <p:strVal val="visible"/>
                                      </p:to>
                                    </p:set>
                                    <p:animEffect transition="in" filter="wipe(left)">
                                      <p:cBhvr>
                                        <p:cTn id="7" dur="500"/>
                                        <p:tgtEl>
                                          <p:spTgt spid="9217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2172"/>
                                        </p:tgtEl>
                                        <p:attrNameLst>
                                          <p:attrName>style.visibility</p:attrName>
                                        </p:attrNameLst>
                                      </p:cBhvr>
                                      <p:to>
                                        <p:strVal val="visible"/>
                                      </p:to>
                                    </p:set>
                                    <p:anim calcmode="lin" valueType="num">
                                      <p:cBhvr additive="base">
                                        <p:cTn id="12" dur="500" fill="hold"/>
                                        <p:tgtEl>
                                          <p:spTgt spid="92172"/>
                                        </p:tgtEl>
                                        <p:attrNameLst>
                                          <p:attrName>ppt_x</p:attrName>
                                        </p:attrNameLst>
                                      </p:cBhvr>
                                      <p:tavLst>
                                        <p:tav tm="0">
                                          <p:val>
                                            <p:strVal val="#ppt_x"/>
                                          </p:val>
                                        </p:tav>
                                        <p:tav tm="100000">
                                          <p:val>
                                            <p:strVal val="#ppt_x"/>
                                          </p:val>
                                        </p:tav>
                                      </p:tavLst>
                                    </p:anim>
                                    <p:anim calcmode="lin" valueType="num">
                                      <p:cBhvr additive="base">
                                        <p:cTn id="13" dur="500" fill="hold"/>
                                        <p:tgtEl>
                                          <p:spTgt spid="921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71" grpId="0"/>
      <p:bldP spid="9217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2770" name="Object 7"/>
          <p:cNvGraphicFramePr>
            <a:graphicFrameLocks noChangeAspect="1"/>
          </p:cNvGraphicFramePr>
          <p:nvPr/>
        </p:nvGraphicFramePr>
        <p:xfrm>
          <a:off x="990600" y="0"/>
          <a:ext cx="3814763" cy="5715000"/>
        </p:xfrm>
        <a:graphic>
          <a:graphicData uri="http://schemas.openxmlformats.org/presentationml/2006/ole">
            <mc:AlternateContent xmlns:mc="http://schemas.openxmlformats.org/markup-compatibility/2006">
              <mc:Choice xmlns:v="urn:schemas-microsoft-com:vml" Requires="v">
                <p:oleObj spid="_x0000_s3100" name="" r:id="rId1" imgW="2352675" imgH="3524250" progId="Paint.Picture">
                  <p:embed/>
                </p:oleObj>
              </mc:Choice>
              <mc:Fallback>
                <p:oleObj name="" r:id="rId1" imgW="2352675" imgH="3524250" progId="Paint.Picture">
                  <p:embed/>
                  <p:pic>
                    <p:nvPicPr>
                      <p:cNvPr id="0" name="图片 3099"/>
                      <p:cNvPicPr/>
                      <p:nvPr/>
                    </p:nvPicPr>
                    <p:blipFill>
                      <a:blip r:embed="rId2"/>
                      <a:stretch>
                        <a:fillRect/>
                      </a:stretch>
                    </p:blipFill>
                    <p:spPr>
                      <a:xfrm>
                        <a:off x="990600" y="0"/>
                        <a:ext cx="3814763" cy="5715000"/>
                      </a:xfrm>
                      <a:prstGeom prst="rect">
                        <a:avLst/>
                      </a:prstGeom>
                      <a:noFill/>
                      <a:ln w="38100">
                        <a:noFill/>
                        <a:miter/>
                      </a:ln>
                    </p:spPr>
                  </p:pic>
                </p:oleObj>
              </mc:Fallback>
            </mc:AlternateContent>
          </a:graphicData>
        </a:graphic>
      </p:graphicFrame>
      <p:sp>
        <p:nvSpPr>
          <p:cNvPr id="101384" name="Text Box 8"/>
          <p:cNvSpPr txBox="1"/>
          <p:nvPr/>
        </p:nvSpPr>
        <p:spPr>
          <a:xfrm>
            <a:off x="5257800" y="685800"/>
            <a:ext cx="3429000" cy="822325"/>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3</a:t>
            </a:r>
            <a:r>
              <a:rPr lang="zh-CN" altLang="en-US" sz="2400" b="1" dirty="0">
                <a:latin typeface="Times New Roman" panose="02020603050405020304" pitchFamily="18" charset="0"/>
              </a:rPr>
              <a:t>）选用</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的容量为</a:t>
            </a:r>
            <a:r>
              <a:rPr lang="en-US" altLang="zh-CN" sz="2400" b="1" dirty="0">
                <a:latin typeface="Times New Roman" panose="02020603050405020304" pitchFamily="18" charset="0"/>
              </a:rPr>
              <a:t>16×3</a:t>
            </a:r>
            <a:r>
              <a:rPr lang="zh-CN" altLang="en-US" sz="2400" b="1" dirty="0">
                <a:latin typeface="Times New Roman" panose="02020603050405020304" pitchFamily="18" charset="0"/>
              </a:rPr>
              <a:t>位即可满足要求。</a:t>
            </a:r>
            <a:endParaRPr lang="zh-CN" altLang="en-US" sz="2400" b="1" dirty="0">
              <a:latin typeface="Times New Roman" panose="02020603050405020304" pitchFamily="18" charset="0"/>
            </a:endParaRPr>
          </a:p>
        </p:txBody>
      </p:sp>
      <p:sp>
        <p:nvSpPr>
          <p:cNvPr id="101386" name="Text Box 10"/>
          <p:cNvSpPr txBox="1"/>
          <p:nvPr/>
        </p:nvSpPr>
        <p:spPr>
          <a:xfrm>
            <a:off x="5257800" y="1676400"/>
            <a:ext cx="3886200" cy="822325"/>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以</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实现简单的组合逻辑电路函数是很方便的</a:t>
            </a:r>
            <a:endParaRPr lang="zh-CN" altLang="en-US" sz="2400" b="1" dirty="0">
              <a:latin typeface="Times New Roman" panose="02020603050405020304" pitchFamily="18" charset="0"/>
            </a:endParaRPr>
          </a:p>
        </p:txBody>
      </p:sp>
      <p:sp>
        <p:nvSpPr>
          <p:cNvPr id="101385" name="Text Box 9"/>
          <p:cNvSpPr txBox="1"/>
          <p:nvPr/>
        </p:nvSpPr>
        <p:spPr>
          <a:xfrm>
            <a:off x="533400" y="5029200"/>
            <a:ext cx="8610600" cy="1552575"/>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实际上，大多数组合逻辑函数的最小项不超过</a:t>
            </a:r>
            <a:r>
              <a:rPr lang="en-US" altLang="zh-CN" sz="2400" b="1" dirty="0">
                <a:latin typeface="Times New Roman" panose="02020603050405020304" pitchFamily="18" charset="0"/>
              </a:rPr>
              <a:t>40</a:t>
            </a:r>
            <a:r>
              <a:rPr lang="zh-CN" altLang="en-US" sz="2400" b="1" dirty="0">
                <a:latin typeface="Times New Roman" panose="02020603050405020304" pitchFamily="18" charset="0"/>
              </a:rPr>
              <a:t>个，则使得</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芯片的面积利用率不高，功耗增加。为解决这一问题，考虑与阵列也设计成可编程形式来实现组合逻辑，这就是可编程逻辑阵列</a:t>
            </a:r>
            <a:r>
              <a:rPr lang="en-US" altLang="zh-CN" sz="2400" b="1" dirty="0">
                <a:solidFill>
                  <a:srgbClr val="FF0000"/>
                </a:solidFill>
                <a:latin typeface="Times New Roman" panose="02020603050405020304" pitchFamily="18" charset="0"/>
              </a:rPr>
              <a:t>PLA</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101387" name="Text Box 11"/>
          <p:cNvSpPr txBox="1"/>
          <p:nvPr/>
        </p:nvSpPr>
        <p:spPr>
          <a:xfrm>
            <a:off x="5257800" y="2743200"/>
            <a:ext cx="3886200" cy="19177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一般的</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输入的地址线都较多，容量也较大，又由于</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的与阵列固定，必须进行全译码，要产生全部的最小项。</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1384"/>
                                        </p:tgtEl>
                                        <p:attrNameLst>
                                          <p:attrName>style.visibility</p:attrName>
                                        </p:attrNameLst>
                                      </p:cBhvr>
                                      <p:to>
                                        <p:strVal val="visible"/>
                                      </p:to>
                                    </p:set>
                                    <p:anim calcmode="lin" valueType="num">
                                      <p:cBhvr additive="base">
                                        <p:cTn id="7" dur="500" fill="hold"/>
                                        <p:tgtEl>
                                          <p:spTgt spid="101384"/>
                                        </p:tgtEl>
                                        <p:attrNameLst>
                                          <p:attrName>ppt_x</p:attrName>
                                        </p:attrNameLst>
                                      </p:cBhvr>
                                      <p:tavLst>
                                        <p:tav tm="0">
                                          <p:val>
                                            <p:strVal val="1+#ppt_w/2"/>
                                          </p:val>
                                        </p:tav>
                                        <p:tav tm="100000">
                                          <p:val>
                                            <p:strVal val="#ppt_x"/>
                                          </p:val>
                                        </p:tav>
                                      </p:tavLst>
                                    </p:anim>
                                    <p:anim calcmode="lin" valueType="num">
                                      <p:cBhvr additive="base">
                                        <p:cTn id="8" dur="500" fill="hold"/>
                                        <p:tgtEl>
                                          <p:spTgt spid="10138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1386"/>
                                        </p:tgtEl>
                                        <p:attrNameLst>
                                          <p:attrName>style.visibility</p:attrName>
                                        </p:attrNameLst>
                                      </p:cBhvr>
                                      <p:to>
                                        <p:strVal val="visible"/>
                                      </p:to>
                                    </p:set>
                                    <p:anim calcmode="lin" valueType="num">
                                      <p:cBhvr additive="base">
                                        <p:cTn id="13" dur="500" fill="hold"/>
                                        <p:tgtEl>
                                          <p:spTgt spid="101386"/>
                                        </p:tgtEl>
                                        <p:attrNameLst>
                                          <p:attrName>ppt_x</p:attrName>
                                        </p:attrNameLst>
                                      </p:cBhvr>
                                      <p:tavLst>
                                        <p:tav tm="0">
                                          <p:val>
                                            <p:strVal val="1+#ppt_w/2"/>
                                          </p:val>
                                        </p:tav>
                                        <p:tav tm="100000">
                                          <p:val>
                                            <p:strVal val="#ppt_x"/>
                                          </p:val>
                                        </p:tav>
                                      </p:tavLst>
                                    </p:anim>
                                    <p:anim calcmode="lin" valueType="num">
                                      <p:cBhvr additive="base">
                                        <p:cTn id="14" dur="500" fill="hold"/>
                                        <p:tgtEl>
                                          <p:spTgt spid="10138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138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013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4" grpId="0"/>
      <p:bldP spid="101386" grpId="0"/>
      <p:bldP spid="101385" grpId="0"/>
      <p:bldP spid="10138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ext Box 6"/>
          <p:cNvSpPr txBox="1"/>
          <p:nvPr/>
        </p:nvSpPr>
        <p:spPr>
          <a:xfrm>
            <a:off x="152400" y="152400"/>
            <a:ext cx="7239000" cy="533400"/>
          </a:xfrm>
          <a:prstGeom prst="rect">
            <a:avLst/>
          </a:prstGeom>
          <a:noFill/>
          <a:ln w="9525">
            <a:noFill/>
          </a:ln>
        </p:spPr>
        <p:txBody>
          <a:bodyPr>
            <a:spAutoFit/>
          </a:bodyPr>
          <a:p>
            <a:pPr algn="just" eaLnBrk="1" hangingPunct="1">
              <a:spcAft>
                <a:spcPts val="600"/>
              </a:spcAft>
            </a:pPr>
            <a:r>
              <a:rPr lang="zh-CN" altLang="en-US" sz="2400" b="1" dirty="0">
                <a:solidFill>
                  <a:srgbClr val="990033"/>
                </a:solidFill>
                <a:latin typeface="黑体" panose="02010609060101010101" pitchFamily="2" charset="-122"/>
                <a:ea typeface="黑体" panose="02010609060101010101" pitchFamily="2" charset="-122"/>
              </a:rPr>
              <a:t>二、可编程逻辑阵列</a:t>
            </a:r>
            <a:r>
              <a:rPr lang="en-US" altLang="zh-CN" sz="2400" b="1" dirty="0">
                <a:solidFill>
                  <a:srgbClr val="990033"/>
                </a:solidFill>
                <a:latin typeface="黑体" panose="02010609060101010101" pitchFamily="2" charset="-122"/>
                <a:ea typeface="黑体" panose="02010609060101010101" pitchFamily="2" charset="-122"/>
              </a:rPr>
              <a:t>PLA</a:t>
            </a:r>
            <a:endParaRPr lang="en-US" altLang="zh-CN" sz="2400" b="1" dirty="0">
              <a:latin typeface="黑体" panose="02010609060101010101" pitchFamily="2" charset="-122"/>
              <a:ea typeface="黑体" panose="02010609060101010101" pitchFamily="2" charset="-122"/>
            </a:endParaRPr>
          </a:p>
        </p:txBody>
      </p:sp>
      <p:sp>
        <p:nvSpPr>
          <p:cNvPr id="103431" name="Text Box 7"/>
          <p:cNvSpPr txBox="1"/>
          <p:nvPr/>
        </p:nvSpPr>
        <p:spPr>
          <a:xfrm>
            <a:off x="381000" y="685800"/>
            <a:ext cx="7696200" cy="457200"/>
          </a:xfrm>
          <a:prstGeom prst="rect">
            <a:avLst/>
          </a:prstGeom>
          <a:noFill/>
          <a:ln w="9525">
            <a:noFill/>
          </a:ln>
        </p:spPr>
        <p:txBody>
          <a:bodyPr>
            <a:spAutoFit/>
          </a:bodyPr>
          <a:p>
            <a:pPr eaLnBrk="1" hangingPunct="1"/>
            <a:r>
              <a:rPr lang="zh-CN" altLang="en-US" sz="2400" b="1" dirty="0">
                <a:latin typeface="Times New Roman" panose="02020603050405020304" pitchFamily="18" charset="0"/>
              </a:rPr>
              <a:t>可编程逻辑阵列</a:t>
            </a:r>
            <a:r>
              <a:rPr lang="en-US" altLang="zh-CN" sz="2400" b="1" dirty="0">
                <a:latin typeface="Times New Roman" panose="02020603050405020304" pitchFamily="18" charset="0"/>
              </a:rPr>
              <a:t>PLA</a:t>
            </a:r>
            <a:r>
              <a:rPr lang="zh-CN" altLang="en-US" sz="2400" b="1" dirty="0">
                <a:latin typeface="Times New Roman" panose="02020603050405020304" pitchFamily="18" charset="0"/>
              </a:rPr>
              <a:t>和</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相比之下，有如下特点：</a:t>
            </a:r>
            <a:endParaRPr lang="zh-CN" altLang="en-US" sz="2400" b="1" dirty="0">
              <a:latin typeface="Times New Roman" panose="02020603050405020304" pitchFamily="18" charset="0"/>
            </a:endParaRPr>
          </a:p>
        </p:txBody>
      </p:sp>
      <p:sp>
        <p:nvSpPr>
          <p:cNvPr id="103432" name="Text Box 8"/>
          <p:cNvSpPr txBox="1"/>
          <p:nvPr/>
        </p:nvSpPr>
        <p:spPr>
          <a:xfrm>
            <a:off x="457200" y="1235075"/>
            <a:ext cx="7848600" cy="822325"/>
          </a:xfrm>
          <a:prstGeom prst="rect">
            <a:avLst/>
          </a:prstGeom>
          <a:noFill/>
          <a:ln w="9525">
            <a:noFill/>
          </a:ln>
        </p:spPr>
        <p:txBody>
          <a:bodyPr>
            <a:spAutoFit/>
          </a:bodyPr>
          <a:p>
            <a:pPr eaLnBrk="1" hangingPunct="1"/>
            <a:r>
              <a:rPr lang="zh-CN" altLang="en-US" sz="2400" b="1" dirty="0">
                <a:latin typeface="Times New Roman" panose="02020603050405020304" pitchFamily="18" charset="0"/>
              </a:rPr>
              <a:t>（一）</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是与阵列固定、或阵列可编程，而</a:t>
            </a:r>
            <a:r>
              <a:rPr lang="en-US" altLang="zh-CN" sz="2400" b="1" dirty="0">
                <a:latin typeface="Times New Roman" panose="02020603050405020304" pitchFamily="18" charset="0"/>
              </a:rPr>
              <a:t>PLA</a:t>
            </a:r>
            <a:r>
              <a:rPr lang="zh-CN" altLang="en-US" sz="2400" b="1" dirty="0">
                <a:latin typeface="Times New Roman" panose="02020603050405020304" pitchFamily="18" charset="0"/>
              </a:rPr>
              <a:t>是与和或阵列全可编程。</a:t>
            </a:r>
            <a:endParaRPr lang="zh-CN" altLang="en-US" b="1" dirty="0">
              <a:latin typeface="Times New Roman" panose="02020603050405020304" pitchFamily="18" charset="0"/>
            </a:endParaRPr>
          </a:p>
        </p:txBody>
      </p:sp>
      <p:sp>
        <p:nvSpPr>
          <p:cNvPr id="103433" name="Text Box 9"/>
          <p:cNvSpPr txBox="1"/>
          <p:nvPr/>
        </p:nvSpPr>
        <p:spPr>
          <a:xfrm>
            <a:off x="457200" y="2378075"/>
            <a:ext cx="7848600" cy="822325"/>
          </a:xfrm>
          <a:prstGeom prst="rect">
            <a:avLst/>
          </a:prstGeom>
          <a:noFill/>
          <a:ln w="9525">
            <a:noFill/>
          </a:ln>
        </p:spPr>
        <p:txBody>
          <a:bodyPr>
            <a:spAutoFit/>
          </a:bodyPr>
          <a:p>
            <a:pPr eaLnBrk="1" hangingPunct="1"/>
            <a:r>
              <a:rPr lang="zh-CN" altLang="en-US" sz="2400" b="1" dirty="0">
                <a:latin typeface="Times New Roman" panose="02020603050405020304" pitchFamily="18" charset="0"/>
              </a:rPr>
              <a:t>（二）</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与阵列是全译码的形式，而</a:t>
            </a:r>
            <a:r>
              <a:rPr lang="en-US" altLang="zh-CN" sz="2400" b="1" dirty="0">
                <a:latin typeface="Times New Roman" panose="02020603050405020304" pitchFamily="18" charset="0"/>
              </a:rPr>
              <a:t>PLA</a:t>
            </a:r>
            <a:r>
              <a:rPr lang="zh-CN" altLang="en-US" sz="2400" b="1" dirty="0">
                <a:latin typeface="Times New Roman" panose="02020603050405020304" pitchFamily="18" charset="0"/>
              </a:rPr>
              <a:t>是根据需要产生乘积项，从而减小了阵列的规模。</a:t>
            </a:r>
            <a:endParaRPr lang="zh-CN" altLang="en-US" sz="2400" b="1" dirty="0">
              <a:latin typeface="Times New Roman" panose="02020603050405020304" pitchFamily="18" charset="0"/>
            </a:endParaRPr>
          </a:p>
        </p:txBody>
      </p:sp>
      <p:sp>
        <p:nvSpPr>
          <p:cNvPr id="103434" name="Text Box 10"/>
          <p:cNvSpPr txBox="1"/>
          <p:nvPr/>
        </p:nvSpPr>
        <p:spPr>
          <a:xfrm>
            <a:off x="457200" y="3552825"/>
            <a:ext cx="7848600" cy="1552575"/>
          </a:xfrm>
          <a:prstGeom prst="rect">
            <a:avLst/>
          </a:prstGeom>
          <a:noFill/>
          <a:ln w="9525">
            <a:noFill/>
          </a:ln>
        </p:spPr>
        <p:txBody>
          <a:bodyPr>
            <a:spAutoFit/>
          </a:bodyPr>
          <a:p>
            <a:pPr eaLnBrk="1" hangingPunct="1"/>
            <a:r>
              <a:rPr lang="zh-CN" altLang="en-US" sz="2400" b="1" dirty="0">
                <a:latin typeface="Times New Roman" panose="02020603050405020304" pitchFamily="18" charset="0"/>
              </a:rPr>
              <a:t>（三）</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实现的逻辑函数采用最小项表达式来描述；而用</a:t>
            </a:r>
            <a:r>
              <a:rPr lang="en-US" altLang="zh-CN" sz="2400" b="1" dirty="0">
                <a:latin typeface="Times New Roman" panose="02020603050405020304" pitchFamily="18" charset="0"/>
              </a:rPr>
              <a:t>PLA</a:t>
            </a:r>
            <a:r>
              <a:rPr lang="zh-CN" altLang="en-US" sz="2400" b="1" dirty="0">
                <a:latin typeface="Times New Roman" panose="02020603050405020304" pitchFamily="18" charset="0"/>
              </a:rPr>
              <a:t>实现逻辑函数时，运用简化后的最简与或式，即由与阵列构成乘积项，根据逻辑函数由或阵列实现相应乘积项的或运算。</a:t>
            </a:r>
            <a:endParaRPr lang="zh-CN" altLang="en-US" sz="2400" b="1" dirty="0">
              <a:latin typeface="Times New Roman" panose="02020603050405020304" pitchFamily="18" charset="0"/>
            </a:endParaRPr>
          </a:p>
        </p:txBody>
      </p:sp>
      <p:sp>
        <p:nvSpPr>
          <p:cNvPr id="103435" name="Text Box 11"/>
          <p:cNvSpPr txBox="1"/>
          <p:nvPr/>
        </p:nvSpPr>
        <p:spPr>
          <a:xfrm>
            <a:off x="457200" y="5426075"/>
            <a:ext cx="7848600" cy="822325"/>
          </a:xfrm>
          <a:prstGeom prst="rect">
            <a:avLst/>
          </a:prstGeom>
          <a:noFill/>
          <a:ln w="9525">
            <a:noFill/>
          </a:ln>
        </p:spPr>
        <p:txBody>
          <a:bodyPr>
            <a:spAutoFit/>
          </a:bodyPr>
          <a:p>
            <a:pPr eaLnBrk="1" hangingPunct="1"/>
            <a:r>
              <a:rPr lang="zh-CN" altLang="en-US" sz="2400" b="1" dirty="0">
                <a:latin typeface="Times New Roman" panose="02020603050405020304" pitchFamily="18" charset="0"/>
              </a:rPr>
              <a:t>（四）在</a:t>
            </a:r>
            <a:r>
              <a:rPr lang="en-US" altLang="zh-CN" sz="2400" b="1" dirty="0">
                <a:latin typeface="Times New Roman" panose="02020603050405020304" pitchFamily="18" charset="0"/>
              </a:rPr>
              <a:t>PLA</a:t>
            </a:r>
            <a:r>
              <a:rPr lang="zh-CN" altLang="en-US" sz="2400" b="1" dirty="0">
                <a:latin typeface="Times New Roman" panose="02020603050405020304" pitchFamily="18" charset="0"/>
              </a:rPr>
              <a:t>中，对多输入、多输出的逻辑函数可以利用公共的与项，因而，提高了阵列的利用率。</a:t>
            </a:r>
            <a:endParaRPr lang="zh-CN" altLang="en-US"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3431"/>
                                        </p:tgtEl>
                                        <p:attrNameLst>
                                          <p:attrName>style.visibility</p:attrName>
                                        </p:attrNameLst>
                                      </p:cBhvr>
                                      <p:to>
                                        <p:strVal val="visible"/>
                                      </p:to>
                                    </p:set>
                                    <p:anim calcmode="lin" valueType="num">
                                      <p:cBhvr additive="base">
                                        <p:cTn id="7" dur="500" fill="hold"/>
                                        <p:tgtEl>
                                          <p:spTgt spid="103431"/>
                                        </p:tgtEl>
                                        <p:attrNameLst>
                                          <p:attrName>ppt_x</p:attrName>
                                        </p:attrNameLst>
                                      </p:cBhvr>
                                      <p:tavLst>
                                        <p:tav tm="0">
                                          <p:val>
                                            <p:strVal val="1+#ppt_w/2"/>
                                          </p:val>
                                        </p:tav>
                                        <p:tav tm="100000">
                                          <p:val>
                                            <p:strVal val="#ppt_x"/>
                                          </p:val>
                                        </p:tav>
                                      </p:tavLst>
                                    </p:anim>
                                    <p:anim calcmode="lin" valueType="num">
                                      <p:cBhvr additive="base">
                                        <p:cTn id="8" dur="500" fill="hold"/>
                                        <p:tgtEl>
                                          <p:spTgt spid="10343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3432"/>
                                        </p:tgtEl>
                                        <p:attrNameLst>
                                          <p:attrName>style.visibility</p:attrName>
                                        </p:attrNameLst>
                                      </p:cBhvr>
                                      <p:to>
                                        <p:strVal val="visible"/>
                                      </p:to>
                                    </p:set>
                                    <p:anim calcmode="lin" valueType="num">
                                      <p:cBhvr additive="base">
                                        <p:cTn id="13" dur="500" fill="hold"/>
                                        <p:tgtEl>
                                          <p:spTgt spid="103432"/>
                                        </p:tgtEl>
                                        <p:attrNameLst>
                                          <p:attrName>ppt_x</p:attrName>
                                        </p:attrNameLst>
                                      </p:cBhvr>
                                      <p:tavLst>
                                        <p:tav tm="0">
                                          <p:val>
                                            <p:strVal val="1+#ppt_w/2"/>
                                          </p:val>
                                        </p:tav>
                                        <p:tav tm="100000">
                                          <p:val>
                                            <p:strVal val="#ppt_x"/>
                                          </p:val>
                                        </p:tav>
                                      </p:tavLst>
                                    </p:anim>
                                    <p:anim calcmode="lin" valueType="num">
                                      <p:cBhvr additive="base">
                                        <p:cTn id="14" dur="500" fill="hold"/>
                                        <p:tgtEl>
                                          <p:spTgt spid="10343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3433"/>
                                        </p:tgtEl>
                                        <p:attrNameLst>
                                          <p:attrName>style.visibility</p:attrName>
                                        </p:attrNameLst>
                                      </p:cBhvr>
                                      <p:to>
                                        <p:strVal val="visible"/>
                                      </p:to>
                                    </p:set>
                                    <p:anim calcmode="lin" valueType="num">
                                      <p:cBhvr additive="base">
                                        <p:cTn id="19" dur="500" fill="hold"/>
                                        <p:tgtEl>
                                          <p:spTgt spid="103433"/>
                                        </p:tgtEl>
                                        <p:attrNameLst>
                                          <p:attrName>ppt_x</p:attrName>
                                        </p:attrNameLst>
                                      </p:cBhvr>
                                      <p:tavLst>
                                        <p:tav tm="0">
                                          <p:val>
                                            <p:strVal val="1+#ppt_w/2"/>
                                          </p:val>
                                        </p:tav>
                                        <p:tav tm="100000">
                                          <p:val>
                                            <p:strVal val="#ppt_x"/>
                                          </p:val>
                                        </p:tav>
                                      </p:tavLst>
                                    </p:anim>
                                    <p:anim calcmode="lin" valueType="num">
                                      <p:cBhvr additive="base">
                                        <p:cTn id="20" dur="500" fill="hold"/>
                                        <p:tgtEl>
                                          <p:spTgt spid="10343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03434"/>
                                        </p:tgtEl>
                                        <p:attrNameLst>
                                          <p:attrName>style.visibility</p:attrName>
                                        </p:attrNameLst>
                                      </p:cBhvr>
                                      <p:to>
                                        <p:strVal val="visible"/>
                                      </p:to>
                                    </p:set>
                                    <p:anim calcmode="lin" valueType="num">
                                      <p:cBhvr additive="base">
                                        <p:cTn id="25" dur="500" fill="hold"/>
                                        <p:tgtEl>
                                          <p:spTgt spid="103434"/>
                                        </p:tgtEl>
                                        <p:attrNameLst>
                                          <p:attrName>ppt_x</p:attrName>
                                        </p:attrNameLst>
                                      </p:cBhvr>
                                      <p:tavLst>
                                        <p:tav tm="0">
                                          <p:val>
                                            <p:strVal val="1+#ppt_w/2"/>
                                          </p:val>
                                        </p:tav>
                                        <p:tav tm="100000">
                                          <p:val>
                                            <p:strVal val="#ppt_x"/>
                                          </p:val>
                                        </p:tav>
                                      </p:tavLst>
                                    </p:anim>
                                    <p:anim calcmode="lin" valueType="num">
                                      <p:cBhvr additive="base">
                                        <p:cTn id="26" dur="500" fill="hold"/>
                                        <p:tgtEl>
                                          <p:spTgt spid="10343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03435"/>
                                        </p:tgtEl>
                                        <p:attrNameLst>
                                          <p:attrName>style.visibility</p:attrName>
                                        </p:attrNameLst>
                                      </p:cBhvr>
                                      <p:to>
                                        <p:strVal val="visible"/>
                                      </p:to>
                                    </p:set>
                                    <p:anim calcmode="lin" valueType="num">
                                      <p:cBhvr additive="base">
                                        <p:cTn id="31" dur="500" fill="hold"/>
                                        <p:tgtEl>
                                          <p:spTgt spid="103435"/>
                                        </p:tgtEl>
                                        <p:attrNameLst>
                                          <p:attrName>ppt_x</p:attrName>
                                        </p:attrNameLst>
                                      </p:cBhvr>
                                      <p:tavLst>
                                        <p:tav tm="0">
                                          <p:val>
                                            <p:strVal val="1+#ppt_w/2"/>
                                          </p:val>
                                        </p:tav>
                                        <p:tav tm="100000">
                                          <p:val>
                                            <p:strVal val="#ppt_x"/>
                                          </p:val>
                                        </p:tav>
                                      </p:tavLst>
                                    </p:anim>
                                    <p:anim calcmode="lin" valueType="num">
                                      <p:cBhvr additive="base">
                                        <p:cTn id="32" dur="500" fill="hold"/>
                                        <p:tgtEl>
                                          <p:spTgt spid="1034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31" grpId="0"/>
      <p:bldP spid="103432" grpId="0"/>
      <p:bldP spid="103433" grpId="0"/>
      <p:bldP spid="103434" grpId="0"/>
      <p:bldP spid="10343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Text Box 6"/>
          <p:cNvSpPr txBox="1"/>
          <p:nvPr/>
        </p:nvSpPr>
        <p:spPr>
          <a:xfrm>
            <a:off x="152400" y="152400"/>
            <a:ext cx="7848600" cy="457200"/>
          </a:xfrm>
          <a:prstGeom prst="rect">
            <a:avLst/>
          </a:prstGeom>
          <a:noFill/>
          <a:ln w="9525">
            <a:noFill/>
          </a:ln>
        </p:spPr>
        <p:txBody>
          <a:bodyPr>
            <a:spAutoFit/>
          </a:bodyPr>
          <a:p>
            <a:pPr eaLnBrk="1" hangingPunct="1">
              <a:spcBef>
                <a:spcPct val="50000"/>
              </a:spcBef>
            </a:pPr>
            <a:r>
              <a:rPr lang="zh-CN" altLang="en-US" sz="2400" b="1" dirty="0">
                <a:latin typeface="黑体" panose="02010609060101010101" pitchFamily="2" charset="-122"/>
                <a:ea typeface="黑体" panose="02010609060101010101" pitchFamily="2" charset="-122"/>
              </a:rPr>
              <a:t>例</a:t>
            </a:r>
            <a:r>
              <a:rPr lang="en-US" altLang="zh-CN" sz="2400" b="1" dirty="0">
                <a:latin typeface="黑体" panose="02010609060101010101" pitchFamily="2" charset="-122"/>
                <a:ea typeface="黑体" panose="02010609060101010101" pitchFamily="2" charset="-122"/>
              </a:rPr>
              <a:t>4:</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试用</a:t>
            </a:r>
            <a:r>
              <a:rPr lang="en-US" altLang="zh-CN" sz="2400" b="1" dirty="0">
                <a:latin typeface="Times New Roman" panose="02020603050405020304" pitchFamily="18" charset="0"/>
              </a:rPr>
              <a:t>PLA</a:t>
            </a:r>
            <a:r>
              <a:rPr lang="zh-CN" altLang="en-US" sz="2400" b="1" dirty="0">
                <a:latin typeface="Times New Roman" panose="02020603050405020304" pitchFamily="18" charset="0"/>
              </a:rPr>
              <a:t>实现四位自然二进制码转换成四位格雷码。</a:t>
            </a:r>
            <a:endParaRPr lang="zh-CN" altLang="en-US" sz="2400" b="1" dirty="0">
              <a:latin typeface="Times New Roman" panose="02020603050405020304" pitchFamily="18" charset="0"/>
            </a:endParaRPr>
          </a:p>
        </p:txBody>
      </p:sp>
      <p:sp>
        <p:nvSpPr>
          <p:cNvPr id="115719" name="Text Box 7"/>
          <p:cNvSpPr txBox="1"/>
          <p:nvPr/>
        </p:nvSpPr>
        <p:spPr>
          <a:xfrm>
            <a:off x="381000" y="685800"/>
            <a:ext cx="7848600" cy="822325"/>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）设四位自然二进制码为</a:t>
            </a:r>
            <a:r>
              <a:rPr lang="en-US" altLang="zh-CN" sz="2400" b="1" dirty="0">
                <a:latin typeface="Times New Roman" panose="02020603050405020304" pitchFamily="18" charset="0"/>
              </a:rPr>
              <a:t>B</a:t>
            </a:r>
            <a:r>
              <a:rPr lang="en-US" altLang="zh-CN" sz="2400" b="1" baseline="-25000" dirty="0">
                <a:latin typeface="Times New Roman" panose="02020603050405020304" pitchFamily="18" charset="0"/>
              </a:rPr>
              <a:t>3</a:t>
            </a:r>
            <a:r>
              <a:rPr lang="en-US" altLang="zh-CN" sz="2400" b="1" dirty="0">
                <a:latin typeface="Times New Roman" panose="02020603050405020304" pitchFamily="18" charset="0"/>
              </a:rPr>
              <a:t>B</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B</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B</a:t>
            </a:r>
            <a:r>
              <a:rPr lang="en-US" altLang="zh-CN" sz="2400" b="1" baseline="-25000" dirty="0">
                <a:latin typeface="Times New Roman" panose="02020603050405020304" pitchFamily="18" charset="0"/>
              </a:rPr>
              <a:t>0</a:t>
            </a:r>
            <a:r>
              <a:rPr lang="zh-CN" altLang="en-US" sz="2400" b="1" dirty="0">
                <a:latin typeface="Times New Roman" panose="02020603050405020304" pitchFamily="18" charset="0"/>
              </a:rPr>
              <a:t>，四位格雷码为</a:t>
            </a:r>
            <a:r>
              <a:rPr lang="en-US" altLang="zh-CN" sz="2400" b="1" dirty="0">
                <a:latin typeface="Times New Roman" panose="02020603050405020304" pitchFamily="18" charset="0"/>
              </a:rPr>
              <a:t>G</a:t>
            </a:r>
            <a:r>
              <a:rPr lang="en-US" altLang="zh-CN" sz="2400" b="1" baseline="-25000" dirty="0">
                <a:latin typeface="Times New Roman" panose="02020603050405020304" pitchFamily="18" charset="0"/>
              </a:rPr>
              <a:t>3</a:t>
            </a:r>
            <a:r>
              <a:rPr lang="en-US" altLang="zh-CN" sz="2400" b="1" dirty="0">
                <a:latin typeface="Times New Roman" panose="02020603050405020304" pitchFamily="18" charset="0"/>
              </a:rPr>
              <a:t>G</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G</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G</a:t>
            </a:r>
            <a:r>
              <a:rPr lang="en-US" altLang="zh-CN" sz="2400" b="1" baseline="-25000" dirty="0">
                <a:latin typeface="Times New Roman" panose="02020603050405020304" pitchFamily="18" charset="0"/>
              </a:rPr>
              <a:t>0</a:t>
            </a:r>
            <a:r>
              <a:rPr lang="zh-CN" altLang="en-US" sz="2400" b="1" dirty="0">
                <a:latin typeface="Times New Roman" panose="02020603050405020304" pitchFamily="18" charset="0"/>
              </a:rPr>
              <a:t>，其对应的真值表如下表所示。</a:t>
            </a:r>
            <a:endParaRPr lang="zh-CN" altLang="en-US" sz="2400" b="1" dirty="0">
              <a:latin typeface="Times New Roman" panose="02020603050405020304" pitchFamily="18" charset="0"/>
            </a:endParaRPr>
          </a:p>
        </p:txBody>
      </p:sp>
      <p:graphicFrame>
        <p:nvGraphicFramePr>
          <p:cNvPr id="115720" name="Object 8"/>
          <p:cNvGraphicFramePr>
            <a:graphicFrameLocks noChangeAspect="1"/>
          </p:cNvGraphicFramePr>
          <p:nvPr/>
        </p:nvGraphicFramePr>
        <p:xfrm>
          <a:off x="228600" y="1524000"/>
          <a:ext cx="9144000" cy="4575175"/>
        </p:xfrm>
        <a:graphic>
          <a:graphicData uri="http://schemas.openxmlformats.org/presentationml/2006/ole">
            <mc:AlternateContent xmlns:mc="http://schemas.openxmlformats.org/markup-compatibility/2006">
              <mc:Choice xmlns:v="urn:schemas-microsoft-com:vml" Requires="v">
                <p:oleObj spid="_x0000_s3099" name="" r:id="rId1" imgW="5486400" imgH="2746375" progId="Word.Document.8">
                  <p:embed/>
                </p:oleObj>
              </mc:Choice>
              <mc:Fallback>
                <p:oleObj name="" r:id="rId1" imgW="5486400" imgH="2746375" progId="Word.Document.8">
                  <p:embed/>
                  <p:pic>
                    <p:nvPicPr>
                      <p:cNvPr id="0" name="图片 3098"/>
                      <p:cNvPicPr/>
                      <p:nvPr/>
                    </p:nvPicPr>
                    <p:blipFill>
                      <a:blip r:embed="rId2"/>
                      <a:stretch>
                        <a:fillRect/>
                      </a:stretch>
                    </p:blipFill>
                    <p:spPr>
                      <a:xfrm>
                        <a:off x="228600" y="1524000"/>
                        <a:ext cx="9144000" cy="4575175"/>
                      </a:xfrm>
                      <a:prstGeom prst="rect">
                        <a:avLst/>
                      </a:prstGeom>
                      <a:noFill/>
                      <a:ln w="38100">
                        <a:noFill/>
                        <a:miter/>
                      </a:ln>
                    </p:spPr>
                  </p:pic>
                </p:oleObj>
              </mc:Fallback>
            </mc:AlternateContent>
          </a:graphicData>
        </a:graphic>
      </p:graphicFrame>
      <p:sp>
        <p:nvSpPr>
          <p:cNvPr id="115721" name="Text Box 9"/>
          <p:cNvSpPr txBox="1"/>
          <p:nvPr/>
        </p:nvSpPr>
        <p:spPr>
          <a:xfrm>
            <a:off x="5105400" y="1752600"/>
            <a:ext cx="4038600" cy="822325"/>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根据表列出逻辑函数并简化，得最简输出表达式如下：</a:t>
            </a:r>
            <a:endParaRPr lang="zh-CN" altLang="en-US" sz="2400" b="1" dirty="0">
              <a:latin typeface="Times New Roman" panose="02020603050405020304" pitchFamily="18" charset="0"/>
            </a:endParaRPr>
          </a:p>
        </p:txBody>
      </p:sp>
      <p:graphicFrame>
        <p:nvGraphicFramePr>
          <p:cNvPr id="115722" name="Object 10"/>
          <p:cNvGraphicFramePr>
            <a:graphicFrameLocks noChangeAspect="1"/>
          </p:cNvGraphicFramePr>
          <p:nvPr/>
        </p:nvGraphicFramePr>
        <p:xfrm>
          <a:off x="5257800" y="2819400"/>
          <a:ext cx="18211800" cy="3230563"/>
        </p:xfrm>
        <a:graphic>
          <a:graphicData uri="http://schemas.openxmlformats.org/presentationml/2006/ole">
            <mc:AlternateContent xmlns:mc="http://schemas.openxmlformats.org/markup-compatibility/2006">
              <mc:Choice xmlns:v="urn:schemas-microsoft-com:vml" Requires="v">
                <p:oleObj spid="_x0000_s3101" name="" r:id="rId3" imgW="10629900" imgH="1600200" progId="Word.Document.8">
                  <p:embed/>
                </p:oleObj>
              </mc:Choice>
              <mc:Fallback>
                <p:oleObj name="" r:id="rId3" imgW="10629900" imgH="1600200" progId="Word.Document.8">
                  <p:embed/>
                  <p:pic>
                    <p:nvPicPr>
                      <p:cNvPr id="0" name="图片 3100"/>
                      <p:cNvPicPr/>
                      <p:nvPr/>
                    </p:nvPicPr>
                    <p:blipFill>
                      <a:blip r:embed="rId4"/>
                      <a:stretch>
                        <a:fillRect/>
                      </a:stretch>
                    </p:blipFill>
                    <p:spPr>
                      <a:xfrm>
                        <a:off x="5257800" y="2819400"/>
                        <a:ext cx="18211800" cy="3230563"/>
                      </a:xfrm>
                      <a:prstGeom prst="rect">
                        <a:avLst/>
                      </a:prstGeom>
                      <a:noFill/>
                      <a:ln w="38100">
                        <a:noFill/>
                        <a:miter/>
                      </a:ln>
                    </p:spPr>
                  </p:pic>
                </p:oleObj>
              </mc:Fallback>
            </mc:AlternateContent>
          </a:graphicData>
        </a:graphic>
      </p:graphicFrame>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719"/>
                                        </p:tgtEl>
                                        <p:attrNameLst>
                                          <p:attrName>style.visibility</p:attrName>
                                        </p:attrNameLst>
                                      </p:cBhvr>
                                      <p:to>
                                        <p:strVal val="visible"/>
                                      </p:to>
                                    </p:set>
                                    <p:animEffect transition="in" filter="wipe(left)">
                                      <p:cBhvr>
                                        <p:cTn id="7" dur="500"/>
                                        <p:tgtEl>
                                          <p:spTgt spid="11571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11572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5721"/>
                                        </p:tgtEl>
                                        <p:attrNameLst>
                                          <p:attrName>style.visibility</p:attrName>
                                        </p:attrNameLst>
                                      </p:cBhvr>
                                      <p:to>
                                        <p:strVal val="visible"/>
                                      </p:to>
                                    </p:set>
                                    <p:animEffect transition="in" filter="wipe(left)">
                                      <p:cBhvr>
                                        <p:cTn id="16" dur="500"/>
                                        <p:tgtEl>
                                          <p:spTgt spid="11572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15722"/>
                                        </p:tgtEl>
                                        <p:attrNameLst>
                                          <p:attrName>style.visibility</p:attrName>
                                        </p:attrNameLst>
                                      </p:cBhvr>
                                      <p:to>
                                        <p:strVal val="visible"/>
                                      </p:to>
                                    </p:set>
                                    <p:animEffect transition="in" filter="wipe(left)">
                                      <p:cBhvr>
                                        <p:cTn id="21" dur="500"/>
                                        <p:tgtEl>
                                          <p:spTgt spid="115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9" grpId="0"/>
      <p:bldP spid="11572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7" name="Text Box 9"/>
          <p:cNvSpPr txBox="1"/>
          <p:nvPr/>
        </p:nvSpPr>
        <p:spPr>
          <a:xfrm>
            <a:off x="76200" y="107950"/>
            <a:ext cx="8305800" cy="1187450"/>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）转换器有四个输入信号，化简后需用到</a:t>
            </a:r>
            <a:r>
              <a:rPr lang="en-US" altLang="zh-CN" sz="2400" b="1" dirty="0">
                <a:latin typeface="Times New Roman" panose="02020603050405020304" pitchFamily="18" charset="0"/>
              </a:rPr>
              <a:t>7</a:t>
            </a:r>
            <a:r>
              <a:rPr lang="zh-CN" altLang="en-US" sz="2400" b="1" dirty="0">
                <a:latin typeface="Times New Roman" panose="02020603050405020304" pitchFamily="18" charset="0"/>
              </a:rPr>
              <a:t>个不同的乘积项，组成</a:t>
            </a:r>
            <a:r>
              <a:rPr lang="en-US" altLang="zh-CN" sz="2400" b="1" dirty="0">
                <a:latin typeface="Times New Roman" panose="02020603050405020304" pitchFamily="18" charset="0"/>
              </a:rPr>
              <a:t>4 </a:t>
            </a:r>
            <a:r>
              <a:rPr lang="zh-CN" altLang="en-US" sz="2400" b="1" dirty="0">
                <a:latin typeface="Times New Roman" panose="02020603050405020304" pitchFamily="18" charset="0"/>
              </a:rPr>
              <a:t>个输出函数，故选用四输入的</a:t>
            </a:r>
            <a:r>
              <a:rPr lang="en-US" altLang="zh-CN" sz="2400" b="1" dirty="0">
                <a:latin typeface="Times New Roman" panose="02020603050405020304" pitchFamily="18" charset="0"/>
              </a:rPr>
              <a:t>7×4PLA</a:t>
            </a:r>
            <a:r>
              <a:rPr lang="zh-CN" altLang="en-US" sz="2400" b="1" dirty="0">
                <a:latin typeface="Times New Roman" panose="02020603050405020304" pitchFamily="18" charset="0"/>
              </a:rPr>
              <a:t>实现，下图是四位自然二进制码转换为四位格雷码转换器</a:t>
            </a:r>
            <a:r>
              <a:rPr lang="en-US" altLang="zh-CN" sz="2400" b="1" dirty="0">
                <a:latin typeface="Times New Roman" panose="02020603050405020304" pitchFamily="18" charset="0"/>
              </a:rPr>
              <a:t>PLA</a:t>
            </a:r>
            <a:r>
              <a:rPr lang="zh-CN" altLang="en-US" sz="2400" b="1" dirty="0">
                <a:latin typeface="Times New Roman" panose="02020603050405020304" pitchFamily="18" charset="0"/>
              </a:rPr>
              <a:t>阵列图。</a:t>
            </a:r>
            <a:endParaRPr lang="zh-CN" altLang="en-US" sz="2400" b="1" dirty="0">
              <a:latin typeface="Times New Roman" panose="02020603050405020304" pitchFamily="18" charset="0"/>
            </a:endParaRPr>
          </a:p>
        </p:txBody>
      </p:sp>
      <p:graphicFrame>
        <p:nvGraphicFramePr>
          <p:cNvPr id="124938" name="Object 10"/>
          <p:cNvGraphicFramePr>
            <a:graphicFrameLocks noChangeAspect="1"/>
          </p:cNvGraphicFramePr>
          <p:nvPr/>
        </p:nvGraphicFramePr>
        <p:xfrm>
          <a:off x="0" y="1981200"/>
          <a:ext cx="18211800" cy="3230563"/>
        </p:xfrm>
        <a:graphic>
          <a:graphicData uri="http://schemas.openxmlformats.org/presentationml/2006/ole">
            <mc:AlternateContent xmlns:mc="http://schemas.openxmlformats.org/markup-compatibility/2006">
              <mc:Choice xmlns:v="urn:schemas-microsoft-com:vml" Requires="v">
                <p:oleObj spid="_x0000_s3088" name="" r:id="rId1" imgW="10629900" imgH="1600200" progId="Word.Document.8">
                  <p:embed/>
                </p:oleObj>
              </mc:Choice>
              <mc:Fallback>
                <p:oleObj name="" r:id="rId1" imgW="10629900" imgH="1600200" progId="Word.Document.8">
                  <p:embed/>
                  <p:pic>
                    <p:nvPicPr>
                      <p:cNvPr id="0" name="图片 3087"/>
                      <p:cNvPicPr/>
                      <p:nvPr/>
                    </p:nvPicPr>
                    <p:blipFill>
                      <a:blip r:embed="rId2"/>
                      <a:stretch>
                        <a:fillRect/>
                      </a:stretch>
                    </p:blipFill>
                    <p:spPr>
                      <a:xfrm>
                        <a:off x="0" y="1981200"/>
                        <a:ext cx="18211800" cy="3230563"/>
                      </a:xfrm>
                      <a:prstGeom prst="rect">
                        <a:avLst/>
                      </a:prstGeom>
                      <a:noFill/>
                      <a:ln w="38100">
                        <a:noFill/>
                        <a:miter/>
                      </a:ln>
                    </p:spPr>
                  </p:pic>
                </p:oleObj>
              </mc:Fallback>
            </mc:AlternateContent>
          </a:graphicData>
        </a:graphic>
      </p:graphicFrame>
      <p:graphicFrame>
        <p:nvGraphicFramePr>
          <p:cNvPr id="124939" name="Object 11"/>
          <p:cNvGraphicFramePr>
            <a:graphicFrameLocks noChangeAspect="1"/>
          </p:cNvGraphicFramePr>
          <p:nvPr/>
        </p:nvGraphicFramePr>
        <p:xfrm>
          <a:off x="3962400" y="1295400"/>
          <a:ext cx="4343400" cy="3943350"/>
        </p:xfrm>
        <a:graphic>
          <a:graphicData uri="http://schemas.openxmlformats.org/presentationml/2006/ole">
            <mc:AlternateContent xmlns:mc="http://schemas.openxmlformats.org/markup-compatibility/2006">
              <mc:Choice xmlns:v="urn:schemas-microsoft-com:vml" Requires="v">
                <p:oleObj spid="_x0000_s3089" name="" r:id="rId3" imgW="2476500" imgH="2257425" progId="Paint.Picture">
                  <p:embed/>
                </p:oleObj>
              </mc:Choice>
              <mc:Fallback>
                <p:oleObj name="" r:id="rId3" imgW="2476500" imgH="2257425" progId="Paint.Picture">
                  <p:embed/>
                  <p:pic>
                    <p:nvPicPr>
                      <p:cNvPr id="0" name="图片 3088"/>
                      <p:cNvPicPr/>
                      <p:nvPr/>
                    </p:nvPicPr>
                    <p:blipFill>
                      <a:blip r:embed="rId4"/>
                      <a:stretch>
                        <a:fillRect/>
                      </a:stretch>
                    </p:blipFill>
                    <p:spPr>
                      <a:xfrm>
                        <a:off x="3962400" y="1295400"/>
                        <a:ext cx="4343400" cy="3943350"/>
                      </a:xfrm>
                      <a:prstGeom prst="rect">
                        <a:avLst/>
                      </a:prstGeom>
                      <a:noFill/>
                      <a:ln w="38100">
                        <a:noFill/>
                        <a:miter/>
                      </a:ln>
                    </p:spPr>
                  </p:pic>
                </p:oleObj>
              </mc:Fallback>
            </mc:AlternateContent>
          </a:graphicData>
        </a:graphic>
      </p:graphicFrame>
      <p:grpSp>
        <p:nvGrpSpPr>
          <p:cNvPr id="124942" name="Group 14"/>
          <p:cNvGrpSpPr/>
          <p:nvPr/>
        </p:nvGrpSpPr>
        <p:grpSpPr>
          <a:xfrm>
            <a:off x="3124200" y="1981200"/>
            <a:ext cx="1219200" cy="1752600"/>
            <a:chOff x="1968" y="1248"/>
            <a:chExt cx="768" cy="1104"/>
          </a:xfrm>
        </p:grpSpPr>
        <p:sp>
          <p:nvSpPr>
            <p:cNvPr id="35848" name="AutoShape 12"/>
            <p:cNvSpPr/>
            <p:nvPr/>
          </p:nvSpPr>
          <p:spPr>
            <a:xfrm>
              <a:off x="2352" y="1248"/>
              <a:ext cx="144" cy="1104"/>
            </a:xfrm>
            <a:prstGeom prst="leftBrace">
              <a:avLst>
                <a:gd name="adj1" fmla="val 63888"/>
                <a:gd name="adj2" fmla="val 50000"/>
              </a:avLst>
            </a:prstGeom>
            <a:noFill/>
            <a:ln w="9525" cap="flat" cmpd="sng">
              <a:solidFill>
                <a:srgbClr val="FF0000"/>
              </a:solidFill>
              <a:prstDash val="solid"/>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35849" name="Text Box 13"/>
            <p:cNvSpPr txBox="1"/>
            <p:nvPr/>
          </p:nvSpPr>
          <p:spPr>
            <a:xfrm>
              <a:off x="1968" y="1680"/>
              <a:ext cx="768" cy="288"/>
            </a:xfrm>
            <a:prstGeom prst="rect">
              <a:avLst/>
            </a:prstGeom>
            <a:noFill/>
            <a:ln w="9525">
              <a:noFill/>
            </a:ln>
          </p:spPr>
          <p:txBody>
            <a:bodyPr>
              <a:spAutoFit/>
            </a:bodyPr>
            <a:p>
              <a:pPr eaLnBrk="1" hangingPunct="1">
                <a:spcBef>
                  <a:spcPct val="50000"/>
                </a:spcBef>
              </a:pPr>
              <a:r>
                <a:rPr lang="en-US" altLang="zh-CN" sz="2400" b="1" dirty="0">
                  <a:solidFill>
                    <a:srgbClr val="FF0000"/>
                  </a:solidFill>
                  <a:latin typeface="Times New Roman" panose="02020603050405020304" pitchFamily="18" charset="0"/>
                </a:rPr>
                <a:t>7</a:t>
              </a:r>
              <a:r>
                <a:rPr lang="zh-CN" altLang="en-US" sz="2400" b="1" dirty="0">
                  <a:solidFill>
                    <a:srgbClr val="FF0000"/>
                  </a:solidFill>
                  <a:latin typeface="Times New Roman" panose="02020603050405020304" pitchFamily="18" charset="0"/>
                </a:rPr>
                <a:t>项</a:t>
              </a:r>
              <a:endParaRPr lang="zh-CN" altLang="en-US" b="1" dirty="0">
                <a:solidFill>
                  <a:srgbClr val="FF0000"/>
                </a:solidFill>
                <a:latin typeface="Times New Roman" panose="02020603050405020304" pitchFamily="18" charset="0"/>
              </a:endParaRPr>
            </a:p>
          </p:txBody>
        </p:sp>
      </p:grpSp>
      <p:sp>
        <p:nvSpPr>
          <p:cNvPr id="124943" name="Text Box 15"/>
          <p:cNvSpPr txBox="1"/>
          <p:nvPr/>
        </p:nvSpPr>
        <p:spPr>
          <a:xfrm>
            <a:off x="457200" y="4648200"/>
            <a:ext cx="7924800" cy="1552575"/>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右图仅用了七个乘积项，比</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全译码少用</a:t>
            </a:r>
            <a:r>
              <a:rPr lang="en-US" altLang="zh-CN" sz="2400" b="1" dirty="0">
                <a:latin typeface="Times New Roman" panose="02020603050405020304" pitchFamily="18" charset="0"/>
              </a:rPr>
              <a:t>9</a:t>
            </a:r>
            <a:r>
              <a:rPr lang="zh-CN" altLang="en-US" sz="2400" b="1" dirty="0">
                <a:latin typeface="Times New Roman" panose="02020603050405020304" pitchFamily="18" charset="0"/>
              </a:rPr>
              <a:t>个，实现的逻辑功能是一样的。从而降低了芯片的面积，提高了芯片的利用率，所以用它来实现多输入、多输出的复杂逻辑函数较</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有优越之处。</a:t>
            </a:r>
            <a:endParaRPr lang="zh-CN" altLang="en-US" sz="2400" b="1" dirty="0">
              <a:latin typeface="Times New Roman" panose="02020603050405020304" pitchFamily="18" charset="0"/>
            </a:endParaRPr>
          </a:p>
        </p:txBody>
      </p:sp>
      <p:sp>
        <p:nvSpPr>
          <p:cNvPr id="124944" name="Text Box 16"/>
          <p:cNvSpPr txBox="1"/>
          <p:nvPr/>
        </p:nvSpPr>
        <p:spPr>
          <a:xfrm>
            <a:off x="381000" y="5105400"/>
            <a:ext cx="8382000" cy="822325"/>
          </a:xfrm>
          <a:prstGeom prst="rect">
            <a:avLst/>
          </a:prstGeom>
          <a:noFill/>
          <a:ln w="9525">
            <a:noFill/>
          </a:ln>
        </p:spPr>
        <p:txBody>
          <a:bodyPr>
            <a:spAutoFit/>
          </a:bodyPr>
          <a:p>
            <a:pPr algn="just" eaLnBrk="1" hangingPunct="1"/>
            <a:r>
              <a:rPr lang="en-US" altLang="zh-CN" sz="2400" b="1" dirty="0">
                <a:latin typeface="Times New Roman" panose="02020603050405020304" pitchFamily="18" charset="0"/>
              </a:rPr>
              <a:t>PLA</a:t>
            </a:r>
            <a:r>
              <a:rPr lang="zh-CN" altLang="en-US" sz="2400" b="1" dirty="0">
                <a:latin typeface="Times New Roman" panose="02020603050405020304" pitchFamily="18" charset="0"/>
              </a:rPr>
              <a:t>除了能实现各种组合电路外，还可以在或阵列之后接入触发器组，作为反馈输入信号，实现时序逻辑电路。</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4937"/>
                                        </p:tgtEl>
                                        <p:attrNameLst>
                                          <p:attrName>style.visibility</p:attrName>
                                        </p:attrNameLst>
                                      </p:cBhvr>
                                      <p:to>
                                        <p:strVal val="visible"/>
                                      </p:to>
                                    </p:set>
                                    <p:animEffect transition="in" filter="wipe(left)">
                                      <p:cBhvr>
                                        <p:cTn id="7" dur="500"/>
                                        <p:tgtEl>
                                          <p:spTgt spid="1249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4938"/>
                                        </p:tgtEl>
                                        <p:attrNameLst>
                                          <p:attrName>style.visibility</p:attrName>
                                        </p:attrNameLst>
                                      </p:cBhvr>
                                      <p:to>
                                        <p:strVal val="visible"/>
                                      </p:to>
                                    </p:set>
                                    <p:animEffect transition="in" filter="wipe(left)">
                                      <p:cBhvr>
                                        <p:cTn id="12" dur="500"/>
                                        <p:tgtEl>
                                          <p:spTgt spid="12493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4939"/>
                                        </p:tgtEl>
                                        <p:attrNameLst>
                                          <p:attrName>style.visibility</p:attrName>
                                        </p:attrNameLst>
                                      </p:cBhvr>
                                      <p:to>
                                        <p:strVal val="visible"/>
                                      </p:to>
                                    </p:set>
                                    <p:animEffect transition="in" filter="wipe(left)">
                                      <p:cBhvr>
                                        <p:cTn id="17" dur="500"/>
                                        <p:tgtEl>
                                          <p:spTgt spid="12493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4942"/>
                                        </p:tgtEl>
                                        <p:attrNameLst>
                                          <p:attrName>style.visibility</p:attrName>
                                        </p:attrNameLst>
                                      </p:cBhvr>
                                      <p:to>
                                        <p:strVal val="visible"/>
                                      </p:to>
                                    </p:set>
                                    <p:animEffect transition="in" filter="wipe(left)">
                                      <p:cBhvr>
                                        <p:cTn id="22" dur="500"/>
                                        <p:tgtEl>
                                          <p:spTgt spid="12494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4943"/>
                                        </p:tgtEl>
                                        <p:attrNameLst>
                                          <p:attrName>style.visibility</p:attrName>
                                        </p:attrNameLst>
                                      </p:cBhvr>
                                      <p:to>
                                        <p:strVal val="visible"/>
                                      </p:to>
                                    </p:set>
                                    <p:animEffect transition="in" filter="wipe(left)">
                                      <p:cBhvr>
                                        <p:cTn id="27" dur="500"/>
                                        <p:tgtEl>
                                          <p:spTgt spid="124943"/>
                                        </p:tgtEl>
                                      </p:cBhvr>
                                    </p:animEffect>
                                  </p:childTnLst>
                                  <p:subTnLst>
                                    <p:set>
                                      <p:cBhvr override="childStyle">
                                        <p:cTn dur="1" fill="hold" display="0" masterRel="nextClick" afterEffect="1"/>
                                        <p:tgtEl>
                                          <p:spTgt spid="124943"/>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4944"/>
                                        </p:tgtEl>
                                        <p:attrNameLst>
                                          <p:attrName>style.visibility</p:attrName>
                                        </p:attrNameLst>
                                      </p:cBhvr>
                                      <p:to>
                                        <p:strVal val="visible"/>
                                      </p:to>
                                    </p:set>
                                    <p:animEffect transition="in" filter="wipe(left)">
                                      <p:cBhvr>
                                        <p:cTn id="32" dur="500"/>
                                        <p:tgtEl>
                                          <p:spTgt spid="1249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7" grpId="0"/>
      <p:bldP spid="124943" grpId="0"/>
      <p:bldP spid="12494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8"/>
          <p:cNvSpPr>
            <a:spLocks noGrp="1"/>
          </p:cNvSpPr>
          <p:nvPr>
            <p:ph type="title"/>
          </p:nvPr>
        </p:nvSpPr>
        <p:spPr>
          <a:xfrm>
            <a:off x="685800" y="304800"/>
            <a:ext cx="8077200" cy="1143000"/>
          </a:xfrm>
          <a:solidFill>
            <a:srgbClr val="FF0066">
              <a:alpha val="100000"/>
            </a:srgbClr>
          </a:solidFill>
          <a:ln>
            <a:miter/>
          </a:ln>
          <a:scene3d>
            <a:camera prst="legacyObliqueBottomLeft">
              <a:rot lat="0" lon="0" rev="0"/>
            </a:camera>
            <a:lightRig rig="legacyFlat3" dir="t"/>
          </a:scene3d>
          <a:sp3d extrusionH="430200" prstMaterial="legacyMatte">
            <a:bevelT w="13500" h="13500" prst="angle"/>
            <a:bevelB w="13500" h="13500" prst="angle"/>
            <a:extrusionClr>
              <a:srgbClr val="FF0066"/>
            </a:extrusionClr>
          </a:sp3d>
        </p:spPr>
        <p:txBody>
          <a:bodyPr vert="horz" wrap="square" lIns="91440" tIns="45720" rIns="91440" bIns="45720" anchor="ctr" anchorCtr="0">
            <a:flatTx/>
          </a:bodyPr>
          <a:p>
            <a:pPr eaLnBrk="1" hangingPunct="1"/>
            <a:r>
              <a:rPr lang="en-US" altLang="zh-CN" b="1" dirty="0">
                <a:solidFill>
                  <a:srgbClr val="FFFF66"/>
                </a:solidFill>
              </a:rPr>
              <a:t>§8-4  </a:t>
            </a:r>
            <a:r>
              <a:rPr lang="zh-CN" altLang="en-US" b="1" dirty="0">
                <a:solidFill>
                  <a:srgbClr val="FFFF99"/>
                </a:solidFill>
              </a:rPr>
              <a:t>可编程逻辑器件</a:t>
            </a:r>
            <a:r>
              <a:rPr lang="en-US" altLang="zh-CN" b="1" dirty="0">
                <a:solidFill>
                  <a:srgbClr val="FFFF99"/>
                </a:solidFill>
              </a:rPr>
              <a:t>PAL</a:t>
            </a:r>
            <a:r>
              <a:rPr lang="zh-CN" altLang="en-US" b="1" dirty="0">
                <a:solidFill>
                  <a:srgbClr val="FFFF99"/>
                </a:solidFill>
              </a:rPr>
              <a:t>和</a:t>
            </a:r>
            <a:br>
              <a:rPr lang="zh-CN" altLang="en-US" b="1" dirty="0">
                <a:solidFill>
                  <a:srgbClr val="FFFF99"/>
                </a:solidFill>
              </a:rPr>
            </a:br>
            <a:r>
              <a:rPr lang="zh-CN" altLang="en-US" b="1" dirty="0">
                <a:solidFill>
                  <a:srgbClr val="FFFF99"/>
                </a:solidFill>
              </a:rPr>
              <a:t>通用逻辑阵列</a:t>
            </a:r>
            <a:r>
              <a:rPr lang="en-US" altLang="zh-CN" b="1" dirty="0">
                <a:solidFill>
                  <a:srgbClr val="FFFF99"/>
                </a:solidFill>
              </a:rPr>
              <a:t>GAL</a:t>
            </a:r>
            <a:endParaRPr lang="en-US" altLang="zh-CN" b="1" dirty="0">
              <a:solidFill>
                <a:srgbClr val="FFFF99"/>
              </a:solidFill>
            </a:endParaRPr>
          </a:p>
        </p:txBody>
      </p:sp>
      <p:sp>
        <p:nvSpPr>
          <p:cNvPr id="131081" name="Text Box 9"/>
          <p:cNvSpPr txBox="1"/>
          <p:nvPr/>
        </p:nvSpPr>
        <p:spPr>
          <a:xfrm>
            <a:off x="1600200" y="1905000"/>
            <a:ext cx="4876800" cy="457200"/>
          </a:xfrm>
          <a:prstGeom prst="rect">
            <a:avLst/>
          </a:prstGeom>
          <a:solidFill>
            <a:srgbClr val="FFCC99"/>
          </a:solidFill>
          <a:ln w="9525">
            <a:noFill/>
          </a:ln>
        </p:spPr>
        <p:txBody>
          <a:bodyPr>
            <a:spAutoFit/>
          </a:bodyPr>
          <a:p>
            <a:pPr eaLnBrk="1" hangingPunct="1">
              <a:spcBef>
                <a:spcPct val="50000"/>
              </a:spcBef>
            </a:pPr>
            <a:r>
              <a:rPr lang="zh-CN" altLang="en-US" sz="2400" b="1" dirty="0">
                <a:solidFill>
                  <a:srgbClr val="990033"/>
                </a:solidFill>
                <a:latin typeface="黑体" panose="02010609060101010101" pitchFamily="2" charset="-122"/>
                <a:ea typeface="黑体" panose="02010609060101010101" pitchFamily="2" charset="-122"/>
              </a:rPr>
              <a:t>一、可编程阵列逻辑器件</a:t>
            </a:r>
            <a:r>
              <a:rPr lang="en-US" altLang="zh-CN" sz="2400" b="1" dirty="0">
                <a:solidFill>
                  <a:srgbClr val="990033"/>
                </a:solidFill>
                <a:latin typeface="黑体" panose="02010609060101010101" pitchFamily="2" charset="-122"/>
                <a:ea typeface="黑体" panose="02010609060101010101" pitchFamily="2" charset="-122"/>
              </a:rPr>
              <a:t>PAL</a:t>
            </a:r>
            <a:endParaRPr lang="en-US" altLang="zh-CN" sz="2400" b="1" dirty="0">
              <a:latin typeface="黑体" panose="02010609060101010101" pitchFamily="2" charset="-122"/>
              <a:ea typeface="黑体" panose="02010609060101010101" pitchFamily="2" charset="-122"/>
            </a:endParaRPr>
          </a:p>
        </p:txBody>
      </p:sp>
      <p:sp>
        <p:nvSpPr>
          <p:cNvPr id="131082" name="Text Box 10"/>
          <p:cNvSpPr txBox="1"/>
          <p:nvPr/>
        </p:nvSpPr>
        <p:spPr>
          <a:xfrm>
            <a:off x="304800" y="2514600"/>
            <a:ext cx="8229600" cy="118745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PAL</a:t>
            </a:r>
            <a:r>
              <a:rPr lang="zh-CN" altLang="en-US" sz="2400" b="1" dirty="0">
                <a:latin typeface="Times New Roman" panose="02020603050405020304" pitchFamily="18" charset="0"/>
              </a:rPr>
              <a:t>采用双极型熔丝工艺，工作速度较高。</a:t>
            </a:r>
            <a:r>
              <a:rPr lang="en-US" altLang="zh-CN" sz="2400" b="1" dirty="0">
                <a:latin typeface="Times New Roman" panose="02020603050405020304" pitchFamily="18" charset="0"/>
              </a:rPr>
              <a:t>PAL</a:t>
            </a:r>
            <a:r>
              <a:rPr lang="zh-CN" altLang="en-US" sz="2400" b="1" dirty="0">
                <a:latin typeface="Times New Roman" panose="02020603050405020304" pitchFamily="18" charset="0"/>
              </a:rPr>
              <a:t>的结构是与阵列可编程和或阵列固定，这种结构为大多数逻辑函数提供了较高级的性能，为</a:t>
            </a:r>
            <a:r>
              <a:rPr lang="en-US" altLang="zh-CN" sz="2400" b="1" dirty="0">
                <a:latin typeface="Times New Roman" panose="02020603050405020304" pitchFamily="18" charset="0"/>
              </a:rPr>
              <a:t>PLD</a:t>
            </a:r>
            <a:r>
              <a:rPr lang="zh-CN" altLang="en-US" sz="2400" b="1" dirty="0">
                <a:latin typeface="Times New Roman" panose="02020603050405020304" pitchFamily="18" charset="0"/>
              </a:rPr>
              <a:t>进一步的发展奠定了基础。</a:t>
            </a:r>
            <a:endParaRPr lang="zh-CN" altLang="en-US" sz="2400" b="1" dirty="0">
              <a:latin typeface="Times New Roman" panose="02020603050405020304" pitchFamily="18" charset="0"/>
            </a:endParaRPr>
          </a:p>
        </p:txBody>
      </p:sp>
      <p:sp>
        <p:nvSpPr>
          <p:cNvPr id="131083" name="Text Box 11"/>
          <p:cNvSpPr txBox="1"/>
          <p:nvPr/>
        </p:nvSpPr>
        <p:spPr>
          <a:xfrm>
            <a:off x="457200" y="3886200"/>
            <a:ext cx="7391400" cy="457200"/>
          </a:xfrm>
          <a:prstGeom prst="rect">
            <a:avLst/>
          </a:prstGeom>
          <a:noFill/>
          <a:ln w="9525">
            <a:noFill/>
          </a:ln>
        </p:spPr>
        <p:txBody>
          <a:bodyPr>
            <a:spAutoFit/>
          </a:bodyPr>
          <a:p>
            <a:pPr algn="just" eaLnBrk="1" hangingPunct="1"/>
            <a:r>
              <a:rPr lang="zh-CN" altLang="en-US" sz="2400" b="1" dirty="0">
                <a:latin typeface="Times New Roman" panose="02020603050405020304" pitchFamily="18" charset="0"/>
              </a:rPr>
              <a:t>（一）</a:t>
            </a:r>
            <a:r>
              <a:rPr lang="en-US" altLang="zh-CN" sz="2400" b="1" dirty="0">
                <a:latin typeface="Times New Roman" panose="02020603050405020304" pitchFamily="18" charset="0"/>
              </a:rPr>
              <a:t>PAL</a:t>
            </a:r>
            <a:r>
              <a:rPr lang="zh-CN" altLang="en-US" sz="2400" b="1" dirty="0">
                <a:latin typeface="Times New Roman" panose="02020603050405020304" pitchFamily="18" charset="0"/>
              </a:rPr>
              <a:t>的基本结构</a:t>
            </a:r>
            <a:endParaRPr lang="zh-CN" altLang="en-US" b="1" dirty="0">
              <a:latin typeface="Times New Roman" panose="02020603050405020304" pitchFamily="18" charset="0"/>
            </a:endParaRPr>
          </a:p>
        </p:txBody>
      </p:sp>
      <p:sp>
        <p:nvSpPr>
          <p:cNvPr id="131085" name="Text Box 13"/>
          <p:cNvSpPr txBox="1"/>
          <p:nvPr/>
        </p:nvSpPr>
        <p:spPr>
          <a:xfrm>
            <a:off x="457200" y="4495800"/>
            <a:ext cx="8229600" cy="1552575"/>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PAL</a:t>
            </a:r>
            <a:r>
              <a:rPr lang="zh-CN" altLang="en-US" sz="2400" b="1" dirty="0">
                <a:latin typeface="Times New Roman" panose="02020603050405020304" pitchFamily="18" charset="0"/>
              </a:rPr>
              <a:t>器件的输入、输出结构以及输入、输出的数目是由集成电路制造商根据实际设计情况大致估计确定。</a:t>
            </a:r>
            <a:r>
              <a:rPr lang="en-US" altLang="zh-CN" sz="2400" b="1" dirty="0">
                <a:latin typeface="Times New Roman" panose="02020603050405020304" pitchFamily="18" charset="0"/>
              </a:rPr>
              <a:t>PAL</a:t>
            </a:r>
            <a:r>
              <a:rPr lang="zh-CN" altLang="en-US" sz="2400" b="1" dirty="0">
                <a:latin typeface="Times New Roman" panose="02020603050405020304" pitchFamily="18" charset="0"/>
              </a:rPr>
              <a:t>器件的型号很多，它的典型输出结构通常有四种，其余的结构是在这四种结构基础上变形而来。</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1081"/>
                                        </p:tgtEl>
                                        <p:attrNameLst>
                                          <p:attrName>style.visibility</p:attrName>
                                        </p:attrNameLst>
                                      </p:cBhvr>
                                      <p:to>
                                        <p:strVal val="visible"/>
                                      </p:to>
                                    </p:set>
                                    <p:animEffect transition="in" filter="wipe(left)">
                                      <p:cBhvr>
                                        <p:cTn id="7" dur="500"/>
                                        <p:tgtEl>
                                          <p:spTgt spid="13108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1082"/>
                                        </p:tgtEl>
                                        <p:attrNameLst>
                                          <p:attrName>style.visibility</p:attrName>
                                        </p:attrNameLst>
                                      </p:cBhvr>
                                      <p:to>
                                        <p:strVal val="visible"/>
                                      </p:to>
                                    </p:set>
                                    <p:animEffect transition="in" filter="wipe(left)">
                                      <p:cBhvr>
                                        <p:cTn id="12" dur="500"/>
                                        <p:tgtEl>
                                          <p:spTgt spid="1310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1083"/>
                                        </p:tgtEl>
                                        <p:attrNameLst>
                                          <p:attrName>style.visibility</p:attrName>
                                        </p:attrNameLst>
                                      </p:cBhvr>
                                      <p:to>
                                        <p:strVal val="visible"/>
                                      </p:to>
                                    </p:set>
                                    <p:animEffect transition="in" filter="wipe(left)">
                                      <p:cBhvr>
                                        <p:cTn id="17" dur="500"/>
                                        <p:tgtEl>
                                          <p:spTgt spid="13108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1085"/>
                                        </p:tgtEl>
                                        <p:attrNameLst>
                                          <p:attrName>style.visibility</p:attrName>
                                        </p:attrNameLst>
                                      </p:cBhvr>
                                      <p:to>
                                        <p:strVal val="visible"/>
                                      </p:to>
                                    </p:set>
                                    <p:animEffect transition="in" filter="wipe(left)">
                                      <p:cBhvr>
                                        <p:cTn id="22" dur="500"/>
                                        <p:tgtEl>
                                          <p:spTgt spid="131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81" grpId="0" animBg="1"/>
      <p:bldP spid="131082" grpId="0"/>
      <p:bldP spid="131083" grpId="0"/>
      <p:bldP spid="13108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Text Box 12"/>
          <p:cNvSpPr txBox="1"/>
          <p:nvPr/>
        </p:nvSpPr>
        <p:spPr>
          <a:xfrm>
            <a:off x="152400" y="152400"/>
            <a:ext cx="6172200" cy="4572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1. </a:t>
            </a:r>
            <a:r>
              <a:rPr lang="zh-CN" altLang="en-US" sz="2400" b="1" dirty="0">
                <a:latin typeface="Times New Roman" panose="02020603050405020304" pitchFamily="18" charset="0"/>
              </a:rPr>
              <a:t>专用输出基本门阵列结构</a:t>
            </a:r>
            <a:endParaRPr lang="zh-CN" altLang="en-US" sz="2400" b="1" dirty="0">
              <a:latin typeface="Times New Roman" panose="02020603050405020304" pitchFamily="18" charset="0"/>
            </a:endParaRPr>
          </a:p>
        </p:txBody>
      </p:sp>
      <p:graphicFrame>
        <p:nvGraphicFramePr>
          <p:cNvPr id="37891" name="Object 14"/>
          <p:cNvGraphicFramePr>
            <a:graphicFrameLocks noChangeAspect="1"/>
          </p:cNvGraphicFramePr>
          <p:nvPr/>
        </p:nvGraphicFramePr>
        <p:xfrm>
          <a:off x="0" y="1600200"/>
          <a:ext cx="9144000" cy="3130550"/>
        </p:xfrm>
        <a:graphic>
          <a:graphicData uri="http://schemas.openxmlformats.org/presentationml/2006/ole">
            <mc:AlternateContent xmlns:mc="http://schemas.openxmlformats.org/markup-compatibility/2006">
              <mc:Choice xmlns:v="urn:schemas-microsoft-com:vml" Requires="v">
                <p:oleObj spid="_x0000_s3087" name="" r:id="rId1" imgW="5010150" imgH="1714500" progId="Paint.Picture">
                  <p:embed/>
                </p:oleObj>
              </mc:Choice>
              <mc:Fallback>
                <p:oleObj name="" r:id="rId1" imgW="5010150" imgH="1714500" progId="Paint.Picture">
                  <p:embed/>
                  <p:pic>
                    <p:nvPicPr>
                      <p:cNvPr id="0" name="图片 3086"/>
                      <p:cNvPicPr/>
                      <p:nvPr/>
                    </p:nvPicPr>
                    <p:blipFill>
                      <a:blip r:embed="rId2"/>
                      <a:stretch>
                        <a:fillRect/>
                      </a:stretch>
                    </p:blipFill>
                    <p:spPr>
                      <a:xfrm>
                        <a:off x="0" y="1600200"/>
                        <a:ext cx="9144000" cy="3130550"/>
                      </a:xfrm>
                      <a:prstGeom prst="rect">
                        <a:avLst/>
                      </a:prstGeom>
                      <a:noFill/>
                      <a:ln w="38100">
                        <a:noFill/>
                        <a:miter/>
                      </a:ln>
                    </p:spPr>
                  </p:pic>
                </p:oleObj>
              </mc:Fallback>
            </mc:AlternateContent>
          </a:graphicData>
        </a:graphic>
      </p:graphicFrame>
      <p:sp>
        <p:nvSpPr>
          <p:cNvPr id="132111" name="AutoShape 15"/>
          <p:cNvSpPr/>
          <p:nvPr/>
        </p:nvSpPr>
        <p:spPr>
          <a:xfrm>
            <a:off x="1905000" y="990600"/>
            <a:ext cx="1676400" cy="609600"/>
          </a:xfrm>
          <a:prstGeom prst="wedgeRectCallout">
            <a:avLst>
              <a:gd name="adj1" fmla="val -149148"/>
              <a:gd name="adj2" fmla="val 334898"/>
            </a:avLst>
          </a:prstGeom>
          <a:solidFill>
            <a:srgbClr val="FFCC66"/>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sz="2400" b="1" dirty="0">
                <a:latin typeface="Times New Roman" panose="02020603050405020304" pitchFamily="18" charset="0"/>
              </a:rPr>
              <a:t>一个输入</a:t>
            </a:r>
            <a:endParaRPr lang="zh-CN" altLang="en-US" sz="2400" b="1" dirty="0">
              <a:latin typeface="Times New Roman" panose="02020603050405020304" pitchFamily="18" charset="0"/>
            </a:endParaRPr>
          </a:p>
        </p:txBody>
      </p:sp>
      <p:grpSp>
        <p:nvGrpSpPr>
          <p:cNvPr id="132114" name="Group 18"/>
          <p:cNvGrpSpPr/>
          <p:nvPr/>
        </p:nvGrpSpPr>
        <p:grpSpPr>
          <a:xfrm>
            <a:off x="6019800" y="381000"/>
            <a:ext cx="2743200" cy="1905000"/>
            <a:chOff x="3792" y="240"/>
            <a:chExt cx="1728" cy="1200"/>
          </a:xfrm>
        </p:grpSpPr>
        <p:sp>
          <p:nvSpPr>
            <p:cNvPr id="37897" name="AutoShape 16"/>
            <p:cNvSpPr/>
            <p:nvPr/>
          </p:nvSpPr>
          <p:spPr>
            <a:xfrm>
              <a:off x="3792" y="240"/>
              <a:ext cx="1728" cy="528"/>
            </a:xfrm>
            <a:prstGeom prst="wedgeRectCallout">
              <a:avLst>
                <a:gd name="adj1" fmla="val 28995"/>
                <a:gd name="adj2" fmla="val 185037"/>
              </a:avLst>
            </a:prstGeom>
            <a:solidFill>
              <a:srgbClr val="FFCC66"/>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sz="2400" b="1" dirty="0">
                  <a:latin typeface="Times New Roman" panose="02020603050405020304" pitchFamily="18" charset="0"/>
                </a:rPr>
                <a:t>四个乘积项且通过</a:t>
              </a:r>
              <a:endParaRPr lang="zh-CN" altLang="en-US" sz="2400" b="1" dirty="0">
                <a:latin typeface="Times New Roman" panose="02020603050405020304" pitchFamily="18" charset="0"/>
              </a:endParaRPr>
            </a:p>
            <a:p>
              <a:pPr algn="ctr" eaLnBrk="1" hangingPunct="1"/>
              <a:r>
                <a:rPr lang="zh-CN" altLang="en-US" sz="2400" b="1" dirty="0">
                  <a:latin typeface="Times New Roman" panose="02020603050405020304" pitchFamily="18" charset="0"/>
                </a:rPr>
                <a:t>或非门低电平输出</a:t>
              </a:r>
              <a:endParaRPr lang="zh-CN" altLang="en-US" sz="2400" b="1" dirty="0">
                <a:latin typeface="Times New Roman" panose="02020603050405020304" pitchFamily="18" charset="0"/>
              </a:endParaRPr>
            </a:p>
          </p:txBody>
        </p:sp>
        <p:sp>
          <p:nvSpPr>
            <p:cNvPr id="37898" name="Line 17"/>
            <p:cNvSpPr/>
            <p:nvPr/>
          </p:nvSpPr>
          <p:spPr>
            <a:xfrm>
              <a:off x="4224" y="768"/>
              <a:ext cx="0" cy="672"/>
            </a:xfrm>
            <a:prstGeom prst="line">
              <a:avLst/>
            </a:prstGeom>
            <a:ln w="76200" cap="flat" cmpd="sng">
              <a:solidFill>
                <a:srgbClr val="FFCC66"/>
              </a:solidFill>
              <a:prstDash val="solid"/>
              <a:headEnd type="none" w="med" len="med"/>
              <a:tailEnd type="triangle" w="med" len="med"/>
            </a:ln>
          </p:spPr>
        </p:sp>
      </p:grpSp>
      <p:sp>
        <p:nvSpPr>
          <p:cNvPr id="132115" name="AutoShape 19"/>
          <p:cNvSpPr/>
          <p:nvPr/>
        </p:nvSpPr>
        <p:spPr>
          <a:xfrm>
            <a:off x="1600200" y="4724400"/>
            <a:ext cx="4800600" cy="1828800"/>
          </a:xfrm>
          <a:prstGeom prst="wedgeRectCallout">
            <a:avLst>
              <a:gd name="adj1" fmla="val 75694"/>
              <a:gd name="adj2" fmla="val -164583"/>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2400" b="1" dirty="0">
                <a:latin typeface="Times New Roman" panose="02020603050405020304" pitchFamily="18" charset="0"/>
              </a:rPr>
              <a:t>      </a:t>
            </a:r>
            <a:r>
              <a:rPr lang="zh-CN" altLang="en-US" sz="2400" b="1" dirty="0">
                <a:latin typeface="Times New Roman" panose="02020603050405020304" pitchFamily="18" charset="0"/>
              </a:rPr>
              <a:t>如输出采用或门，为高电平有效</a:t>
            </a:r>
            <a:endParaRPr lang="zh-CN" altLang="en-US" sz="2400" b="1" dirty="0">
              <a:latin typeface="Times New Roman" panose="02020603050405020304" pitchFamily="18" charset="0"/>
            </a:endParaRPr>
          </a:p>
          <a:p>
            <a:pPr eaLnBrk="1" hangingPunct="1"/>
            <a:r>
              <a:rPr lang="en-US" altLang="zh-CN" sz="2400" b="1" dirty="0">
                <a:latin typeface="Times New Roman" panose="02020603050405020304" pitchFamily="18" charset="0"/>
              </a:rPr>
              <a:t>PAL</a:t>
            </a:r>
            <a:r>
              <a:rPr lang="zh-CN" altLang="en-US" sz="2400" b="1" dirty="0">
                <a:latin typeface="Times New Roman" panose="02020603050405020304" pitchFamily="18" charset="0"/>
              </a:rPr>
              <a:t>器件。</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     若采用互补输出的或门，为互补</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输出器件。</a:t>
            </a:r>
            <a:endParaRPr lang="zh-CN" altLang="en-US" sz="2400" b="1" dirty="0">
              <a:latin typeface="Times New Roman" panose="02020603050405020304" pitchFamily="18" charset="0"/>
            </a:endParaRPr>
          </a:p>
          <a:p>
            <a:pPr eaLnBrk="1" hangingPunct="1"/>
            <a:endParaRPr lang="en-US" altLang="zh-CN" b="1" dirty="0">
              <a:latin typeface="Times New Roman" panose="02020603050405020304" pitchFamily="18" charset="0"/>
            </a:endParaRPr>
          </a:p>
        </p:txBody>
      </p:sp>
      <p:sp>
        <p:nvSpPr>
          <p:cNvPr id="132116" name="AutoShape 20"/>
          <p:cNvSpPr/>
          <p:nvPr/>
        </p:nvSpPr>
        <p:spPr>
          <a:xfrm>
            <a:off x="3886200" y="533400"/>
            <a:ext cx="1600200" cy="609600"/>
          </a:xfrm>
          <a:prstGeom prst="wedgeRectCallout">
            <a:avLst>
              <a:gd name="adj1" fmla="val -69940"/>
              <a:gd name="adj2" fmla="val 157551"/>
            </a:avLst>
          </a:prstGeom>
          <a:solidFill>
            <a:srgbClr val="FFCC66"/>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sz="2400" b="1" dirty="0">
                <a:latin typeface="Times New Roman" panose="02020603050405020304" pitchFamily="18" charset="0"/>
              </a:rPr>
              <a:t>输入信号</a:t>
            </a:r>
            <a:endParaRPr lang="zh-CN" altLang="en-US" b="1" dirty="0">
              <a:latin typeface="Times New Roman" panose="02020603050405020304" pitchFamily="18" charset="0"/>
            </a:endParaRPr>
          </a:p>
        </p:txBody>
      </p:sp>
      <p:sp>
        <p:nvSpPr>
          <p:cNvPr id="132117" name="AutoShape 21"/>
          <p:cNvSpPr/>
          <p:nvPr/>
        </p:nvSpPr>
        <p:spPr>
          <a:xfrm>
            <a:off x="457200" y="1143000"/>
            <a:ext cx="1752600" cy="609600"/>
          </a:xfrm>
          <a:prstGeom prst="wedgeRectCallout">
            <a:avLst>
              <a:gd name="adj1" fmla="val -41306"/>
              <a:gd name="adj2" fmla="val 159898"/>
            </a:avLst>
          </a:prstGeom>
          <a:solidFill>
            <a:srgbClr val="FFCC66"/>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sz="2400" b="1" dirty="0">
                <a:latin typeface="Times New Roman" panose="02020603050405020304" pitchFamily="18" charset="0"/>
              </a:rPr>
              <a:t>四个整积项</a:t>
            </a:r>
            <a:endParaRPr lang="zh-CN" altLang="en-US"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32116"/>
                                        </p:tgtEl>
                                        <p:attrNameLst>
                                          <p:attrName>style.visibility</p:attrName>
                                        </p:attrNameLst>
                                      </p:cBhvr>
                                      <p:to>
                                        <p:strVal val="visible"/>
                                      </p:to>
                                    </p:set>
                                    <p:anim calcmode="lin" valueType="num">
                                      <p:cBhvr additive="base">
                                        <p:cTn id="7" dur="500" fill="hold"/>
                                        <p:tgtEl>
                                          <p:spTgt spid="132116"/>
                                        </p:tgtEl>
                                        <p:attrNameLst>
                                          <p:attrName>ppt_x</p:attrName>
                                        </p:attrNameLst>
                                      </p:cBhvr>
                                      <p:tavLst>
                                        <p:tav tm="0">
                                          <p:val>
                                            <p:strVal val="#ppt_x"/>
                                          </p:val>
                                        </p:tav>
                                        <p:tav tm="100000">
                                          <p:val>
                                            <p:strVal val="#ppt_x"/>
                                          </p:val>
                                        </p:tav>
                                      </p:tavLst>
                                    </p:anim>
                                    <p:anim calcmode="lin" valueType="num">
                                      <p:cBhvr additive="base">
                                        <p:cTn id="8" dur="500" fill="hold"/>
                                        <p:tgtEl>
                                          <p:spTgt spid="132116"/>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132116"/>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8" presetClass="entr" presetSubtype="12" fill="hold" grpId="0" nodeType="clickEffect">
                                  <p:stCondLst>
                                    <p:cond delay="0"/>
                                  </p:stCondLst>
                                  <p:childTnLst>
                                    <p:set>
                                      <p:cBhvr>
                                        <p:cTn id="12" dur="1" fill="hold">
                                          <p:stCondLst>
                                            <p:cond delay="0"/>
                                          </p:stCondLst>
                                        </p:cTn>
                                        <p:tgtEl>
                                          <p:spTgt spid="132111"/>
                                        </p:tgtEl>
                                        <p:attrNameLst>
                                          <p:attrName>style.visibility</p:attrName>
                                        </p:attrNameLst>
                                      </p:cBhvr>
                                      <p:to>
                                        <p:strVal val="visible"/>
                                      </p:to>
                                    </p:set>
                                    <p:animEffect transition="in" filter="strips(downLeft)">
                                      <p:cBhvr>
                                        <p:cTn id="13" dur="500"/>
                                        <p:tgtEl>
                                          <p:spTgt spid="132111"/>
                                        </p:tgtEl>
                                      </p:cBhvr>
                                    </p:animEffect>
                                  </p:childTnLst>
                                  <p:subTnLst>
                                    <p:set>
                                      <p:cBhvr override="childStyle">
                                        <p:cTn dur="1" fill="hold" display="0" masterRel="nextClick" afterEffect="1"/>
                                        <p:tgtEl>
                                          <p:spTgt spid="132111"/>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2" presetClass="entr" presetSubtype="1" fill="hold" grpId="0" nodeType="clickEffect">
                                  <p:stCondLst>
                                    <p:cond delay="0"/>
                                  </p:stCondLst>
                                  <p:childTnLst>
                                    <p:set>
                                      <p:cBhvr>
                                        <p:cTn id="17" dur="1" fill="hold">
                                          <p:stCondLst>
                                            <p:cond delay="0"/>
                                          </p:stCondLst>
                                        </p:cTn>
                                        <p:tgtEl>
                                          <p:spTgt spid="132117"/>
                                        </p:tgtEl>
                                        <p:attrNameLst>
                                          <p:attrName>style.visibility</p:attrName>
                                        </p:attrNameLst>
                                      </p:cBhvr>
                                      <p:to>
                                        <p:strVal val="visible"/>
                                      </p:to>
                                    </p:set>
                                    <p:anim calcmode="lin" valueType="num">
                                      <p:cBhvr additive="base">
                                        <p:cTn id="18" dur="500" fill="hold"/>
                                        <p:tgtEl>
                                          <p:spTgt spid="132117"/>
                                        </p:tgtEl>
                                        <p:attrNameLst>
                                          <p:attrName>ppt_x</p:attrName>
                                        </p:attrNameLst>
                                      </p:cBhvr>
                                      <p:tavLst>
                                        <p:tav tm="0">
                                          <p:val>
                                            <p:strVal val="#ppt_x"/>
                                          </p:val>
                                        </p:tav>
                                        <p:tav tm="100000">
                                          <p:val>
                                            <p:strVal val="#ppt_x"/>
                                          </p:val>
                                        </p:tav>
                                      </p:tavLst>
                                    </p:anim>
                                    <p:anim calcmode="lin" valueType="num">
                                      <p:cBhvr additive="base">
                                        <p:cTn id="19" dur="500" fill="hold"/>
                                        <p:tgtEl>
                                          <p:spTgt spid="132117"/>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132117"/>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2" presetClass="entr" presetSubtype="1" fill="hold" nodeType="clickEffect">
                                  <p:stCondLst>
                                    <p:cond delay="0"/>
                                  </p:stCondLst>
                                  <p:childTnLst>
                                    <p:set>
                                      <p:cBhvr>
                                        <p:cTn id="23" dur="1" fill="hold">
                                          <p:stCondLst>
                                            <p:cond delay="0"/>
                                          </p:stCondLst>
                                        </p:cTn>
                                        <p:tgtEl>
                                          <p:spTgt spid="132114"/>
                                        </p:tgtEl>
                                        <p:attrNameLst>
                                          <p:attrName>style.visibility</p:attrName>
                                        </p:attrNameLst>
                                      </p:cBhvr>
                                      <p:to>
                                        <p:strVal val="visible"/>
                                      </p:to>
                                    </p:set>
                                    <p:anim calcmode="lin" valueType="num">
                                      <p:cBhvr additive="base">
                                        <p:cTn id="24" dur="500" fill="hold"/>
                                        <p:tgtEl>
                                          <p:spTgt spid="132114"/>
                                        </p:tgtEl>
                                        <p:attrNameLst>
                                          <p:attrName>ppt_x</p:attrName>
                                        </p:attrNameLst>
                                      </p:cBhvr>
                                      <p:tavLst>
                                        <p:tav tm="0">
                                          <p:val>
                                            <p:strVal val="#ppt_x"/>
                                          </p:val>
                                        </p:tav>
                                        <p:tav tm="100000">
                                          <p:val>
                                            <p:strVal val="#ppt_x"/>
                                          </p:val>
                                        </p:tav>
                                      </p:tavLst>
                                    </p:anim>
                                    <p:anim calcmode="lin" valueType="num">
                                      <p:cBhvr additive="base">
                                        <p:cTn id="25" dur="500" fill="hold"/>
                                        <p:tgtEl>
                                          <p:spTgt spid="132114"/>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132114"/>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18" presetClass="entr" presetSubtype="3" fill="hold" grpId="0" nodeType="clickEffect">
                                  <p:stCondLst>
                                    <p:cond delay="0"/>
                                  </p:stCondLst>
                                  <p:childTnLst>
                                    <p:set>
                                      <p:cBhvr>
                                        <p:cTn id="29" dur="1" fill="hold">
                                          <p:stCondLst>
                                            <p:cond delay="0"/>
                                          </p:stCondLst>
                                        </p:cTn>
                                        <p:tgtEl>
                                          <p:spTgt spid="132115"/>
                                        </p:tgtEl>
                                        <p:attrNameLst>
                                          <p:attrName>style.visibility</p:attrName>
                                        </p:attrNameLst>
                                      </p:cBhvr>
                                      <p:to>
                                        <p:strVal val="visible"/>
                                      </p:to>
                                    </p:set>
                                    <p:animEffect transition="in" filter="strips(upRight)">
                                      <p:cBhvr>
                                        <p:cTn id="30" dur="500"/>
                                        <p:tgtEl>
                                          <p:spTgt spid="132115"/>
                                        </p:tgtEl>
                                      </p:cBhvr>
                                    </p:animEffect>
                                  </p:childTnLst>
                                  <p:subTnLst>
                                    <p:set>
                                      <p:cBhvr override="childStyle">
                                        <p:cTn dur="1" fill="hold" display="0" masterRel="nextClick" afterEffect="1"/>
                                        <p:tgtEl>
                                          <p:spTgt spid="13211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11" grpId="0" animBg="1"/>
      <p:bldP spid="132115" grpId="0" animBg="1"/>
      <p:bldP spid="132116" grpId="0" animBg="1"/>
      <p:bldP spid="1321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Text Box 29"/>
          <p:cNvSpPr txBox="1"/>
          <p:nvPr/>
        </p:nvSpPr>
        <p:spPr>
          <a:xfrm>
            <a:off x="76200" y="76200"/>
            <a:ext cx="5638800" cy="457200"/>
          </a:xfrm>
          <a:prstGeom prst="rect">
            <a:avLst/>
          </a:prstGeom>
          <a:noFill/>
          <a:ln w="9525">
            <a:noFill/>
          </a:ln>
        </p:spPr>
        <p:txBody>
          <a:bodyPr>
            <a:spAutoFit/>
          </a:bodyPr>
          <a:p>
            <a:pPr algn="just" eaLnBrk="1" hangingPunct="1"/>
            <a:r>
              <a:rPr lang="en-US" altLang="zh-CN" sz="2400" b="1" dirty="0">
                <a:latin typeface="Times New Roman" panose="02020603050405020304" pitchFamily="18" charset="0"/>
              </a:rPr>
              <a:t>2. </a:t>
            </a:r>
            <a:r>
              <a:rPr lang="zh-CN" altLang="en-US" sz="2400" b="1" dirty="0">
                <a:latin typeface="Times New Roman" panose="02020603050405020304" pitchFamily="18" charset="0"/>
              </a:rPr>
              <a:t>可编程</a:t>
            </a:r>
            <a:r>
              <a:rPr lang="en-US" altLang="zh-CN" sz="2400" b="1" dirty="0">
                <a:latin typeface="Times New Roman" panose="02020603050405020304" pitchFamily="18" charset="0"/>
              </a:rPr>
              <a:t>I/O</a:t>
            </a:r>
            <a:r>
              <a:rPr lang="zh-CN" altLang="en-US" sz="2400" b="1" dirty="0">
                <a:latin typeface="Times New Roman" panose="02020603050405020304" pitchFamily="18" charset="0"/>
              </a:rPr>
              <a:t>输出结构</a:t>
            </a:r>
            <a:endParaRPr lang="zh-CN" altLang="en-US" sz="2400" b="1" dirty="0">
              <a:latin typeface="Times New Roman" panose="02020603050405020304" pitchFamily="18" charset="0"/>
            </a:endParaRPr>
          </a:p>
        </p:txBody>
      </p:sp>
      <p:sp>
        <p:nvSpPr>
          <p:cNvPr id="133150" name="Text Box 30"/>
          <p:cNvSpPr txBox="1"/>
          <p:nvPr/>
        </p:nvSpPr>
        <p:spPr>
          <a:xfrm>
            <a:off x="381000" y="685800"/>
            <a:ext cx="6934200" cy="457200"/>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可编程</a:t>
            </a:r>
            <a:r>
              <a:rPr lang="en-US" altLang="zh-CN" sz="2400" b="1" dirty="0">
                <a:latin typeface="Times New Roman" panose="02020603050405020304" pitchFamily="18" charset="0"/>
              </a:rPr>
              <a:t>I/O</a:t>
            </a:r>
            <a:r>
              <a:rPr lang="zh-CN" altLang="en-US" sz="2400" b="1" dirty="0">
                <a:latin typeface="Times New Roman" panose="02020603050405020304" pitchFamily="18" charset="0"/>
              </a:rPr>
              <a:t>结构如下图所示。</a:t>
            </a:r>
            <a:endParaRPr lang="zh-CN" altLang="en-US" sz="2400" b="1" dirty="0">
              <a:latin typeface="Times New Roman" panose="02020603050405020304" pitchFamily="18" charset="0"/>
            </a:endParaRPr>
          </a:p>
        </p:txBody>
      </p:sp>
      <p:graphicFrame>
        <p:nvGraphicFramePr>
          <p:cNvPr id="133151" name="Object 31"/>
          <p:cNvGraphicFramePr>
            <a:graphicFrameLocks noChangeAspect="1"/>
          </p:cNvGraphicFramePr>
          <p:nvPr/>
        </p:nvGraphicFramePr>
        <p:xfrm>
          <a:off x="228600" y="1219200"/>
          <a:ext cx="8534400" cy="2876550"/>
        </p:xfrm>
        <a:graphic>
          <a:graphicData uri="http://schemas.openxmlformats.org/presentationml/2006/ole">
            <mc:AlternateContent xmlns:mc="http://schemas.openxmlformats.org/markup-compatibility/2006">
              <mc:Choice xmlns:v="urn:schemas-microsoft-com:vml" Requires="v">
                <p:oleObj spid="_x0000_s3090" name="" r:id="rId1" imgW="5200650" imgH="1752600" progId="Paint.Picture">
                  <p:embed/>
                </p:oleObj>
              </mc:Choice>
              <mc:Fallback>
                <p:oleObj name="" r:id="rId1" imgW="5200650" imgH="1752600" progId="Paint.Picture">
                  <p:embed/>
                  <p:pic>
                    <p:nvPicPr>
                      <p:cNvPr id="0" name="图片 3089"/>
                      <p:cNvPicPr/>
                      <p:nvPr/>
                    </p:nvPicPr>
                    <p:blipFill>
                      <a:blip r:embed="rId2"/>
                      <a:stretch>
                        <a:fillRect/>
                      </a:stretch>
                    </p:blipFill>
                    <p:spPr>
                      <a:xfrm>
                        <a:off x="228600" y="1219200"/>
                        <a:ext cx="8534400" cy="2876550"/>
                      </a:xfrm>
                      <a:prstGeom prst="rect">
                        <a:avLst/>
                      </a:prstGeom>
                      <a:noFill/>
                      <a:ln w="38100">
                        <a:noFill/>
                        <a:miter/>
                      </a:ln>
                    </p:spPr>
                  </p:pic>
                </p:oleObj>
              </mc:Fallback>
            </mc:AlternateContent>
          </a:graphicData>
        </a:graphic>
      </p:graphicFrame>
      <p:grpSp>
        <p:nvGrpSpPr>
          <p:cNvPr id="133154" name="Group 34"/>
          <p:cNvGrpSpPr/>
          <p:nvPr/>
        </p:nvGrpSpPr>
        <p:grpSpPr>
          <a:xfrm>
            <a:off x="6629400" y="0"/>
            <a:ext cx="2133600" cy="2895600"/>
            <a:chOff x="4176" y="144"/>
            <a:chExt cx="1344" cy="1824"/>
          </a:xfrm>
        </p:grpSpPr>
        <p:sp>
          <p:nvSpPr>
            <p:cNvPr id="38925" name="AutoShape 32"/>
            <p:cNvSpPr/>
            <p:nvPr/>
          </p:nvSpPr>
          <p:spPr>
            <a:xfrm>
              <a:off x="4464" y="144"/>
              <a:ext cx="1056" cy="432"/>
            </a:xfrm>
            <a:prstGeom prst="wedgeRectCallout">
              <a:avLst>
                <a:gd name="adj1" fmla="val -54259"/>
                <a:gd name="adj2" fmla="val 196759"/>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2400" b="1" dirty="0">
                  <a:latin typeface="Times New Roman" panose="02020603050405020304" pitchFamily="18" charset="0"/>
                </a:rPr>
                <a:t>8</a:t>
              </a:r>
              <a:r>
                <a:rPr lang="zh-CN" altLang="en-US" sz="2400" b="1" dirty="0">
                  <a:latin typeface="Times New Roman" panose="02020603050405020304" pitchFamily="18" charset="0"/>
                </a:rPr>
                <a:t>个乘积项</a:t>
              </a:r>
              <a:endParaRPr lang="zh-CN" altLang="en-US" sz="2400" b="1" dirty="0">
                <a:latin typeface="Times New Roman" panose="02020603050405020304" pitchFamily="18" charset="0"/>
              </a:endParaRPr>
            </a:p>
          </p:txBody>
        </p:sp>
        <p:sp>
          <p:nvSpPr>
            <p:cNvPr id="38926" name="Rectangle 33"/>
            <p:cNvSpPr/>
            <p:nvPr/>
          </p:nvSpPr>
          <p:spPr>
            <a:xfrm>
              <a:off x="4176" y="1200"/>
              <a:ext cx="240" cy="768"/>
            </a:xfrm>
            <a:prstGeom prst="rect">
              <a:avLst/>
            </a:prstGeom>
            <a:noFill/>
            <a:ln w="5715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grpSp>
        <p:nvGrpSpPr>
          <p:cNvPr id="133157" name="Group 37"/>
          <p:cNvGrpSpPr/>
          <p:nvPr/>
        </p:nvGrpSpPr>
        <p:grpSpPr>
          <a:xfrm>
            <a:off x="1752600" y="0"/>
            <a:ext cx="7086600" cy="3352800"/>
            <a:chOff x="1104" y="144"/>
            <a:chExt cx="4464" cy="2112"/>
          </a:xfrm>
        </p:grpSpPr>
        <p:sp>
          <p:nvSpPr>
            <p:cNvPr id="38923" name="AutoShape 35"/>
            <p:cNvSpPr/>
            <p:nvPr/>
          </p:nvSpPr>
          <p:spPr>
            <a:xfrm>
              <a:off x="1584" y="144"/>
              <a:ext cx="3984" cy="432"/>
            </a:xfrm>
            <a:prstGeom prst="wedgeRectCallout">
              <a:avLst>
                <a:gd name="adj1" fmla="val -55875"/>
                <a:gd name="adj2" fmla="val 375463"/>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两个输入，一个来自外部</a:t>
              </a:r>
              <a:r>
                <a:rPr lang="en-US" altLang="zh-CN" sz="2400" b="1" dirty="0">
                  <a:latin typeface="Times New Roman" panose="02020603050405020304" pitchFamily="18" charset="0"/>
                </a:rPr>
                <a:t>I</a:t>
              </a:r>
              <a:r>
                <a:rPr lang="zh-CN" altLang="en-US" sz="2400" b="1" dirty="0">
                  <a:latin typeface="Times New Roman" panose="02020603050405020304" pitchFamily="18" charset="0"/>
                </a:rPr>
                <a:t>，另一来自反馈</a:t>
              </a:r>
              <a:r>
                <a:rPr lang="en-US" altLang="zh-CN" sz="2400" b="1" dirty="0">
                  <a:latin typeface="Times New Roman" panose="02020603050405020304" pitchFamily="18" charset="0"/>
                </a:rPr>
                <a:t>I/O</a:t>
              </a:r>
              <a:endParaRPr lang="en-US" altLang="zh-CN" sz="2400" b="1" dirty="0">
                <a:latin typeface="Times New Roman" panose="02020603050405020304" pitchFamily="18" charset="0"/>
              </a:endParaRPr>
            </a:p>
          </p:txBody>
        </p:sp>
        <p:sp>
          <p:nvSpPr>
            <p:cNvPr id="38924" name="Rectangle 36"/>
            <p:cNvSpPr/>
            <p:nvPr/>
          </p:nvSpPr>
          <p:spPr>
            <a:xfrm>
              <a:off x="1104" y="1968"/>
              <a:ext cx="432" cy="288"/>
            </a:xfrm>
            <a:prstGeom prst="rect">
              <a:avLst/>
            </a:prstGeom>
            <a:noFill/>
            <a:ln w="5715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grpSp>
        <p:nvGrpSpPr>
          <p:cNvPr id="133160" name="Group 40"/>
          <p:cNvGrpSpPr/>
          <p:nvPr/>
        </p:nvGrpSpPr>
        <p:grpSpPr>
          <a:xfrm>
            <a:off x="3276600" y="1752600"/>
            <a:ext cx="5486400" cy="3581400"/>
            <a:chOff x="2064" y="1200"/>
            <a:chExt cx="3456" cy="2256"/>
          </a:xfrm>
        </p:grpSpPr>
        <p:sp>
          <p:nvSpPr>
            <p:cNvPr id="38921" name="AutoShape 38"/>
            <p:cNvSpPr/>
            <p:nvPr/>
          </p:nvSpPr>
          <p:spPr>
            <a:xfrm>
              <a:off x="2064" y="2784"/>
              <a:ext cx="3408" cy="672"/>
            </a:xfrm>
            <a:prstGeom prst="wedgeRectCallout">
              <a:avLst>
                <a:gd name="adj1" fmla="val 42343"/>
                <a:gd name="adj2" fmla="val -208630"/>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当最上面的乘积项为高电平时，三态</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门开通，</a:t>
              </a:r>
              <a:r>
                <a:rPr lang="en-US" altLang="zh-CN" sz="2400" b="1" dirty="0">
                  <a:latin typeface="Times New Roman" panose="02020603050405020304" pitchFamily="18" charset="0"/>
                </a:rPr>
                <a:t>I/O</a:t>
              </a:r>
              <a:r>
                <a:rPr lang="zh-CN" altLang="en-US" sz="2400" b="1" dirty="0">
                  <a:latin typeface="Times New Roman" panose="02020603050405020304" pitchFamily="18" charset="0"/>
                </a:rPr>
                <a:t>可作为输出或反馈；乘积</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项为低电平时，三态门关断，是输入。</a:t>
              </a:r>
              <a:endParaRPr lang="zh-CN" altLang="en-US" sz="2400" b="1" dirty="0">
                <a:latin typeface="Times New Roman" panose="02020603050405020304" pitchFamily="18" charset="0"/>
              </a:endParaRPr>
            </a:p>
          </p:txBody>
        </p:sp>
        <p:sp>
          <p:nvSpPr>
            <p:cNvPr id="38922" name="Rectangle 39"/>
            <p:cNvSpPr/>
            <p:nvPr/>
          </p:nvSpPr>
          <p:spPr>
            <a:xfrm>
              <a:off x="4992" y="1200"/>
              <a:ext cx="528" cy="528"/>
            </a:xfrm>
            <a:prstGeom prst="rect">
              <a:avLst/>
            </a:prstGeom>
            <a:noFill/>
            <a:ln w="57150" cap="flat" cmpd="sng">
              <a:solidFill>
                <a:srgbClr val="FFCC66"/>
              </a:solidFill>
              <a:prstDash val="solid"/>
              <a:miter/>
              <a:headEnd type="none" w="med" len="med"/>
              <a:tailEnd type="none" w="med" len="med"/>
            </a:ln>
          </p:spPr>
          <p:txBody>
            <a:bodyPr wrap="none" anchor="ctr" anchorCtr="0"/>
            <a:p>
              <a:pPr eaLnBrk="1" hangingPunct="1"/>
              <a:endParaRPr lang="zh-CN" altLang="zh-CN" sz="2400" b="1" dirty="0">
                <a:latin typeface="Times New Roman" panose="02020603050405020304" pitchFamily="18" charset="0"/>
              </a:endParaRPr>
            </a:p>
          </p:txBody>
        </p:sp>
      </p:grpSp>
      <p:pic>
        <p:nvPicPr>
          <p:cNvPr id="38920" name="图片 1"/>
          <p:cNvPicPr>
            <a:picLocks noChangeAspect="1"/>
          </p:cNvPicPr>
          <p:nvPr/>
        </p:nvPicPr>
        <p:blipFill>
          <a:blip r:embed="rId3"/>
          <a:stretch>
            <a:fillRect/>
          </a:stretch>
        </p:blipFill>
        <p:spPr>
          <a:xfrm>
            <a:off x="274638" y="5359400"/>
            <a:ext cx="4327525" cy="1497013"/>
          </a:xfrm>
          <a:prstGeom prst="rect">
            <a:avLst/>
          </a:prstGeom>
          <a:noFill/>
          <a:ln w="9525">
            <a:noFill/>
          </a:ln>
        </p:spPr>
      </p:pic>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3150"/>
                                        </p:tgtEl>
                                        <p:attrNameLst>
                                          <p:attrName>style.visibility</p:attrName>
                                        </p:attrNameLst>
                                      </p:cBhvr>
                                      <p:to>
                                        <p:strVal val="visible"/>
                                      </p:to>
                                    </p:set>
                                    <p:anim calcmode="lin" valueType="num">
                                      <p:cBhvr additive="base">
                                        <p:cTn id="7" dur="500" fill="hold"/>
                                        <p:tgtEl>
                                          <p:spTgt spid="133150"/>
                                        </p:tgtEl>
                                        <p:attrNameLst>
                                          <p:attrName>ppt_x</p:attrName>
                                        </p:attrNameLst>
                                      </p:cBhvr>
                                      <p:tavLst>
                                        <p:tav tm="0">
                                          <p:val>
                                            <p:strVal val="1+#ppt_w/2"/>
                                          </p:val>
                                        </p:tav>
                                        <p:tav tm="100000">
                                          <p:val>
                                            <p:strVal val="#ppt_x"/>
                                          </p:val>
                                        </p:tav>
                                      </p:tavLst>
                                    </p:anim>
                                    <p:anim calcmode="lin" valueType="num">
                                      <p:cBhvr additive="base">
                                        <p:cTn id="8" dur="500" fill="hold"/>
                                        <p:tgtEl>
                                          <p:spTgt spid="13315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33151"/>
                                        </p:tgtEl>
                                        <p:attrNameLst>
                                          <p:attrName>style.visibility</p:attrName>
                                        </p:attrNameLst>
                                      </p:cBhvr>
                                      <p:to>
                                        <p:strVal val="visible"/>
                                      </p:to>
                                    </p:set>
                                    <p:anim calcmode="lin" valueType="num">
                                      <p:cBhvr additive="base">
                                        <p:cTn id="13" dur="500" fill="hold"/>
                                        <p:tgtEl>
                                          <p:spTgt spid="133151"/>
                                        </p:tgtEl>
                                        <p:attrNameLst>
                                          <p:attrName>ppt_x</p:attrName>
                                        </p:attrNameLst>
                                      </p:cBhvr>
                                      <p:tavLst>
                                        <p:tav tm="0">
                                          <p:val>
                                            <p:strVal val="1+#ppt_w/2"/>
                                          </p:val>
                                        </p:tav>
                                        <p:tav tm="100000">
                                          <p:val>
                                            <p:strVal val="#ppt_x"/>
                                          </p:val>
                                        </p:tav>
                                      </p:tavLst>
                                    </p:anim>
                                    <p:anim calcmode="lin" valueType="num">
                                      <p:cBhvr additive="base">
                                        <p:cTn id="14" dur="500" fill="hold"/>
                                        <p:tgtEl>
                                          <p:spTgt spid="13315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3" fill="hold" nodeType="clickEffect">
                                  <p:stCondLst>
                                    <p:cond delay="0"/>
                                  </p:stCondLst>
                                  <p:childTnLst>
                                    <p:set>
                                      <p:cBhvr>
                                        <p:cTn id="18" dur="1" fill="hold">
                                          <p:stCondLst>
                                            <p:cond delay="0"/>
                                          </p:stCondLst>
                                        </p:cTn>
                                        <p:tgtEl>
                                          <p:spTgt spid="133154"/>
                                        </p:tgtEl>
                                        <p:attrNameLst>
                                          <p:attrName>style.visibility</p:attrName>
                                        </p:attrNameLst>
                                      </p:cBhvr>
                                      <p:to>
                                        <p:strVal val="visible"/>
                                      </p:to>
                                    </p:set>
                                    <p:anim calcmode="lin" valueType="num">
                                      <p:cBhvr additive="base">
                                        <p:cTn id="19" dur="500" fill="hold"/>
                                        <p:tgtEl>
                                          <p:spTgt spid="133154"/>
                                        </p:tgtEl>
                                        <p:attrNameLst>
                                          <p:attrName>ppt_x</p:attrName>
                                        </p:attrNameLst>
                                      </p:cBhvr>
                                      <p:tavLst>
                                        <p:tav tm="0">
                                          <p:val>
                                            <p:strVal val="1+#ppt_w/2"/>
                                          </p:val>
                                        </p:tav>
                                        <p:tav tm="100000">
                                          <p:val>
                                            <p:strVal val="#ppt_x"/>
                                          </p:val>
                                        </p:tav>
                                      </p:tavLst>
                                    </p:anim>
                                    <p:anim calcmode="lin" valueType="num">
                                      <p:cBhvr additive="base">
                                        <p:cTn id="20" dur="500" fill="hold"/>
                                        <p:tgtEl>
                                          <p:spTgt spid="133154"/>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133154"/>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133157"/>
                                        </p:tgtEl>
                                        <p:attrNameLst>
                                          <p:attrName>style.visibility</p:attrName>
                                        </p:attrNameLst>
                                      </p:cBhvr>
                                      <p:to>
                                        <p:strVal val="visible"/>
                                      </p:to>
                                    </p:set>
                                    <p:anim calcmode="lin" valueType="num">
                                      <p:cBhvr additive="base">
                                        <p:cTn id="25" dur="500" fill="hold"/>
                                        <p:tgtEl>
                                          <p:spTgt spid="133157"/>
                                        </p:tgtEl>
                                        <p:attrNameLst>
                                          <p:attrName>ppt_x</p:attrName>
                                        </p:attrNameLst>
                                      </p:cBhvr>
                                      <p:tavLst>
                                        <p:tav tm="0">
                                          <p:val>
                                            <p:strVal val="#ppt_x"/>
                                          </p:val>
                                        </p:tav>
                                        <p:tav tm="100000">
                                          <p:val>
                                            <p:strVal val="#ppt_x"/>
                                          </p:val>
                                        </p:tav>
                                      </p:tavLst>
                                    </p:anim>
                                    <p:anim calcmode="lin" valueType="num">
                                      <p:cBhvr additive="base">
                                        <p:cTn id="26" dur="500" fill="hold"/>
                                        <p:tgtEl>
                                          <p:spTgt spid="133157"/>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133157"/>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8" presetClass="entr" presetSubtype="3" fill="hold" nodeType="clickEffect">
                                  <p:stCondLst>
                                    <p:cond delay="0"/>
                                  </p:stCondLst>
                                  <p:childTnLst>
                                    <p:set>
                                      <p:cBhvr>
                                        <p:cTn id="30" dur="1" fill="hold">
                                          <p:stCondLst>
                                            <p:cond delay="0"/>
                                          </p:stCondLst>
                                        </p:cTn>
                                        <p:tgtEl>
                                          <p:spTgt spid="133160"/>
                                        </p:tgtEl>
                                        <p:attrNameLst>
                                          <p:attrName>style.visibility</p:attrName>
                                        </p:attrNameLst>
                                      </p:cBhvr>
                                      <p:to>
                                        <p:strVal val="visible"/>
                                      </p:to>
                                    </p:set>
                                    <p:animEffect transition="in" filter="strips(upRight)">
                                      <p:cBhvr>
                                        <p:cTn id="31" dur="500"/>
                                        <p:tgtEl>
                                          <p:spTgt spid="133160"/>
                                        </p:tgtEl>
                                      </p:cBhvr>
                                    </p:animEffect>
                                  </p:childTnLst>
                                  <p:subTnLst>
                                    <p:set>
                                      <p:cBhvr override="childStyle">
                                        <p:cTn dur="1" fill="hold" display="0" masterRel="nextClick" afterEffect="1"/>
                                        <p:tgtEl>
                                          <p:spTgt spid="13316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ext Box 9"/>
          <p:cNvSpPr txBox="1"/>
          <p:nvPr/>
        </p:nvSpPr>
        <p:spPr>
          <a:xfrm>
            <a:off x="152400" y="152400"/>
            <a:ext cx="7620000" cy="457200"/>
          </a:xfrm>
          <a:prstGeom prst="rect">
            <a:avLst/>
          </a:prstGeom>
          <a:noFill/>
          <a:ln w="9525">
            <a:noFill/>
          </a:ln>
        </p:spPr>
        <p:txBody>
          <a:bodyPr>
            <a:spAutoFit/>
          </a:bodyPr>
          <a:p>
            <a:pPr algn="just" eaLnBrk="1" hangingPunct="1"/>
            <a:r>
              <a:rPr lang="en-US" altLang="zh-CN" sz="2400" b="1" dirty="0">
                <a:latin typeface="Times New Roman" panose="02020603050405020304" pitchFamily="18" charset="0"/>
              </a:rPr>
              <a:t>3. </a:t>
            </a:r>
            <a:r>
              <a:rPr lang="zh-CN" altLang="en-US" sz="2400" b="1" dirty="0">
                <a:latin typeface="Times New Roman" panose="02020603050405020304" pitchFamily="18" charset="0"/>
              </a:rPr>
              <a:t>寄存器型输出结构：也称作时序结构，如下图所示。</a:t>
            </a:r>
            <a:endParaRPr lang="zh-CN" altLang="en-US" sz="2400" b="1" dirty="0">
              <a:latin typeface="Times New Roman" panose="02020603050405020304" pitchFamily="18" charset="0"/>
            </a:endParaRPr>
          </a:p>
        </p:txBody>
      </p:sp>
      <p:grpSp>
        <p:nvGrpSpPr>
          <p:cNvPr id="135180" name="Group 12"/>
          <p:cNvGrpSpPr/>
          <p:nvPr/>
        </p:nvGrpSpPr>
        <p:grpSpPr>
          <a:xfrm>
            <a:off x="0" y="1447800"/>
            <a:ext cx="8583613" cy="2667000"/>
            <a:chOff x="0" y="912"/>
            <a:chExt cx="5407" cy="1680"/>
          </a:xfrm>
        </p:grpSpPr>
        <p:graphicFrame>
          <p:nvGraphicFramePr>
            <p:cNvPr id="39949" name="Object 10"/>
            <p:cNvGraphicFramePr>
              <a:graphicFrameLocks noChangeAspect="1"/>
            </p:cNvGraphicFramePr>
            <p:nvPr/>
          </p:nvGraphicFramePr>
          <p:xfrm>
            <a:off x="0" y="1104"/>
            <a:ext cx="4704" cy="1305"/>
          </p:xfrm>
          <a:graphic>
            <a:graphicData uri="http://schemas.openxmlformats.org/presentationml/2006/ole">
              <mc:AlternateContent xmlns:mc="http://schemas.openxmlformats.org/markup-compatibility/2006">
                <mc:Choice xmlns:v="urn:schemas-microsoft-com:vml" Requires="v">
                  <p:oleObj spid="_x0000_s3093" name="" r:id="rId1" imgW="5219700" imgH="1447800" progId="Paint.Picture">
                    <p:embed/>
                  </p:oleObj>
                </mc:Choice>
                <mc:Fallback>
                  <p:oleObj name="" r:id="rId1" imgW="5219700" imgH="1447800" progId="Paint.Picture">
                    <p:embed/>
                    <p:pic>
                      <p:nvPicPr>
                        <p:cNvPr id="0" name="图片 3092"/>
                        <p:cNvPicPr/>
                        <p:nvPr/>
                      </p:nvPicPr>
                      <p:blipFill>
                        <a:blip r:embed="rId2"/>
                        <a:stretch>
                          <a:fillRect/>
                        </a:stretch>
                      </p:blipFill>
                      <p:spPr>
                        <a:xfrm>
                          <a:off x="0" y="1104"/>
                          <a:ext cx="4704" cy="1305"/>
                        </a:xfrm>
                        <a:prstGeom prst="rect">
                          <a:avLst/>
                        </a:prstGeom>
                        <a:noFill/>
                        <a:ln w="38100">
                          <a:noFill/>
                          <a:miter/>
                        </a:ln>
                      </p:spPr>
                    </p:pic>
                  </p:oleObj>
                </mc:Fallback>
              </mc:AlternateContent>
            </a:graphicData>
          </a:graphic>
        </p:graphicFrame>
        <p:graphicFrame>
          <p:nvGraphicFramePr>
            <p:cNvPr id="39950" name="Object 11"/>
            <p:cNvGraphicFramePr>
              <a:graphicFrameLocks noChangeAspect="1"/>
            </p:cNvGraphicFramePr>
            <p:nvPr/>
          </p:nvGraphicFramePr>
          <p:xfrm>
            <a:off x="4704" y="912"/>
            <a:ext cx="703" cy="1680"/>
          </p:xfrm>
          <a:graphic>
            <a:graphicData uri="http://schemas.openxmlformats.org/presentationml/2006/ole">
              <mc:AlternateContent xmlns:mc="http://schemas.openxmlformats.org/markup-compatibility/2006">
                <mc:Choice xmlns:v="urn:schemas-microsoft-com:vml" Requires="v">
                  <p:oleObj spid="_x0000_s3094" name="" r:id="rId3" imgW="809625" imgH="1714500" progId="Paint.Picture">
                    <p:embed/>
                  </p:oleObj>
                </mc:Choice>
                <mc:Fallback>
                  <p:oleObj name="" r:id="rId3" imgW="809625" imgH="1714500" progId="Paint.Picture">
                    <p:embed/>
                    <p:pic>
                      <p:nvPicPr>
                        <p:cNvPr id="0" name="图片 3093"/>
                        <p:cNvPicPr/>
                        <p:nvPr/>
                      </p:nvPicPr>
                      <p:blipFill>
                        <a:blip r:embed="rId4"/>
                        <a:stretch>
                          <a:fillRect/>
                        </a:stretch>
                      </p:blipFill>
                      <p:spPr>
                        <a:xfrm>
                          <a:off x="4704" y="912"/>
                          <a:ext cx="703" cy="1680"/>
                        </a:xfrm>
                        <a:prstGeom prst="rect">
                          <a:avLst/>
                        </a:prstGeom>
                        <a:noFill/>
                        <a:ln w="38100">
                          <a:noFill/>
                          <a:miter/>
                        </a:ln>
                      </p:spPr>
                    </p:pic>
                  </p:oleObj>
                </mc:Fallback>
              </mc:AlternateContent>
            </a:graphicData>
          </a:graphic>
        </p:graphicFrame>
      </p:grpSp>
      <p:grpSp>
        <p:nvGrpSpPr>
          <p:cNvPr id="135181" name="Group 13"/>
          <p:cNvGrpSpPr/>
          <p:nvPr/>
        </p:nvGrpSpPr>
        <p:grpSpPr>
          <a:xfrm>
            <a:off x="5486400" y="457200"/>
            <a:ext cx="2133600" cy="2895600"/>
            <a:chOff x="4176" y="144"/>
            <a:chExt cx="1344" cy="1824"/>
          </a:xfrm>
        </p:grpSpPr>
        <p:sp>
          <p:nvSpPr>
            <p:cNvPr id="39947" name="AutoShape 14"/>
            <p:cNvSpPr/>
            <p:nvPr/>
          </p:nvSpPr>
          <p:spPr>
            <a:xfrm>
              <a:off x="4464" y="144"/>
              <a:ext cx="1056" cy="432"/>
            </a:xfrm>
            <a:prstGeom prst="wedgeRectCallout">
              <a:avLst>
                <a:gd name="adj1" fmla="val -54259"/>
                <a:gd name="adj2" fmla="val 196759"/>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2400" b="1" dirty="0">
                  <a:latin typeface="Times New Roman" panose="02020603050405020304" pitchFamily="18" charset="0"/>
                </a:rPr>
                <a:t>8</a:t>
              </a:r>
              <a:r>
                <a:rPr lang="zh-CN" altLang="en-US" sz="2400" b="1" dirty="0">
                  <a:latin typeface="Times New Roman" panose="02020603050405020304" pitchFamily="18" charset="0"/>
                </a:rPr>
                <a:t>个乘积项</a:t>
              </a:r>
              <a:endParaRPr lang="zh-CN" altLang="en-US" sz="2400" b="1" dirty="0">
                <a:latin typeface="Times New Roman" panose="02020603050405020304" pitchFamily="18" charset="0"/>
              </a:endParaRPr>
            </a:p>
          </p:txBody>
        </p:sp>
        <p:sp>
          <p:nvSpPr>
            <p:cNvPr id="39948" name="Rectangle 15"/>
            <p:cNvSpPr/>
            <p:nvPr/>
          </p:nvSpPr>
          <p:spPr>
            <a:xfrm>
              <a:off x="4176" y="1200"/>
              <a:ext cx="240" cy="768"/>
            </a:xfrm>
            <a:prstGeom prst="rect">
              <a:avLst/>
            </a:prstGeom>
            <a:noFill/>
            <a:ln w="5715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sp>
        <p:nvSpPr>
          <p:cNvPr id="135184" name="AutoShape 16"/>
          <p:cNvSpPr/>
          <p:nvPr/>
        </p:nvSpPr>
        <p:spPr>
          <a:xfrm>
            <a:off x="1371600" y="4114800"/>
            <a:ext cx="3657600" cy="838200"/>
          </a:xfrm>
          <a:prstGeom prst="wedgeRectCallout">
            <a:avLst>
              <a:gd name="adj1" fmla="val 93750"/>
              <a:gd name="adj2" fmla="val -207764"/>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或门的输出通过</a:t>
            </a:r>
            <a:r>
              <a:rPr lang="en-US" altLang="zh-CN" sz="2400" b="1" dirty="0">
                <a:latin typeface="Times New Roman" panose="02020603050405020304" pitchFamily="18" charset="0"/>
              </a:rPr>
              <a:t>D</a:t>
            </a:r>
            <a:r>
              <a:rPr lang="zh-CN" altLang="en-US" sz="2400" b="1" dirty="0">
                <a:latin typeface="Times New Roman" panose="02020603050405020304" pitchFamily="18" charset="0"/>
              </a:rPr>
              <a:t>触发器，</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在</a:t>
            </a:r>
            <a:r>
              <a:rPr lang="en-US" altLang="zh-CN" sz="2400" b="1" dirty="0">
                <a:latin typeface="Times New Roman" panose="02020603050405020304" pitchFamily="18" charset="0"/>
              </a:rPr>
              <a:t>CP</a:t>
            </a:r>
            <a:r>
              <a:rPr lang="zh-CN" altLang="en-US" sz="2400" b="1" dirty="0">
                <a:latin typeface="Times New Roman" panose="02020603050405020304" pitchFamily="18" charset="0"/>
              </a:rPr>
              <a:t>的上升沿时到达输出。</a:t>
            </a:r>
            <a:endParaRPr lang="zh-CN" altLang="en-US" sz="2400" b="1" dirty="0">
              <a:latin typeface="Times New Roman" panose="02020603050405020304" pitchFamily="18" charset="0"/>
            </a:endParaRPr>
          </a:p>
        </p:txBody>
      </p:sp>
      <p:sp>
        <p:nvSpPr>
          <p:cNvPr id="135185" name="AutoShape 17"/>
          <p:cNvSpPr/>
          <p:nvPr/>
        </p:nvSpPr>
        <p:spPr>
          <a:xfrm>
            <a:off x="4343400" y="3962400"/>
            <a:ext cx="2438400" cy="1295400"/>
          </a:xfrm>
          <a:prstGeom prst="wedgeRectCallout">
            <a:avLst>
              <a:gd name="adj1" fmla="val 77537"/>
              <a:gd name="adj2" fmla="val -139463"/>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触发器的</a:t>
            </a:r>
            <a:r>
              <a:rPr lang="en-US" altLang="zh-CN" sz="2400" b="1" dirty="0">
                <a:latin typeface="Times New Roman" panose="02020603050405020304" pitchFamily="18" charset="0"/>
              </a:rPr>
              <a:t>Q</a:t>
            </a:r>
            <a:r>
              <a:rPr lang="zh-CN" altLang="en-US" sz="2400" b="1" dirty="0">
                <a:latin typeface="Times New Roman" panose="02020603050405020304" pitchFamily="18" charset="0"/>
              </a:rPr>
              <a:t>端可以</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通过三态缓冲器</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送到输出引脚</a:t>
            </a:r>
            <a:endParaRPr lang="zh-CN" altLang="en-US" sz="2400" b="1" dirty="0">
              <a:latin typeface="Times New Roman" panose="02020603050405020304" pitchFamily="18" charset="0"/>
            </a:endParaRPr>
          </a:p>
        </p:txBody>
      </p:sp>
      <p:sp>
        <p:nvSpPr>
          <p:cNvPr id="135186" name="AutoShape 18"/>
          <p:cNvSpPr/>
          <p:nvPr/>
        </p:nvSpPr>
        <p:spPr>
          <a:xfrm>
            <a:off x="3962400" y="5181600"/>
            <a:ext cx="3429000" cy="1371600"/>
          </a:xfrm>
          <a:prstGeom prst="wedgeRectCallout">
            <a:avLst>
              <a:gd name="adj1" fmla="val 45556"/>
              <a:gd name="adj2" fmla="val -202546"/>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触发器的反相端反馈回与</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阵列，作为输入信号参与</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更复杂的时序逻辑运算</a:t>
            </a:r>
            <a:endParaRPr lang="zh-CN" altLang="en-US" sz="2400" b="1" dirty="0">
              <a:latin typeface="Times New Roman" panose="02020603050405020304" pitchFamily="18" charset="0"/>
            </a:endParaRPr>
          </a:p>
        </p:txBody>
      </p:sp>
      <p:grpSp>
        <p:nvGrpSpPr>
          <p:cNvPr id="135189" name="Group 21"/>
          <p:cNvGrpSpPr/>
          <p:nvPr/>
        </p:nvGrpSpPr>
        <p:grpSpPr>
          <a:xfrm>
            <a:off x="1600200" y="914400"/>
            <a:ext cx="6172200" cy="1143000"/>
            <a:chOff x="1008" y="576"/>
            <a:chExt cx="3888" cy="720"/>
          </a:xfrm>
        </p:grpSpPr>
        <p:sp>
          <p:nvSpPr>
            <p:cNvPr id="39945" name="AutoShape 19"/>
            <p:cNvSpPr/>
            <p:nvPr/>
          </p:nvSpPr>
          <p:spPr>
            <a:xfrm>
              <a:off x="1008" y="576"/>
              <a:ext cx="2496" cy="288"/>
            </a:xfrm>
            <a:prstGeom prst="wedgeRectCallout">
              <a:avLst>
                <a:gd name="adj1" fmla="val 78486"/>
                <a:gd name="adj2" fmla="val 215972"/>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2400" b="1" dirty="0">
                  <a:latin typeface="Times New Roman" panose="02020603050405020304" pitchFamily="18" charset="0"/>
                </a:rPr>
                <a:t>CP</a:t>
              </a:r>
              <a:r>
                <a:rPr lang="zh-CN" altLang="en-US" sz="2400" b="1" dirty="0">
                  <a:latin typeface="Times New Roman" panose="02020603050405020304" pitchFamily="18" charset="0"/>
                </a:rPr>
                <a:t>和使能是</a:t>
              </a:r>
              <a:r>
                <a:rPr lang="en-US" altLang="zh-CN" sz="2400" b="1" dirty="0">
                  <a:latin typeface="Times New Roman" panose="02020603050405020304" pitchFamily="18" charset="0"/>
                </a:rPr>
                <a:t>PAL</a:t>
              </a:r>
              <a:r>
                <a:rPr lang="zh-CN" altLang="en-US" sz="2400" b="1" dirty="0">
                  <a:latin typeface="Times New Roman" panose="02020603050405020304" pitchFamily="18" charset="0"/>
                </a:rPr>
                <a:t>的公共端</a:t>
              </a:r>
              <a:endParaRPr lang="zh-CN" altLang="en-US" sz="2400" b="1" dirty="0">
                <a:latin typeface="Times New Roman" panose="02020603050405020304" pitchFamily="18" charset="0"/>
              </a:endParaRPr>
            </a:p>
          </p:txBody>
        </p:sp>
        <p:sp>
          <p:nvSpPr>
            <p:cNvPr id="39946" name="Line 20"/>
            <p:cNvSpPr/>
            <p:nvPr/>
          </p:nvSpPr>
          <p:spPr>
            <a:xfrm>
              <a:off x="3264" y="864"/>
              <a:ext cx="1632" cy="432"/>
            </a:xfrm>
            <a:prstGeom prst="line">
              <a:avLst/>
            </a:prstGeom>
            <a:ln w="76200" cap="flat" cmpd="sng">
              <a:solidFill>
                <a:srgbClr val="FFCC66"/>
              </a:solidFill>
              <a:prstDash val="solid"/>
              <a:headEnd type="none" w="med" len="med"/>
              <a:tailEnd type="triangle" w="med" len="med"/>
            </a:ln>
          </p:spPr>
        </p:sp>
      </p:gr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35180"/>
                                        </p:tgtEl>
                                        <p:attrNameLst>
                                          <p:attrName>style.visibility</p:attrName>
                                        </p:attrNameLst>
                                      </p:cBhvr>
                                      <p:to>
                                        <p:strVal val="visible"/>
                                      </p:to>
                                    </p:set>
                                    <p:anim calcmode="lin" valueType="num">
                                      <p:cBhvr additive="base">
                                        <p:cTn id="7" dur="500" fill="hold"/>
                                        <p:tgtEl>
                                          <p:spTgt spid="135180"/>
                                        </p:tgtEl>
                                        <p:attrNameLst>
                                          <p:attrName>ppt_x</p:attrName>
                                        </p:attrNameLst>
                                      </p:cBhvr>
                                      <p:tavLst>
                                        <p:tav tm="0">
                                          <p:val>
                                            <p:strVal val="1+#ppt_w/2"/>
                                          </p:val>
                                        </p:tav>
                                        <p:tav tm="100000">
                                          <p:val>
                                            <p:strVal val="#ppt_x"/>
                                          </p:val>
                                        </p:tav>
                                      </p:tavLst>
                                    </p:anim>
                                    <p:anim calcmode="lin" valueType="num">
                                      <p:cBhvr additive="base">
                                        <p:cTn id="8" dur="500" fill="hold"/>
                                        <p:tgtEl>
                                          <p:spTgt spid="13518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135181"/>
                                        </p:tgtEl>
                                        <p:attrNameLst>
                                          <p:attrName>style.visibility</p:attrName>
                                        </p:attrNameLst>
                                      </p:cBhvr>
                                      <p:to>
                                        <p:strVal val="visible"/>
                                      </p:to>
                                    </p:set>
                                    <p:anim calcmode="lin" valueType="num">
                                      <p:cBhvr additive="base">
                                        <p:cTn id="13" dur="500" fill="hold"/>
                                        <p:tgtEl>
                                          <p:spTgt spid="135181"/>
                                        </p:tgtEl>
                                        <p:attrNameLst>
                                          <p:attrName>ppt_x</p:attrName>
                                        </p:attrNameLst>
                                      </p:cBhvr>
                                      <p:tavLst>
                                        <p:tav tm="0">
                                          <p:val>
                                            <p:strVal val="1+#ppt_w/2"/>
                                          </p:val>
                                        </p:tav>
                                        <p:tav tm="100000">
                                          <p:val>
                                            <p:strVal val="#ppt_x"/>
                                          </p:val>
                                        </p:tav>
                                      </p:tavLst>
                                    </p:anim>
                                    <p:anim calcmode="lin" valueType="num">
                                      <p:cBhvr additive="base">
                                        <p:cTn id="14" dur="500" fill="hold"/>
                                        <p:tgtEl>
                                          <p:spTgt spid="135181"/>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135181"/>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8" presetClass="entr" presetSubtype="3" fill="hold" grpId="0" nodeType="clickEffect">
                                  <p:stCondLst>
                                    <p:cond delay="0"/>
                                  </p:stCondLst>
                                  <p:childTnLst>
                                    <p:set>
                                      <p:cBhvr>
                                        <p:cTn id="18" dur="1" fill="hold">
                                          <p:stCondLst>
                                            <p:cond delay="0"/>
                                          </p:stCondLst>
                                        </p:cTn>
                                        <p:tgtEl>
                                          <p:spTgt spid="135184"/>
                                        </p:tgtEl>
                                        <p:attrNameLst>
                                          <p:attrName>style.visibility</p:attrName>
                                        </p:attrNameLst>
                                      </p:cBhvr>
                                      <p:to>
                                        <p:strVal val="visible"/>
                                      </p:to>
                                    </p:set>
                                    <p:animEffect transition="in" filter="strips(upRight)">
                                      <p:cBhvr>
                                        <p:cTn id="19" dur="500"/>
                                        <p:tgtEl>
                                          <p:spTgt spid="135184"/>
                                        </p:tgtEl>
                                      </p:cBhvr>
                                    </p:animEffect>
                                  </p:childTnLst>
                                  <p:subTnLst>
                                    <p:set>
                                      <p:cBhvr override="childStyle">
                                        <p:cTn dur="1" fill="hold" display="0" masterRel="nextClick" afterEffect="1"/>
                                        <p:tgtEl>
                                          <p:spTgt spid="135184"/>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18" presetClass="entr" presetSubtype="3" fill="hold" grpId="0" nodeType="clickEffect">
                                  <p:stCondLst>
                                    <p:cond delay="0"/>
                                  </p:stCondLst>
                                  <p:childTnLst>
                                    <p:set>
                                      <p:cBhvr>
                                        <p:cTn id="23" dur="1" fill="hold">
                                          <p:stCondLst>
                                            <p:cond delay="0"/>
                                          </p:stCondLst>
                                        </p:cTn>
                                        <p:tgtEl>
                                          <p:spTgt spid="135185"/>
                                        </p:tgtEl>
                                        <p:attrNameLst>
                                          <p:attrName>style.visibility</p:attrName>
                                        </p:attrNameLst>
                                      </p:cBhvr>
                                      <p:to>
                                        <p:strVal val="visible"/>
                                      </p:to>
                                    </p:set>
                                    <p:animEffect transition="in" filter="strips(upRight)">
                                      <p:cBhvr>
                                        <p:cTn id="24" dur="500"/>
                                        <p:tgtEl>
                                          <p:spTgt spid="135185"/>
                                        </p:tgtEl>
                                      </p:cBhvr>
                                    </p:animEffect>
                                  </p:childTnLst>
                                  <p:subTnLst>
                                    <p:set>
                                      <p:cBhvr override="childStyle">
                                        <p:cTn dur="1" fill="hold" display="0" masterRel="nextClick" afterEffect="1"/>
                                        <p:tgtEl>
                                          <p:spTgt spid="135185"/>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35186"/>
                                        </p:tgtEl>
                                        <p:attrNameLst>
                                          <p:attrName>style.visibility</p:attrName>
                                        </p:attrNameLst>
                                      </p:cBhvr>
                                      <p:to>
                                        <p:strVal val="visible"/>
                                      </p:to>
                                    </p:set>
                                    <p:anim calcmode="lin" valueType="num">
                                      <p:cBhvr additive="base">
                                        <p:cTn id="29" dur="500" fill="hold"/>
                                        <p:tgtEl>
                                          <p:spTgt spid="135186"/>
                                        </p:tgtEl>
                                        <p:attrNameLst>
                                          <p:attrName>ppt_x</p:attrName>
                                        </p:attrNameLst>
                                      </p:cBhvr>
                                      <p:tavLst>
                                        <p:tav tm="0">
                                          <p:val>
                                            <p:strVal val="#ppt_x"/>
                                          </p:val>
                                        </p:tav>
                                        <p:tav tm="100000">
                                          <p:val>
                                            <p:strVal val="#ppt_x"/>
                                          </p:val>
                                        </p:tav>
                                      </p:tavLst>
                                    </p:anim>
                                    <p:anim calcmode="lin" valueType="num">
                                      <p:cBhvr additive="base">
                                        <p:cTn id="30" dur="500" fill="hold"/>
                                        <p:tgtEl>
                                          <p:spTgt spid="135186"/>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35186"/>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135189"/>
                                        </p:tgtEl>
                                        <p:attrNameLst>
                                          <p:attrName>style.visibility</p:attrName>
                                        </p:attrNameLst>
                                      </p:cBhvr>
                                      <p:to>
                                        <p:strVal val="visible"/>
                                      </p:to>
                                    </p:set>
                                    <p:anim calcmode="lin" valueType="num">
                                      <p:cBhvr additive="base">
                                        <p:cTn id="35" dur="500" fill="hold"/>
                                        <p:tgtEl>
                                          <p:spTgt spid="135189"/>
                                        </p:tgtEl>
                                        <p:attrNameLst>
                                          <p:attrName>ppt_x</p:attrName>
                                        </p:attrNameLst>
                                      </p:cBhvr>
                                      <p:tavLst>
                                        <p:tav tm="0">
                                          <p:val>
                                            <p:strVal val="0-#ppt_w/2"/>
                                          </p:val>
                                        </p:tav>
                                        <p:tav tm="100000">
                                          <p:val>
                                            <p:strVal val="#ppt_x"/>
                                          </p:val>
                                        </p:tav>
                                      </p:tavLst>
                                    </p:anim>
                                    <p:anim calcmode="lin" valueType="num">
                                      <p:cBhvr additive="base">
                                        <p:cTn id="36" dur="500" fill="hold"/>
                                        <p:tgtEl>
                                          <p:spTgt spid="135189"/>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3518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84" grpId="0" animBg="1"/>
      <p:bldP spid="135185" grpId="0" animBg="1"/>
      <p:bldP spid="13518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ext Box 28"/>
          <p:cNvSpPr txBox="1"/>
          <p:nvPr/>
        </p:nvSpPr>
        <p:spPr>
          <a:xfrm>
            <a:off x="152400" y="152400"/>
            <a:ext cx="7315200" cy="4572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4. </a:t>
            </a:r>
            <a:r>
              <a:rPr lang="zh-CN" altLang="en-US" sz="2400" b="1" dirty="0">
                <a:latin typeface="Times New Roman" panose="02020603050405020304" pitchFamily="18" charset="0"/>
              </a:rPr>
              <a:t>带异或门的寄存器型输出结构：</a:t>
            </a:r>
            <a:endParaRPr lang="zh-CN" altLang="en-US" sz="2400" b="1" dirty="0">
              <a:latin typeface="Times New Roman" panose="02020603050405020304" pitchFamily="18" charset="0"/>
            </a:endParaRPr>
          </a:p>
        </p:txBody>
      </p:sp>
      <p:grpSp>
        <p:nvGrpSpPr>
          <p:cNvPr id="40963" name="Group 31"/>
          <p:cNvGrpSpPr/>
          <p:nvPr/>
        </p:nvGrpSpPr>
        <p:grpSpPr>
          <a:xfrm>
            <a:off x="0" y="1981200"/>
            <a:ext cx="9169400" cy="2765425"/>
            <a:chOff x="0" y="768"/>
            <a:chExt cx="5776" cy="1742"/>
          </a:xfrm>
        </p:grpSpPr>
        <p:graphicFrame>
          <p:nvGraphicFramePr>
            <p:cNvPr id="40973" name="Object 29"/>
            <p:cNvGraphicFramePr>
              <a:graphicFrameLocks noChangeAspect="1"/>
            </p:cNvGraphicFramePr>
            <p:nvPr/>
          </p:nvGraphicFramePr>
          <p:xfrm>
            <a:off x="0" y="768"/>
            <a:ext cx="5088" cy="1742"/>
          </p:xfrm>
          <a:graphic>
            <a:graphicData uri="http://schemas.openxmlformats.org/presentationml/2006/ole">
              <mc:AlternateContent xmlns:mc="http://schemas.openxmlformats.org/markup-compatibility/2006">
                <mc:Choice xmlns:v="urn:schemas-microsoft-com:vml" Requires="v">
                  <p:oleObj spid="_x0000_s3092" name="" r:id="rId1" imgW="5257800" imgH="1800225" progId="Paint.Picture">
                    <p:embed/>
                  </p:oleObj>
                </mc:Choice>
                <mc:Fallback>
                  <p:oleObj name="" r:id="rId1" imgW="5257800" imgH="1800225" progId="Paint.Picture">
                    <p:embed/>
                    <p:pic>
                      <p:nvPicPr>
                        <p:cNvPr id="0" name="图片 3091"/>
                        <p:cNvPicPr/>
                        <p:nvPr/>
                      </p:nvPicPr>
                      <p:blipFill>
                        <a:blip r:embed="rId2"/>
                        <a:stretch>
                          <a:fillRect/>
                        </a:stretch>
                      </p:blipFill>
                      <p:spPr>
                        <a:xfrm>
                          <a:off x="0" y="768"/>
                          <a:ext cx="5088" cy="1742"/>
                        </a:xfrm>
                        <a:prstGeom prst="rect">
                          <a:avLst/>
                        </a:prstGeom>
                        <a:noFill/>
                        <a:ln w="38100">
                          <a:noFill/>
                          <a:miter/>
                        </a:ln>
                      </p:spPr>
                    </p:pic>
                  </p:oleObj>
                </mc:Fallback>
              </mc:AlternateContent>
            </a:graphicData>
          </a:graphic>
        </p:graphicFrame>
        <p:graphicFrame>
          <p:nvGraphicFramePr>
            <p:cNvPr id="40974" name="Object 30"/>
            <p:cNvGraphicFramePr>
              <a:graphicFrameLocks noChangeAspect="1"/>
            </p:cNvGraphicFramePr>
            <p:nvPr/>
          </p:nvGraphicFramePr>
          <p:xfrm>
            <a:off x="4980" y="768"/>
            <a:ext cx="796" cy="1440"/>
          </p:xfrm>
          <a:graphic>
            <a:graphicData uri="http://schemas.openxmlformats.org/presentationml/2006/ole">
              <mc:AlternateContent xmlns:mc="http://schemas.openxmlformats.org/markup-compatibility/2006">
                <mc:Choice xmlns:v="urn:schemas-microsoft-com:vml" Requires="v">
                  <p:oleObj spid="_x0000_s3091" name="" r:id="rId3" imgW="790575" imgH="1428750" progId="Paint.Picture">
                    <p:embed/>
                  </p:oleObj>
                </mc:Choice>
                <mc:Fallback>
                  <p:oleObj name="" r:id="rId3" imgW="790575" imgH="1428750" progId="Paint.Picture">
                    <p:embed/>
                    <p:pic>
                      <p:nvPicPr>
                        <p:cNvPr id="0" name="图片 3090"/>
                        <p:cNvPicPr/>
                        <p:nvPr/>
                      </p:nvPicPr>
                      <p:blipFill>
                        <a:blip r:embed="rId4"/>
                        <a:stretch>
                          <a:fillRect/>
                        </a:stretch>
                      </p:blipFill>
                      <p:spPr>
                        <a:xfrm>
                          <a:off x="4980" y="768"/>
                          <a:ext cx="796" cy="1440"/>
                        </a:xfrm>
                        <a:prstGeom prst="rect">
                          <a:avLst/>
                        </a:prstGeom>
                        <a:noFill/>
                        <a:ln w="38100">
                          <a:noFill/>
                          <a:miter/>
                        </a:ln>
                      </p:spPr>
                    </p:pic>
                  </p:oleObj>
                </mc:Fallback>
              </mc:AlternateContent>
            </a:graphicData>
          </a:graphic>
        </p:graphicFrame>
      </p:grpSp>
      <p:sp>
        <p:nvSpPr>
          <p:cNvPr id="136224" name="AutoShape 32"/>
          <p:cNvSpPr/>
          <p:nvPr/>
        </p:nvSpPr>
        <p:spPr>
          <a:xfrm>
            <a:off x="3352800" y="838200"/>
            <a:ext cx="2514600" cy="533400"/>
          </a:xfrm>
          <a:prstGeom prst="wedgeRectCallout">
            <a:avLst>
              <a:gd name="adj1" fmla="val 90532"/>
              <a:gd name="adj2" fmla="val 355653"/>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增加了一个异或门</a:t>
            </a:r>
            <a:endParaRPr lang="zh-CN" altLang="en-US" sz="2400" b="1" dirty="0">
              <a:latin typeface="Times New Roman" panose="02020603050405020304" pitchFamily="18" charset="0"/>
            </a:endParaRPr>
          </a:p>
        </p:txBody>
      </p:sp>
      <p:grpSp>
        <p:nvGrpSpPr>
          <p:cNvPr id="136227" name="Group 35"/>
          <p:cNvGrpSpPr/>
          <p:nvPr/>
        </p:nvGrpSpPr>
        <p:grpSpPr>
          <a:xfrm>
            <a:off x="5791200" y="762000"/>
            <a:ext cx="2895600" cy="2895600"/>
            <a:chOff x="3648" y="480"/>
            <a:chExt cx="1824" cy="1824"/>
          </a:xfrm>
        </p:grpSpPr>
        <p:sp>
          <p:nvSpPr>
            <p:cNvPr id="40971" name="AutoShape 33"/>
            <p:cNvSpPr/>
            <p:nvPr/>
          </p:nvSpPr>
          <p:spPr>
            <a:xfrm>
              <a:off x="3792" y="480"/>
              <a:ext cx="1680" cy="528"/>
            </a:xfrm>
            <a:prstGeom prst="wedgeRectCallout">
              <a:avLst>
                <a:gd name="adj1" fmla="val -44463"/>
                <a:gd name="adj2" fmla="val 168560"/>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把乘积项分割成两</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个和项</a:t>
              </a:r>
              <a:endParaRPr lang="zh-CN" altLang="en-US" sz="2400" b="1" dirty="0">
                <a:latin typeface="Times New Roman" panose="02020603050405020304" pitchFamily="18" charset="0"/>
              </a:endParaRPr>
            </a:p>
          </p:txBody>
        </p:sp>
        <p:sp>
          <p:nvSpPr>
            <p:cNvPr id="40972" name="Rectangle 34"/>
            <p:cNvSpPr/>
            <p:nvPr/>
          </p:nvSpPr>
          <p:spPr>
            <a:xfrm>
              <a:off x="3648" y="1632"/>
              <a:ext cx="240" cy="672"/>
            </a:xfrm>
            <a:prstGeom prst="rect">
              <a:avLst/>
            </a:prstGeom>
            <a:noFill/>
            <a:ln w="7620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grpSp>
        <p:nvGrpSpPr>
          <p:cNvPr id="136230" name="Group 38"/>
          <p:cNvGrpSpPr/>
          <p:nvPr/>
        </p:nvGrpSpPr>
        <p:grpSpPr>
          <a:xfrm>
            <a:off x="381000" y="990600"/>
            <a:ext cx="6781800" cy="2819400"/>
            <a:chOff x="240" y="624"/>
            <a:chExt cx="4272" cy="1776"/>
          </a:xfrm>
        </p:grpSpPr>
        <p:sp>
          <p:nvSpPr>
            <p:cNvPr id="40969" name="Rectangle 36"/>
            <p:cNvSpPr/>
            <p:nvPr/>
          </p:nvSpPr>
          <p:spPr>
            <a:xfrm>
              <a:off x="3600" y="1536"/>
              <a:ext cx="912" cy="864"/>
            </a:xfrm>
            <a:prstGeom prst="rect">
              <a:avLst/>
            </a:prstGeom>
            <a:noFill/>
            <a:ln w="7620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40970" name="AutoShape 37"/>
            <p:cNvSpPr/>
            <p:nvPr/>
          </p:nvSpPr>
          <p:spPr>
            <a:xfrm>
              <a:off x="240" y="624"/>
              <a:ext cx="3360" cy="480"/>
            </a:xfrm>
            <a:prstGeom prst="wedgeRectCallout">
              <a:avLst>
                <a:gd name="adj1" fmla="val 62319"/>
                <a:gd name="adj2" fmla="val 145000"/>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两个和项在触发器的输入端异或之后，</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在时钟上升沿到来时存入触发器内</a:t>
              </a:r>
              <a:endParaRPr lang="zh-CN" altLang="en-US" sz="2400" b="1" dirty="0">
                <a:latin typeface="Times New Roman" panose="02020603050405020304" pitchFamily="18" charset="0"/>
              </a:endParaRPr>
            </a:p>
          </p:txBody>
        </p:sp>
      </p:grpSp>
      <p:sp>
        <p:nvSpPr>
          <p:cNvPr id="136231" name="Text Box 39"/>
          <p:cNvSpPr txBox="1"/>
          <p:nvPr/>
        </p:nvSpPr>
        <p:spPr>
          <a:xfrm>
            <a:off x="304800" y="4724400"/>
            <a:ext cx="8229600" cy="822325"/>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有些</a:t>
            </a:r>
            <a:r>
              <a:rPr lang="en-US" altLang="zh-CN" sz="2400" b="1" dirty="0">
                <a:latin typeface="Times New Roman" panose="02020603050405020304" pitchFamily="18" charset="0"/>
              </a:rPr>
              <a:t>PAL</a:t>
            </a:r>
            <a:r>
              <a:rPr lang="zh-CN" altLang="en-US" sz="2400" b="1" dirty="0">
                <a:latin typeface="Times New Roman" panose="02020603050405020304" pitchFamily="18" charset="0"/>
              </a:rPr>
              <a:t>器件是由数个同一结构类型组成，有的则是由不同类型结构混合组成。</a:t>
            </a:r>
            <a:endParaRPr lang="zh-CN" altLang="en-US" sz="2400" b="1" dirty="0">
              <a:latin typeface="Times New Roman" panose="02020603050405020304" pitchFamily="18" charset="0"/>
            </a:endParaRPr>
          </a:p>
        </p:txBody>
      </p:sp>
      <p:sp>
        <p:nvSpPr>
          <p:cNvPr id="136232" name="Text Box 40"/>
          <p:cNvSpPr txBox="1"/>
          <p:nvPr/>
        </p:nvSpPr>
        <p:spPr>
          <a:xfrm>
            <a:off x="304800" y="5562600"/>
            <a:ext cx="8610600" cy="118745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如由</a:t>
            </a:r>
            <a:r>
              <a:rPr lang="en-US" altLang="zh-CN" sz="2400" b="1" dirty="0">
                <a:latin typeface="Times New Roman" panose="02020603050405020304" pitchFamily="18" charset="0"/>
              </a:rPr>
              <a:t>8</a:t>
            </a:r>
            <a:r>
              <a:rPr lang="zh-CN" altLang="en-US" sz="2400" b="1" dirty="0">
                <a:latin typeface="Times New Roman" panose="02020603050405020304" pitchFamily="18" charset="0"/>
              </a:rPr>
              <a:t>个寄存器型输出结构组成的</a:t>
            </a:r>
            <a:r>
              <a:rPr lang="en-US" altLang="zh-CN" sz="2400" b="1" dirty="0">
                <a:latin typeface="Times New Roman" panose="02020603050405020304" pitchFamily="18" charset="0"/>
              </a:rPr>
              <a:t>PAL</a:t>
            </a:r>
            <a:r>
              <a:rPr lang="zh-CN" altLang="en-US" sz="2400" b="1" dirty="0">
                <a:latin typeface="Times New Roman" panose="02020603050405020304" pitchFamily="18" charset="0"/>
              </a:rPr>
              <a:t>器件命名为</a:t>
            </a:r>
            <a:r>
              <a:rPr lang="en-US" altLang="zh-CN" sz="2400" b="1" dirty="0">
                <a:latin typeface="Times New Roman" panose="02020603050405020304" pitchFamily="18" charset="0"/>
              </a:rPr>
              <a:t>PAL16R8</a:t>
            </a:r>
            <a:r>
              <a:rPr lang="zh-CN" altLang="en-US" sz="2400" b="1" dirty="0">
                <a:latin typeface="Times New Roman" panose="02020603050405020304" pitchFamily="18" charset="0"/>
              </a:rPr>
              <a:t>，由</a:t>
            </a:r>
            <a:r>
              <a:rPr lang="en-US" altLang="zh-CN" sz="2400" b="1" dirty="0">
                <a:latin typeface="Times New Roman" panose="02020603050405020304" pitchFamily="18" charset="0"/>
              </a:rPr>
              <a:t>8</a:t>
            </a:r>
            <a:r>
              <a:rPr lang="zh-CN" altLang="en-US" sz="2400" b="1" dirty="0">
                <a:latin typeface="Times New Roman" panose="02020603050405020304" pitchFamily="18" charset="0"/>
              </a:rPr>
              <a:t>个可编程</a:t>
            </a:r>
            <a:r>
              <a:rPr lang="en-US" altLang="zh-CN" sz="2400" b="1" dirty="0">
                <a:latin typeface="Times New Roman" panose="02020603050405020304" pitchFamily="18" charset="0"/>
              </a:rPr>
              <a:t>I/O</a:t>
            </a:r>
            <a:r>
              <a:rPr lang="zh-CN" altLang="en-US" sz="2400" b="1" dirty="0">
                <a:latin typeface="Times New Roman" panose="02020603050405020304" pitchFamily="18" charset="0"/>
              </a:rPr>
              <a:t>结构组成的</a:t>
            </a:r>
            <a:r>
              <a:rPr lang="en-US" altLang="zh-CN" sz="2400" b="1" dirty="0">
                <a:latin typeface="Times New Roman" panose="02020603050405020304" pitchFamily="18" charset="0"/>
              </a:rPr>
              <a:t>PAL</a:t>
            </a:r>
            <a:r>
              <a:rPr lang="zh-CN" altLang="en-US" sz="2400" b="1" dirty="0">
                <a:latin typeface="Times New Roman" panose="02020603050405020304" pitchFamily="18" charset="0"/>
              </a:rPr>
              <a:t>器件则命名为</a:t>
            </a:r>
            <a:r>
              <a:rPr lang="en-US" altLang="zh-CN" sz="2400" b="1" dirty="0">
                <a:latin typeface="Times New Roman" panose="02020603050405020304" pitchFamily="18" charset="0"/>
              </a:rPr>
              <a:t>PAL16L8</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36224"/>
                                        </p:tgtEl>
                                        <p:attrNameLst>
                                          <p:attrName>style.visibility</p:attrName>
                                        </p:attrNameLst>
                                      </p:cBhvr>
                                      <p:to>
                                        <p:strVal val="visible"/>
                                      </p:to>
                                    </p:set>
                                    <p:animEffect transition="in" filter="strips(downRight)">
                                      <p:cBhvr>
                                        <p:cTn id="7" dur="500"/>
                                        <p:tgtEl>
                                          <p:spTgt spid="136224"/>
                                        </p:tgtEl>
                                      </p:cBhvr>
                                    </p:animEffect>
                                  </p:childTnLst>
                                  <p:subTnLst>
                                    <p:set>
                                      <p:cBhvr override="childStyle">
                                        <p:cTn dur="1" fill="hold" display="0" masterRel="nextClick" afterEffect="1"/>
                                        <p:tgtEl>
                                          <p:spTgt spid="136224"/>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36227"/>
                                        </p:tgtEl>
                                        <p:attrNameLst>
                                          <p:attrName>style.visibility</p:attrName>
                                        </p:attrNameLst>
                                      </p:cBhvr>
                                      <p:to>
                                        <p:strVal val="visible"/>
                                      </p:to>
                                    </p:set>
                                    <p:animEffect transition="in" filter="strips(downLeft)">
                                      <p:cBhvr>
                                        <p:cTn id="12" dur="500"/>
                                        <p:tgtEl>
                                          <p:spTgt spid="136227"/>
                                        </p:tgtEl>
                                      </p:cBhvr>
                                    </p:animEffect>
                                  </p:childTnLst>
                                  <p:subTnLst>
                                    <p:set>
                                      <p:cBhvr override="childStyle">
                                        <p:cTn dur="1" fill="hold" display="0" masterRel="nextClick" afterEffect="1"/>
                                        <p:tgtEl>
                                          <p:spTgt spid="136227"/>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36230"/>
                                        </p:tgtEl>
                                        <p:attrNameLst>
                                          <p:attrName>style.visibility</p:attrName>
                                        </p:attrNameLst>
                                      </p:cBhvr>
                                      <p:to>
                                        <p:strVal val="visible"/>
                                      </p:to>
                                    </p:set>
                                    <p:animEffect transition="in" filter="strips(downRight)">
                                      <p:cBhvr>
                                        <p:cTn id="17" dur="500"/>
                                        <p:tgtEl>
                                          <p:spTgt spid="136230"/>
                                        </p:tgtEl>
                                      </p:cBhvr>
                                    </p:animEffect>
                                  </p:childTnLst>
                                  <p:subTnLst>
                                    <p:set>
                                      <p:cBhvr override="childStyle">
                                        <p:cTn dur="1" fill="hold" display="0" masterRel="nextClick" afterEffect="1"/>
                                        <p:tgtEl>
                                          <p:spTgt spid="136230"/>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136231"/>
                                        </p:tgtEl>
                                        <p:attrNameLst>
                                          <p:attrName>style.visibility</p:attrName>
                                        </p:attrNameLst>
                                      </p:cBhvr>
                                      <p:to>
                                        <p:strVal val="visible"/>
                                      </p:to>
                                    </p:set>
                                    <p:anim calcmode="lin" valueType="num">
                                      <p:cBhvr additive="base">
                                        <p:cTn id="22" dur="500" fill="hold"/>
                                        <p:tgtEl>
                                          <p:spTgt spid="136231"/>
                                        </p:tgtEl>
                                        <p:attrNameLst>
                                          <p:attrName>ppt_x</p:attrName>
                                        </p:attrNameLst>
                                      </p:cBhvr>
                                      <p:tavLst>
                                        <p:tav tm="0">
                                          <p:val>
                                            <p:strVal val="1+#ppt_w/2"/>
                                          </p:val>
                                        </p:tav>
                                        <p:tav tm="100000">
                                          <p:val>
                                            <p:strVal val="#ppt_x"/>
                                          </p:val>
                                        </p:tav>
                                      </p:tavLst>
                                    </p:anim>
                                    <p:anim calcmode="lin" valueType="num">
                                      <p:cBhvr additive="base">
                                        <p:cTn id="23" dur="500" fill="hold"/>
                                        <p:tgtEl>
                                          <p:spTgt spid="136231"/>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136232"/>
                                        </p:tgtEl>
                                        <p:attrNameLst>
                                          <p:attrName>style.visibility</p:attrName>
                                        </p:attrNameLst>
                                      </p:cBhvr>
                                      <p:to>
                                        <p:strVal val="visible"/>
                                      </p:to>
                                    </p:set>
                                    <p:anim calcmode="lin" valueType="num">
                                      <p:cBhvr additive="base">
                                        <p:cTn id="28" dur="500" fill="hold"/>
                                        <p:tgtEl>
                                          <p:spTgt spid="136232"/>
                                        </p:tgtEl>
                                        <p:attrNameLst>
                                          <p:attrName>ppt_x</p:attrName>
                                        </p:attrNameLst>
                                      </p:cBhvr>
                                      <p:tavLst>
                                        <p:tav tm="0">
                                          <p:val>
                                            <p:strVal val="1+#ppt_w/2"/>
                                          </p:val>
                                        </p:tav>
                                        <p:tav tm="100000">
                                          <p:val>
                                            <p:strVal val="#ppt_x"/>
                                          </p:val>
                                        </p:tav>
                                      </p:tavLst>
                                    </p:anim>
                                    <p:anim calcmode="lin" valueType="num">
                                      <p:cBhvr additive="base">
                                        <p:cTn id="29" dur="500" fill="hold"/>
                                        <p:tgtEl>
                                          <p:spTgt spid="1362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24" grpId="0" animBg="1"/>
      <p:bldP spid="136231" grpId="0"/>
      <p:bldP spid="13623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1986" name="Picture 1026" descr="gal003"/>
          <p:cNvPicPr>
            <a:picLocks noChangeAspect="1"/>
          </p:cNvPicPr>
          <p:nvPr/>
        </p:nvPicPr>
        <p:blipFill>
          <a:blip r:embed="rId1"/>
          <a:stretch>
            <a:fillRect/>
          </a:stretch>
        </p:blipFill>
        <p:spPr>
          <a:xfrm>
            <a:off x="2590800" y="0"/>
            <a:ext cx="4486275" cy="6858000"/>
          </a:xfrm>
          <a:prstGeom prst="rect">
            <a:avLst/>
          </a:prstGeom>
          <a:noFill/>
          <a:ln w="9525">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Text Box 14"/>
          <p:cNvSpPr txBox="1"/>
          <p:nvPr/>
        </p:nvSpPr>
        <p:spPr>
          <a:xfrm>
            <a:off x="152400" y="152400"/>
            <a:ext cx="6477000" cy="457200"/>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（二）</a:t>
            </a:r>
            <a:r>
              <a:rPr lang="en-US" altLang="zh-CN" sz="2400" b="1" dirty="0">
                <a:latin typeface="Times New Roman" panose="02020603050405020304" pitchFamily="18" charset="0"/>
              </a:rPr>
              <a:t>PAL16L8</a:t>
            </a:r>
            <a:r>
              <a:rPr lang="zh-CN" altLang="en-US" sz="2400" b="1" dirty="0">
                <a:latin typeface="Times New Roman" panose="02020603050405020304" pitchFamily="18" charset="0"/>
              </a:rPr>
              <a:t>的使用</a:t>
            </a:r>
            <a:endParaRPr lang="zh-CN" altLang="en-US" sz="2400" b="1" dirty="0">
              <a:latin typeface="Times New Roman" panose="02020603050405020304" pitchFamily="18" charset="0"/>
            </a:endParaRPr>
          </a:p>
        </p:txBody>
      </p:sp>
      <p:sp>
        <p:nvSpPr>
          <p:cNvPr id="137232" name="Text Box 16"/>
          <p:cNvSpPr txBox="1"/>
          <p:nvPr/>
        </p:nvSpPr>
        <p:spPr>
          <a:xfrm>
            <a:off x="0" y="1600200"/>
            <a:ext cx="8610600" cy="822325"/>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应用</a:t>
            </a:r>
            <a:r>
              <a:rPr lang="en-US" altLang="zh-CN" sz="2400" b="1" dirty="0">
                <a:latin typeface="Times New Roman" panose="02020603050405020304" pitchFamily="18" charset="0"/>
              </a:rPr>
              <a:t>PAL16L8</a:t>
            </a:r>
            <a:r>
              <a:rPr lang="zh-CN" altLang="en-US" sz="2400" b="1" dirty="0">
                <a:latin typeface="Times New Roman" panose="02020603050405020304" pitchFamily="18" charset="0"/>
              </a:rPr>
              <a:t>设计组合逻辑电路，主要步骤是将输出和激励写成最简与或表达式，然后确定</a:t>
            </a:r>
            <a:r>
              <a:rPr lang="en-US" altLang="zh-CN" sz="2400" b="1" dirty="0">
                <a:latin typeface="Times New Roman" panose="02020603050405020304" pitchFamily="18" charset="0"/>
              </a:rPr>
              <a:t>PAL16L8</a:t>
            </a:r>
            <a:r>
              <a:rPr lang="zh-CN" altLang="en-US" sz="2400" b="1" dirty="0">
                <a:latin typeface="Times New Roman" panose="02020603050405020304" pitchFamily="18" charset="0"/>
              </a:rPr>
              <a:t>的引脚和编程。</a:t>
            </a:r>
            <a:endParaRPr lang="zh-CN" altLang="en-US" sz="2400" b="1" dirty="0">
              <a:latin typeface="Times New Roman" panose="02020603050405020304" pitchFamily="18" charset="0"/>
            </a:endParaRPr>
          </a:p>
        </p:txBody>
      </p:sp>
      <p:sp>
        <p:nvSpPr>
          <p:cNvPr id="137233" name="Text Box 17"/>
          <p:cNvSpPr txBox="1"/>
          <p:nvPr/>
        </p:nvSpPr>
        <p:spPr>
          <a:xfrm>
            <a:off x="152400" y="2667000"/>
            <a:ext cx="8153400" cy="1263650"/>
          </a:xfrm>
          <a:prstGeom prst="rect">
            <a:avLst/>
          </a:prstGeom>
          <a:noFill/>
          <a:ln w="9525">
            <a:noFill/>
          </a:ln>
        </p:spPr>
        <p:txBody>
          <a:bodyPr>
            <a:spAutoFit/>
          </a:bodyPr>
          <a:p>
            <a:pPr algn="just" eaLnBrk="1" hangingPunct="1">
              <a:spcAft>
                <a:spcPts val="600"/>
              </a:spcAft>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目前能够支持</a:t>
            </a:r>
            <a:r>
              <a:rPr lang="en-US" altLang="zh-CN" sz="2400" b="1" dirty="0">
                <a:latin typeface="Times New Roman" panose="02020603050405020304" pitchFamily="18" charset="0"/>
              </a:rPr>
              <a:t>PAL</a:t>
            </a:r>
            <a:r>
              <a:rPr lang="zh-CN" altLang="en-US" sz="2400" b="1" dirty="0">
                <a:latin typeface="Times New Roman" panose="02020603050405020304" pitchFamily="18" charset="0"/>
              </a:rPr>
              <a:t>的编程软件已相当成熟，芯片应用也很普及，但是由于其集成密度不高、编程不够灵活，且只能一次编程，很难胜任功能较复杂的电路与系统。 </a:t>
            </a:r>
            <a:endParaRPr lang="zh-CN" altLang="en-US" sz="2400" b="1" dirty="0">
              <a:latin typeface="Times New Roman" panose="02020603050405020304" pitchFamily="18" charset="0"/>
            </a:endParaRPr>
          </a:p>
        </p:txBody>
      </p:sp>
      <p:sp>
        <p:nvSpPr>
          <p:cNvPr id="137234" name="Text Box 18"/>
          <p:cNvSpPr txBox="1"/>
          <p:nvPr/>
        </p:nvSpPr>
        <p:spPr>
          <a:xfrm>
            <a:off x="1905000" y="4114800"/>
            <a:ext cx="3886200" cy="533400"/>
          </a:xfrm>
          <a:prstGeom prst="rect">
            <a:avLst/>
          </a:prstGeom>
          <a:solidFill>
            <a:srgbClr val="FFCC99"/>
          </a:solidFill>
          <a:ln w="9525">
            <a:noFill/>
          </a:ln>
        </p:spPr>
        <p:txBody>
          <a:bodyPr>
            <a:spAutoFit/>
          </a:bodyPr>
          <a:p>
            <a:pPr algn="ctr" eaLnBrk="1" hangingPunct="1">
              <a:spcAft>
                <a:spcPts val="600"/>
              </a:spcAft>
            </a:pPr>
            <a:r>
              <a:rPr lang="zh-CN" altLang="en-US" sz="2400" b="1" dirty="0">
                <a:solidFill>
                  <a:srgbClr val="990033"/>
                </a:solidFill>
                <a:latin typeface="黑体" panose="02010609060101010101" pitchFamily="2" charset="-122"/>
                <a:ea typeface="黑体" panose="02010609060101010101" pitchFamily="2" charset="-122"/>
              </a:rPr>
              <a:t>二、通用阵列逻辑</a:t>
            </a:r>
            <a:r>
              <a:rPr lang="en-US" altLang="zh-CN" sz="2400" b="1" dirty="0">
                <a:solidFill>
                  <a:srgbClr val="990033"/>
                </a:solidFill>
                <a:latin typeface="黑体" panose="02010609060101010101" pitchFamily="2" charset="-122"/>
                <a:ea typeface="黑体" panose="02010609060101010101" pitchFamily="2" charset="-122"/>
              </a:rPr>
              <a:t>GAL</a:t>
            </a:r>
            <a:r>
              <a:rPr lang="zh-CN" altLang="en-US" sz="2400" b="1" dirty="0">
                <a:solidFill>
                  <a:srgbClr val="990033"/>
                </a:solidFill>
                <a:latin typeface="黑体" panose="02010609060101010101" pitchFamily="2" charset="-122"/>
                <a:ea typeface="黑体" panose="02010609060101010101" pitchFamily="2" charset="-122"/>
              </a:rPr>
              <a:t>器件</a:t>
            </a:r>
            <a:endParaRPr lang="zh-CN" altLang="en-US" b="1" dirty="0">
              <a:solidFill>
                <a:srgbClr val="990033"/>
              </a:solidFill>
              <a:latin typeface="Times New Roman" panose="02020603050405020304" pitchFamily="18" charset="0"/>
            </a:endParaRPr>
          </a:p>
        </p:txBody>
      </p:sp>
      <p:sp>
        <p:nvSpPr>
          <p:cNvPr id="137235" name="Text Box 19"/>
          <p:cNvSpPr txBox="1"/>
          <p:nvPr/>
        </p:nvSpPr>
        <p:spPr>
          <a:xfrm>
            <a:off x="304800" y="4800600"/>
            <a:ext cx="8686800" cy="822325"/>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采用</a:t>
            </a:r>
            <a:r>
              <a:rPr lang="en-US" altLang="zh-CN" sz="2400" b="1" dirty="0">
                <a:latin typeface="Times New Roman" panose="02020603050405020304" pitchFamily="18" charset="0"/>
              </a:rPr>
              <a:t>E</a:t>
            </a:r>
            <a:r>
              <a:rPr lang="en-US" altLang="zh-CN" sz="2400" b="1" baseline="30000" dirty="0">
                <a:latin typeface="Times New Roman" panose="02020603050405020304" pitchFamily="18" charset="0"/>
              </a:rPr>
              <a:t>2</a:t>
            </a:r>
            <a:r>
              <a:rPr lang="en-US" altLang="zh-CN" sz="2400" b="1" dirty="0">
                <a:latin typeface="Times New Roman" panose="02020603050405020304" pitchFamily="18" charset="0"/>
              </a:rPr>
              <a:t>CMOS</a:t>
            </a:r>
            <a:r>
              <a:rPr lang="zh-CN" altLang="en-US" sz="2400" b="1" dirty="0">
                <a:latin typeface="Times New Roman" panose="02020603050405020304" pitchFamily="18" charset="0"/>
              </a:rPr>
              <a:t>工艺和灵活的输出结构，有电擦写反复编程的特性。</a:t>
            </a:r>
            <a:endParaRPr lang="zh-CN" altLang="en-US" sz="2400" b="1" dirty="0">
              <a:latin typeface="Times New Roman" panose="02020603050405020304" pitchFamily="18" charset="0"/>
            </a:endParaRPr>
          </a:p>
        </p:txBody>
      </p:sp>
      <p:sp>
        <p:nvSpPr>
          <p:cNvPr id="137236" name="Text Box 20"/>
          <p:cNvSpPr txBox="1"/>
          <p:nvPr/>
        </p:nvSpPr>
        <p:spPr>
          <a:xfrm>
            <a:off x="152400" y="5654675"/>
            <a:ext cx="8839200" cy="822325"/>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与</a:t>
            </a:r>
            <a:r>
              <a:rPr lang="en-US" altLang="zh-CN" sz="2400" b="1" dirty="0">
                <a:latin typeface="Times New Roman" panose="02020603050405020304" pitchFamily="18" charset="0"/>
              </a:rPr>
              <a:t>PAL</a:t>
            </a:r>
            <a:r>
              <a:rPr lang="zh-CN" altLang="en-US" sz="2400" b="1" dirty="0">
                <a:latin typeface="Times New Roman" panose="02020603050405020304" pitchFamily="18" charset="0"/>
              </a:rPr>
              <a:t>相比，</a:t>
            </a:r>
            <a:r>
              <a:rPr lang="en-US" altLang="zh-CN" sz="2400" b="1" dirty="0">
                <a:latin typeface="Times New Roman" panose="02020603050405020304" pitchFamily="18" charset="0"/>
              </a:rPr>
              <a:t>GAL</a:t>
            </a:r>
            <a:r>
              <a:rPr lang="zh-CN" altLang="en-US" sz="2400" b="1" dirty="0">
                <a:latin typeface="Times New Roman" panose="02020603050405020304" pitchFamily="18" charset="0"/>
              </a:rPr>
              <a:t>的输出结构配置了可以任意组态的输出逻辑宏单元</a:t>
            </a:r>
            <a:r>
              <a:rPr lang="en-US" altLang="zh-CN" sz="2400" b="1" dirty="0">
                <a:latin typeface="Times New Roman" panose="02020603050405020304" pitchFamily="18" charset="0"/>
              </a:rPr>
              <a:t>OLMC</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Output Logic Macro Cell</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7232"/>
                                        </p:tgtEl>
                                        <p:attrNameLst>
                                          <p:attrName>style.visibility</p:attrName>
                                        </p:attrNameLst>
                                      </p:cBhvr>
                                      <p:to>
                                        <p:strVal val="visible"/>
                                      </p:to>
                                    </p:set>
                                    <p:animEffect transition="in" filter="wipe(left)">
                                      <p:cBhvr>
                                        <p:cTn id="7" dur="500"/>
                                        <p:tgtEl>
                                          <p:spTgt spid="1372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7233"/>
                                        </p:tgtEl>
                                        <p:attrNameLst>
                                          <p:attrName>style.visibility</p:attrName>
                                        </p:attrNameLst>
                                      </p:cBhvr>
                                      <p:to>
                                        <p:strVal val="visible"/>
                                      </p:to>
                                    </p:set>
                                    <p:animEffect transition="in" filter="wipe(left)">
                                      <p:cBhvr>
                                        <p:cTn id="12" dur="500"/>
                                        <p:tgtEl>
                                          <p:spTgt spid="1372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7234"/>
                                        </p:tgtEl>
                                        <p:attrNameLst>
                                          <p:attrName>style.visibility</p:attrName>
                                        </p:attrNameLst>
                                      </p:cBhvr>
                                      <p:to>
                                        <p:strVal val="visible"/>
                                      </p:to>
                                    </p:set>
                                    <p:animEffect transition="in" filter="wipe(left)">
                                      <p:cBhvr>
                                        <p:cTn id="17" dur="500"/>
                                        <p:tgtEl>
                                          <p:spTgt spid="1372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7235"/>
                                        </p:tgtEl>
                                        <p:attrNameLst>
                                          <p:attrName>style.visibility</p:attrName>
                                        </p:attrNameLst>
                                      </p:cBhvr>
                                      <p:to>
                                        <p:strVal val="visible"/>
                                      </p:to>
                                    </p:set>
                                    <p:animEffect transition="in" filter="wipe(left)">
                                      <p:cBhvr>
                                        <p:cTn id="22" dur="500"/>
                                        <p:tgtEl>
                                          <p:spTgt spid="1372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7236"/>
                                        </p:tgtEl>
                                        <p:attrNameLst>
                                          <p:attrName>style.visibility</p:attrName>
                                        </p:attrNameLst>
                                      </p:cBhvr>
                                      <p:to>
                                        <p:strVal val="visible"/>
                                      </p:to>
                                    </p:set>
                                    <p:animEffect transition="in" filter="wipe(left)">
                                      <p:cBhvr>
                                        <p:cTn id="27" dur="500"/>
                                        <p:tgtEl>
                                          <p:spTgt spid="137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32" grpId="0"/>
      <p:bldP spid="137233" grpId="0"/>
      <p:bldP spid="137234" grpId="0" animBg="1"/>
      <p:bldP spid="137235" grpId="0"/>
      <p:bldP spid="13723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Text Box 24"/>
          <p:cNvSpPr txBox="1"/>
          <p:nvPr/>
        </p:nvSpPr>
        <p:spPr>
          <a:xfrm>
            <a:off x="152400" y="152400"/>
            <a:ext cx="7391400" cy="45720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GAL</a:t>
            </a:r>
            <a:r>
              <a:rPr lang="zh-CN" altLang="en-US" sz="2400" dirty="0">
                <a:latin typeface="Times New Roman" panose="02020603050405020304" pitchFamily="18" charset="0"/>
              </a:rPr>
              <a:t>和</a:t>
            </a:r>
            <a:r>
              <a:rPr lang="en-US" altLang="zh-CN" sz="2400" dirty="0">
                <a:latin typeface="Times New Roman" panose="02020603050405020304" pitchFamily="18" charset="0"/>
              </a:rPr>
              <a:t>PAL</a:t>
            </a:r>
            <a:r>
              <a:rPr lang="zh-CN" altLang="en-US" sz="2400" dirty="0">
                <a:latin typeface="Times New Roman" panose="02020603050405020304" pitchFamily="18" charset="0"/>
              </a:rPr>
              <a:t>在结构上的区别见下图：</a:t>
            </a:r>
            <a:endParaRPr lang="zh-CN" altLang="en-US" sz="2400" dirty="0">
              <a:latin typeface="Times New Roman" panose="02020603050405020304" pitchFamily="18" charset="0"/>
            </a:endParaRPr>
          </a:p>
        </p:txBody>
      </p:sp>
      <p:graphicFrame>
        <p:nvGraphicFramePr>
          <p:cNvPr id="44035" name="Object 25"/>
          <p:cNvGraphicFramePr>
            <a:graphicFrameLocks noChangeAspect="1"/>
          </p:cNvGraphicFramePr>
          <p:nvPr/>
        </p:nvGraphicFramePr>
        <p:xfrm>
          <a:off x="838200" y="838200"/>
          <a:ext cx="7543800" cy="5649913"/>
        </p:xfrm>
        <a:graphic>
          <a:graphicData uri="http://schemas.openxmlformats.org/presentationml/2006/ole">
            <mc:AlternateContent xmlns:mc="http://schemas.openxmlformats.org/markup-compatibility/2006">
              <mc:Choice xmlns:v="urn:schemas-microsoft-com:vml" Requires="v">
                <p:oleObj spid="_x0000_s3106" name="" r:id="rId1" imgW="4791075" imgH="3619500" progId="Paint.Picture">
                  <p:embed/>
                </p:oleObj>
              </mc:Choice>
              <mc:Fallback>
                <p:oleObj name="" r:id="rId1" imgW="4791075" imgH="3619500" progId="Paint.Picture">
                  <p:embed/>
                  <p:pic>
                    <p:nvPicPr>
                      <p:cNvPr id="0" name="图片 3105"/>
                      <p:cNvPicPr/>
                      <p:nvPr/>
                    </p:nvPicPr>
                    <p:blipFill>
                      <a:blip r:embed="rId2"/>
                      <a:stretch>
                        <a:fillRect/>
                      </a:stretch>
                    </p:blipFill>
                    <p:spPr>
                      <a:xfrm>
                        <a:off x="838200" y="838200"/>
                        <a:ext cx="7543800" cy="5649913"/>
                      </a:xfrm>
                      <a:prstGeom prst="rect">
                        <a:avLst/>
                      </a:prstGeom>
                      <a:noFill/>
                      <a:ln w="38100">
                        <a:noFill/>
                        <a:miter/>
                      </a:ln>
                    </p:spPr>
                  </p:pic>
                </p:oleObj>
              </mc:Fallback>
            </mc:AlternateContent>
          </a:graphicData>
        </a:graphic>
      </p:graphicFrame>
      <p:grpSp>
        <p:nvGrpSpPr>
          <p:cNvPr id="139292" name="Group 28"/>
          <p:cNvGrpSpPr/>
          <p:nvPr/>
        </p:nvGrpSpPr>
        <p:grpSpPr>
          <a:xfrm>
            <a:off x="4648200" y="304800"/>
            <a:ext cx="2971800" cy="2819400"/>
            <a:chOff x="2928" y="192"/>
            <a:chExt cx="1872" cy="1776"/>
          </a:xfrm>
        </p:grpSpPr>
        <p:sp>
          <p:nvSpPr>
            <p:cNvPr id="44041" name="Rectangle 26"/>
            <p:cNvSpPr/>
            <p:nvPr/>
          </p:nvSpPr>
          <p:spPr>
            <a:xfrm>
              <a:off x="2928" y="768"/>
              <a:ext cx="1488" cy="1200"/>
            </a:xfrm>
            <a:prstGeom prst="rect">
              <a:avLst/>
            </a:prstGeom>
            <a:noFill/>
            <a:ln w="76200" cap="flat" cmpd="sng">
              <a:solidFill>
                <a:schemeClr val="accent1"/>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44042" name="AutoShape 27"/>
            <p:cNvSpPr/>
            <p:nvPr/>
          </p:nvSpPr>
          <p:spPr>
            <a:xfrm>
              <a:off x="3840" y="192"/>
              <a:ext cx="960" cy="336"/>
            </a:xfrm>
            <a:prstGeom prst="wedgeRectCallout">
              <a:avLst>
                <a:gd name="adj1" fmla="val -50940"/>
                <a:gd name="adj2" fmla="val 114287"/>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2400" dirty="0">
                  <a:latin typeface="Times New Roman" panose="02020603050405020304" pitchFamily="18" charset="0"/>
                </a:rPr>
                <a:t>PAL</a:t>
              </a:r>
              <a:r>
                <a:rPr lang="zh-CN" altLang="en-US" sz="2400" dirty="0">
                  <a:latin typeface="Times New Roman" panose="02020603050405020304" pitchFamily="18" charset="0"/>
                </a:rPr>
                <a:t>结构</a:t>
              </a:r>
              <a:endParaRPr lang="zh-CN" altLang="en-US" sz="2400" dirty="0">
                <a:latin typeface="Times New Roman" panose="02020603050405020304" pitchFamily="18" charset="0"/>
              </a:endParaRPr>
            </a:p>
          </p:txBody>
        </p:sp>
      </p:grpSp>
      <p:grpSp>
        <p:nvGrpSpPr>
          <p:cNvPr id="139295" name="Group 31"/>
          <p:cNvGrpSpPr/>
          <p:nvPr/>
        </p:nvGrpSpPr>
        <p:grpSpPr>
          <a:xfrm>
            <a:off x="4648200" y="3124200"/>
            <a:ext cx="4495800" cy="2209800"/>
            <a:chOff x="2928" y="1968"/>
            <a:chExt cx="2832" cy="1392"/>
          </a:xfrm>
        </p:grpSpPr>
        <p:sp>
          <p:nvSpPr>
            <p:cNvPr id="44039" name="AutoShape 29"/>
            <p:cNvSpPr/>
            <p:nvPr/>
          </p:nvSpPr>
          <p:spPr>
            <a:xfrm>
              <a:off x="4752" y="1968"/>
              <a:ext cx="1008" cy="384"/>
            </a:xfrm>
            <a:prstGeom prst="wedgeRectCallout">
              <a:avLst>
                <a:gd name="adj1" fmla="val -77977"/>
                <a:gd name="adj2" fmla="val 129949"/>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2400" dirty="0">
                  <a:latin typeface="Times New Roman" panose="02020603050405020304" pitchFamily="18" charset="0"/>
                </a:rPr>
                <a:t>GAL</a:t>
              </a:r>
              <a:r>
                <a:rPr lang="zh-CN" altLang="en-US" sz="2400" dirty="0">
                  <a:latin typeface="Times New Roman" panose="02020603050405020304" pitchFamily="18" charset="0"/>
                </a:rPr>
                <a:t>结构</a:t>
              </a:r>
              <a:endParaRPr lang="zh-CN" altLang="en-US" sz="2400" dirty="0">
                <a:latin typeface="Times New Roman" panose="02020603050405020304" pitchFamily="18" charset="0"/>
              </a:endParaRPr>
            </a:p>
          </p:txBody>
        </p:sp>
        <p:sp>
          <p:nvSpPr>
            <p:cNvPr id="44040" name="Rectangle 30"/>
            <p:cNvSpPr/>
            <p:nvPr/>
          </p:nvSpPr>
          <p:spPr>
            <a:xfrm>
              <a:off x="2928" y="2016"/>
              <a:ext cx="1488" cy="1344"/>
            </a:xfrm>
            <a:prstGeom prst="rect">
              <a:avLst/>
            </a:prstGeom>
            <a:noFill/>
            <a:ln w="76200" cap="flat" cmpd="sng">
              <a:solidFill>
                <a:schemeClr val="accent1"/>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sp>
        <p:nvSpPr>
          <p:cNvPr id="139296" name="AutoShape 32"/>
          <p:cNvSpPr/>
          <p:nvPr/>
        </p:nvSpPr>
        <p:spPr>
          <a:xfrm>
            <a:off x="228600" y="1524000"/>
            <a:ext cx="1905000" cy="3581400"/>
          </a:xfrm>
          <a:prstGeom prst="wedgeRectCallout">
            <a:avLst>
              <a:gd name="adj1" fmla="val 220250"/>
              <a:gd name="adj2" fmla="val 20657"/>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2400" dirty="0">
                <a:latin typeface="Times New Roman" panose="02020603050405020304" pitchFamily="18" charset="0"/>
              </a:rPr>
              <a:t>   </a:t>
            </a:r>
            <a:r>
              <a:rPr lang="zh-CN" altLang="en-US" sz="2400" dirty="0">
                <a:latin typeface="Times New Roman" panose="02020603050405020304" pitchFamily="18" charset="0"/>
              </a:rPr>
              <a:t>适当地为</a:t>
            </a:r>
            <a:endParaRPr lang="zh-CN" altLang="en-US" sz="2400" dirty="0">
              <a:latin typeface="Times New Roman" panose="02020603050405020304" pitchFamily="18" charset="0"/>
            </a:endParaRPr>
          </a:p>
          <a:p>
            <a:pPr eaLnBrk="1" hangingPunct="1"/>
            <a:r>
              <a:rPr lang="en-US" altLang="zh-CN" sz="2400" dirty="0">
                <a:latin typeface="Times New Roman" panose="02020603050405020304" pitchFamily="18" charset="0"/>
              </a:rPr>
              <a:t>OLMC</a:t>
            </a:r>
            <a:r>
              <a:rPr lang="zh-CN" altLang="en-US" sz="2400" dirty="0">
                <a:latin typeface="Times New Roman" panose="02020603050405020304" pitchFamily="18" charset="0"/>
              </a:rPr>
              <a:t>进行</a:t>
            </a:r>
            <a:endParaRPr lang="zh-CN" altLang="en-US" sz="2400" dirty="0">
              <a:latin typeface="Times New Roman" panose="02020603050405020304" pitchFamily="18" charset="0"/>
            </a:endParaRPr>
          </a:p>
          <a:p>
            <a:pPr eaLnBrk="1" hangingPunct="1"/>
            <a:r>
              <a:rPr lang="zh-CN" altLang="en-US" sz="2400" dirty="0">
                <a:latin typeface="Times New Roman" panose="02020603050405020304" pitchFamily="18" charset="0"/>
              </a:rPr>
              <a:t>编程，</a:t>
            </a:r>
            <a:r>
              <a:rPr lang="en-US" altLang="zh-CN" sz="2400" dirty="0">
                <a:latin typeface="Times New Roman" panose="02020603050405020304" pitchFamily="18" charset="0"/>
              </a:rPr>
              <a:t>GAL</a:t>
            </a:r>
            <a:endParaRPr lang="en-US" altLang="zh-CN" sz="2400" dirty="0">
              <a:latin typeface="Times New Roman" panose="02020603050405020304" pitchFamily="18" charset="0"/>
            </a:endParaRPr>
          </a:p>
          <a:p>
            <a:pPr eaLnBrk="1" hangingPunct="1"/>
            <a:r>
              <a:rPr lang="zh-CN" altLang="en-US" sz="2400" dirty="0">
                <a:latin typeface="Times New Roman" panose="02020603050405020304" pitchFamily="18" charset="0"/>
              </a:rPr>
              <a:t>就可以在功</a:t>
            </a:r>
            <a:endParaRPr lang="zh-CN" altLang="en-US" sz="2400" dirty="0">
              <a:latin typeface="Times New Roman" panose="02020603050405020304" pitchFamily="18" charset="0"/>
            </a:endParaRPr>
          </a:p>
          <a:p>
            <a:pPr eaLnBrk="1" hangingPunct="1"/>
            <a:r>
              <a:rPr lang="zh-CN" altLang="en-US" sz="2400" dirty="0">
                <a:latin typeface="Times New Roman" panose="02020603050405020304" pitchFamily="18" charset="0"/>
              </a:rPr>
              <a:t>能上代替前</a:t>
            </a:r>
            <a:endParaRPr lang="zh-CN" altLang="en-US" sz="2400" dirty="0">
              <a:latin typeface="Times New Roman" panose="02020603050405020304" pitchFamily="18" charset="0"/>
            </a:endParaRPr>
          </a:p>
          <a:p>
            <a:pPr eaLnBrk="1" hangingPunct="1"/>
            <a:r>
              <a:rPr lang="zh-CN" altLang="en-US" sz="2400" dirty="0">
                <a:latin typeface="Times New Roman" panose="02020603050405020304" pitchFamily="18" charset="0"/>
              </a:rPr>
              <a:t>面讨论过的</a:t>
            </a:r>
            <a:endParaRPr lang="zh-CN" altLang="en-US" sz="2400" dirty="0">
              <a:latin typeface="Times New Roman" panose="02020603050405020304" pitchFamily="18" charset="0"/>
            </a:endParaRPr>
          </a:p>
          <a:p>
            <a:pPr eaLnBrk="1" hangingPunct="1"/>
            <a:r>
              <a:rPr lang="en-US" altLang="zh-CN" sz="2400" dirty="0">
                <a:latin typeface="Times New Roman" panose="02020603050405020304" pitchFamily="18" charset="0"/>
              </a:rPr>
              <a:t>PAL</a:t>
            </a:r>
            <a:r>
              <a:rPr lang="zh-CN" altLang="en-US" sz="2400" dirty="0">
                <a:latin typeface="Times New Roman" panose="02020603050405020304" pitchFamily="18" charset="0"/>
              </a:rPr>
              <a:t>各种输</a:t>
            </a:r>
            <a:endParaRPr lang="zh-CN" altLang="en-US" sz="2400" dirty="0">
              <a:latin typeface="Times New Roman" panose="02020603050405020304" pitchFamily="18" charset="0"/>
            </a:endParaRPr>
          </a:p>
          <a:p>
            <a:pPr eaLnBrk="1" hangingPunct="1"/>
            <a:r>
              <a:rPr lang="zh-CN" altLang="en-US" sz="2400" dirty="0">
                <a:latin typeface="Times New Roman" panose="02020603050405020304" pitchFamily="18" charset="0"/>
              </a:rPr>
              <a:t>出类型以及</a:t>
            </a:r>
            <a:endParaRPr lang="zh-CN" altLang="en-US" sz="2400" dirty="0">
              <a:latin typeface="Times New Roman" panose="02020603050405020304" pitchFamily="18" charset="0"/>
            </a:endParaRPr>
          </a:p>
          <a:p>
            <a:pPr eaLnBrk="1" hangingPunct="1"/>
            <a:r>
              <a:rPr lang="zh-CN" altLang="en-US" sz="2400" dirty="0">
                <a:latin typeface="Times New Roman" panose="02020603050405020304" pitchFamily="18" charset="0"/>
              </a:rPr>
              <a:t>其派生类型</a:t>
            </a:r>
            <a:endParaRPr lang="zh-CN" altLang="en-US" sz="2400"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39292"/>
                                        </p:tgtEl>
                                        <p:attrNameLst>
                                          <p:attrName>style.visibility</p:attrName>
                                        </p:attrNameLst>
                                      </p:cBhvr>
                                      <p:to>
                                        <p:strVal val="visible"/>
                                      </p:to>
                                    </p:set>
                                  </p:childTnLst>
                                  <p:subTnLst>
                                    <p:set>
                                      <p:cBhvr override="childStyle">
                                        <p:cTn dur="1" fill="hold" display="0" masterRel="nextClick" afterEffect="1"/>
                                        <p:tgtEl>
                                          <p:spTgt spid="13929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2" presetClass="entr" presetSubtype="2" fill="hold" nodeType="clickEffect">
                                  <p:stCondLst>
                                    <p:cond delay="0"/>
                                  </p:stCondLst>
                                  <p:childTnLst>
                                    <p:set>
                                      <p:cBhvr>
                                        <p:cTn id="10" dur="1" fill="hold">
                                          <p:stCondLst>
                                            <p:cond delay="0"/>
                                          </p:stCondLst>
                                        </p:cTn>
                                        <p:tgtEl>
                                          <p:spTgt spid="139295"/>
                                        </p:tgtEl>
                                        <p:attrNameLst>
                                          <p:attrName>style.visibility</p:attrName>
                                        </p:attrNameLst>
                                      </p:cBhvr>
                                      <p:to>
                                        <p:strVal val="visible"/>
                                      </p:to>
                                    </p:set>
                                    <p:anim calcmode="lin" valueType="num">
                                      <p:cBhvr additive="base">
                                        <p:cTn id="11" dur="500" fill="hold"/>
                                        <p:tgtEl>
                                          <p:spTgt spid="139295"/>
                                        </p:tgtEl>
                                        <p:attrNameLst>
                                          <p:attrName>ppt_x</p:attrName>
                                        </p:attrNameLst>
                                      </p:cBhvr>
                                      <p:tavLst>
                                        <p:tav tm="0">
                                          <p:val>
                                            <p:strVal val="1+#ppt_w/2"/>
                                          </p:val>
                                        </p:tav>
                                        <p:tav tm="100000">
                                          <p:val>
                                            <p:strVal val="#ppt_x"/>
                                          </p:val>
                                        </p:tav>
                                      </p:tavLst>
                                    </p:anim>
                                    <p:anim calcmode="lin" valueType="num">
                                      <p:cBhvr additive="base">
                                        <p:cTn id="12" dur="500" fill="hold"/>
                                        <p:tgtEl>
                                          <p:spTgt spid="139295"/>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39295"/>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39296"/>
                                        </p:tgtEl>
                                        <p:attrNameLst>
                                          <p:attrName>style.visibility</p:attrName>
                                        </p:attrNameLst>
                                      </p:cBhvr>
                                      <p:to>
                                        <p:strVal val="visible"/>
                                      </p:to>
                                    </p:set>
                                    <p:anim calcmode="lin" valueType="num">
                                      <p:cBhvr additive="base">
                                        <p:cTn id="17" dur="500" fill="hold"/>
                                        <p:tgtEl>
                                          <p:spTgt spid="139296"/>
                                        </p:tgtEl>
                                        <p:attrNameLst>
                                          <p:attrName>ppt_x</p:attrName>
                                        </p:attrNameLst>
                                      </p:cBhvr>
                                      <p:tavLst>
                                        <p:tav tm="0">
                                          <p:val>
                                            <p:strVal val="0-#ppt_w/2"/>
                                          </p:val>
                                        </p:tav>
                                        <p:tav tm="100000">
                                          <p:val>
                                            <p:strVal val="#ppt_x"/>
                                          </p:val>
                                        </p:tav>
                                      </p:tavLst>
                                    </p:anim>
                                    <p:anim calcmode="lin" valueType="num">
                                      <p:cBhvr additive="base">
                                        <p:cTn id="18" dur="500" fill="hold"/>
                                        <p:tgtEl>
                                          <p:spTgt spid="139296"/>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3929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9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Text Box 13"/>
          <p:cNvSpPr txBox="1"/>
          <p:nvPr/>
        </p:nvSpPr>
        <p:spPr>
          <a:xfrm>
            <a:off x="152400" y="152400"/>
            <a:ext cx="7620000" cy="457200"/>
          </a:xfrm>
          <a:prstGeom prst="rect">
            <a:avLst/>
          </a:prstGeom>
          <a:noFill/>
          <a:ln w="9525">
            <a:noFill/>
          </a:ln>
        </p:spPr>
        <p:txBody>
          <a:bodyPr>
            <a:spAutoFit/>
          </a:bodyPr>
          <a:p>
            <a:pPr algn="just" eaLnBrk="1" hangingPunct="1"/>
            <a:r>
              <a:rPr lang="zh-CN" altLang="en-US" sz="2400" dirty="0">
                <a:latin typeface="Times New Roman" panose="02020603050405020304" pitchFamily="18" charset="0"/>
              </a:rPr>
              <a:t>（一）</a:t>
            </a:r>
            <a:r>
              <a:rPr lang="en-US" altLang="zh-CN" sz="2400" dirty="0">
                <a:latin typeface="Times New Roman" panose="02020603050405020304" pitchFamily="18" charset="0"/>
              </a:rPr>
              <a:t>GAL</a:t>
            </a:r>
            <a:r>
              <a:rPr lang="zh-CN" altLang="en-US" sz="2400" dirty="0">
                <a:latin typeface="Times New Roman" panose="02020603050405020304" pitchFamily="18" charset="0"/>
              </a:rPr>
              <a:t>器件结构和特点</a:t>
            </a:r>
            <a:endParaRPr lang="zh-CN" altLang="en-US" sz="2400" dirty="0">
              <a:latin typeface="Times New Roman" panose="02020603050405020304" pitchFamily="18" charset="0"/>
            </a:endParaRPr>
          </a:p>
        </p:txBody>
      </p:sp>
      <p:sp>
        <p:nvSpPr>
          <p:cNvPr id="140302" name="Text Box 14"/>
          <p:cNvSpPr txBox="1"/>
          <p:nvPr/>
        </p:nvSpPr>
        <p:spPr>
          <a:xfrm>
            <a:off x="457200" y="609600"/>
            <a:ext cx="8686800" cy="1187450"/>
          </a:xfrm>
          <a:prstGeom prst="rect">
            <a:avLst/>
          </a:prstGeom>
          <a:noFill/>
          <a:ln w="9525">
            <a:noFill/>
          </a:ln>
        </p:spPr>
        <p:txBody>
          <a:bodyPr>
            <a:spAutoFit/>
          </a:bodyPr>
          <a:p>
            <a:pPr eaLnBrk="1" hangingPunct="1"/>
            <a:r>
              <a:rPr lang="en-US" altLang="zh-CN" sz="2400" dirty="0">
                <a:latin typeface="Times New Roman" panose="02020603050405020304" pitchFamily="18" charset="0"/>
              </a:rPr>
              <a:t>        GAL</a:t>
            </a:r>
            <a:r>
              <a:rPr lang="zh-CN" altLang="en-US" sz="2400" dirty="0">
                <a:latin typeface="Times New Roman" panose="02020603050405020304" pitchFamily="18" charset="0"/>
              </a:rPr>
              <a:t>器件型号定义和</a:t>
            </a:r>
            <a:r>
              <a:rPr lang="en-US" altLang="zh-CN" sz="2400" dirty="0">
                <a:latin typeface="Times New Roman" panose="02020603050405020304" pitchFamily="18" charset="0"/>
              </a:rPr>
              <a:t>PAL</a:t>
            </a:r>
            <a:r>
              <a:rPr lang="zh-CN" altLang="en-US" sz="2400" dirty="0">
                <a:latin typeface="Times New Roman" panose="02020603050405020304" pitchFamily="18" charset="0"/>
              </a:rPr>
              <a:t>一样根据输入输出的数量来确定，</a:t>
            </a:r>
            <a:r>
              <a:rPr lang="en-US" altLang="zh-CN" sz="2400" dirty="0">
                <a:latin typeface="Times New Roman" panose="02020603050405020304" pitchFamily="18" charset="0"/>
              </a:rPr>
              <a:t>GAL16V8</a:t>
            </a:r>
            <a:r>
              <a:rPr lang="zh-CN" altLang="en-US" sz="2400" dirty="0">
                <a:latin typeface="Times New Roman" panose="02020603050405020304" pitchFamily="18" charset="0"/>
              </a:rPr>
              <a:t>中的</a:t>
            </a:r>
            <a:r>
              <a:rPr lang="en-US" altLang="zh-CN" sz="2400" dirty="0">
                <a:latin typeface="Times New Roman" panose="02020603050405020304" pitchFamily="18" charset="0"/>
              </a:rPr>
              <a:t>16</a:t>
            </a:r>
            <a:r>
              <a:rPr lang="zh-CN" altLang="en-US" sz="2400" dirty="0">
                <a:latin typeface="Times New Roman" panose="02020603050405020304" pitchFamily="18" charset="0"/>
              </a:rPr>
              <a:t>表示阵列的输入端数量，</a:t>
            </a:r>
            <a:r>
              <a:rPr lang="en-US" altLang="zh-CN" sz="2400" dirty="0">
                <a:latin typeface="Times New Roman" panose="02020603050405020304" pitchFamily="18" charset="0"/>
              </a:rPr>
              <a:t>8</a:t>
            </a:r>
            <a:r>
              <a:rPr lang="zh-CN" altLang="en-US" sz="2400" dirty="0">
                <a:latin typeface="Times New Roman" panose="02020603050405020304" pitchFamily="18" charset="0"/>
              </a:rPr>
              <a:t>表示输出端数量，</a:t>
            </a:r>
            <a:r>
              <a:rPr lang="en-US" altLang="zh-CN" sz="2400" dirty="0">
                <a:latin typeface="Times New Roman" panose="02020603050405020304" pitchFamily="18" charset="0"/>
              </a:rPr>
              <a:t>V</a:t>
            </a:r>
            <a:r>
              <a:rPr lang="zh-CN" altLang="en-US" sz="2400" dirty="0">
                <a:latin typeface="Times New Roman" panose="02020603050405020304" pitchFamily="18" charset="0"/>
              </a:rPr>
              <a:t>则表示输出形式可以改变的普通型</a:t>
            </a:r>
            <a:endParaRPr lang="zh-CN" altLang="en-US" sz="2400" dirty="0">
              <a:latin typeface="Times New Roman" panose="02020603050405020304" pitchFamily="18" charset="0"/>
            </a:endParaRPr>
          </a:p>
        </p:txBody>
      </p:sp>
      <p:sp>
        <p:nvSpPr>
          <p:cNvPr id="140303" name="Text Box 15"/>
          <p:cNvSpPr txBox="1"/>
          <p:nvPr/>
        </p:nvSpPr>
        <p:spPr>
          <a:xfrm>
            <a:off x="457200" y="1752600"/>
            <a:ext cx="4419600" cy="45720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1. GAL16V8</a:t>
            </a:r>
            <a:r>
              <a:rPr lang="zh-CN" altLang="en-US" sz="2400" dirty="0">
                <a:latin typeface="Times New Roman" panose="02020603050405020304" pitchFamily="18" charset="0"/>
              </a:rPr>
              <a:t>的基本结构（下图）</a:t>
            </a:r>
            <a:endParaRPr lang="zh-CN" altLang="en-US" sz="2400" dirty="0">
              <a:latin typeface="Times New Roman" panose="02020603050405020304" pitchFamily="18" charset="0"/>
            </a:endParaRPr>
          </a:p>
        </p:txBody>
      </p:sp>
      <p:graphicFrame>
        <p:nvGraphicFramePr>
          <p:cNvPr id="140304" name="Object 16"/>
          <p:cNvGraphicFramePr>
            <a:graphicFrameLocks noChangeAspect="1"/>
          </p:cNvGraphicFramePr>
          <p:nvPr/>
        </p:nvGraphicFramePr>
        <p:xfrm>
          <a:off x="152400" y="3352800"/>
          <a:ext cx="8915400" cy="2895600"/>
        </p:xfrm>
        <a:graphic>
          <a:graphicData uri="http://schemas.openxmlformats.org/presentationml/2006/ole">
            <mc:AlternateContent xmlns:mc="http://schemas.openxmlformats.org/markup-compatibility/2006">
              <mc:Choice xmlns:v="urn:schemas-microsoft-com:vml" Requires="v">
                <p:oleObj spid="_x0000_s3105" name="" r:id="rId1" imgW="5410200" imgH="1714500" progId="Paint.Picture">
                  <p:embed/>
                </p:oleObj>
              </mc:Choice>
              <mc:Fallback>
                <p:oleObj name="" r:id="rId1" imgW="5410200" imgH="1714500" progId="Paint.Picture">
                  <p:embed/>
                  <p:pic>
                    <p:nvPicPr>
                      <p:cNvPr id="0" name="图片 3104"/>
                      <p:cNvPicPr/>
                      <p:nvPr/>
                    </p:nvPicPr>
                    <p:blipFill>
                      <a:blip r:embed="rId2"/>
                      <a:stretch>
                        <a:fillRect/>
                      </a:stretch>
                    </p:blipFill>
                    <p:spPr>
                      <a:xfrm>
                        <a:off x="152400" y="3352800"/>
                        <a:ext cx="8915400" cy="2895600"/>
                      </a:xfrm>
                      <a:prstGeom prst="rect">
                        <a:avLst/>
                      </a:prstGeom>
                      <a:noFill/>
                      <a:ln w="38100">
                        <a:noFill/>
                        <a:miter/>
                      </a:ln>
                    </p:spPr>
                  </p:pic>
                </p:oleObj>
              </mc:Fallback>
            </mc:AlternateContent>
          </a:graphicData>
        </a:graphic>
      </p:graphicFrame>
      <p:grpSp>
        <p:nvGrpSpPr>
          <p:cNvPr id="140307" name="Group 19"/>
          <p:cNvGrpSpPr/>
          <p:nvPr/>
        </p:nvGrpSpPr>
        <p:grpSpPr>
          <a:xfrm>
            <a:off x="533400" y="2514600"/>
            <a:ext cx="2362200" cy="3733800"/>
            <a:chOff x="336" y="1584"/>
            <a:chExt cx="1488" cy="2352"/>
          </a:xfrm>
        </p:grpSpPr>
        <p:sp>
          <p:nvSpPr>
            <p:cNvPr id="45074" name="Rectangle 17"/>
            <p:cNvSpPr/>
            <p:nvPr/>
          </p:nvSpPr>
          <p:spPr>
            <a:xfrm>
              <a:off x="336" y="2016"/>
              <a:ext cx="192" cy="1920"/>
            </a:xfrm>
            <a:prstGeom prst="rect">
              <a:avLst/>
            </a:prstGeom>
            <a:noFill/>
            <a:ln w="5715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45075" name="AutoShape 18"/>
            <p:cNvSpPr/>
            <p:nvPr/>
          </p:nvSpPr>
          <p:spPr>
            <a:xfrm>
              <a:off x="528" y="1584"/>
              <a:ext cx="1296" cy="288"/>
            </a:xfrm>
            <a:prstGeom prst="wedgeRectCallout">
              <a:avLst>
                <a:gd name="adj1" fmla="val -47685"/>
                <a:gd name="adj2" fmla="val 129861"/>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2400" dirty="0">
                  <a:latin typeface="Times New Roman" panose="02020603050405020304" pitchFamily="18" charset="0"/>
                </a:rPr>
                <a:t>8</a:t>
              </a:r>
              <a:r>
                <a:rPr lang="zh-CN" altLang="en-US" sz="2400" dirty="0">
                  <a:latin typeface="Times New Roman" panose="02020603050405020304" pitchFamily="18" charset="0"/>
                </a:rPr>
                <a:t>个输入缓冲器</a:t>
              </a:r>
              <a:endParaRPr lang="zh-CN" altLang="en-US" sz="2400" dirty="0">
                <a:latin typeface="Times New Roman" panose="02020603050405020304" pitchFamily="18" charset="0"/>
              </a:endParaRPr>
            </a:p>
          </p:txBody>
        </p:sp>
      </p:grpSp>
      <p:grpSp>
        <p:nvGrpSpPr>
          <p:cNvPr id="140312" name="Group 24"/>
          <p:cNvGrpSpPr/>
          <p:nvPr/>
        </p:nvGrpSpPr>
        <p:grpSpPr>
          <a:xfrm>
            <a:off x="6400800" y="2286000"/>
            <a:ext cx="2343150" cy="3810000"/>
            <a:chOff x="4032" y="1440"/>
            <a:chExt cx="1476" cy="2400"/>
          </a:xfrm>
        </p:grpSpPr>
        <p:sp>
          <p:nvSpPr>
            <p:cNvPr id="45071" name="Rectangle 21"/>
            <p:cNvSpPr/>
            <p:nvPr/>
          </p:nvSpPr>
          <p:spPr>
            <a:xfrm>
              <a:off x="4080" y="2784"/>
              <a:ext cx="240" cy="288"/>
            </a:xfrm>
            <a:prstGeom prst="rect">
              <a:avLst/>
            </a:prstGeom>
            <a:noFill/>
            <a:ln w="5715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45072" name="AutoShape 22"/>
            <p:cNvSpPr/>
            <p:nvPr/>
          </p:nvSpPr>
          <p:spPr>
            <a:xfrm>
              <a:off x="4032" y="1440"/>
              <a:ext cx="1476" cy="274"/>
            </a:xfrm>
            <a:prstGeom prst="wedgeRectCallout">
              <a:avLst>
                <a:gd name="adj1" fmla="val -34148"/>
                <a:gd name="adj2" fmla="val 436861"/>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2400" dirty="0">
                  <a:latin typeface="Times New Roman" panose="02020603050405020304" pitchFamily="18" charset="0"/>
                </a:rPr>
                <a:t>8</a:t>
              </a:r>
              <a:r>
                <a:rPr lang="zh-CN" altLang="en-US" sz="2400" dirty="0">
                  <a:latin typeface="Times New Roman" panose="02020603050405020304" pitchFamily="18" charset="0"/>
                </a:rPr>
                <a:t>个输出反馈缓冲器</a:t>
              </a:r>
              <a:endParaRPr lang="zh-CN" altLang="en-US" sz="2400" dirty="0">
                <a:latin typeface="Times New Roman" panose="02020603050405020304" pitchFamily="18" charset="0"/>
              </a:endParaRPr>
            </a:p>
          </p:txBody>
        </p:sp>
        <p:sp>
          <p:nvSpPr>
            <p:cNvPr id="45073" name="Rectangle 23"/>
            <p:cNvSpPr/>
            <p:nvPr/>
          </p:nvSpPr>
          <p:spPr>
            <a:xfrm>
              <a:off x="4080" y="3552"/>
              <a:ext cx="240" cy="288"/>
            </a:xfrm>
            <a:prstGeom prst="rect">
              <a:avLst/>
            </a:prstGeom>
            <a:noFill/>
            <a:ln w="5715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sp>
        <p:nvSpPr>
          <p:cNvPr id="140313" name="AutoShape 25"/>
          <p:cNvSpPr/>
          <p:nvPr/>
        </p:nvSpPr>
        <p:spPr>
          <a:xfrm>
            <a:off x="914400" y="2209800"/>
            <a:ext cx="2514600" cy="762000"/>
          </a:xfrm>
          <a:prstGeom prst="wedgeRectCallout">
            <a:avLst>
              <a:gd name="adj1" fmla="val -80116"/>
              <a:gd name="adj2" fmla="val 120000"/>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dirty="0">
                <a:latin typeface="Times New Roman" panose="02020603050405020304" pitchFamily="18" charset="0"/>
              </a:rPr>
              <a:t>一个共用时钟</a:t>
            </a:r>
            <a:r>
              <a:rPr lang="en-US" altLang="zh-CN" sz="2400" dirty="0">
                <a:latin typeface="Times New Roman" panose="02020603050405020304" pitchFamily="18" charset="0"/>
              </a:rPr>
              <a:t>CLK</a:t>
            </a:r>
            <a:endParaRPr lang="en-US" altLang="zh-CN" sz="2400" dirty="0">
              <a:latin typeface="Times New Roman" panose="02020603050405020304" pitchFamily="18" charset="0"/>
            </a:endParaRPr>
          </a:p>
        </p:txBody>
      </p:sp>
      <p:grpSp>
        <p:nvGrpSpPr>
          <p:cNvPr id="140317" name="Group 29"/>
          <p:cNvGrpSpPr/>
          <p:nvPr/>
        </p:nvGrpSpPr>
        <p:grpSpPr>
          <a:xfrm>
            <a:off x="4114800" y="2286000"/>
            <a:ext cx="4191000" cy="3505200"/>
            <a:chOff x="2592" y="1440"/>
            <a:chExt cx="2640" cy="2208"/>
          </a:xfrm>
        </p:grpSpPr>
        <p:sp>
          <p:nvSpPr>
            <p:cNvPr id="45069" name="Rectangle 27"/>
            <p:cNvSpPr/>
            <p:nvPr/>
          </p:nvSpPr>
          <p:spPr>
            <a:xfrm>
              <a:off x="4896" y="2400"/>
              <a:ext cx="336" cy="1248"/>
            </a:xfrm>
            <a:prstGeom prst="rect">
              <a:avLst/>
            </a:prstGeom>
            <a:noFill/>
            <a:ln w="5715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45070" name="AutoShape 28"/>
            <p:cNvSpPr/>
            <p:nvPr/>
          </p:nvSpPr>
          <p:spPr>
            <a:xfrm>
              <a:off x="2592" y="1440"/>
              <a:ext cx="1296" cy="288"/>
            </a:xfrm>
            <a:prstGeom prst="wedgeRectCallout">
              <a:avLst>
                <a:gd name="adj1" fmla="val 126389"/>
                <a:gd name="adj2" fmla="val 271528"/>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2400" dirty="0">
                  <a:latin typeface="Times New Roman" panose="02020603050405020304" pitchFamily="18" charset="0"/>
                </a:rPr>
                <a:t>8</a:t>
              </a:r>
              <a:r>
                <a:rPr lang="zh-CN" altLang="en-US" sz="2400" dirty="0">
                  <a:latin typeface="Times New Roman" panose="02020603050405020304" pitchFamily="18" charset="0"/>
                </a:rPr>
                <a:t>个输出缓冲器</a:t>
              </a:r>
              <a:endParaRPr lang="zh-CN" altLang="en-US" sz="2400" dirty="0">
                <a:latin typeface="Times New Roman" panose="02020603050405020304" pitchFamily="18" charset="0"/>
              </a:endParaRPr>
            </a:p>
          </p:txBody>
        </p:sp>
      </p:grpSp>
      <p:grpSp>
        <p:nvGrpSpPr>
          <p:cNvPr id="140321" name="Group 33"/>
          <p:cNvGrpSpPr/>
          <p:nvPr/>
        </p:nvGrpSpPr>
        <p:grpSpPr>
          <a:xfrm>
            <a:off x="2819400" y="2590800"/>
            <a:ext cx="4953000" cy="3810000"/>
            <a:chOff x="1776" y="1632"/>
            <a:chExt cx="3120" cy="2400"/>
          </a:xfrm>
        </p:grpSpPr>
        <p:sp>
          <p:nvSpPr>
            <p:cNvPr id="45067" name="Rectangle 31"/>
            <p:cNvSpPr/>
            <p:nvPr/>
          </p:nvSpPr>
          <p:spPr>
            <a:xfrm>
              <a:off x="4368" y="2208"/>
              <a:ext cx="528" cy="1824"/>
            </a:xfrm>
            <a:prstGeom prst="rect">
              <a:avLst/>
            </a:prstGeom>
            <a:noFill/>
            <a:ln w="5715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45068" name="AutoShape 32"/>
            <p:cNvSpPr/>
            <p:nvPr/>
          </p:nvSpPr>
          <p:spPr>
            <a:xfrm>
              <a:off x="1776" y="1632"/>
              <a:ext cx="1296" cy="288"/>
            </a:xfrm>
            <a:prstGeom prst="wedgeRectCallout">
              <a:avLst>
                <a:gd name="adj1" fmla="val 149537"/>
                <a:gd name="adj2" fmla="val 175694"/>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2400" dirty="0">
                  <a:latin typeface="Times New Roman" panose="02020603050405020304" pitchFamily="18" charset="0"/>
                </a:rPr>
                <a:t>8</a:t>
              </a:r>
              <a:r>
                <a:rPr lang="zh-CN" altLang="en-US" sz="2400" dirty="0">
                  <a:latin typeface="Times New Roman" panose="02020603050405020304" pitchFamily="18" charset="0"/>
                </a:rPr>
                <a:t>个</a:t>
              </a:r>
              <a:r>
                <a:rPr lang="en-US" altLang="zh-CN" sz="2400" dirty="0">
                  <a:latin typeface="Times New Roman" panose="02020603050405020304" pitchFamily="18" charset="0"/>
                </a:rPr>
                <a:t>OLMC</a:t>
              </a:r>
              <a:endParaRPr lang="en-US" altLang="zh-CN" sz="2400" dirty="0">
                <a:latin typeface="Times New Roman" panose="02020603050405020304" pitchFamily="18" charset="0"/>
              </a:endParaRPr>
            </a:p>
          </p:txBody>
        </p:sp>
      </p:gr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0302"/>
                                        </p:tgtEl>
                                        <p:attrNameLst>
                                          <p:attrName>style.visibility</p:attrName>
                                        </p:attrNameLst>
                                      </p:cBhvr>
                                      <p:to>
                                        <p:strVal val="visible"/>
                                      </p:to>
                                    </p:set>
                                    <p:anim calcmode="lin" valueType="num">
                                      <p:cBhvr additive="base">
                                        <p:cTn id="7" dur="500" fill="hold"/>
                                        <p:tgtEl>
                                          <p:spTgt spid="140302"/>
                                        </p:tgtEl>
                                        <p:attrNameLst>
                                          <p:attrName>ppt_x</p:attrName>
                                        </p:attrNameLst>
                                      </p:cBhvr>
                                      <p:tavLst>
                                        <p:tav tm="0">
                                          <p:val>
                                            <p:strVal val="1+#ppt_w/2"/>
                                          </p:val>
                                        </p:tav>
                                        <p:tav tm="100000">
                                          <p:val>
                                            <p:strVal val="#ppt_x"/>
                                          </p:val>
                                        </p:tav>
                                      </p:tavLst>
                                    </p:anim>
                                    <p:anim calcmode="lin" valueType="num">
                                      <p:cBhvr additive="base">
                                        <p:cTn id="8" dur="500" fill="hold"/>
                                        <p:tgtEl>
                                          <p:spTgt spid="14030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iterate type="wd">
                                    <p:tmPct val="100000"/>
                                  </p:iterate>
                                  <p:childTnLst>
                                    <p:set>
                                      <p:cBhvr>
                                        <p:cTn id="12" dur="1" fill="hold">
                                          <p:stCondLst>
                                            <p:cond delay="0"/>
                                          </p:stCondLst>
                                        </p:cTn>
                                        <p:tgtEl>
                                          <p:spTgt spid="140303">
                                            <p:txEl>
                                              <p:charRg st="0" end="20"/>
                                            </p:txEl>
                                          </p:spTgt>
                                        </p:tgtEl>
                                        <p:attrNameLst>
                                          <p:attrName>style.visibility</p:attrName>
                                        </p:attrNameLst>
                                      </p:cBhvr>
                                      <p:to>
                                        <p:strVal val="visible"/>
                                      </p:to>
                                    </p:set>
                                    <p:anim calcmode="lin" valueType="num">
                                      <p:cBhvr additive="base">
                                        <p:cTn id="13" dur="300" fill="hold"/>
                                        <p:tgtEl>
                                          <p:spTgt spid="140303">
                                            <p:txEl>
                                              <p:charRg st="0" end="20"/>
                                            </p:txEl>
                                          </p:spTgt>
                                        </p:tgtEl>
                                        <p:attrNameLst>
                                          <p:attrName>ppt_x</p:attrName>
                                        </p:attrNameLst>
                                      </p:cBhvr>
                                      <p:tavLst>
                                        <p:tav tm="0">
                                          <p:val>
                                            <p:strVal val="1+#ppt_w/2"/>
                                          </p:val>
                                        </p:tav>
                                        <p:tav tm="100000">
                                          <p:val>
                                            <p:strVal val="#ppt_x"/>
                                          </p:val>
                                        </p:tav>
                                      </p:tavLst>
                                    </p:anim>
                                    <p:anim calcmode="lin" valueType="num">
                                      <p:cBhvr additive="base">
                                        <p:cTn id="14" dur="300" fill="hold"/>
                                        <p:tgtEl>
                                          <p:spTgt spid="140303">
                                            <p:txEl>
                                              <p:charRg st="0" end="2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4030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nodeType="clickEffect">
                                  <p:stCondLst>
                                    <p:cond delay="0"/>
                                  </p:stCondLst>
                                  <p:childTnLst>
                                    <p:set>
                                      <p:cBhvr>
                                        <p:cTn id="22" dur="1" fill="hold">
                                          <p:stCondLst>
                                            <p:cond delay="0"/>
                                          </p:stCondLst>
                                        </p:cTn>
                                        <p:tgtEl>
                                          <p:spTgt spid="140307"/>
                                        </p:tgtEl>
                                        <p:attrNameLst>
                                          <p:attrName>style.visibility</p:attrName>
                                        </p:attrNameLst>
                                      </p:cBhvr>
                                      <p:to>
                                        <p:strVal val="visible"/>
                                      </p:to>
                                    </p:set>
                                    <p:anim calcmode="lin" valueType="num">
                                      <p:cBhvr additive="base">
                                        <p:cTn id="23" dur="500" fill="hold"/>
                                        <p:tgtEl>
                                          <p:spTgt spid="140307"/>
                                        </p:tgtEl>
                                        <p:attrNameLst>
                                          <p:attrName>ppt_x</p:attrName>
                                        </p:attrNameLst>
                                      </p:cBhvr>
                                      <p:tavLst>
                                        <p:tav tm="0">
                                          <p:val>
                                            <p:strVal val="#ppt_x"/>
                                          </p:val>
                                        </p:tav>
                                        <p:tav tm="100000">
                                          <p:val>
                                            <p:strVal val="#ppt_x"/>
                                          </p:val>
                                        </p:tav>
                                      </p:tavLst>
                                    </p:anim>
                                    <p:anim calcmode="lin" valueType="num">
                                      <p:cBhvr additive="base">
                                        <p:cTn id="24" dur="500" fill="hold"/>
                                        <p:tgtEl>
                                          <p:spTgt spid="140307"/>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140307"/>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2" presetClass="entr" presetSubtype="1" fill="hold" nodeType="clickEffect">
                                  <p:stCondLst>
                                    <p:cond delay="0"/>
                                  </p:stCondLst>
                                  <p:childTnLst>
                                    <p:set>
                                      <p:cBhvr>
                                        <p:cTn id="28" dur="1" fill="hold">
                                          <p:stCondLst>
                                            <p:cond delay="0"/>
                                          </p:stCondLst>
                                        </p:cTn>
                                        <p:tgtEl>
                                          <p:spTgt spid="140312"/>
                                        </p:tgtEl>
                                        <p:attrNameLst>
                                          <p:attrName>style.visibility</p:attrName>
                                        </p:attrNameLst>
                                      </p:cBhvr>
                                      <p:to>
                                        <p:strVal val="visible"/>
                                      </p:to>
                                    </p:set>
                                    <p:anim calcmode="lin" valueType="num">
                                      <p:cBhvr additive="base">
                                        <p:cTn id="29" dur="500" fill="hold"/>
                                        <p:tgtEl>
                                          <p:spTgt spid="140312"/>
                                        </p:tgtEl>
                                        <p:attrNameLst>
                                          <p:attrName>ppt_x</p:attrName>
                                        </p:attrNameLst>
                                      </p:cBhvr>
                                      <p:tavLst>
                                        <p:tav tm="0">
                                          <p:val>
                                            <p:strVal val="#ppt_x"/>
                                          </p:val>
                                        </p:tav>
                                        <p:tav tm="100000">
                                          <p:val>
                                            <p:strVal val="#ppt_x"/>
                                          </p:val>
                                        </p:tav>
                                      </p:tavLst>
                                    </p:anim>
                                    <p:anim calcmode="lin" valueType="num">
                                      <p:cBhvr additive="base">
                                        <p:cTn id="30" dur="500" fill="hold"/>
                                        <p:tgtEl>
                                          <p:spTgt spid="140312"/>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140312"/>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2" presetClass="entr" presetSubtype="1" fill="hold" nodeType="clickEffect">
                                  <p:stCondLst>
                                    <p:cond delay="0"/>
                                  </p:stCondLst>
                                  <p:childTnLst>
                                    <p:set>
                                      <p:cBhvr>
                                        <p:cTn id="34" dur="1" fill="hold">
                                          <p:stCondLst>
                                            <p:cond delay="0"/>
                                          </p:stCondLst>
                                        </p:cTn>
                                        <p:tgtEl>
                                          <p:spTgt spid="140317"/>
                                        </p:tgtEl>
                                        <p:attrNameLst>
                                          <p:attrName>style.visibility</p:attrName>
                                        </p:attrNameLst>
                                      </p:cBhvr>
                                      <p:to>
                                        <p:strVal val="visible"/>
                                      </p:to>
                                    </p:set>
                                    <p:anim calcmode="lin" valueType="num">
                                      <p:cBhvr additive="base">
                                        <p:cTn id="35" dur="500" fill="hold"/>
                                        <p:tgtEl>
                                          <p:spTgt spid="140317"/>
                                        </p:tgtEl>
                                        <p:attrNameLst>
                                          <p:attrName>ppt_x</p:attrName>
                                        </p:attrNameLst>
                                      </p:cBhvr>
                                      <p:tavLst>
                                        <p:tav tm="0">
                                          <p:val>
                                            <p:strVal val="#ppt_x"/>
                                          </p:val>
                                        </p:tav>
                                        <p:tav tm="100000">
                                          <p:val>
                                            <p:strVal val="#ppt_x"/>
                                          </p:val>
                                        </p:tav>
                                      </p:tavLst>
                                    </p:anim>
                                    <p:anim calcmode="lin" valueType="num">
                                      <p:cBhvr additive="base">
                                        <p:cTn id="36" dur="500" fill="hold"/>
                                        <p:tgtEl>
                                          <p:spTgt spid="140317"/>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140317"/>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40313"/>
                                        </p:tgtEl>
                                        <p:attrNameLst>
                                          <p:attrName>style.visibility</p:attrName>
                                        </p:attrNameLst>
                                      </p:cBhvr>
                                      <p:to>
                                        <p:strVal val="visible"/>
                                      </p:to>
                                    </p:set>
                                    <p:anim calcmode="lin" valueType="num">
                                      <p:cBhvr additive="base">
                                        <p:cTn id="41" dur="500" fill="hold"/>
                                        <p:tgtEl>
                                          <p:spTgt spid="140313"/>
                                        </p:tgtEl>
                                        <p:attrNameLst>
                                          <p:attrName>ppt_x</p:attrName>
                                        </p:attrNameLst>
                                      </p:cBhvr>
                                      <p:tavLst>
                                        <p:tav tm="0">
                                          <p:val>
                                            <p:strVal val="0-#ppt_w/2"/>
                                          </p:val>
                                        </p:tav>
                                        <p:tav tm="100000">
                                          <p:val>
                                            <p:strVal val="#ppt_x"/>
                                          </p:val>
                                        </p:tav>
                                      </p:tavLst>
                                    </p:anim>
                                    <p:anim calcmode="lin" valueType="num">
                                      <p:cBhvr additive="base">
                                        <p:cTn id="42" dur="500" fill="hold"/>
                                        <p:tgtEl>
                                          <p:spTgt spid="14031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40313"/>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18" presetClass="entr" presetSubtype="6" fill="hold" nodeType="clickEffect">
                                  <p:stCondLst>
                                    <p:cond delay="0"/>
                                  </p:stCondLst>
                                  <p:childTnLst>
                                    <p:set>
                                      <p:cBhvr>
                                        <p:cTn id="46" dur="1" fill="hold">
                                          <p:stCondLst>
                                            <p:cond delay="0"/>
                                          </p:stCondLst>
                                        </p:cTn>
                                        <p:tgtEl>
                                          <p:spTgt spid="140321"/>
                                        </p:tgtEl>
                                        <p:attrNameLst>
                                          <p:attrName>style.visibility</p:attrName>
                                        </p:attrNameLst>
                                      </p:cBhvr>
                                      <p:to>
                                        <p:strVal val="visible"/>
                                      </p:to>
                                    </p:set>
                                    <p:animEffect transition="in" filter="strips(downRight)">
                                      <p:cBhvr>
                                        <p:cTn id="47" dur="500"/>
                                        <p:tgtEl>
                                          <p:spTgt spid="140321"/>
                                        </p:tgtEl>
                                      </p:cBhvr>
                                    </p:animEffect>
                                  </p:childTnLst>
                                  <p:subTnLst>
                                    <p:set>
                                      <p:cBhvr override="childStyle">
                                        <p:cTn dur="1" fill="hold" display="0" masterRel="nextClick" afterEffect="1"/>
                                        <p:tgtEl>
                                          <p:spTgt spid="14032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302" grpId="0"/>
      <p:bldP spid="140303" grpId="0" build="p"/>
      <p:bldP spid="14031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6082" name="Object 3"/>
          <p:cNvGraphicFramePr>
            <a:graphicFrameLocks noChangeAspect="1"/>
          </p:cNvGraphicFramePr>
          <p:nvPr/>
        </p:nvGraphicFramePr>
        <p:xfrm>
          <a:off x="2057400" y="457200"/>
          <a:ext cx="6408738" cy="6781800"/>
        </p:xfrm>
        <a:graphic>
          <a:graphicData uri="http://schemas.openxmlformats.org/presentationml/2006/ole">
            <mc:AlternateContent xmlns:mc="http://schemas.openxmlformats.org/markup-compatibility/2006">
              <mc:Choice xmlns:v="urn:schemas-microsoft-com:vml" Requires="v">
                <p:oleObj spid="_x0000_s3109" name="" r:id="rId1" imgW="5219700" imgH="5524500" progId="Visio.Drawing.4">
                  <p:embed/>
                </p:oleObj>
              </mc:Choice>
              <mc:Fallback>
                <p:oleObj name="" r:id="rId1" imgW="5219700" imgH="5524500" progId="Visio.Drawing.4">
                  <p:embed/>
                  <p:pic>
                    <p:nvPicPr>
                      <p:cNvPr id="0" name="图片 3108"/>
                      <p:cNvPicPr/>
                      <p:nvPr/>
                    </p:nvPicPr>
                    <p:blipFill>
                      <a:blip r:embed="rId2"/>
                      <a:stretch>
                        <a:fillRect/>
                      </a:stretch>
                    </p:blipFill>
                    <p:spPr>
                      <a:xfrm>
                        <a:off x="2057400" y="457200"/>
                        <a:ext cx="6408738" cy="6781800"/>
                      </a:xfrm>
                      <a:prstGeom prst="rect">
                        <a:avLst/>
                      </a:prstGeom>
                      <a:noFill/>
                      <a:ln w="38100">
                        <a:noFill/>
                        <a:miter/>
                      </a:ln>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7106" name="Object 4"/>
          <p:cNvGraphicFramePr>
            <a:graphicFrameLocks noChangeAspect="1"/>
          </p:cNvGraphicFramePr>
          <p:nvPr/>
        </p:nvGraphicFramePr>
        <p:xfrm>
          <a:off x="1692275" y="908050"/>
          <a:ext cx="5924550" cy="6553200"/>
        </p:xfrm>
        <a:graphic>
          <a:graphicData uri="http://schemas.openxmlformats.org/presentationml/2006/ole">
            <mc:AlternateContent xmlns:mc="http://schemas.openxmlformats.org/markup-compatibility/2006">
              <mc:Choice xmlns:v="urn:schemas-microsoft-com:vml" Requires="v">
                <p:oleObj spid="_x0000_s3107" name="" r:id="rId1" imgW="2606040" imgH="2887980" progId="Visio.Drawing.4">
                  <p:embed/>
                </p:oleObj>
              </mc:Choice>
              <mc:Fallback>
                <p:oleObj name="" r:id="rId1" imgW="2606040" imgH="2887980" progId="Visio.Drawing.4">
                  <p:embed/>
                  <p:pic>
                    <p:nvPicPr>
                      <p:cNvPr id="0" name="图片 3106"/>
                      <p:cNvPicPr/>
                      <p:nvPr/>
                    </p:nvPicPr>
                    <p:blipFill>
                      <a:blip r:embed="rId2"/>
                      <a:stretch>
                        <a:fillRect/>
                      </a:stretch>
                    </p:blipFill>
                    <p:spPr>
                      <a:xfrm>
                        <a:off x="1692275" y="908050"/>
                        <a:ext cx="5924550" cy="6553200"/>
                      </a:xfrm>
                      <a:prstGeom prst="rect">
                        <a:avLst/>
                      </a:prstGeom>
                      <a:noFill/>
                      <a:ln w="38100">
                        <a:noFill/>
                        <a:miter/>
                      </a:ln>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Text Box 12"/>
          <p:cNvSpPr txBox="1"/>
          <p:nvPr/>
        </p:nvSpPr>
        <p:spPr>
          <a:xfrm>
            <a:off x="152400" y="152400"/>
            <a:ext cx="7467600" cy="457200"/>
          </a:xfrm>
          <a:prstGeom prst="rect">
            <a:avLst/>
          </a:prstGeom>
          <a:noFill/>
          <a:ln w="9525">
            <a:noFill/>
          </a:ln>
        </p:spPr>
        <p:txBody>
          <a:bodyPr>
            <a:spAutoFit/>
          </a:bodyPr>
          <a:p>
            <a:pPr algn="just" eaLnBrk="1" hangingPunct="1"/>
            <a:r>
              <a:rPr lang="en-US" altLang="zh-CN" sz="2400" dirty="0">
                <a:latin typeface="Times New Roman" panose="02020603050405020304" pitchFamily="18" charset="0"/>
              </a:rPr>
              <a:t>2. GAL</a:t>
            </a:r>
            <a:r>
              <a:rPr lang="zh-CN" altLang="en-US" sz="2400" dirty="0">
                <a:latin typeface="Times New Roman" panose="02020603050405020304" pitchFamily="18" charset="0"/>
              </a:rPr>
              <a:t>输出逻辑宏单元</a:t>
            </a:r>
            <a:r>
              <a:rPr lang="en-US" altLang="zh-CN" sz="2400" dirty="0">
                <a:latin typeface="Times New Roman" panose="02020603050405020304" pitchFamily="18" charset="0"/>
              </a:rPr>
              <a:t>OLMC</a:t>
            </a:r>
            <a:r>
              <a:rPr lang="zh-CN" altLang="en-US" sz="2400" dirty="0">
                <a:latin typeface="Times New Roman" panose="02020603050405020304" pitchFamily="18" charset="0"/>
              </a:rPr>
              <a:t>的组成</a:t>
            </a:r>
            <a:endParaRPr lang="zh-CN" altLang="en-US" sz="2400" dirty="0">
              <a:latin typeface="Times New Roman" panose="02020603050405020304" pitchFamily="18" charset="0"/>
            </a:endParaRPr>
          </a:p>
        </p:txBody>
      </p:sp>
      <p:sp>
        <p:nvSpPr>
          <p:cNvPr id="143373" name="Text Box 13"/>
          <p:cNvSpPr txBox="1"/>
          <p:nvPr/>
        </p:nvSpPr>
        <p:spPr>
          <a:xfrm>
            <a:off x="304800" y="609600"/>
            <a:ext cx="8839200" cy="822325"/>
          </a:xfrm>
          <a:prstGeom prst="rect">
            <a:avLst/>
          </a:prstGeom>
          <a:noFill/>
          <a:ln w="9525">
            <a:noFill/>
          </a:ln>
        </p:spPr>
        <p:txBody>
          <a:bodyPr>
            <a:spAutoFit/>
          </a:bodyPr>
          <a:p>
            <a:pPr eaLnBrk="1" hangingPunct="1"/>
            <a:r>
              <a:rPr lang="en-US" altLang="zh-CN" sz="2400" dirty="0">
                <a:latin typeface="Times New Roman" panose="02020603050405020304" pitchFamily="18" charset="0"/>
              </a:rPr>
              <a:t>        </a:t>
            </a:r>
            <a:r>
              <a:rPr lang="zh-CN" altLang="en-US" sz="2400" dirty="0">
                <a:latin typeface="Times New Roman" panose="02020603050405020304" pitchFamily="18" charset="0"/>
              </a:rPr>
              <a:t>输出逻辑宏单元</a:t>
            </a:r>
            <a:r>
              <a:rPr lang="en-US" altLang="zh-CN" sz="2400" dirty="0">
                <a:latin typeface="Times New Roman" panose="02020603050405020304" pitchFamily="18" charset="0"/>
              </a:rPr>
              <a:t>OLMC </a:t>
            </a:r>
            <a:r>
              <a:rPr lang="zh-CN" altLang="en-US" sz="2400" dirty="0">
                <a:latin typeface="Times New Roman" panose="02020603050405020304" pitchFamily="18" charset="0"/>
              </a:rPr>
              <a:t>由或门、异或门、</a:t>
            </a:r>
            <a:r>
              <a:rPr lang="en-US" altLang="zh-CN" sz="2400" dirty="0">
                <a:latin typeface="Times New Roman" panose="02020603050405020304" pitchFamily="18" charset="0"/>
              </a:rPr>
              <a:t>D</a:t>
            </a:r>
            <a:r>
              <a:rPr lang="zh-CN" altLang="en-US" sz="2400" dirty="0">
                <a:latin typeface="Times New Roman" panose="02020603050405020304" pitchFamily="18" charset="0"/>
              </a:rPr>
              <a:t>触发器、多路选择器</a:t>
            </a:r>
            <a:r>
              <a:rPr lang="en-US" altLang="zh-CN" sz="2400" dirty="0">
                <a:latin typeface="Times New Roman" panose="02020603050405020304" pitchFamily="18" charset="0"/>
              </a:rPr>
              <a:t>MUX</a:t>
            </a:r>
            <a:r>
              <a:rPr lang="zh-CN" altLang="en-US" sz="2400" dirty="0">
                <a:latin typeface="Times New Roman" panose="02020603050405020304" pitchFamily="18" charset="0"/>
              </a:rPr>
              <a:t>、时钟控制、使能控制和编程元件等组成，如下图：</a:t>
            </a:r>
            <a:endParaRPr lang="zh-CN" altLang="en-US" dirty="0">
              <a:latin typeface="Times New Roman" panose="02020603050405020304" pitchFamily="18" charset="0"/>
            </a:endParaRPr>
          </a:p>
        </p:txBody>
      </p:sp>
      <p:graphicFrame>
        <p:nvGraphicFramePr>
          <p:cNvPr id="143374" name="Object 14"/>
          <p:cNvGraphicFramePr>
            <a:graphicFrameLocks noChangeAspect="1"/>
          </p:cNvGraphicFramePr>
          <p:nvPr/>
        </p:nvGraphicFramePr>
        <p:xfrm>
          <a:off x="1066800" y="1447800"/>
          <a:ext cx="7010400" cy="5842000"/>
        </p:xfrm>
        <a:graphic>
          <a:graphicData uri="http://schemas.openxmlformats.org/presentationml/2006/ole">
            <mc:AlternateContent xmlns:mc="http://schemas.openxmlformats.org/markup-compatibility/2006">
              <mc:Choice xmlns:v="urn:schemas-microsoft-com:vml" Requires="v">
                <p:oleObj spid="_x0000_s3108" name="" r:id="rId1" imgW="4743450" imgH="3952875" progId="Paint.Picture">
                  <p:embed/>
                </p:oleObj>
              </mc:Choice>
              <mc:Fallback>
                <p:oleObj name="" r:id="rId1" imgW="4743450" imgH="3952875" progId="Paint.Picture">
                  <p:embed/>
                  <p:pic>
                    <p:nvPicPr>
                      <p:cNvPr id="0" name="图片 3107"/>
                      <p:cNvPicPr/>
                      <p:nvPr/>
                    </p:nvPicPr>
                    <p:blipFill>
                      <a:blip r:embed="rId2"/>
                      <a:stretch>
                        <a:fillRect/>
                      </a:stretch>
                    </p:blipFill>
                    <p:spPr>
                      <a:xfrm>
                        <a:off x="1066800" y="1447800"/>
                        <a:ext cx="7010400" cy="5842000"/>
                      </a:xfrm>
                      <a:prstGeom prst="rect">
                        <a:avLst/>
                      </a:prstGeom>
                      <a:noFill/>
                      <a:ln w="38100">
                        <a:noFill/>
                        <a:miter/>
                      </a:ln>
                    </p:spPr>
                  </p:pic>
                </p:oleObj>
              </mc:Fallback>
            </mc:AlternateContent>
          </a:graphicData>
        </a:graphic>
      </p:graphicFrame>
      <p:sp>
        <p:nvSpPr>
          <p:cNvPr id="143375" name="Line 15"/>
          <p:cNvSpPr/>
          <p:nvPr/>
        </p:nvSpPr>
        <p:spPr>
          <a:xfrm flipH="1">
            <a:off x="3962400" y="990600"/>
            <a:ext cx="685800" cy="3581400"/>
          </a:xfrm>
          <a:prstGeom prst="line">
            <a:avLst/>
          </a:prstGeom>
          <a:ln w="76200" cap="flat" cmpd="sng">
            <a:solidFill>
              <a:srgbClr val="FFCC66"/>
            </a:solidFill>
            <a:prstDash val="solid"/>
            <a:headEnd type="none" w="med" len="med"/>
            <a:tailEnd type="triangle" w="med" len="med"/>
          </a:ln>
        </p:spPr>
      </p:sp>
      <p:sp>
        <p:nvSpPr>
          <p:cNvPr id="143376" name="Line 16"/>
          <p:cNvSpPr/>
          <p:nvPr/>
        </p:nvSpPr>
        <p:spPr>
          <a:xfrm flipH="1">
            <a:off x="4648200" y="914400"/>
            <a:ext cx="1143000" cy="3733800"/>
          </a:xfrm>
          <a:prstGeom prst="line">
            <a:avLst/>
          </a:prstGeom>
          <a:ln w="76200" cap="flat" cmpd="sng">
            <a:solidFill>
              <a:srgbClr val="FFCC66"/>
            </a:solidFill>
            <a:prstDash val="solid"/>
            <a:headEnd type="none" w="med" len="med"/>
            <a:tailEnd type="triangle" w="med" len="med"/>
          </a:ln>
        </p:spPr>
      </p:sp>
      <p:sp>
        <p:nvSpPr>
          <p:cNvPr id="143377" name="Line 17"/>
          <p:cNvSpPr/>
          <p:nvPr/>
        </p:nvSpPr>
        <p:spPr>
          <a:xfrm flipH="1">
            <a:off x="5410200" y="914400"/>
            <a:ext cx="1371600" cy="3352800"/>
          </a:xfrm>
          <a:prstGeom prst="line">
            <a:avLst/>
          </a:prstGeom>
          <a:ln w="76200" cap="flat" cmpd="sng">
            <a:solidFill>
              <a:srgbClr val="FFCC66"/>
            </a:solidFill>
            <a:prstDash val="solid"/>
            <a:headEnd type="none" w="med" len="med"/>
            <a:tailEnd type="triangle" w="med" len="med"/>
          </a:ln>
        </p:spPr>
      </p:sp>
      <p:grpSp>
        <p:nvGrpSpPr>
          <p:cNvPr id="143382" name="Group 22"/>
          <p:cNvGrpSpPr/>
          <p:nvPr/>
        </p:nvGrpSpPr>
        <p:grpSpPr>
          <a:xfrm>
            <a:off x="762000" y="1371600"/>
            <a:ext cx="5181600" cy="3810000"/>
            <a:chOff x="480" y="864"/>
            <a:chExt cx="3264" cy="2400"/>
          </a:xfrm>
        </p:grpSpPr>
        <p:sp>
          <p:nvSpPr>
            <p:cNvPr id="48151" name="Line 18"/>
            <p:cNvSpPr/>
            <p:nvPr/>
          </p:nvSpPr>
          <p:spPr>
            <a:xfrm>
              <a:off x="480" y="864"/>
              <a:ext cx="2256" cy="480"/>
            </a:xfrm>
            <a:prstGeom prst="line">
              <a:avLst/>
            </a:prstGeom>
            <a:ln w="76200" cap="flat" cmpd="sng">
              <a:solidFill>
                <a:srgbClr val="FFCC66"/>
              </a:solidFill>
              <a:prstDash val="solid"/>
              <a:headEnd type="none" w="med" len="med"/>
              <a:tailEnd type="triangle" w="med" len="med"/>
            </a:ln>
          </p:spPr>
        </p:sp>
        <p:sp>
          <p:nvSpPr>
            <p:cNvPr id="48152" name="Line 19"/>
            <p:cNvSpPr/>
            <p:nvPr/>
          </p:nvSpPr>
          <p:spPr>
            <a:xfrm>
              <a:off x="528" y="864"/>
              <a:ext cx="3216" cy="1536"/>
            </a:xfrm>
            <a:prstGeom prst="line">
              <a:avLst/>
            </a:prstGeom>
            <a:ln w="76200" cap="flat" cmpd="sng">
              <a:solidFill>
                <a:srgbClr val="FFCC66"/>
              </a:solidFill>
              <a:prstDash val="solid"/>
              <a:headEnd type="none" w="med" len="med"/>
              <a:tailEnd type="triangle" w="med" len="med"/>
            </a:ln>
          </p:spPr>
        </p:sp>
        <p:sp>
          <p:nvSpPr>
            <p:cNvPr id="48153" name="Line 20"/>
            <p:cNvSpPr/>
            <p:nvPr/>
          </p:nvSpPr>
          <p:spPr>
            <a:xfrm>
              <a:off x="528" y="864"/>
              <a:ext cx="1152" cy="1440"/>
            </a:xfrm>
            <a:prstGeom prst="line">
              <a:avLst/>
            </a:prstGeom>
            <a:ln w="76200" cap="flat" cmpd="sng">
              <a:solidFill>
                <a:srgbClr val="FFCC66"/>
              </a:solidFill>
              <a:prstDash val="solid"/>
              <a:headEnd type="none" w="med" len="med"/>
              <a:tailEnd type="triangle" w="med" len="med"/>
            </a:ln>
          </p:spPr>
        </p:sp>
        <p:sp>
          <p:nvSpPr>
            <p:cNvPr id="48154" name="Line 21"/>
            <p:cNvSpPr/>
            <p:nvPr/>
          </p:nvSpPr>
          <p:spPr>
            <a:xfrm>
              <a:off x="576" y="912"/>
              <a:ext cx="2592" cy="2352"/>
            </a:xfrm>
            <a:prstGeom prst="line">
              <a:avLst/>
            </a:prstGeom>
            <a:ln w="76200" cap="flat" cmpd="sng">
              <a:solidFill>
                <a:srgbClr val="FFCC66"/>
              </a:solidFill>
              <a:prstDash val="solid"/>
              <a:headEnd type="none" w="med" len="med"/>
              <a:tailEnd type="triangle" w="med" len="med"/>
            </a:ln>
          </p:spPr>
        </p:sp>
      </p:grpSp>
      <p:sp>
        <p:nvSpPr>
          <p:cNvPr id="143383" name="Line 23"/>
          <p:cNvSpPr/>
          <p:nvPr/>
        </p:nvSpPr>
        <p:spPr>
          <a:xfrm>
            <a:off x="2971800" y="1295400"/>
            <a:ext cx="762000" cy="381000"/>
          </a:xfrm>
          <a:prstGeom prst="line">
            <a:avLst/>
          </a:prstGeom>
          <a:ln w="76200" cap="flat" cmpd="sng">
            <a:solidFill>
              <a:srgbClr val="FFCC66"/>
            </a:solidFill>
            <a:prstDash val="solid"/>
            <a:headEnd type="none" w="med" len="med"/>
            <a:tailEnd type="triangle" w="med" len="med"/>
          </a:ln>
        </p:spPr>
      </p:sp>
      <p:sp>
        <p:nvSpPr>
          <p:cNvPr id="143384" name="Line 24"/>
          <p:cNvSpPr/>
          <p:nvPr/>
        </p:nvSpPr>
        <p:spPr>
          <a:xfrm>
            <a:off x="4114800" y="1295400"/>
            <a:ext cx="2514600" cy="533400"/>
          </a:xfrm>
          <a:prstGeom prst="line">
            <a:avLst/>
          </a:prstGeom>
          <a:ln w="76200" cap="flat" cmpd="sng">
            <a:solidFill>
              <a:srgbClr val="FFCC66"/>
            </a:solidFill>
            <a:prstDash val="solid"/>
            <a:headEnd type="none" w="med" len="med"/>
            <a:tailEnd type="triangle" w="med" len="med"/>
          </a:ln>
        </p:spPr>
      </p:sp>
      <p:grpSp>
        <p:nvGrpSpPr>
          <p:cNvPr id="143387" name="Group 27"/>
          <p:cNvGrpSpPr/>
          <p:nvPr/>
        </p:nvGrpSpPr>
        <p:grpSpPr>
          <a:xfrm>
            <a:off x="4572000" y="1295400"/>
            <a:ext cx="838200" cy="4953000"/>
            <a:chOff x="2880" y="816"/>
            <a:chExt cx="528" cy="3120"/>
          </a:xfrm>
        </p:grpSpPr>
        <p:sp>
          <p:nvSpPr>
            <p:cNvPr id="48149" name="Line 25"/>
            <p:cNvSpPr/>
            <p:nvPr/>
          </p:nvSpPr>
          <p:spPr>
            <a:xfrm flipH="1">
              <a:off x="2880" y="816"/>
              <a:ext cx="528" cy="1296"/>
            </a:xfrm>
            <a:prstGeom prst="line">
              <a:avLst/>
            </a:prstGeom>
            <a:ln w="76200" cap="flat" cmpd="sng">
              <a:solidFill>
                <a:srgbClr val="FFCC66"/>
              </a:solidFill>
              <a:prstDash val="solid"/>
              <a:headEnd type="none" w="med" len="med"/>
              <a:tailEnd type="triangle" w="med" len="med"/>
            </a:ln>
          </p:spPr>
        </p:sp>
        <p:sp>
          <p:nvSpPr>
            <p:cNvPr id="48150" name="Line 26"/>
            <p:cNvSpPr/>
            <p:nvPr/>
          </p:nvSpPr>
          <p:spPr>
            <a:xfrm flipH="1">
              <a:off x="3360" y="816"/>
              <a:ext cx="48" cy="3120"/>
            </a:xfrm>
            <a:prstGeom prst="line">
              <a:avLst/>
            </a:prstGeom>
            <a:ln w="76200" cap="flat" cmpd="sng">
              <a:solidFill>
                <a:srgbClr val="FFCC66"/>
              </a:solidFill>
              <a:prstDash val="solid"/>
              <a:headEnd type="none" w="med" len="med"/>
              <a:tailEnd type="triangle" w="med" len="med"/>
            </a:ln>
          </p:spPr>
        </p:sp>
      </p:grpSp>
      <p:grpSp>
        <p:nvGrpSpPr>
          <p:cNvPr id="143393" name="Group 33"/>
          <p:cNvGrpSpPr/>
          <p:nvPr/>
        </p:nvGrpSpPr>
        <p:grpSpPr>
          <a:xfrm>
            <a:off x="1752600" y="3352800"/>
            <a:ext cx="7086600" cy="1219200"/>
            <a:chOff x="1104" y="2112"/>
            <a:chExt cx="4464" cy="768"/>
          </a:xfrm>
        </p:grpSpPr>
        <p:grpSp>
          <p:nvGrpSpPr>
            <p:cNvPr id="48144" name="Group 31"/>
            <p:cNvGrpSpPr/>
            <p:nvPr/>
          </p:nvGrpSpPr>
          <p:grpSpPr>
            <a:xfrm>
              <a:off x="1104" y="2544"/>
              <a:ext cx="3840" cy="336"/>
              <a:chOff x="1104" y="2544"/>
              <a:chExt cx="3840" cy="336"/>
            </a:xfrm>
          </p:grpSpPr>
          <p:sp>
            <p:nvSpPr>
              <p:cNvPr id="48146" name="Line 28"/>
              <p:cNvSpPr/>
              <p:nvPr/>
            </p:nvSpPr>
            <p:spPr>
              <a:xfrm>
                <a:off x="1104" y="2880"/>
                <a:ext cx="1920" cy="0"/>
              </a:xfrm>
              <a:prstGeom prst="line">
                <a:avLst/>
              </a:prstGeom>
              <a:ln w="76200" cap="flat" cmpd="sng">
                <a:solidFill>
                  <a:srgbClr val="FFCC66"/>
                </a:solidFill>
                <a:prstDash val="solid"/>
                <a:headEnd type="none" w="med" len="med"/>
                <a:tailEnd type="none" w="med" len="med"/>
              </a:ln>
            </p:spPr>
          </p:sp>
          <p:sp>
            <p:nvSpPr>
              <p:cNvPr id="48147" name="Line 29"/>
              <p:cNvSpPr/>
              <p:nvPr/>
            </p:nvSpPr>
            <p:spPr>
              <a:xfrm flipV="1">
                <a:off x="2976" y="2544"/>
                <a:ext cx="0" cy="336"/>
              </a:xfrm>
              <a:prstGeom prst="line">
                <a:avLst/>
              </a:prstGeom>
              <a:ln w="76200" cap="flat" cmpd="sng">
                <a:solidFill>
                  <a:srgbClr val="FFCC66"/>
                </a:solidFill>
                <a:prstDash val="solid"/>
                <a:headEnd type="none" w="med" len="med"/>
                <a:tailEnd type="none" w="med" len="med"/>
              </a:ln>
            </p:spPr>
          </p:sp>
          <p:sp>
            <p:nvSpPr>
              <p:cNvPr id="48148" name="Line 30"/>
              <p:cNvSpPr/>
              <p:nvPr/>
            </p:nvSpPr>
            <p:spPr>
              <a:xfrm>
                <a:off x="2976" y="2544"/>
                <a:ext cx="1968" cy="0"/>
              </a:xfrm>
              <a:prstGeom prst="line">
                <a:avLst/>
              </a:prstGeom>
              <a:ln w="76200" cap="flat" cmpd="sng">
                <a:solidFill>
                  <a:srgbClr val="FFCC66"/>
                </a:solidFill>
                <a:prstDash val="solid"/>
                <a:headEnd type="none" w="med" len="med"/>
                <a:tailEnd type="triangle" w="med" len="med"/>
              </a:ln>
            </p:spPr>
          </p:sp>
        </p:grpSp>
        <p:sp>
          <p:nvSpPr>
            <p:cNvPr id="48145" name="Text Box 32"/>
            <p:cNvSpPr txBox="1"/>
            <p:nvPr/>
          </p:nvSpPr>
          <p:spPr>
            <a:xfrm>
              <a:off x="4800" y="2112"/>
              <a:ext cx="768" cy="231"/>
            </a:xfrm>
            <a:prstGeom prst="rect">
              <a:avLst/>
            </a:prstGeom>
            <a:noFill/>
            <a:ln w="9525">
              <a:noFill/>
            </a:ln>
          </p:spPr>
          <p:txBody>
            <a:bodyPr>
              <a:spAutoFit/>
            </a:bodyPr>
            <a:p>
              <a:pPr eaLnBrk="1" hangingPunct="1">
                <a:spcBef>
                  <a:spcPct val="50000"/>
                </a:spcBef>
              </a:pPr>
              <a:r>
                <a:rPr lang="zh-CN" altLang="en-US" dirty="0">
                  <a:solidFill>
                    <a:srgbClr val="FFCC66"/>
                  </a:solidFill>
                  <a:latin typeface="Times New Roman" panose="02020603050405020304" pitchFamily="18" charset="0"/>
                </a:rPr>
                <a:t>组合输出</a:t>
              </a:r>
              <a:endParaRPr lang="zh-CN" altLang="en-US" dirty="0">
                <a:latin typeface="Times New Roman" panose="02020603050405020304" pitchFamily="18" charset="0"/>
              </a:endParaRPr>
            </a:p>
          </p:txBody>
        </p:sp>
      </p:grpSp>
      <p:grpSp>
        <p:nvGrpSpPr>
          <p:cNvPr id="143396" name="Group 36"/>
          <p:cNvGrpSpPr/>
          <p:nvPr/>
        </p:nvGrpSpPr>
        <p:grpSpPr>
          <a:xfrm>
            <a:off x="1752600" y="4648200"/>
            <a:ext cx="7391400" cy="519113"/>
            <a:chOff x="1104" y="2928"/>
            <a:chExt cx="4656" cy="327"/>
          </a:xfrm>
        </p:grpSpPr>
        <p:sp>
          <p:nvSpPr>
            <p:cNvPr id="48142" name="Line 34"/>
            <p:cNvSpPr/>
            <p:nvPr/>
          </p:nvSpPr>
          <p:spPr>
            <a:xfrm>
              <a:off x="1104" y="2928"/>
              <a:ext cx="3696" cy="0"/>
            </a:xfrm>
            <a:prstGeom prst="line">
              <a:avLst/>
            </a:prstGeom>
            <a:ln w="76200" cap="flat" cmpd="sng">
              <a:solidFill>
                <a:srgbClr val="FFCC66"/>
              </a:solidFill>
              <a:prstDash val="solid"/>
              <a:headEnd type="none" w="med" len="med"/>
              <a:tailEnd type="triangle" w="med" len="med"/>
            </a:ln>
          </p:spPr>
        </p:sp>
        <p:sp>
          <p:nvSpPr>
            <p:cNvPr id="48143" name="Text Box 35"/>
            <p:cNvSpPr txBox="1"/>
            <p:nvPr/>
          </p:nvSpPr>
          <p:spPr>
            <a:xfrm>
              <a:off x="4896" y="3024"/>
              <a:ext cx="864" cy="231"/>
            </a:xfrm>
            <a:prstGeom prst="rect">
              <a:avLst/>
            </a:prstGeom>
            <a:noFill/>
            <a:ln w="9525">
              <a:noFill/>
            </a:ln>
          </p:spPr>
          <p:txBody>
            <a:bodyPr>
              <a:spAutoFit/>
            </a:bodyPr>
            <a:p>
              <a:pPr eaLnBrk="1" hangingPunct="1">
                <a:spcBef>
                  <a:spcPct val="50000"/>
                </a:spcBef>
              </a:pPr>
              <a:r>
                <a:rPr lang="zh-CN" altLang="en-US" dirty="0">
                  <a:solidFill>
                    <a:srgbClr val="FFCC66"/>
                  </a:solidFill>
                  <a:latin typeface="Times New Roman" panose="02020603050405020304" pitchFamily="18" charset="0"/>
                </a:rPr>
                <a:t>时序输出</a:t>
              </a:r>
              <a:endParaRPr lang="zh-CN" altLang="en-US" dirty="0">
                <a:latin typeface="Times New Roman" panose="02020603050405020304" pitchFamily="18" charset="0"/>
              </a:endParaRPr>
            </a:p>
          </p:txBody>
        </p:sp>
      </p:gr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3373"/>
                                        </p:tgtEl>
                                        <p:attrNameLst>
                                          <p:attrName>style.visibility</p:attrName>
                                        </p:attrNameLst>
                                      </p:cBhvr>
                                      <p:to>
                                        <p:strVal val="visible"/>
                                      </p:to>
                                    </p:set>
                                    <p:anim calcmode="lin" valueType="num">
                                      <p:cBhvr additive="base">
                                        <p:cTn id="7" dur="500" fill="hold"/>
                                        <p:tgtEl>
                                          <p:spTgt spid="143373"/>
                                        </p:tgtEl>
                                        <p:attrNameLst>
                                          <p:attrName>ppt_x</p:attrName>
                                        </p:attrNameLst>
                                      </p:cBhvr>
                                      <p:tavLst>
                                        <p:tav tm="0">
                                          <p:val>
                                            <p:strVal val="1+#ppt_w/2"/>
                                          </p:val>
                                        </p:tav>
                                        <p:tav tm="100000">
                                          <p:val>
                                            <p:strVal val="#ppt_x"/>
                                          </p:val>
                                        </p:tav>
                                      </p:tavLst>
                                    </p:anim>
                                    <p:anim calcmode="lin" valueType="num">
                                      <p:cBhvr additive="base">
                                        <p:cTn id="8" dur="500" fill="hold"/>
                                        <p:tgtEl>
                                          <p:spTgt spid="14337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14337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143375"/>
                                        </p:tgtEl>
                                        <p:attrNameLst>
                                          <p:attrName>style.visibility</p:attrName>
                                        </p:attrNameLst>
                                      </p:cBhvr>
                                      <p:to>
                                        <p:strVal val="visible"/>
                                      </p:to>
                                    </p:set>
                                  </p:childTnLst>
                                  <p:subTnLst>
                                    <p:set>
                                      <p:cBhvr override="childStyle">
                                        <p:cTn dur="1" fill="hold" display="0" masterRel="nextClick" afterEffect="1"/>
                                        <p:tgtEl>
                                          <p:spTgt spid="143375"/>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143376"/>
                                        </p:tgtEl>
                                        <p:attrNameLst>
                                          <p:attrName>style.visibility</p:attrName>
                                        </p:attrNameLst>
                                      </p:cBhvr>
                                      <p:to>
                                        <p:strVal val="visible"/>
                                      </p:to>
                                    </p:set>
                                  </p:childTnLst>
                                  <p:subTnLst>
                                    <p:set>
                                      <p:cBhvr override="childStyle">
                                        <p:cTn dur="1" fill="hold" display="0" masterRel="nextClick" afterEffect="1"/>
                                        <p:tgtEl>
                                          <p:spTgt spid="143376"/>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143377"/>
                                        </p:tgtEl>
                                        <p:attrNameLst>
                                          <p:attrName>style.visibility</p:attrName>
                                        </p:attrNameLst>
                                      </p:cBhvr>
                                      <p:to>
                                        <p:strVal val="visible"/>
                                      </p:to>
                                    </p:set>
                                  </p:childTnLst>
                                  <p:subTnLst>
                                    <p:set>
                                      <p:cBhvr override="childStyle">
                                        <p:cTn dur="1" fill="hold" display="0" masterRel="nextClick" afterEffect="1"/>
                                        <p:tgtEl>
                                          <p:spTgt spid="143377"/>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18" presetClass="entr" presetSubtype="6" fill="hold" nodeType="clickEffect">
                                  <p:stCondLst>
                                    <p:cond delay="0"/>
                                  </p:stCondLst>
                                  <p:childTnLst>
                                    <p:set>
                                      <p:cBhvr>
                                        <p:cTn id="28" dur="1" fill="hold">
                                          <p:stCondLst>
                                            <p:cond delay="0"/>
                                          </p:stCondLst>
                                        </p:cTn>
                                        <p:tgtEl>
                                          <p:spTgt spid="143382"/>
                                        </p:tgtEl>
                                        <p:attrNameLst>
                                          <p:attrName>style.visibility</p:attrName>
                                        </p:attrNameLst>
                                      </p:cBhvr>
                                      <p:to>
                                        <p:strVal val="visible"/>
                                      </p:to>
                                    </p:set>
                                    <p:animEffect transition="in" filter="strips(downRight)">
                                      <p:cBhvr>
                                        <p:cTn id="29" dur="500"/>
                                        <p:tgtEl>
                                          <p:spTgt spid="143382"/>
                                        </p:tgtEl>
                                      </p:cBhvr>
                                    </p:animEffect>
                                  </p:childTnLst>
                                  <p:subTnLst>
                                    <p:set>
                                      <p:cBhvr override="childStyle">
                                        <p:cTn dur="1" fill="hold" display="0" masterRel="nextClick" afterEffect="1"/>
                                        <p:tgtEl>
                                          <p:spTgt spid="143382"/>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499"/>
                                          </p:stCondLst>
                                        </p:cTn>
                                        <p:tgtEl>
                                          <p:spTgt spid="143383"/>
                                        </p:tgtEl>
                                        <p:attrNameLst>
                                          <p:attrName>style.visibility</p:attrName>
                                        </p:attrNameLst>
                                      </p:cBhvr>
                                      <p:to>
                                        <p:strVal val="visible"/>
                                      </p:to>
                                    </p:set>
                                  </p:childTnLst>
                                  <p:subTnLst>
                                    <p:set>
                                      <p:cBhvr override="childStyle">
                                        <p:cTn dur="1" fill="hold" display="0" masterRel="nextClick" afterEffect="1"/>
                                        <p:tgtEl>
                                          <p:spTgt spid="143383"/>
                                        </p:tgtEl>
                                        <p:attrNameLst>
                                          <p:attrName>style.visibility</p:attrName>
                                        </p:attrNameLst>
                                      </p:cBhvr>
                                      <p:to>
                                        <p:strVal val="hidden"/>
                                      </p:to>
                                    </p:set>
                                  </p:sub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499"/>
                                          </p:stCondLst>
                                        </p:cTn>
                                        <p:tgtEl>
                                          <p:spTgt spid="143384"/>
                                        </p:tgtEl>
                                        <p:attrNameLst>
                                          <p:attrName>style.visibility</p:attrName>
                                        </p:attrNameLst>
                                      </p:cBhvr>
                                      <p:to>
                                        <p:strVal val="visible"/>
                                      </p:to>
                                    </p:set>
                                  </p:childTnLst>
                                  <p:subTnLst>
                                    <p:set>
                                      <p:cBhvr override="childStyle">
                                        <p:cTn dur="1" fill="hold" display="0" masterRel="nextClick" afterEffect="1"/>
                                        <p:tgtEl>
                                          <p:spTgt spid="143384"/>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17" presetClass="entr" presetSubtype="1" fill="hold" nodeType="clickEffect">
                                  <p:stCondLst>
                                    <p:cond delay="0"/>
                                  </p:stCondLst>
                                  <p:childTnLst>
                                    <p:set>
                                      <p:cBhvr>
                                        <p:cTn id="41" dur="1" fill="hold">
                                          <p:stCondLst>
                                            <p:cond delay="0"/>
                                          </p:stCondLst>
                                        </p:cTn>
                                        <p:tgtEl>
                                          <p:spTgt spid="143387"/>
                                        </p:tgtEl>
                                        <p:attrNameLst>
                                          <p:attrName>style.visibility</p:attrName>
                                        </p:attrNameLst>
                                      </p:cBhvr>
                                      <p:to>
                                        <p:strVal val="visible"/>
                                      </p:to>
                                    </p:set>
                                    <p:anim calcmode="lin" valueType="num">
                                      <p:cBhvr>
                                        <p:cTn id="42" dur="500" fill="hold"/>
                                        <p:tgtEl>
                                          <p:spTgt spid="143387"/>
                                        </p:tgtEl>
                                        <p:attrNameLst>
                                          <p:attrName>ppt_x</p:attrName>
                                        </p:attrNameLst>
                                      </p:cBhvr>
                                      <p:tavLst>
                                        <p:tav tm="0">
                                          <p:val>
                                            <p:strVal val="#ppt_x"/>
                                          </p:val>
                                        </p:tav>
                                        <p:tav tm="100000">
                                          <p:val>
                                            <p:strVal val="#ppt_x"/>
                                          </p:val>
                                        </p:tav>
                                      </p:tavLst>
                                    </p:anim>
                                    <p:anim calcmode="lin" valueType="num">
                                      <p:cBhvr>
                                        <p:cTn id="43" dur="500" fill="hold"/>
                                        <p:tgtEl>
                                          <p:spTgt spid="143387"/>
                                        </p:tgtEl>
                                        <p:attrNameLst>
                                          <p:attrName>ppt_y</p:attrName>
                                        </p:attrNameLst>
                                      </p:cBhvr>
                                      <p:tavLst>
                                        <p:tav tm="0">
                                          <p:val>
                                            <p:strVal val="#ppt_y-#ppt_h/2"/>
                                          </p:val>
                                        </p:tav>
                                        <p:tav tm="100000">
                                          <p:val>
                                            <p:strVal val="#ppt_y"/>
                                          </p:val>
                                        </p:tav>
                                      </p:tavLst>
                                    </p:anim>
                                    <p:anim calcmode="lin" valueType="num">
                                      <p:cBhvr>
                                        <p:cTn id="44" dur="500" fill="hold"/>
                                        <p:tgtEl>
                                          <p:spTgt spid="143387"/>
                                        </p:tgtEl>
                                        <p:attrNameLst>
                                          <p:attrName>ppt_w</p:attrName>
                                        </p:attrNameLst>
                                      </p:cBhvr>
                                      <p:tavLst>
                                        <p:tav tm="0">
                                          <p:val>
                                            <p:strVal val="#ppt_w"/>
                                          </p:val>
                                        </p:tav>
                                        <p:tav tm="100000">
                                          <p:val>
                                            <p:strVal val="#ppt_w"/>
                                          </p:val>
                                        </p:tav>
                                      </p:tavLst>
                                    </p:anim>
                                    <p:anim calcmode="lin" valueType="num">
                                      <p:cBhvr>
                                        <p:cTn id="45" dur="500" fill="hold"/>
                                        <p:tgtEl>
                                          <p:spTgt spid="143387"/>
                                        </p:tgtEl>
                                        <p:attrNameLst>
                                          <p:attrName>ppt_h</p:attrName>
                                        </p:attrNameLst>
                                      </p:cBhvr>
                                      <p:tavLst>
                                        <p:tav tm="0">
                                          <p:val>
                                            <p:fltVal val="0.000000"/>
                                          </p:val>
                                        </p:tav>
                                        <p:tav tm="100000">
                                          <p:val>
                                            <p:strVal val="#ppt_h"/>
                                          </p:val>
                                        </p:tav>
                                      </p:tavLst>
                                    </p:anim>
                                  </p:childTnLst>
                                  <p:subTnLst>
                                    <p:set>
                                      <p:cBhvr override="childStyle">
                                        <p:cTn dur="1" fill="hold" display="0" masterRel="nextClick" afterEffect="1"/>
                                        <p:tgtEl>
                                          <p:spTgt spid="143387"/>
                                        </p:tgtEl>
                                        <p:attrNameLst>
                                          <p:attrName>style.visibility</p:attrName>
                                        </p:attrNameLst>
                                      </p:cBhvr>
                                      <p:to>
                                        <p:strVal val="hidden"/>
                                      </p:to>
                                    </p:set>
                                  </p:subTnLst>
                                </p:cTn>
                              </p:par>
                            </p:childTnLst>
                          </p:cTn>
                        </p:par>
                      </p:childTnLst>
                    </p:cTn>
                  </p:par>
                  <p:par>
                    <p:cTn id="46" fill="hold">
                      <p:stCondLst>
                        <p:cond delay="indefinite"/>
                      </p:stCondLst>
                      <p:childTnLst>
                        <p:par>
                          <p:cTn id="47" fill="hold">
                            <p:stCondLst>
                              <p:cond delay="0"/>
                            </p:stCondLst>
                            <p:childTnLst>
                              <p:par>
                                <p:cTn id="48" presetID="18" presetClass="entr" presetSubtype="3" fill="hold" nodeType="clickEffect">
                                  <p:stCondLst>
                                    <p:cond delay="0"/>
                                  </p:stCondLst>
                                  <p:childTnLst>
                                    <p:set>
                                      <p:cBhvr>
                                        <p:cTn id="49" dur="1" fill="hold">
                                          <p:stCondLst>
                                            <p:cond delay="0"/>
                                          </p:stCondLst>
                                        </p:cTn>
                                        <p:tgtEl>
                                          <p:spTgt spid="143393"/>
                                        </p:tgtEl>
                                        <p:attrNameLst>
                                          <p:attrName>style.visibility</p:attrName>
                                        </p:attrNameLst>
                                      </p:cBhvr>
                                      <p:to>
                                        <p:strVal val="visible"/>
                                      </p:to>
                                    </p:set>
                                    <p:animEffect transition="in" filter="strips(upRight)">
                                      <p:cBhvr>
                                        <p:cTn id="50" dur="500"/>
                                        <p:tgtEl>
                                          <p:spTgt spid="143393"/>
                                        </p:tgtEl>
                                      </p:cBhvr>
                                    </p:animEffect>
                                  </p:childTnLst>
                                  <p:subTnLst>
                                    <p:set>
                                      <p:cBhvr override="childStyle">
                                        <p:cTn dur="1" fill="hold" display="0" masterRel="nextClick" afterEffect="1"/>
                                        <p:tgtEl>
                                          <p:spTgt spid="143393"/>
                                        </p:tgtEl>
                                        <p:attrNameLst>
                                          <p:attrName>style.visibility</p:attrName>
                                        </p:attrNameLst>
                                      </p:cBhvr>
                                      <p:to>
                                        <p:strVal val="hidden"/>
                                      </p:to>
                                    </p:set>
                                  </p:subTnLst>
                                </p:cTn>
                              </p:par>
                            </p:childTnLst>
                          </p:cTn>
                        </p:par>
                      </p:childTnLst>
                    </p:cTn>
                  </p:par>
                  <p:par>
                    <p:cTn id="51" fill="hold">
                      <p:stCondLst>
                        <p:cond delay="indefinite"/>
                      </p:stCondLst>
                      <p:childTnLst>
                        <p:par>
                          <p:cTn id="52" fill="hold">
                            <p:stCondLst>
                              <p:cond delay="0"/>
                            </p:stCondLst>
                            <p:childTnLst>
                              <p:par>
                                <p:cTn id="53" presetID="17" presetClass="entr" presetSubtype="8" fill="hold" nodeType="clickEffect">
                                  <p:stCondLst>
                                    <p:cond delay="0"/>
                                  </p:stCondLst>
                                  <p:childTnLst>
                                    <p:set>
                                      <p:cBhvr>
                                        <p:cTn id="54" dur="1" fill="hold">
                                          <p:stCondLst>
                                            <p:cond delay="0"/>
                                          </p:stCondLst>
                                        </p:cTn>
                                        <p:tgtEl>
                                          <p:spTgt spid="143396"/>
                                        </p:tgtEl>
                                        <p:attrNameLst>
                                          <p:attrName>style.visibility</p:attrName>
                                        </p:attrNameLst>
                                      </p:cBhvr>
                                      <p:to>
                                        <p:strVal val="visible"/>
                                      </p:to>
                                    </p:set>
                                    <p:anim calcmode="lin" valueType="num">
                                      <p:cBhvr>
                                        <p:cTn id="55" dur="500" fill="hold"/>
                                        <p:tgtEl>
                                          <p:spTgt spid="143396"/>
                                        </p:tgtEl>
                                        <p:attrNameLst>
                                          <p:attrName>ppt_x</p:attrName>
                                        </p:attrNameLst>
                                      </p:cBhvr>
                                      <p:tavLst>
                                        <p:tav tm="0">
                                          <p:val>
                                            <p:strVal val="#ppt_x-#ppt_w/2"/>
                                          </p:val>
                                        </p:tav>
                                        <p:tav tm="100000">
                                          <p:val>
                                            <p:strVal val="#ppt_x"/>
                                          </p:val>
                                        </p:tav>
                                      </p:tavLst>
                                    </p:anim>
                                    <p:anim calcmode="lin" valueType="num">
                                      <p:cBhvr>
                                        <p:cTn id="56" dur="500" fill="hold"/>
                                        <p:tgtEl>
                                          <p:spTgt spid="143396"/>
                                        </p:tgtEl>
                                        <p:attrNameLst>
                                          <p:attrName>ppt_y</p:attrName>
                                        </p:attrNameLst>
                                      </p:cBhvr>
                                      <p:tavLst>
                                        <p:tav tm="0">
                                          <p:val>
                                            <p:strVal val="#ppt_y"/>
                                          </p:val>
                                        </p:tav>
                                        <p:tav tm="100000">
                                          <p:val>
                                            <p:strVal val="#ppt_y"/>
                                          </p:val>
                                        </p:tav>
                                      </p:tavLst>
                                    </p:anim>
                                    <p:anim calcmode="lin" valueType="num">
                                      <p:cBhvr>
                                        <p:cTn id="57" dur="500" fill="hold"/>
                                        <p:tgtEl>
                                          <p:spTgt spid="143396"/>
                                        </p:tgtEl>
                                        <p:attrNameLst>
                                          <p:attrName>ppt_w</p:attrName>
                                        </p:attrNameLst>
                                      </p:cBhvr>
                                      <p:tavLst>
                                        <p:tav tm="0">
                                          <p:val>
                                            <p:fltVal val="0.000000"/>
                                          </p:val>
                                        </p:tav>
                                        <p:tav tm="100000">
                                          <p:val>
                                            <p:strVal val="#ppt_w"/>
                                          </p:val>
                                        </p:tav>
                                      </p:tavLst>
                                    </p:anim>
                                    <p:anim calcmode="lin" valueType="num">
                                      <p:cBhvr>
                                        <p:cTn id="58" dur="500" fill="hold"/>
                                        <p:tgtEl>
                                          <p:spTgt spid="143396"/>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4339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7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ext Box 7"/>
          <p:cNvSpPr txBox="1"/>
          <p:nvPr/>
        </p:nvSpPr>
        <p:spPr>
          <a:xfrm>
            <a:off x="152400" y="152400"/>
            <a:ext cx="7239000" cy="457200"/>
          </a:xfrm>
          <a:prstGeom prst="rect">
            <a:avLst/>
          </a:prstGeom>
          <a:noFill/>
          <a:ln w="9525">
            <a:noFill/>
          </a:ln>
        </p:spPr>
        <p:txBody>
          <a:bodyPr>
            <a:spAutoFit/>
          </a:bodyPr>
          <a:p>
            <a:pPr algn="just" eaLnBrk="1" hangingPunct="1"/>
            <a:r>
              <a:rPr lang="en-US" altLang="zh-CN" sz="2400" dirty="0">
                <a:latin typeface="Times New Roman" panose="02020603050405020304" pitchFamily="18" charset="0"/>
              </a:rPr>
              <a:t>3. </a:t>
            </a:r>
            <a:r>
              <a:rPr lang="zh-CN" altLang="en-US" sz="2400" dirty="0">
                <a:latin typeface="Times New Roman" panose="02020603050405020304" pitchFamily="18" charset="0"/>
              </a:rPr>
              <a:t>输出逻辑宏单元</a:t>
            </a:r>
            <a:r>
              <a:rPr lang="en-US" altLang="zh-CN" sz="2400" dirty="0">
                <a:latin typeface="Times New Roman" panose="02020603050405020304" pitchFamily="18" charset="0"/>
              </a:rPr>
              <a:t>OLMC</a:t>
            </a:r>
            <a:r>
              <a:rPr lang="zh-CN" altLang="en-US" sz="2400" dirty="0">
                <a:latin typeface="Times New Roman" panose="02020603050405020304" pitchFamily="18" charset="0"/>
              </a:rPr>
              <a:t>组态</a:t>
            </a:r>
            <a:endParaRPr lang="zh-CN" altLang="en-US" sz="2400" dirty="0">
              <a:latin typeface="Times New Roman" panose="02020603050405020304" pitchFamily="18" charset="0"/>
            </a:endParaRPr>
          </a:p>
        </p:txBody>
      </p:sp>
      <p:sp>
        <p:nvSpPr>
          <p:cNvPr id="144392" name="Text Box 8"/>
          <p:cNvSpPr txBox="1"/>
          <p:nvPr/>
        </p:nvSpPr>
        <p:spPr>
          <a:xfrm>
            <a:off x="304800" y="685800"/>
            <a:ext cx="8458200" cy="822325"/>
          </a:xfrm>
          <a:prstGeom prst="rect">
            <a:avLst/>
          </a:prstGeom>
          <a:noFill/>
          <a:ln w="9525">
            <a:noFill/>
          </a:ln>
        </p:spPr>
        <p:txBody>
          <a:bodyPr>
            <a:spAutoFit/>
          </a:bodyPr>
          <a:p>
            <a:pPr eaLnBrk="1" hangingPunct="1"/>
            <a:r>
              <a:rPr lang="en-US" altLang="zh-CN" sz="2400" dirty="0">
                <a:latin typeface="Times New Roman" panose="02020603050405020304" pitchFamily="18" charset="0"/>
              </a:rPr>
              <a:t>        </a:t>
            </a:r>
            <a:r>
              <a:rPr lang="zh-CN" altLang="en-US" sz="2400" dirty="0">
                <a:latin typeface="Times New Roman" panose="02020603050405020304" pitchFamily="18" charset="0"/>
              </a:rPr>
              <a:t>输出逻辑宏单元由对</a:t>
            </a:r>
            <a:r>
              <a:rPr lang="en-US" altLang="zh-CN" sz="2400" dirty="0">
                <a:latin typeface="Times New Roman" panose="02020603050405020304" pitchFamily="18" charset="0"/>
              </a:rPr>
              <a:t>AC1(n) </a:t>
            </a:r>
            <a:r>
              <a:rPr lang="zh-CN" altLang="en-US" sz="2400" dirty="0">
                <a:latin typeface="Times New Roman" panose="02020603050405020304" pitchFamily="18" charset="0"/>
              </a:rPr>
              <a:t>和</a:t>
            </a:r>
            <a:r>
              <a:rPr lang="en-US" altLang="zh-CN" sz="2400" dirty="0">
                <a:latin typeface="Times New Roman" panose="02020603050405020304" pitchFamily="18" charset="0"/>
              </a:rPr>
              <a:t>AC0</a:t>
            </a:r>
            <a:r>
              <a:rPr lang="zh-CN" altLang="en-US" sz="2400" dirty="0">
                <a:latin typeface="Times New Roman" panose="02020603050405020304" pitchFamily="18" charset="0"/>
              </a:rPr>
              <a:t>进行编程决定</a:t>
            </a:r>
            <a:r>
              <a:rPr lang="en-US" altLang="zh-CN" sz="2400" dirty="0">
                <a:latin typeface="Times New Roman" panose="02020603050405020304" pitchFamily="18" charset="0"/>
              </a:rPr>
              <a:t>PTMUX</a:t>
            </a:r>
            <a:r>
              <a:rPr lang="zh-CN" altLang="en-US" sz="2400" dirty="0">
                <a:latin typeface="Times New Roman" panose="02020603050405020304" pitchFamily="18" charset="0"/>
              </a:rPr>
              <a:t>、</a:t>
            </a:r>
            <a:r>
              <a:rPr lang="en-US" altLang="zh-CN" sz="2400" dirty="0">
                <a:latin typeface="Times New Roman" panose="02020603050405020304" pitchFamily="18" charset="0"/>
              </a:rPr>
              <a:t>TSMUX</a:t>
            </a:r>
            <a:r>
              <a:rPr lang="zh-CN" altLang="en-US" sz="2400" dirty="0">
                <a:latin typeface="Times New Roman" panose="02020603050405020304" pitchFamily="18" charset="0"/>
              </a:rPr>
              <a:t>、</a:t>
            </a:r>
            <a:r>
              <a:rPr lang="en-US" altLang="zh-CN" sz="2400" dirty="0">
                <a:latin typeface="Times New Roman" panose="02020603050405020304" pitchFamily="18" charset="0"/>
              </a:rPr>
              <a:t>OMUX</a:t>
            </a:r>
            <a:r>
              <a:rPr lang="zh-CN" altLang="en-US" sz="2400" dirty="0">
                <a:latin typeface="Times New Roman" panose="02020603050405020304" pitchFamily="18" charset="0"/>
              </a:rPr>
              <a:t>和</a:t>
            </a:r>
            <a:r>
              <a:rPr lang="en-US" altLang="zh-CN" sz="2400" dirty="0">
                <a:latin typeface="Times New Roman" panose="02020603050405020304" pitchFamily="18" charset="0"/>
              </a:rPr>
              <a:t>FMUX</a:t>
            </a:r>
            <a:r>
              <a:rPr lang="zh-CN" altLang="en-US" sz="2400" dirty="0">
                <a:latin typeface="Times New Roman" panose="02020603050405020304" pitchFamily="18" charset="0"/>
              </a:rPr>
              <a:t>的输出，共有</a:t>
            </a:r>
            <a:r>
              <a:rPr lang="en-US" altLang="zh-CN" sz="2400" dirty="0">
                <a:latin typeface="Times New Roman" panose="02020603050405020304" pitchFamily="18" charset="0"/>
              </a:rPr>
              <a:t>5</a:t>
            </a:r>
            <a:r>
              <a:rPr lang="zh-CN" altLang="en-US" sz="2400" dirty="0">
                <a:latin typeface="Times New Roman" panose="02020603050405020304" pitchFamily="18" charset="0"/>
              </a:rPr>
              <a:t>种基本组态：</a:t>
            </a:r>
            <a:endParaRPr lang="zh-CN" altLang="en-US" dirty="0">
              <a:latin typeface="Times New Roman" panose="02020603050405020304" pitchFamily="18" charset="0"/>
            </a:endParaRPr>
          </a:p>
        </p:txBody>
      </p:sp>
      <p:sp>
        <p:nvSpPr>
          <p:cNvPr id="144393" name="Text Box 9"/>
          <p:cNvSpPr txBox="1"/>
          <p:nvPr/>
        </p:nvSpPr>
        <p:spPr>
          <a:xfrm>
            <a:off x="304800" y="1600200"/>
            <a:ext cx="8382000" cy="1187450"/>
          </a:xfrm>
          <a:prstGeom prst="rect">
            <a:avLst/>
          </a:prstGeom>
          <a:noFill/>
          <a:ln w="9525">
            <a:noFill/>
          </a:ln>
        </p:spPr>
        <p:txBody>
          <a:bodyPr>
            <a:spAutoFit/>
          </a:bodyPr>
          <a:p>
            <a:pPr eaLnBrk="1" hangingPunct="1"/>
            <a:r>
              <a:rPr lang="en-US" altLang="zh-CN" sz="2400" dirty="0">
                <a:latin typeface="Times New Roman" panose="02020603050405020304" pitchFamily="18" charset="0"/>
              </a:rPr>
              <a:t>        </a:t>
            </a:r>
            <a:r>
              <a:rPr lang="zh-CN" altLang="en-US" sz="2400" dirty="0">
                <a:latin typeface="Times New Roman" panose="02020603050405020304" pitchFamily="18" charset="0"/>
              </a:rPr>
              <a:t>专用输入组态、专用输出组态、复合输入</a:t>
            </a:r>
            <a:r>
              <a:rPr lang="en-US" altLang="zh-CN" sz="2400" dirty="0">
                <a:latin typeface="Times New Roman" panose="02020603050405020304" pitchFamily="18" charset="0"/>
              </a:rPr>
              <a:t>/</a:t>
            </a:r>
            <a:r>
              <a:rPr lang="zh-CN" altLang="en-US" sz="2400" dirty="0">
                <a:latin typeface="Times New Roman" panose="02020603050405020304" pitchFamily="18" charset="0"/>
              </a:rPr>
              <a:t>输出组态、寄存器组态和寄存器组合</a:t>
            </a:r>
            <a:r>
              <a:rPr lang="en-US" altLang="zh-CN" sz="2400" dirty="0">
                <a:latin typeface="Times New Roman" panose="02020603050405020304" pitchFamily="18" charset="0"/>
              </a:rPr>
              <a:t>I/O</a:t>
            </a:r>
            <a:r>
              <a:rPr lang="zh-CN" altLang="en-US" sz="2400" dirty="0">
                <a:latin typeface="Times New Roman" panose="02020603050405020304" pitchFamily="18" charset="0"/>
              </a:rPr>
              <a:t>组态。</a:t>
            </a:r>
            <a:r>
              <a:rPr lang="en-US" altLang="zh-CN" sz="2400" dirty="0">
                <a:latin typeface="Times New Roman" panose="02020603050405020304" pitchFamily="18" charset="0"/>
              </a:rPr>
              <a:t>8</a:t>
            </a:r>
            <a:r>
              <a:rPr lang="zh-CN" altLang="en-US" sz="2400" dirty="0">
                <a:latin typeface="Times New Roman" panose="02020603050405020304" pitchFamily="18" charset="0"/>
              </a:rPr>
              <a:t>个宏单元可以处于相同的组态，或者有选择地处于不同组态。</a:t>
            </a:r>
            <a:endParaRPr lang="zh-CN" altLang="en-US" dirty="0">
              <a:latin typeface="Times New Roman" panose="02020603050405020304" pitchFamily="18" charset="0"/>
            </a:endParaRPr>
          </a:p>
        </p:txBody>
      </p:sp>
      <p:sp>
        <p:nvSpPr>
          <p:cNvPr id="144394" name="Text Box 10"/>
          <p:cNvSpPr txBox="1"/>
          <p:nvPr/>
        </p:nvSpPr>
        <p:spPr>
          <a:xfrm>
            <a:off x="762000" y="2743200"/>
            <a:ext cx="7391400" cy="457200"/>
          </a:xfrm>
          <a:prstGeom prst="rect">
            <a:avLst/>
          </a:prstGeom>
          <a:noFill/>
          <a:ln w="9525">
            <a:noFill/>
          </a:ln>
        </p:spPr>
        <p:txBody>
          <a:bodyPr>
            <a:spAutoFit/>
          </a:bodyPr>
          <a:p>
            <a:pPr algn="just" eaLnBrk="1" hangingPunct="1"/>
            <a:r>
              <a:rPr lang="en-US" altLang="zh-CN" sz="2400" dirty="0">
                <a:latin typeface="Times New Roman" panose="02020603050405020304" pitchFamily="18" charset="0"/>
              </a:rPr>
              <a:t>(1) </a:t>
            </a:r>
            <a:r>
              <a:rPr lang="zh-CN" altLang="en-US" sz="2400" dirty="0">
                <a:latin typeface="Times New Roman" panose="02020603050405020304" pitchFamily="18" charset="0"/>
              </a:rPr>
              <a:t>专用输入组态 ：如下图所示：</a:t>
            </a:r>
            <a:endParaRPr lang="zh-CN" altLang="en-US" sz="2400" dirty="0">
              <a:latin typeface="Times New Roman" panose="02020603050405020304" pitchFamily="18" charset="0"/>
            </a:endParaRPr>
          </a:p>
        </p:txBody>
      </p:sp>
      <p:graphicFrame>
        <p:nvGraphicFramePr>
          <p:cNvPr id="144396" name="Object 12"/>
          <p:cNvGraphicFramePr>
            <a:graphicFrameLocks noChangeAspect="1"/>
          </p:cNvGraphicFramePr>
          <p:nvPr/>
        </p:nvGraphicFramePr>
        <p:xfrm>
          <a:off x="0" y="3517900"/>
          <a:ext cx="5029200" cy="3340100"/>
        </p:xfrm>
        <a:graphic>
          <a:graphicData uri="http://schemas.openxmlformats.org/presentationml/2006/ole">
            <mc:AlternateContent xmlns:mc="http://schemas.openxmlformats.org/markup-compatibility/2006">
              <mc:Choice xmlns:v="urn:schemas-microsoft-com:vml" Requires="v">
                <p:oleObj spid="_x0000_s3103" name="" r:id="rId1" imgW="2771775" imgH="1571625" progId="Paint.Picture">
                  <p:embed/>
                </p:oleObj>
              </mc:Choice>
              <mc:Fallback>
                <p:oleObj name="" r:id="rId1" imgW="2771775" imgH="1571625" progId="Paint.Picture">
                  <p:embed/>
                  <p:pic>
                    <p:nvPicPr>
                      <p:cNvPr id="0" name="图片 3102"/>
                      <p:cNvPicPr/>
                      <p:nvPr/>
                    </p:nvPicPr>
                    <p:blipFill>
                      <a:blip r:embed="rId2"/>
                      <a:stretch>
                        <a:fillRect/>
                      </a:stretch>
                    </p:blipFill>
                    <p:spPr>
                      <a:xfrm>
                        <a:off x="0" y="3517900"/>
                        <a:ext cx="5029200" cy="3340100"/>
                      </a:xfrm>
                      <a:prstGeom prst="rect">
                        <a:avLst/>
                      </a:prstGeom>
                      <a:noFill/>
                      <a:ln w="38100">
                        <a:noFill/>
                        <a:miter/>
                      </a:ln>
                    </p:spPr>
                  </p:pic>
                </p:oleObj>
              </mc:Fallback>
            </mc:AlternateContent>
          </a:graphicData>
        </a:graphic>
      </p:graphicFrame>
      <p:grpSp>
        <p:nvGrpSpPr>
          <p:cNvPr id="144398" name="Group 14"/>
          <p:cNvGrpSpPr/>
          <p:nvPr/>
        </p:nvGrpSpPr>
        <p:grpSpPr>
          <a:xfrm>
            <a:off x="3200400" y="3048000"/>
            <a:ext cx="5715000" cy="1917700"/>
            <a:chOff x="2016" y="2160"/>
            <a:chExt cx="3600" cy="1208"/>
          </a:xfrm>
        </p:grpSpPr>
        <p:sp>
          <p:nvSpPr>
            <p:cNvPr id="49167" name="Text Box 11"/>
            <p:cNvSpPr txBox="1"/>
            <p:nvPr/>
          </p:nvSpPr>
          <p:spPr>
            <a:xfrm>
              <a:off x="3216" y="2160"/>
              <a:ext cx="2400" cy="1208"/>
            </a:xfrm>
            <a:prstGeom prst="rect">
              <a:avLst/>
            </a:prstGeom>
            <a:noFill/>
            <a:ln w="9525">
              <a:noFill/>
            </a:ln>
          </p:spPr>
          <p:txBody>
            <a:bodyPr>
              <a:spAutoFit/>
            </a:bodyPr>
            <a:p>
              <a:pPr eaLnBrk="1" hangingPunct="1"/>
              <a:r>
                <a:rPr lang="zh-CN" altLang="en-US" sz="2400" dirty="0">
                  <a:latin typeface="Times New Roman" panose="02020603050405020304" pitchFamily="18" charset="0"/>
                </a:rPr>
                <a:t>此时</a:t>
              </a:r>
              <a:r>
                <a:rPr lang="en-US" altLang="zh-CN" sz="2400" dirty="0">
                  <a:latin typeface="Times New Roman" panose="02020603050405020304" pitchFamily="18" charset="0"/>
                </a:rPr>
                <a:t>AC1(n)</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AC0</a:t>
              </a:r>
              <a:r>
                <a:rPr lang="zh-CN" altLang="en-US" sz="2400" dirty="0">
                  <a:latin typeface="Times New Roman" panose="02020603050405020304" pitchFamily="18" charset="0"/>
                </a:rPr>
                <a:t>＝</a:t>
              </a:r>
              <a:r>
                <a:rPr lang="en-US" altLang="zh-CN" sz="2400" dirty="0">
                  <a:latin typeface="Times New Roman" panose="02020603050405020304" pitchFamily="18" charset="0"/>
                </a:rPr>
                <a:t>0</a:t>
              </a:r>
              <a:r>
                <a:rPr lang="zh-CN" altLang="en-US" sz="2400" dirty="0">
                  <a:latin typeface="Times New Roman" panose="02020603050405020304" pitchFamily="18" charset="0"/>
                </a:rPr>
                <a:t>，使</a:t>
              </a:r>
              <a:r>
                <a:rPr lang="en-US" altLang="zh-CN" sz="2400" dirty="0">
                  <a:latin typeface="Times New Roman" panose="02020603050405020304" pitchFamily="18" charset="0"/>
                </a:rPr>
                <a:t>TSMUX</a:t>
              </a:r>
              <a:r>
                <a:rPr lang="zh-CN" altLang="en-US" sz="2400" dirty="0">
                  <a:latin typeface="Times New Roman" panose="02020603050405020304" pitchFamily="18" charset="0"/>
                </a:rPr>
                <a:t>输出为</a:t>
              </a:r>
              <a:r>
                <a:rPr lang="en-US" altLang="zh-CN" sz="2400" dirty="0">
                  <a:latin typeface="Times New Roman" panose="02020603050405020304" pitchFamily="18" charset="0"/>
                </a:rPr>
                <a:t>0</a:t>
              </a:r>
              <a:r>
                <a:rPr lang="zh-CN" altLang="en-US" sz="2400" dirty="0">
                  <a:latin typeface="Times New Roman" panose="02020603050405020304" pitchFamily="18" charset="0"/>
                </a:rPr>
                <a:t>，三态输出缓冲器的输出呈现高电阻，本单元输出功能被禁止，</a:t>
              </a:r>
              <a:endParaRPr lang="zh-CN" altLang="en-US" dirty="0">
                <a:latin typeface="Times New Roman" panose="02020603050405020304" pitchFamily="18" charset="0"/>
              </a:endParaRPr>
            </a:p>
          </p:txBody>
        </p:sp>
        <p:sp>
          <p:nvSpPr>
            <p:cNvPr id="49168" name="Line 13"/>
            <p:cNvSpPr/>
            <p:nvPr/>
          </p:nvSpPr>
          <p:spPr>
            <a:xfrm flipH="1">
              <a:off x="2016" y="2496"/>
              <a:ext cx="1152" cy="816"/>
            </a:xfrm>
            <a:prstGeom prst="line">
              <a:avLst/>
            </a:prstGeom>
            <a:ln w="76200" cap="flat" cmpd="sng">
              <a:solidFill>
                <a:srgbClr val="FFCC66"/>
              </a:solidFill>
              <a:prstDash val="solid"/>
              <a:headEnd type="none" w="med" len="med"/>
              <a:tailEnd type="triangle" w="med" len="med"/>
            </a:ln>
          </p:spPr>
        </p:sp>
      </p:grpSp>
      <p:grpSp>
        <p:nvGrpSpPr>
          <p:cNvPr id="144402" name="Group 18"/>
          <p:cNvGrpSpPr/>
          <p:nvPr/>
        </p:nvGrpSpPr>
        <p:grpSpPr>
          <a:xfrm>
            <a:off x="3581400" y="4572000"/>
            <a:ext cx="5334000" cy="1203325"/>
            <a:chOff x="2256" y="2880"/>
            <a:chExt cx="3360" cy="758"/>
          </a:xfrm>
        </p:grpSpPr>
        <p:sp>
          <p:nvSpPr>
            <p:cNvPr id="49164" name="Text Box 15"/>
            <p:cNvSpPr txBox="1"/>
            <p:nvPr/>
          </p:nvSpPr>
          <p:spPr>
            <a:xfrm>
              <a:off x="3264" y="3072"/>
              <a:ext cx="2352" cy="566"/>
            </a:xfrm>
            <a:prstGeom prst="rect">
              <a:avLst/>
            </a:prstGeom>
            <a:noFill/>
            <a:ln w="76200" cap="flat" cmpd="sng">
              <a:solidFill>
                <a:srgbClr val="FFCC66"/>
              </a:solidFill>
              <a:prstDash val="solid"/>
              <a:miter/>
              <a:headEnd type="none" w="med" len="med"/>
              <a:tailEnd type="none" w="med" len="med"/>
            </a:ln>
          </p:spPr>
          <p:txBody>
            <a:bodyPr>
              <a:spAutoFit/>
            </a:bodyPr>
            <a:p>
              <a:pPr eaLnBrk="1" hangingPunct="1"/>
              <a:r>
                <a:rPr lang="en-US" altLang="zh-CN" sz="2400" dirty="0">
                  <a:latin typeface="Times New Roman" panose="02020603050405020304" pitchFamily="18" charset="0"/>
                </a:rPr>
                <a:t>I/O</a:t>
              </a:r>
              <a:r>
                <a:rPr lang="zh-CN" altLang="en-US" sz="2400" dirty="0">
                  <a:latin typeface="Times New Roman" panose="02020603050405020304" pitchFamily="18" charset="0"/>
                </a:rPr>
                <a:t>可以作为输入端，提供给相邻的逻辑宏单元。</a:t>
              </a:r>
              <a:endParaRPr lang="zh-CN" altLang="en-US" dirty="0">
                <a:latin typeface="Times New Roman" panose="02020603050405020304" pitchFamily="18" charset="0"/>
              </a:endParaRPr>
            </a:p>
          </p:txBody>
        </p:sp>
        <p:sp>
          <p:nvSpPr>
            <p:cNvPr id="49165" name="Line 16"/>
            <p:cNvSpPr/>
            <p:nvPr/>
          </p:nvSpPr>
          <p:spPr>
            <a:xfrm flipH="1">
              <a:off x="2256" y="3264"/>
              <a:ext cx="1008" cy="0"/>
            </a:xfrm>
            <a:prstGeom prst="line">
              <a:avLst/>
            </a:prstGeom>
            <a:ln w="76200" cap="flat" cmpd="sng">
              <a:solidFill>
                <a:srgbClr val="FFCC66"/>
              </a:solidFill>
              <a:prstDash val="solid"/>
              <a:headEnd type="none" w="med" len="med"/>
              <a:tailEnd type="none" w="med" len="med"/>
            </a:ln>
          </p:spPr>
        </p:sp>
        <p:sp>
          <p:nvSpPr>
            <p:cNvPr id="49166" name="Line 17"/>
            <p:cNvSpPr/>
            <p:nvPr/>
          </p:nvSpPr>
          <p:spPr>
            <a:xfrm flipV="1">
              <a:off x="2256" y="2880"/>
              <a:ext cx="0" cy="384"/>
            </a:xfrm>
            <a:prstGeom prst="line">
              <a:avLst/>
            </a:prstGeom>
            <a:ln w="76200" cap="flat" cmpd="sng">
              <a:solidFill>
                <a:srgbClr val="FFCC66"/>
              </a:solidFill>
              <a:prstDash val="solid"/>
              <a:headEnd type="none" w="med" len="med"/>
              <a:tailEnd type="triangle" w="med" len="med"/>
            </a:ln>
          </p:spPr>
        </p:sp>
      </p:grpSp>
      <p:grpSp>
        <p:nvGrpSpPr>
          <p:cNvPr id="144405" name="Group 21"/>
          <p:cNvGrpSpPr/>
          <p:nvPr/>
        </p:nvGrpSpPr>
        <p:grpSpPr>
          <a:xfrm>
            <a:off x="228600" y="5943600"/>
            <a:ext cx="8610600" cy="898525"/>
            <a:chOff x="144" y="3744"/>
            <a:chExt cx="5424" cy="566"/>
          </a:xfrm>
        </p:grpSpPr>
        <p:sp>
          <p:nvSpPr>
            <p:cNvPr id="49162" name="Text Box 19"/>
            <p:cNvSpPr txBox="1"/>
            <p:nvPr/>
          </p:nvSpPr>
          <p:spPr>
            <a:xfrm>
              <a:off x="3264" y="3744"/>
              <a:ext cx="2304" cy="566"/>
            </a:xfrm>
            <a:prstGeom prst="rect">
              <a:avLst/>
            </a:prstGeom>
            <a:noFill/>
            <a:ln w="76200" cap="flat" cmpd="sng">
              <a:solidFill>
                <a:srgbClr val="FFCC66"/>
              </a:solidFill>
              <a:prstDash val="solid"/>
              <a:miter/>
              <a:headEnd type="none" w="med" len="med"/>
              <a:tailEnd type="none" w="med" len="med"/>
            </a:ln>
          </p:spPr>
          <p:txBody>
            <a:bodyPr>
              <a:spAutoFit/>
            </a:bodyPr>
            <a:p>
              <a:pPr eaLnBrk="1" hangingPunct="1"/>
              <a:r>
                <a:rPr lang="zh-CN" altLang="en-US" sz="2400" dirty="0">
                  <a:latin typeface="Times New Roman" panose="02020603050405020304" pitchFamily="18" charset="0"/>
                </a:rPr>
                <a:t>本级输入信号却来自另一相邻宏单元。</a:t>
              </a:r>
              <a:endParaRPr lang="zh-CN" altLang="en-US" dirty="0">
                <a:latin typeface="Times New Roman" panose="02020603050405020304" pitchFamily="18" charset="0"/>
              </a:endParaRPr>
            </a:p>
          </p:txBody>
        </p:sp>
        <p:sp>
          <p:nvSpPr>
            <p:cNvPr id="49163" name="Line 20"/>
            <p:cNvSpPr/>
            <p:nvPr/>
          </p:nvSpPr>
          <p:spPr>
            <a:xfrm flipH="1">
              <a:off x="144" y="4032"/>
              <a:ext cx="3072" cy="0"/>
            </a:xfrm>
            <a:prstGeom prst="line">
              <a:avLst/>
            </a:prstGeom>
            <a:ln w="76200" cap="flat" cmpd="sng">
              <a:solidFill>
                <a:srgbClr val="FFCC66"/>
              </a:solidFill>
              <a:prstDash val="solid"/>
              <a:headEnd type="none" w="med" len="med"/>
              <a:tailEnd type="triangle" w="med" len="med"/>
            </a:ln>
          </p:spPr>
        </p:sp>
      </p:gr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4392"/>
                                        </p:tgtEl>
                                        <p:attrNameLst>
                                          <p:attrName>style.visibility</p:attrName>
                                        </p:attrNameLst>
                                      </p:cBhvr>
                                      <p:to>
                                        <p:strVal val="visible"/>
                                      </p:to>
                                    </p:set>
                                    <p:anim calcmode="lin" valueType="num">
                                      <p:cBhvr additive="base">
                                        <p:cTn id="7" dur="500" fill="hold"/>
                                        <p:tgtEl>
                                          <p:spTgt spid="144392"/>
                                        </p:tgtEl>
                                        <p:attrNameLst>
                                          <p:attrName>ppt_x</p:attrName>
                                        </p:attrNameLst>
                                      </p:cBhvr>
                                      <p:tavLst>
                                        <p:tav tm="0">
                                          <p:val>
                                            <p:strVal val="1+#ppt_w/2"/>
                                          </p:val>
                                        </p:tav>
                                        <p:tav tm="100000">
                                          <p:val>
                                            <p:strVal val="#ppt_x"/>
                                          </p:val>
                                        </p:tav>
                                      </p:tavLst>
                                    </p:anim>
                                    <p:anim calcmode="lin" valueType="num">
                                      <p:cBhvr additive="base">
                                        <p:cTn id="8" dur="500" fill="hold"/>
                                        <p:tgtEl>
                                          <p:spTgt spid="14439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44393"/>
                                        </p:tgtEl>
                                        <p:attrNameLst>
                                          <p:attrName>style.visibility</p:attrName>
                                        </p:attrNameLst>
                                      </p:cBhvr>
                                      <p:to>
                                        <p:strVal val="visible"/>
                                      </p:to>
                                    </p:set>
                                    <p:anim calcmode="lin" valueType="num">
                                      <p:cBhvr additive="base">
                                        <p:cTn id="13" dur="500" fill="hold"/>
                                        <p:tgtEl>
                                          <p:spTgt spid="144393"/>
                                        </p:tgtEl>
                                        <p:attrNameLst>
                                          <p:attrName>ppt_x</p:attrName>
                                        </p:attrNameLst>
                                      </p:cBhvr>
                                      <p:tavLst>
                                        <p:tav tm="0">
                                          <p:val>
                                            <p:strVal val="1+#ppt_w/2"/>
                                          </p:val>
                                        </p:tav>
                                        <p:tav tm="100000">
                                          <p:val>
                                            <p:strVal val="#ppt_x"/>
                                          </p:val>
                                        </p:tav>
                                      </p:tavLst>
                                    </p:anim>
                                    <p:anim calcmode="lin" valueType="num">
                                      <p:cBhvr additive="base">
                                        <p:cTn id="14" dur="500" fill="hold"/>
                                        <p:tgtEl>
                                          <p:spTgt spid="14439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44394"/>
                                        </p:tgtEl>
                                        <p:attrNameLst>
                                          <p:attrName>style.visibility</p:attrName>
                                        </p:attrNameLst>
                                      </p:cBhvr>
                                      <p:to>
                                        <p:strVal val="visible"/>
                                      </p:to>
                                    </p:set>
                                    <p:anim calcmode="lin" valueType="num">
                                      <p:cBhvr additive="base">
                                        <p:cTn id="19" dur="500" fill="hold"/>
                                        <p:tgtEl>
                                          <p:spTgt spid="144394"/>
                                        </p:tgtEl>
                                        <p:attrNameLst>
                                          <p:attrName>ppt_x</p:attrName>
                                        </p:attrNameLst>
                                      </p:cBhvr>
                                      <p:tavLst>
                                        <p:tav tm="0">
                                          <p:val>
                                            <p:strVal val="1+#ppt_w/2"/>
                                          </p:val>
                                        </p:tav>
                                        <p:tav tm="100000">
                                          <p:val>
                                            <p:strVal val="#ppt_x"/>
                                          </p:val>
                                        </p:tav>
                                      </p:tavLst>
                                    </p:anim>
                                    <p:anim calcmode="lin" valueType="num">
                                      <p:cBhvr additive="base">
                                        <p:cTn id="20" dur="500" fill="hold"/>
                                        <p:tgtEl>
                                          <p:spTgt spid="14439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14439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8" presetClass="entr" presetSubtype="12" fill="hold" nodeType="clickEffect">
                                  <p:stCondLst>
                                    <p:cond delay="0"/>
                                  </p:stCondLst>
                                  <p:childTnLst>
                                    <p:set>
                                      <p:cBhvr>
                                        <p:cTn id="28" dur="1" fill="hold">
                                          <p:stCondLst>
                                            <p:cond delay="0"/>
                                          </p:stCondLst>
                                        </p:cTn>
                                        <p:tgtEl>
                                          <p:spTgt spid="144398"/>
                                        </p:tgtEl>
                                        <p:attrNameLst>
                                          <p:attrName>style.visibility</p:attrName>
                                        </p:attrNameLst>
                                      </p:cBhvr>
                                      <p:to>
                                        <p:strVal val="visible"/>
                                      </p:to>
                                    </p:set>
                                    <p:animEffect transition="in" filter="strips(downLeft)">
                                      <p:cBhvr>
                                        <p:cTn id="29" dur="500"/>
                                        <p:tgtEl>
                                          <p:spTgt spid="144398"/>
                                        </p:tgtEl>
                                      </p:cBhvr>
                                    </p:animEffect>
                                  </p:childTnLst>
                                  <p:subTnLst>
                                    <p:set>
                                      <p:cBhvr override="childStyle">
                                        <p:cTn dur="1" fill="hold" display="0" masterRel="nextClick" afterEffect="1"/>
                                        <p:tgtEl>
                                          <p:spTgt spid="144398"/>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18" presetClass="entr" presetSubtype="9" fill="hold" nodeType="clickEffect">
                                  <p:stCondLst>
                                    <p:cond delay="0"/>
                                  </p:stCondLst>
                                  <p:childTnLst>
                                    <p:set>
                                      <p:cBhvr>
                                        <p:cTn id="33" dur="1" fill="hold">
                                          <p:stCondLst>
                                            <p:cond delay="0"/>
                                          </p:stCondLst>
                                        </p:cTn>
                                        <p:tgtEl>
                                          <p:spTgt spid="144402"/>
                                        </p:tgtEl>
                                        <p:attrNameLst>
                                          <p:attrName>style.visibility</p:attrName>
                                        </p:attrNameLst>
                                      </p:cBhvr>
                                      <p:to>
                                        <p:strVal val="visible"/>
                                      </p:to>
                                    </p:set>
                                    <p:animEffect transition="in" filter="strips(upLeft)">
                                      <p:cBhvr>
                                        <p:cTn id="34" dur="500"/>
                                        <p:tgtEl>
                                          <p:spTgt spid="144402"/>
                                        </p:tgtEl>
                                      </p:cBhvr>
                                    </p:animEffect>
                                  </p:childTnLst>
                                  <p:subTnLst>
                                    <p:set>
                                      <p:cBhvr override="childStyle">
                                        <p:cTn dur="1" fill="hold" display="0" masterRel="nextClick" afterEffect="1"/>
                                        <p:tgtEl>
                                          <p:spTgt spid="144402"/>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7" presetClass="entr" presetSubtype="2" fill="hold" nodeType="clickEffect">
                                  <p:stCondLst>
                                    <p:cond delay="0"/>
                                  </p:stCondLst>
                                  <p:childTnLst>
                                    <p:set>
                                      <p:cBhvr>
                                        <p:cTn id="38" dur="1" fill="hold">
                                          <p:stCondLst>
                                            <p:cond delay="0"/>
                                          </p:stCondLst>
                                        </p:cTn>
                                        <p:tgtEl>
                                          <p:spTgt spid="144405"/>
                                        </p:tgtEl>
                                        <p:attrNameLst>
                                          <p:attrName>style.visibility</p:attrName>
                                        </p:attrNameLst>
                                      </p:cBhvr>
                                      <p:to>
                                        <p:strVal val="visible"/>
                                      </p:to>
                                    </p:set>
                                    <p:anim calcmode="lin" valueType="num">
                                      <p:cBhvr>
                                        <p:cTn id="39" dur="500" fill="hold"/>
                                        <p:tgtEl>
                                          <p:spTgt spid="144405"/>
                                        </p:tgtEl>
                                        <p:attrNameLst>
                                          <p:attrName>ppt_x</p:attrName>
                                        </p:attrNameLst>
                                      </p:cBhvr>
                                      <p:tavLst>
                                        <p:tav tm="0">
                                          <p:val>
                                            <p:strVal val="#ppt_x+#ppt_w/2"/>
                                          </p:val>
                                        </p:tav>
                                        <p:tav tm="100000">
                                          <p:val>
                                            <p:strVal val="#ppt_x"/>
                                          </p:val>
                                        </p:tav>
                                      </p:tavLst>
                                    </p:anim>
                                    <p:anim calcmode="lin" valueType="num">
                                      <p:cBhvr>
                                        <p:cTn id="40" dur="500" fill="hold"/>
                                        <p:tgtEl>
                                          <p:spTgt spid="144405"/>
                                        </p:tgtEl>
                                        <p:attrNameLst>
                                          <p:attrName>ppt_y</p:attrName>
                                        </p:attrNameLst>
                                      </p:cBhvr>
                                      <p:tavLst>
                                        <p:tav tm="0">
                                          <p:val>
                                            <p:strVal val="#ppt_y"/>
                                          </p:val>
                                        </p:tav>
                                        <p:tav tm="100000">
                                          <p:val>
                                            <p:strVal val="#ppt_y"/>
                                          </p:val>
                                        </p:tav>
                                      </p:tavLst>
                                    </p:anim>
                                    <p:anim calcmode="lin" valueType="num">
                                      <p:cBhvr>
                                        <p:cTn id="41" dur="500" fill="hold"/>
                                        <p:tgtEl>
                                          <p:spTgt spid="144405"/>
                                        </p:tgtEl>
                                        <p:attrNameLst>
                                          <p:attrName>ppt_w</p:attrName>
                                        </p:attrNameLst>
                                      </p:cBhvr>
                                      <p:tavLst>
                                        <p:tav tm="0">
                                          <p:val>
                                            <p:fltVal val="0.000000"/>
                                          </p:val>
                                        </p:tav>
                                        <p:tav tm="100000">
                                          <p:val>
                                            <p:strVal val="#ppt_w"/>
                                          </p:val>
                                        </p:tav>
                                      </p:tavLst>
                                    </p:anim>
                                    <p:anim calcmode="lin" valueType="num">
                                      <p:cBhvr>
                                        <p:cTn id="42" dur="500" fill="hold"/>
                                        <p:tgtEl>
                                          <p:spTgt spid="14440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92" grpId="0"/>
      <p:bldP spid="144393" grpId="0"/>
      <p:bldP spid="14439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Text Box 26"/>
          <p:cNvSpPr txBox="1"/>
          <p:nvPr/>
        </p:nvSpPr>
        <p:spPr>
          <a:xfrm>
            <a:off x="152400" y="152400"/>
            <a:ext cx="7543800" cy="457200"/>
          </a:xfrm>
          <a:prstGeom prst="rect">
            <a:avLst/>
          </a:prstGeom>
          <a:noFill/>
          <a:ln w="9525">
            <a:noFill/>
          </a:ln>
        </p:spPr>
        <p:txBody>
          <a:bodyPr>
            <a:spAutoFit/>
          </a:bodyPr>
          <a:p>
            <a:pPr algn="just" eaLnBrk="1" hangingPunct="1"/>
            <a:r>
              <a:rPr lang="en-US" altLang="zh-CN" sz="2400" dirty="0">
                <a:latin typeface="Times New Roman" panose="02020603050405020304" pitchFamily="18" charset="0"/>
              </a:rPr>
              <a:t>(2) </a:t>
            </a:r>
            <a:r>
              <a:rPr lang="zh-CN" altLang="en-US" sz="2400" dirty="0">
                <a:latin typeface="Times New Roman" panose="02020603050405020304" pitchFamily="18" charset="0"/>
              </a:rPr>
              <a:t>专用输出组态：如下图所示：</a:t>
            </a:r>
            <a:endParaRPr lang="zh-CN" altLang="en-US" sz="2400" dirty="0">
              <a:latin typeface="Times New Roman" panose="02020603050405020304" pitchFamily="18" charset="0"/>
            </a:endParaRPr>
          </a:p>
        </p:txBody>
      </p:sp>
      <p:graphicFrame>
        <p:nvGraphicFramePr>
          <p:cNvPr id="146459" name="Object 27"/>
          <p:cNvGraphicFramePr>
            <a:graphicFrameLocks noChangeAspect="1"/>
          </p:cNvGraphicFramePr>
          <p:nvPr/>
        </p:nvGraphicFramePr>
        <p:xfrm>
          <a:off x="228600" y="914400"/>
          <a:ext cx="5486400" cy="3057525"/>
        </p:xfrm>
        <a:graphic>
          <a:graphicData uri="http://schemas.openxmlformats.org/presentationml/2006/ole">
            <mc:AlternateContent xmlns:mc="http://schemas.openxmlformats.org/markup-compatibility/2006">
              <mc:Choice xmlns:v="urn:schemas-microsoft-com:vml" Requires="v">
                <p:oleObj spid="_x0000_s3102" name="" r:id="rId1" imgW="2752725" imgH="1533525" progId="Paint.Picture">
                  <p:embed/>
                </p:oleObj>
              </mc:Choice>
              <mc:Fallback>
                <p:oleObj name="" r:id="rId1" imgW="2752725" imgH="1533525" progId="Paint.Picture">
                  <p:embed/>
                  <p:pic>
                    <p:nvPicPr>
                      <p:cNvPr id="0" name="图片 3101"/>
                      <p:cNvPicPr/>
                      <p:nvPr/>
                    </p:nvPicPr>
                    <p:blipFill>
                      <a:blip r:embed="rId2"/>
                      <a:stretch>
                        <a:fillRect/>
                      </a:stretch>
                    </p:blipFill>
                    <p:spPr>
                      <a:xfrm>
                        <a:off x="228600" y="914400"/>
                        <a:ext cx="5486400" cy="3057525"/>
                      </a:xfrm>
                      <a:prstGeom prst="rect">
                        <a:avLst/>
                      </a:prstGeom>
                      <a:noFill/>
                      <a:ln w="38100">
                        <a:noFill/>
                        <a:miter/>
                      </a:ln>
                    </p:spPr>
                  </p:pic>
                </p:oleObj>
              </mc:Fallback>
            </mc:AlternateContent>
          </a:graphicData>
        </a:graphic>
      </p:graphicFrame>
      <p:grpSp>
        <p:nvGrpSpPr>
          <p:cNvPr id="146464" name="Group 32"/>
          <p:cNvGrpSpPr/>
          <p:nvPr/>
        </p:nvGrpSpPr>
        <p:grpSpPr>
          <a:xfrm>
            <a:off x="4038600" y="838200"/>
            <a:ext cx="4800600" cy="1628775"/>
            <a:chOff x="2544" y="528"/>
            <a:chExt cx="3024" cy="1026"/>
          </a:xfrm>
        </p:grpSpPr>
        <p:sp>
          <p:nvSpPr>
            <p:cNvPr id="50191" name="Text Box 28"/>
            <p:cNvSpPr txBox="1"/>
            <p:nvPr/>
          </p:nvSpPr>
          <p:spPr>
            <a:xfrm>
              <a:off x="3552" y="528"/>
              <a:ext cx="2016" cy="1026"/>
            </a:xfrm>
            <a:prstGeom prst="rect">
              <a:avLst/>
            </a:prstGeom>
            <a:noFill/>
            <a:ln w="76200" cap="flat" cmpd="sng">
              <a:solidFill>
                <a:srgbClr val="FFCC66"/>
              </a:solidFill>
              <a:prstDash val="solid"/>
              <a:miter/>
              <a:headEnd type="none" w="med" len="med"/>
              <a:tailEnd type="none" w="med" len="med"/>
            </a:ln>
          </p:spPr>
          <p:txBody>
            <a:bodyPr>
              <a:spAutoFit/>
            </a:bodyPr>
            <a:p>
              <a:pPr eaLnBrk="1" hangingPunct="1">
                <a:spcBef>
                  <a:spcPct val="50000"/>
                </a:spcBef>
              </a:pPr>
              <a:r>
                <a:rPr lang="en-US" altLang="zh-CN" sz="2400" dirty="0">
                  <a:latin typeface="Times New Roman" panose="02020603050405020304" pitchFamily="18" charset="0"/>
                </a:rPr>
                <a:t>AC1(n)</a:t>
              </a:r>
              <a:r>
                <a:rPr lang="zh-CN" altLang="en-US" sz="2400" dirty="0">
                  <a:latin typeface="Times New Roman" panose="02020603050405020304" pitchFamily="18" charset="0"/>
                </a:rPr>
                <a:t>＝</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r>
                <a:rPr lang="en-US" altLang="zh-CN" sz="2400" dirty="0">
                  <a:latin typeface="Times New Roman" panose="02020603050405020304" pitchFamily="18" charset="0"/>
                </a:rPr>
                <a:t>AC0</a:t>
              </a:r>
              <a:r>
                <a:rPr lang="zh-CN" altLang="en-US" sz="2400" dirty="0">
                  <a:latin typeface="Times New Roman" panose="02020603050405020304" pitchFamily="18" charset="0"/>
                </a:rPr>
                <a:t>＝</a:t>
              </a:r>
              <a:r>
                <a:rPr lang="en-US" altLang="zh-CN" sz="2400" dirty="0">
                  <a:latin typeface="Times New Roman" panose="02020603050405020304" pitchFamily="18" charset="0"/>
                </a:rPr>
                <a:t>0</a:t>
              </a:r>
              <a:r>
                <a:rPr lang="zh-CN" altLang="en-US" sz="2400" dirty="0">
                  <a:latin typeface="Times New Roman" panose="02020603050405020304" pitchFamily="18" charset="0"/>
                </a:rPr>
                <a:t>，四路反馈数据选择器</a:t>
              </a:r>
              <a:r>
                <a:rPr lang="en-US" altLang="zh-CN" sz="2400" dirty="0">
                  <a:latin typeface="Times New Roman" panose="02020603050405020304" pitchFamily="18" charset="0"/>
                </a:rPr>
                <a:t>FMUX</a:t>
              </a:r>
              <a:r>
                <a:rPr lang="zh-CN" altLang="en-US" sz="2400" dirty="0">
                  <a:latin typeface="Times New Roman" panose="02020603050405020304" pitchFamily="18" charset="0"/>
                </a:rPr>
                <a:t>输出接在低电平，</a:t>
              </a:r>
              <a:endParaRPr lang="zh-CN" altLang="en-US" sz="2400" dirty="0">
                <a:latin typeface="Times New Roman" panose="02020603050405020304" pitchFamily="18" charset="0"/>
              </a:endParaRPr>
            </a:p>
          </p:txBody>
        </p:sp>
        <p:sp>
          <p:nvSpPr>
            <p:cNvPr id="50192" name="Line 29"/>
            <p:cNvSpPr/>
            <p:nvPr/>
          </p:nvSpPr>
          <p:spPr>
            <a:xfrm flipH="1">
              <a:off x="2544" y="864"/>
              <a:ext cx="1008" cy="528"/>
            </a:xfrm>
            <a:prstGeom prst="line">
              <a:avLst/>
            </a:prstGeom>
            <a:ln w="76200" cap="flat" cmpd="sng">
              <a:solidFill>
                <a:srgbClr val="FFCC66"/>
              </a:solidFill>
              <a:prstDash val="solid"/>
              <a:headEnd type="none" w="med" len="med"/>
              <a:tailEnd type="triangle" w="med" len="med"/>
            </a:ln>
          </p:spPr>
        </p:sp>
      </p:grpSp>
      <p:grpSp>
        <p:nvGrpSpPr>
          <p:cNvPr id="146467" name="Group 35"/>
          <p:cNvGrpSpPr/>
          <p:nvPr/>
        </p:nvGrpSpPr>
        <p:grpSpPr>
          <a:xfrm>
            <a:off x="3581400" y="2743200"/>
            <a:ext cx="5257800" cy="1339850"/>
            <a:chOff x="2256" y="1728"/>
            <a:chExt cx="3312" cy="844"/>
          </a:xfrm>
        </p:grpSpPr>
        <p:sp>
          <p:nvSpPr>
            <p:cNvPr id="50188" name="Text Box 30"/>
            <p:cNvSpPr txBox="1"/>
            <p:nvPr/>
          </p:nvSpPr>
          <p:spPr>
            <a:xfrm>
              <a:off x="3552" y="1776"/>
              <a:ext cx="2016" cy="796"/>
            </a:xfrm>
            <a:prstGeom prst="rect">
              <a:avLst/>
            </a:prstGeom>
            <a:noFill/>
            <a:ln w="76200" cap="flat" cmpd="sng">
              <a:solidFill>
                <a:srgbClr val="FFCC66"/>
              </a:solidFill>
              <a:prstDash val="solid"/>
              <a:miter/>
              <a:headEnd type="none" w="med" len="med"/>
              <a:tailEnd type="none" w="med" len="med"/>
            </a:ln>
          </p:spPr>
          <p:txBody>
            <a:bodyPr>
              <a:spAutoFit/>
            </a:bodyPr>
            <a:p>
              <a:pPr eaLnBrk="1" hangingPunct="1">
                <a:spcBef>
                  <a:spcPct val="50000"/>
                </a:spcBef>
              </a:pPr>
              <a:r>
                <a:rPr lang="zh-CN" altLang="en-US" sz="2400" dirty="0">
                  <a:latin typeface="Times New Roman" panose="02020603050405020304" pitchFamily="18" charset="0"/>
                </a:rPr>
                <a:t>本单元的反馈信号和相邻单元的信号都被阻断</a:t>
              </a:r>
              <a:endParaRPr lang="zh-CN" altLang="en-US" sz="2400" dirty="0">
                <a:latin typeface="Times New Roman" panose="02020603050405020304" pitchFamily="18" charset="0"/>
              </a:endParaRPr>
            </a:p>
          </p:txBody>
        </p:sp>
        <p:sp>
          <p:nvSpPr>
            <p:cNvPr id="50189" name="Line 33"/>
            <p:cNvSpPr/>
            <p:nvPr/>
          </p:nvSpPr>
          <p:spPr>
            <a:xfrm flipH="1">
              <a:off x="2496" y="2016"/>
              <a:ext cx="1008" cy="96"/>
            </a:xfrm>
            <a:prstGeom prst="line">
              <a:avLst/>
            </a:prstGeom>
            <a:ln w="76200" cap="flat" cmpd="sng">
              <a:solidFill>
                <a:srgbClr val="FFCC66"/>
              </a:solidFill>
              <a:prstDash val="solid"/>
              <a:headEnd type="none" w="med" len="med"/>
              <a:tailEnd type="triangle" w="med" len="med"/>
            </a:ln>
          </p:spPr>
        </p:sp>
        <p:sp>
          <p:nvSpPr>
            <p:cNvPr id="50190" name="Line 34"/>
            <p:cNvSpPr/>
            <p:nvPr/>
          </p:nvSpPr>
          <p:spPr>
            <a:xfrm flipH="1" flipV="1">
              <a:off x="2256" y="1728"/>
              <a:ext cx="1248" cy="288"/>
            </a:xfrm>
            <a:prstGeom prst="line">
              <a:avLst/>
            </a:prstGeom>
            <a:ln w="76200" cap="flat" cmpd="sng">
              <a:solidFill>
                <a:srgbClr val="FFCC66"/>
              </a:solidFill>
              <a:prstDash val="solid"/>
              <a:headEnd type="none" w="med" len="med"/>
              <a:tailEnd type="triangle" w="med" len="med"/>
            </a:ln>
          </p:spPr>
        </p:sp>
      </p:grpSp>
      <p:grpSp>
        <p:nvGrpSpPr>
          <p:cNvPr id="146470" name="Group 38"/>
          <p:cNvGrpSpPr/>
          <p:nvPr/>
        </p:nvGrpSpPr>
        <p:grpSpPr>
          <a:xfrm>
            <a:off x="914400" y="2819400"/>
            <a:ext cx="7467600" cy="2346325"/>
            <a:chOff x="576" y="1776"/>
            <a:chExt cx="4704" cy="1478"/>
          </a:xfrm>
        </p:grpSpPr>
        <p:sp>
          <p:nvSpPr>
            <p:cNvPr id="50186" name="Text Box 36"/>
            <p:cNvSpPr txBox="1"/>
            <p:nvPr/>
          </p:nvSpPr>
          <p:spPr>
            <a:xfrm>
              <a:off x="576" y="2688"/>
              <a:ext cx="4704" cy="566"/>
            </a:xfrm>
            <a:prstGeom prst="rect">
              <a:avLst/>
            </a:prstGeom>
            <a:noFill/>
            <a:ln w="76200" cap="flat" cmpd="sng">
              <a:solidFill>
                <a:srgbClr val="FFCC66"/>
              </a:solidFill>
              <a:prstDash val="solid"/>
              <a:miter/>
              <a:headEnd type="none" w="med" len="med"/>
              <a:tailEnd type="none" w="med" len="med"/>
            </a:ln>
          </p:spPr>
          <p:txBody>
            <a:bodyPr>
              <a:spAutoFit/>
            </a:bodyPr>
            <a:p>
              <a:pPr eaLnBrk="1" hangingPunct="1">
                <a:spcBef>
                  <a:spcPct val="50000"/>
                </a:spcBef>
              </a:pPr>
              <a:r>
                <a:rPr lang="en-US" altLang="zh-CN" sz="2400" dirty="0">
                  <a:latin typeface="Times New Roman" panose="02020603050405020304" pitchFamily="18" charset="0"/>
                </a:rPr>
                <a:t>        </a:t>
              </a:r>
              <a:r>
                <a:rPr lang="zh-CN" altLang="en-US" sz="2400" dirty="0">
                  <a:latin typeface="Times New Roman" panose="02020603050405020304" pitchFamily="18" charset="0"/>
                </a:rPr>
                <a:t>由于或非门，使异或门的输出不经过</a:t>
              </a:r>
              <a:r>
                <a:rPr lang="en-US" altLang="zh-CN" sz="2400" dirty="0">
                  <a:latin typeface="Times New Roman" panose="02020603050405020304" pitchFamily="18" charset="0"/>
                </a:rPr>
                <a:t>D</a:t>
              </a:r>
              <a:r>
                <a:rPr lang="zh-CN" altLang="en-US" sz="2400" dirty="0">
                  <a:latin typeface="Times New Roman" panose="02020603050405020304" pitchFamily="18" charset="0"/>
                </a:rPr>
                <a:t>触发器，直接由处于使能状态的三态门输出</a:t>
              </a:r>
              <a:endParaRPr lang="zh-CN" altLang="en-US" sz="2400" dirty="0">
                <a:latin typeface="Times New Roman" panose="02020603050405020304" pitchFamily="18" charset="0"/>
              </a:endParaRPr>
            </a:p>
          </p:txBody>
        </p:sp>
        <p:sp>
          <p:nvSpPr>
            <p:cNvPr id="50187" name="Line 37"/>
            <p:cNvSpPr/>
            <p:nvPr/>
          </p:nvSpPr>
          <p:spPr>
            <a:xfrm flipV="1">
              <a:off x="1488" y="1776"/>
              <a:ext cx="0" cy="864"/>
            </a:xfrm>
            <a:prstGeom prst="line">
              <a:avLst/>
            </a:prstGeom>
            <a:ln w="76200" cap="flat" cmpd="sng">
              <a:solidFill>
                <a:srgbClr val="FFCC66"/>
              </a:solidFill>
              <a:prstDash val="solid"/>
              <a:headEnd type="none" w="med" len="med"/>
              <a:tailEnd type="triangle" w="med" len="med"/>
            </a:ln>
          </p:spPr>
        </p:sp>
      </p:grpSp>
      <p:grpSp>
        <p:nvGrpSpPr>
          <p:cNvPr id="146473" name="Group 41"/>
          <p:cNvGrpSpPr/>
          <p:nvPr/>
        </p:nvGrpSpPr>
        <p:grpSpPr>
          <a:xfrm>
            <a:off x="1219200" y="685800"/>
            <a:ext cx="7696200" cy="1752600"/>
            <a:chOff x="768" y="432"/>
            <a:chExt cx="4848" cy="1104"/>
          </a:xfrm>
        </p:grpSpPr>
        <p:sp>
          <p:nvSpPr>
            <p:cNvPr id="50184" name="Text Box 39"/>
            <p:cNvSpPr txBox="1"/>
            <p:nvPr/>
          </p:nvSpPr>
          <p:spPr>
            <a:xfrm>
              <a:off x="3504" y="432"/>
              <a:ext cx="2112" cy="1026"/>
            </a:xfrm>
            <a:prstGeom prst="rect">
              <a:avLst/>
            </a:prstGeom>
            <a:noFill/>
            <a:ln w="76200" cap="flat" cmpd="sng">
              <a:solidFill>
                <a:srgbClr val="FFCC66"/>
              </a:solidFill>
              <a:prstDash val="solid"/>
              <a:miter/>
              <a:headEnd type="none" w="med" len="med"/>
              <a:tailEnd type="none" w="med" len="med"/>
            </a:ln>
          </p:spPr>
          <p:txBody>
            <a:bodyPr>
              <a:spAutoFit/>
            </a:bodyPr>
            <a:p>
              <a:pPr eaLnBrk="1" hangingPunct="1">
                <a:spcBef>
                  <a:spcPct val="50000"/>
                </a:spcBef>
              </a:pPr>
              <a:r>
                <a:rPr lang="zh-CN" altLang="en-US" sz="2400" dirty="0">
                  <a:latin typeface="Times New Roman" panose="02020603050405020304" pitchFamily="18" charset="0"/>
                </a:rPr>
                <a:t>由于与非门输出使第一条乘积项经过乘积项数据选择器作为或门的输入</a:t>
              </a:r>
              <a:endParaRPr lang="zh-CN" altLang="en-US" sz="2400" dirty="0">
                <a:latin typeface="Times New Roman" panose="02020603050405020304" pitchFamily="18" charset="0"/>
              </a:endParaRPr>
            </a:p>
          </p:txBody>
        </p:sp>
        <p:sp>
          <p:nvSpPr>
            <p:cNvPr id="50185" name="Line 40"/>
            <p:cNvSpPr/>
            <p:nvPr/>
          </p:nvSpPr>
          <p:spPr>
            <a:xfrm flipH="1">
              <a:off x="768" y="432"/>
              <a:ext cx="2688" cy="1104"/>
            </a:xfrm>
            <a:prstGeom prst="line">
              <a:avLst/>
            </a:prstGeom>
            <a:ln w="76200" cap="flat" cmpd="sng">
              <a:solidFill>
                <a:srgbClr val="FFCC66"/>
              </a:solidFill>
              <a:prstDash val="solid"/>
              <a:headEnd type="none" w="med" len="med"/>
              <a:tailEnd type="triangle" w="med" len="med"/>
            </a:ln>
          </p:spPr>
        </p:sp>
      </p:gr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464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46464"/>
                                        </p:tgtEl>
                                        <p:attrNameLst>
                                          <p:attrName>style.visibility</p:attrName>
                                        </p:attrNameLst>
                                      </p:cBhvr>
                                      <p:to>
                                        <p:strVal val="visible"/>
                                      </p:to>
                                    </p:set>
                                  </p:childTnLst>
                                  <p:subTnLst>
                                    <p:set>
                                      <p:cBhvr override="childStyle">
                                        <p:cTn dur="1" fill="hold" display="0" masterRel="nextClick" afterEffect="1"/>
                                        <p:tgtEl>
                                          <p:spTgt spid="146464"/>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7" presetClass="entr" presetSubtype="2" fill="hold" nodeType="clickEffect">
                                  <p:stCondLst>
                                    <p:cond delay="0"/>
                                  </p:stCondLst>
                                  <p:childTnLst>
                                    <p:set>
                                      <p:cBhvr>
                                        <p:cTn id="14" dur="1" fill="hold">
                                          <p:stCondLst>
                                            <p:cond delay="0"/>
                                          </p:stCondLst>
                                        </p:cTn>
                                        <p:tgtEl>
                                          <p:spTgt spid="146467"/>
                                        </p:tgtEl>
                                        <p:attrNameLst>
                                          <p:attrName>style.visibility</p:attrName>
                                        </p:attrNameLst>
                                      </p:cBhvr>
                                      <p:to>
                                        <p:strVal val="visible"/>
                                      </p:to>
                                    </p:set>
                                    <p:anim calcmode="lin" valueType="num">
                                      <p:cBhvr>
                                        <p:cTn id="15" dur="500" fill="hold"/>
                                        <p:tgtEl>
                                          <p:spTgt spid="146467"/>
                                        </p:tgtEl>
                                        <p:attrNameLst>
                                          <p:attrName>ppt_x</p:attrName>
                                        </p:attrNameLst>
                                      </p:cBhvr>
                                      <p:tavLst>
                                        <p:tav tm="0">
                                          <p:val>
                                            <p:strVal val="#ppt_x+#ppt_w/2"/>
                                          </p:val>
                                        </p:tav>
                                        <p:tav tm="100000">
                                          <p:val>
                                            <p:strVal val="#ppt_x"/>
                                          </p:val>
                                        </p:tav>
                                      </p:tavLst>
                                    </p:anim>
                                    <p:anim calcmode="lin" valueType="num">
                                      <p:cBhvr>
                                        <p:cTn id="16" dur="500" fill="hold"/>
                                        <p:tgtEl>
                                          <p:spTgt spid="146467"/>
                                        </p:tgtEl>
                                        <p:attrNameLst>
                                          <p:attrName>ppt_y</p:attrName>
                                        </p:attrNameLst>
                                      </p:cBhvr>
                                      <p:tavLst>
                                        <p:tav tm="0">
                                          <p:val>
                                            <p:strVal val="#ppt_y"/>
                                          </p:val>
                                        </p:tav>
                                        <p:tav tm="100000">
                                          <p:val>
                                            <p:strVal val="#ppt_y"/>
                                          </p:val>
                                        </p:tav>
                                      </p:tavLst>
                                    </p:anim>
                                    <p:anim calcmode="lin" valueType="num">
                                      <p:cBhvr>
                                        <p:cTn id="17" dur="500" fill="hold"/>
                                        <p:tgtEl>
                                          <p:spTgt spid="146467"/>
                                        </p:tgtEl>
                                        <p:attrNameLst>
                                          <p:attrName>ppt_w</p:attrName>
                                        </p:attrNameLst>
                                      </p:cBhvr>
                                      <p:tavLst>
                                        <p:tav tm="0">
                                          <p:val>
                                            <p:fltVal val="0.000000"/>
                                          </p:val>
                                        </p:tav>
                                        <p:tav tm="100000">
                                          <p:val>
                                            <p:strVal val="#ppt_w"/>
                                          </p:val>
                                        </p:tav>
                                      </p:tavLst>
                                    </p:anim>
                                    <p:anim calcmode="lin" valueType="num">
                                      <p:cBhvr>
                                        <p:cTn id="18" dur="500" fill="hold"/>
                                        <p:tgtEl>
                                          <p:spTgt spid="146467"/>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46467"/>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7" presetClass="entr" presetSubtype="4" fill="hold" nodeType="clickEffect">
                                  <p:stCondLst>
                                    <p:cond delay="0"/>
                                  </p:stCondLst>
                                  <p:childTnLst>
                                    <p:set>
                                      <p:cBhvr>
                                        <p:cTn id="22" dur="1" fill="hold">
                                          <p:stCondLst>
                                            <p:cond delay="0"/>
                                          </p:stCondLst>
                                        </p:cTn>
                                        <p:tgtEl>
                                          <p:spTgt spid="146470"/>
                                        </p:tgtEl>
                                        <p:attrNameLst>
                                          <p:attrName>style.visibility</p:attrName>
                                        </p:attrNameLst>
                                      </p:cBhvr>
                                      <p:to>
                                        <p:strVal val="visible"/>
                                      </p:to>
                                    </p:set>
                                    <p:anim calcmode="lin" valueType="num">
                                      <p:cBhvr>
                                        <p:cTn id="23" dur="500" fill="hold"/>
                                        <p:tgtEl>
                                          <p:spTgt spid="146470"/>
                                        </p:tgtEl>
                                        <p:attrNameLst>
                                          <p:attrName>ppt_x</p:attrName>
                                        </p:attrNameLst>
                                      </p:cBhvr>
                                      <p:tavLst>
                                        <p:tav tm="0">
                                          <p:val>
                                            <p:strVal val="#ppt_x"/>
                                          </p:val>
                                        </p:tav>
                                        <p:tav tm="100000">
                                          <p:val>
                                            <p:strVal val="#ppt_x"/>
                                          </p:val>
                                        </p:tav>
                                      </p:tavLst>
                                    </p:anim>
                                    <p:anim calcmode="lin" valueType="num">
                                      <p:cBhvr>
                                        <p:cTn id="24" dur="500" fill="hold"/>
                                        <p:tgtEl>
                                          <p:spTgt spid="146470"/>
                                        </p:tgtEl>
                                        <p:attrNameLst>
                                          <p:attrName>ppt_y</p:attrName>
                                        </p:attrNameLst>
                                      </p:cBhvr>
                                      <p:tavLst>
                                        <p:tav tm="0">
                                          <p:val>
                                            <p:strVal val="#ppt_y+#ppt_h/2"/>
                                          </p:val>
                                        </p:tav>
                                        <p:tav tm="100000">
                                          <p:val>
                                            <p:strVal val="#ppt_y"/>
                                          </p:val>
                                        </p:tav>
                                      </p:tavLst>
                                    </p:anim>
                                    <p:anim calcmode="lin" valueType="num">
                                      <p:cBhvr>
                                        <p:cTn id="25" dur="500" fill="hold"/>
                                        <p:tgtEl>
                                          <p:spTgt spid="146470"/>
                                        </p:tgtEl>
                                        <p:attrNameLst>
                                          <p:attrName>ppt_w</p:attrName>
                                        </p:attrNameLst>
                                      </p:cBhvr>
                                      <p:tavLst>
                                        <p:tav tm="0">
                                          <p:val>
                                            <p:strVal val="#ppt_w"/>
                                          </p:val>
                                        </p:tav>
                                        <p:tav tm="100000">
                                          <p:val>
                                            <p:strVal val="#ppt_w"/>
                                          </p:val>
                                        </p:tav>
                                      </p:tavLst>
                                    </p:anim>
                                    <p:anim calcmode="lin" valueType="num">
                                      <p:cBhvr>
                                        <p:cTn id="26" dur="500" fill="hold"/>
                                        <p:tgtEl>
                                          <p:spTgt spid="146470"/>
                                        </p:tgtEl>
                                        <p:attrNameLst>
                                          <p:attrName>ppt_h</p:attrName>
                                        </p:attrNameLst>
                                      </p:cBhvr>
                                      <p:tavLst>
                                        <p:tav tm="0">
                                          <p:val>
                                            <p:fltVal val="0.000000"/>
                                          </p:val>
                                        </p:tav>
                                        <p:tav tm="100000">
                                          <p:val>
                                            <p:strVal val="#ppt_h"/>
                                          </p:val>
                                        </p:tav>
                                      </p:tavLst>
                                    </p:anim>
                                  </p:childTnLst>
                                  <p:subTnLst>
                                    <p:set>
                                      <p:cBhvr override="childStyle">
                                        <p:cTn dur="1" fill="hold" display="0" masterRel="nextClick" afterEffect="1"/>
                                        <p:tgtEl>
                                          <p:spTgt spid="146470"/>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7" presetClass="entr" presetSubtype="2" fill="hold" nodeType="clickEffect">
                                  <p:stCondLst>
                                    <p:cond delay="0"/>
                                  </p:stCondLst>
                                  <p:childTnLst>
                                    <p:set>
                                      <p:cBhvr>
                                        <p:cTn id="30" dur="1" fill="hold">
                                          <p:stCondLst>
                                            <p:cond delay="0"/>
                                          </p:stCondLst>
                                        </p:cTn>
                                        <p:tgtEl>
                                          <p:spTgt spid="146473"/>
                                        </p:tgtEl>
                                        <p:attrNameLst>
                                          <p:attrName>style.visibility</p:attrName>
                                        </p:attrNameLst>
                                      </p:cBhvr>
                                      <p:to>
                                        <p:strVal val="visible"/>
                                      </p:to>
                                    </p:set>
                                    <p:anim calcmode="lin" valueType="num">
                                      <p:cBhvr>
                                        <p:cTn id="31" dur="500" fill="hold"/>
                                        <p:tgtEl>
                                          <p:spTgt spid="146473"/>
                                        </p:tgtEl>
                                        <p:attrNameLst>
                                          <p:attrName>ppt_x</p:attrName>
                                        </p:attrNameLst>
                                      </p:cBhvr>
                                      <p:tavLst>
                                        <p:tav tm="0">
                                          <p:val>
                                            <p:strVal val="#ppt_x+#ppt_w/2"/>
                                          </p:val>
                                        </p:tav>
                                        <p:tav tm="100000">
                                          <p:val>
                                            <p:strVal val="#ppt_x"/>
                                          </p:val>
                                        </p:tav>
                                      </p:tavLst>
                                    </p:anim>
                                    <p:anim calcmode="lin" valueType="num">
                                      <p:cBhvr>
                                        <p:cTn id="32" dur="500" fill="hold"/>
                                        <p:tgtEl>
                                          <p:spTgt spid="146473"/>
                                        </p:tgtEl>
                                        <p:attrNameLst>
                                          <p:attrName>ppt_y</p:attrName>
                                        </p:attrNameLst>
                                      </p:cBhvr>
                                      <p:tavLst>
                                        <p:tav tm="0">
                                          <p:val>
                                            <p:strVal val="#ppt_y"/>
                                          </p:val>
                                        </p:tav>
                                        <p:tav tm="100000">
                                          <p:val>
                                            <p:strVal val="#ppt_y"/>
                                          </p:val>
                                        </p:tav>
                                      </p:tavLst>
                                    </p:anim>
                                    <p:anim calcmode="lin" valueType="num">
                                      <p:cBhvr>
                                        <p:cTn id="33" dur="500" fill="hold"/>
                                        <p:tgtEl>
                                          <p:spTgt spid="146473"/>
                                        </p:tgtEl>
                                        <p:attrNameLst>
                                          <p:attrName>ppt_w</p:attrName>
                                        </p:attrNameLst>
                                      </p:cBhvr>
                                      <p:tavLst>
                                        <p:tav tm="0">
                                          <p:val>
                                            <p:fltVal val="0.000000"/>
                                          </p:val>
                                        </p:tav>
                                        <p:tav tm="100000">
                                          <p:val>
                                            <p:strVal val="#ppt_w"/>
                                          </p:val>
                                        </p:tav>
                                      </p:tavLst>
                                    </p:anim>
                                    <p:anim calcmode="lin" valueType="num">
                                      <p:cBhvr>
                                        <p:cTn id="34" dur="500" fill="hold"/>
                                        <p:tgtEl>
                                          <p:spTgt spid="146473"/>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4647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91" name="Text Box 11"/>
          <p:cNvSpPr txBox="1"/>
          <p:nvPr/>
        </p:nvSpPr>
        <p:spPr>
          <a:xfrm>
            <a:off x="304800" y="533400"/>
            <a:ext cx="7696200" cy="457200"/>
          </a:xfrm>
          <a:prstGeom prst="rect">
            <a:avLst/>
          </a:prstGeom>
          <a:noFill/>
          <a:ln w="9525">
            <a:noFill/>
          </a:ln>
        </p:spPr>
        <p:txBody>
          <a:bodyPr>
            <a:spAutoFit/>
          </a:bodyPr>
          <a:p>
            <a:pPr algn="just" eaLnBrk="1" hangingPunct="1"/>
            <a:r>
              <a:rPr lang="en-US" altLang="zh-CN" sz="2400" dirty="0">
                <a:latin typeface="Times New Roman" panose="02020603050405020304" pitchFamily="18" charset="0"/>
              </a:rPr>
              <a:t>(4) </a:t>
            </a:r>
            <a:r>
              <a:rPr lang="zh-CN" altLang="en-US" sz="2400" dirty="0">
                <a:latin typeface="Times New Roman" panose="02020603050405020304" pitchFamily="18" charset="0"/>
              </a:rPr>
              <a:t>寄存器组态：当</a:t>
            </a:r>
            <a:r>
              <a:rPr lang="en-US" altLang="zh-CN" sz="2400" dirty="0">
                <a:latin typeface="Times New Roman" panose="02020603050405020304" pitchFamily="18" charset="0"/>
              </a:rPr>
              <a:t>AC1(n)</a:t>
            </a:r>
            <a:r>
              <a:rPr lang="zh-CN" altLang="en-US" sz="2400" dirty="0">
                <a:latin typeface="Times New Roman" panose="02020603050405020304" pitchFamily="18" charset="0"/>
              </a:rPr>
              <a:t>＝</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r>
              <a:rPr lang="en-US" altLang="zh-CN" sz="2400" dirty="0">
                <a:latin typeface="Times New Roman" panose="02020603050405020304" pitchFamily="18" charset="0"/>
              </a:rPr>
              <a:t>AC0</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时，如下图所示。</a:t>
            </a:r>
            <a:endParaRPr lang="zh-CN" altLang="en-US" sz="2400" dirty="0">
              <a:latin typeface="Times New Roman" panose="02020603050405020304" pitchFamily="18" charset="0"/>
            </a:endParaRPr>
          </a:p>
        </p:txBody>
      </p:sp>
      <p:sp>
        <p:nvSpPr>
          <p:cNvPr id="51203" name="Text Box 12"/>
          <p:cNvSpPr txBox="1"/>
          <p:nvPr/>
        </p:nvSpPr>
        <p:spPr>
          <a:xfrm>
            <a:off x="152400" y="76200"/>
            <a:ext cx="4876800" cy="457200"/>
          </a:xfrm>
          <a:prstGeom prst="rect">
            <a:avLst/>
          </a:prstGeom>
          <a:noFill/>
          <a:ln w="9525">
            <a:noFill/>
          </a:ln>
        </p:spPr>
        <p:txBody>
          <a:bodyPr>
            <a:spAutoFit/>
          </a:bodyPr>
          <a:p>
            <a:pPr eaLnBrk="1" hangingPunct="1">
              <a:spcBef>
                <a:spcPct val="50000"/>
              </a:spcBef>
            </a:pPr>
            <a:r>
              <a:rPr lang="zh-CN" altLang="en-US" sz="2400" dirty="0">
                <a:latin typeface="Times New Roman" panose="02020603050405020304" pitchFamily="18" charset="0"/>
              </a:rPr>
              <a:t>（</a:t>
            </a:r>
            <a:r>
              <a:rPr lang="en-US" altLang="zh-CN" sz="2400" dirty="0">
                <a:latin typeface="Times New Roman" panose="02020603050405020304" pitchFamily="18" charset="0"/>
              </a:rPr>
              <a:t>3</a:t>
            </a:r>
            <a:r>
              <a:rPr lang="zh-CN" altLang="en-US" sz="2400" dirty="0">
                <a:latin typeface="Times New Roman" panose="02020603050405020304" pitchFamily="18" charset="0"/>
              </a:rPr>
              <a:t>）同学自学</a:t>
            </a:r>
            <a:endParaRPr lang="zh-CN" altLang="en-US" sz="2400" dirty="0">
              <a:latin typeface="Times New Roman" panose="02020603050405020304" pitchFamily="18" charset="0"/>
            </a:endParaRPr>
          </a:p>
        </p:txBody>
      </p:sp>
      <p:graphicFrame>
        <p:nvGraphicFramePr>
          <p:cNvPr id="148493" name="Object 13"/>
          <p:cNvGraphicFramePr>
            <a:graphicFrameLocks noChangeAspect="1"/>
          </p:cNvGraphicFramePr>
          <p:nvPr/>
        </p:nvGraphicFramePr>
        <p:xfrm>
          <a:off x="304800" y="1524000"/>
          <a:ext cx="5181600" cy="3402013"/>
        </p:xfrm>
        <a:graphic>
          <a:graphicData uri="http://schemas.openxmlformats.org/presentationml/2006/ole">
            <mc:AlternateContent xmlns:mc="http://schemas.openxmlformats.org/markup-compatibility/2006">
              <mc:Choice xmlns:v="urn:schemas-microsoft-com:vml" Requires="v">
                <p:oleObj spid="_x0000_s3104" name="" r:id="rId1" imgW="2438400" imgH="1600200" progId="Paint.Picture">
                  <p:embed/>
                </p:oleObj>
              </mc:Choice>
              <mc:Fallback>
                <p:oleObj name="" r:id="rId1" imgW="2438400" imgH="1600200" progId="Paint.Picture">
                  <p:embed/>
                  <p:pic>
                    <p:nvPicPr>
                      <p:cNvPr id="0" name="图片 3103"/>
                      <p:cNvPicPr/>
                      <p:nvPr/>
                    </p:nvPicPr>
                    <p:blipFill>
                      <a:blip r:embed="rId2"/>
                      <a:stretch>
                        <a:fillRect/>
                      </a:stretch>
                    </p:blipFill>
                    <p:spPr>
                      <a:xfrm>
                        <a:off x="304800" y="1524000"/>
                        <a:ext cx="5181600" cy="3402013"/>
                      </a:xfrm>
                      <a:prstGeom prst="rect">
                        <a:avLst/>
                      </a:prstGeom>
                      <a:noFill/>
                      <a:ln w="38100">
                        <a:noFill/>
                        <a:miter/>
                      </a:ln>
                    </p:spPr>
                  </p:pic>
                </p:oleObj>
              </mc:Fallback>
            </mc:AlternateContent>
          </a:graphicData>
        </a:graphic>
      </p:graphicFrame>
      <p:grpSp>
        <p:nvGrpSpPr>
          <p:cNvPr id="148496" name="Group 16"/>
          <p:cNvGrpSpPr/>
          <p:nvPr/>
        </p:nvGrpSpPr>
        <p:grpSpPr>
          <a:xfrm>
            <a:off x="1295400" y="1524000"/>
            <a:ext cx="7467600" cy="1676400"/>
            <a:chOff x="816" y="960"/>
            <a:chExt cx="4704" cy="1056"/>
          </a:xfrm>
        </p:grpSpPr>
        <p:sp>
          <p:nvSpPr>
            <p:cNvPr id="51217" name="Text Box 14"/>
            <p:cNvSpPr txBox="1"/>
            <p:nvPr/>
          </p:nvSpPr>
          <p:spPr>
            <a:xfrm>
              <a:off x="3696" y="960"/>
              <a:ext cx="1824" cy="796"/>
            </a:xfrm>
            <a:prstGeom prst="rect">
              <a:avLst/>
            </a:prstGeom>
            <a:noFill/>
            <a:ln w="76200" cap="flat" cmpd="sng">
              <a:solidFill>
                <a:srgbClr val="FFCC66"/>
              </a:solidFill>
              <a:prstDash val="solid"/>
              <a:miter/>
              <a:headEnd type="none" w="med" len="med"/>
              <a:tailEnd type="none" w="med" len="med"/>
            </a:ln>
          </p:spPr>
          <p:txBody>
            <a:bodyPr>
              <a:spAutoFit/>
            </a:bodyPr>
            <a:p>
              <a:pPr eaLnBrk="1" hangingPunct="1">
                <a:spcBef>
                  <a:spcPct val="50000"/>
                </a:spcBef>
              </a:pPr>
              <a:r>
                <a:rPr lang="zh-CN" altLang="en-US" sz="2400" dirty="0">
                  <a:latin typeface="Times New Roman" panose="02020603050405020304" pitchFamily="18" charset="0"/>
                </a:rPr>
                <a:t>此时</a:t>
              </a:r>
              <a:r>
                <a:rPr lang="en-US" altLang="zh-CN" sz="2400" dirty="0">
                  <a:latin typeface="Times New Roman" panose="02020603050405020304" pitchFamily="18" charset="0"/>
                </a:rPr>
                <a:t>OMUX</a:t>
              </a:r>
              <a:r>
                <a:rPr lang="zh-CN" altLang="en-US" sz="2400" dirty="0">
                  <a:latin typeface="Times New Roman" panose="02020603050405020304" pitchFamily="18" charset="0"/>
                </a:rPr>
                <a:t>选中触发器的输出同相</a:t>
              </a:r>
              <a:r>
                <a:rPr lang="en-US" altLang="zh-CN" sz="2400" dirty="0">
                  <a:latin typeface="Times New Roman" panose="02020603050405020304" pitchFamily="18" charset="0"/>
                </a:rPr>
                <a:t>Q</a:t>
              </a:r>
              <a:r>
                <a:rPr lang="zh-CN" altLang="en-US" sz="2400" dirty="0">
                  <a:latin typeface="Times New Roman" panose="02020603050405020304" pitchFamily="18" charset="0"/>
                </a:rPr>
                <a:t>端作为输出信号，</a:t>
              </a:r>
              <a:endParaRPr lang="zh-CN" altLang="en-US" sz="2400" dirty="0">
                <a:latin typeface="Times New Roman" panose="02020603050405020304" pitchFamily="18" charset="0"/>
              </a:endParaRPr>
            </a:p>
          </p:txBody>
        </p:sp>
        <p:sp>
          <p:nvSpPr>
            <p:cNvPr id="51218" name="Line 15"/>
            <p:cNvSpPr/>
            <p:nvPr/>
          </p:nvSpPr>
          <p:spPr>
            <a:xfrm>
              <a:off x="816" y="2016"/>
              <a:ext cx="2256" cy="0"/>
            </a:xfrm>
            <a:prstGeom prst="line">
              <a:avLst/>
            </a:prstGeom>
            <a:ln w="76200" cap="flat" cmpd="sng">
              <a:solidFill>
                <a:srgbClr val="FFCC66"/>
              </a:solidFill>
              <a:prstDash val="solid"/>
              <a:headEnd type="none" w="med" len="med"/>
              <a:tailEnd type="triangle" w="med" len="med"/>
            </a:ln>
          </p:spPr>
        </p:sp>
      </p:grpSp>
      <p:grpSp>
        <p:nvGrpSpPr>
          <p:cNvPr id="148503" name="Group 23"/>
          <p:cNvGrpSpPr/>
          <p:nvPr/>
        </p:nvGrpSpPr>
        <p:grpSpPr>
          <a:xfrm>
            <a:off x="3886200" y="3657600"/>
            <a:ext cx="5257800" cy="898525"/>
            <a:chOff x="2448" y="2304"/>
            <a:chExt cx="3312" cy="566"/>
          </a:xfrm>
        </p:grpSpPr>
        <p:sp>
          <p:nvSpPr>
            <p:cNvPr id="51215" name="Text Box 21"/>
            <p:cNvSpPr txBox="1"/>
            <p:nvPr/>
          </p:nvSpPr>
          <p:spPr>
            <a:xfrm>
              <a:off x="3648" y="2304"/>
              <a:ext cx="2112" cy="566"/>
            </a:xfrm>
            <a:prstGeom prst="rect">
              <a:avLst/>
            </a:prstGeom>
            <a:noFill/>
            <a:ln w="76200" cap="flat" cmpd="sng">
              <a:solidFill>
                <a:srgbClr val="FFCC66"/>
              </a:solidFill>
              <a:prstDash val="solid"/>
              <a:miter/>
              <a:headEnd type="none" w="med" len="med"/>
              <a:tailEnd type="none" w="med" len="med"/>
            </a:ln>
          </p:spPr>
          <p:txBody>
            <a:bodyPr>
              <a:spAutoFit/>
            </a:bodyPr>
            <a:p>
              <a:pPr eaLnBrk="1" hangingPunct="1">
                <a:spcBef>
                  <a:spcPct val="50000"/>
                </a:spcBef>
              </a:pPr>
              <a:r>
                <a:rPr lang="zh-CN" altLang="en-US" sz="2400" dirty="0">
                  <a:latin typeface="Times New Roman" panose="02020603050405020304" pitchFamily="18" charset="0"/>
                </a:rPr>
                <a:t>反馈输入信号来自</a:t>
              </a:r>
              <a:r>
                <a:rPr lang="en-US" altLang="zh-CN" sz="2400" dirty="0">
                  <a:latin typeface="Times New Roman" panose="02020603050405020304" pitchFamily="18" charset="0"/>
                </a:rPr>
                <a:t>D</a:t>
              </a:r>
              <a:r>
                <a:rPr lang="zh-CN" altLang="en-US" sz="2400" dirty="0">
                  <a:latin typeface="Times New Roman" panose="02020603050405020304" pitchFamily="18" charset="0"/>
                </a:rPr>
                <a:t>触发器的反相端</a:t>
              </a:r>
              <a:endParaRPr lang="zh-CN" altLang="en-US" sz="2400" dirty="0">
                <a:latin typeface="Times New Roman" panose="02020603050405020304" pitchFamily="18" charset="0"/>
              </a:endParaRPr>
            </a:p>
          </p:txBody>
        </p:sp>
        <p:sp>
          <p:nvSpPr>
            <p:cNvPr id="51216" name="Line 22"/>
            <p:cNvSpPr/>
            <p:nvPr/>
          </p:nvSpPr>
          <p:spPr>
            <a:xfrm flipH="1">
              <a:off x="2448" y="2496"/>
              <a:ext cx="1152" cy="0"/>
            </a:xfrm>
            <a:prstGeom prst="line">
              <a:avLst/>
            </a:prstGeom>
            <a:ln w="76200" cap="flat" cmpd="sng">
              <a:solidFill>
                <a:srgbClr val="FFCC66"/>
              </a:solidFill>
              <a:prstDash val="solid"/>
              <a:headEnd type="none" w="med" len="med"/>
              <a:tailEnd type="triangle" w="med" len="med"/>
            </a:ln>
          </p:spPr>
        </p:sp>
      </p:grpSp>
      <p:grpSp>
        <p:nvGrpSpPr>
          <p:cNvPr id="148505" name="Group 25"/>
          <p:cNvGrpSpPr/>
          <p:nvPr/>
        </p:nvGrpSpPr>
        <p:grpSpPr>
          <a:xfrm>
            <a:off x="609600" y="3810000"/>
            <a:ext cx="3810000" cy="1905000"/>
            <a:chOff x="384" y="2400"/>
            <a:chExt cx="2400" cy="1200"/>
          </a:xfrm>
        </p:grpSpPr>
        <p:sp>
          <p:nvSpPr>
            <p:cNvPr id="51213" name="Text Box 17"/>
            <p:cNvSpPr txBox="1"/>
            <p:nvPr/>
          </p:nvSpPr>
          <p:spPr>
            <a:xfrm>
              <a:off x="384" y="3264"/>
              <a:ext cx="2400" cy="336"/>
            </a:xfrm>
            <a:prstGeom prst="rect">
              <a:avLst/>
            </a:prstGeom>
            <a:noFill/>
            <a:ln w="76200" cap="flat" cmpd="sng">
              <a:solidFill>
                <a:srgbClr val="FFCC66"/>
              </a:solidFill>
              <a:prstDash val="solid"/>
              <a:miter/>
              <a:headEnd type="none" w="med" len="med"/>
              <a:tailEnd type="none" w="med" len="med"/>
            </a:ln>
          </p:spPr>
          <p:txBody>
            <a:bodyPr>
              <a:spAutoFit/>
            </a:bodyPr>
            <a:p>
              <a:pPr eaLnBrk="1" hangingPunct="1">
                <a:spcBef>
                  <a:spcPct val="50000"/>
                </a:spcBef>
              </a:pPr>
              <a:r>
                <a:rPr lang="zh-CN" altLang="en-US" sz="2400" dirty="0">
                  <a:latin typeface="Times New Roman" panose="02020603050405020304" pitchFamily="18" charset="0"/>
                </a:rPr>
                <a:t>或门的输入有</a:t>
              </a:r>
              <a:r>
                <a:rPr lang="en-US" altLang="zh-CN" sz="2400" dirty="0">
                  <a:latin typeface="Times New Roman" panose="02020603050405020304" pitchFamily="18" charset="0"/>
                </a:rPr>
                <a:t>8</a:t>
              </a:r>
              <a:r>
                <a:rPr lang="zh-CN" altLang="en-US" sz="2400" dirty="0">
                  <a:latin typeface="Times New Roman" panose="02020603050405020304" pitchFamily="18" charset="0"/>
                </a:rPr>
                <a:t>个乘积项</a:t>
              </a:r>
              <a:endParaRPr lang="zh-CN" altLang="en-US" sz="2400" dirty="0">
                <a:latin typeface="Times New Roman" panose="02020603050405020304" pitchFamily="18" charset="0"/>
              </a:endParaRPr>
            </a:p>
          </p:txBody>
        </p:sp>
        <p:sp>
          <p:nvSpPr>
            <p:cNvPr id="51214" name="Line 24"/>
            <p:cNvSpPr/>
            <p:nvPr/>
          </p:nvSpPr>
          <p:spPr>
            <a:xfrm flipH="1" flipV="1">
              <a:off x="672" y="2400"/>
              <a:ext cx="192" cy="816"/>
            </a:xfrm>
            <a:prstGeom prst="line">
              <a:avLst/>
            </a:prstGeom>
            <a:ln w="76200" cap="flat" cmpd="sng">
              <a:solidFill>
                <a:srgbClr val="FFCC66"/>
              </a:solidFill>
              <a:prstDash val="solid"/>
              <a:headEnd type="none" w="med" len="med"/>
              <a:tailEnd type="triangle" w="med" len="med"/>
            </a:ln>
          </p:spPr>
        </p:sp>
      </p:grpSp>
      <p:grpSp>
        <p:nvGrpSpPr>
          <p:cNvPr id="148507" name="Group 27"/>
          <p:cNvGrpSpPr/>
          <p:nvPr/>
        </p:nvGrpSpPr>
        <p:grpSpPr>
          <a:xfrm>
            <a:off x="2743200" y="2133600"/>
            <a:ext cx="6400800" cy="2254250"/>
            <a:chOff x="1728" y="1344"/>
            <a:chExt cx="4032" cy="1420"/>
          </a:xfrm>
        </p:grpSpPr>
        <p:grpSp>
          <p:nvGrpSpPr>
            <p:cNvPr id="51209" name="Group 20"/>
            <p:cNvGrpSpPr/>
            <p:nvPr/>
          </p:nvGrpSpPr>
          <p:grpSpPr>
            <a:xfrm>
              <a:off x="2544" y="1440"/>
              <a:ext cx="3216" cy="1324"/>
              <a:chOff x="2544" y="1440"/>
              <a:chExt cx="3216" cy="1324"/>
            </a:xfrm>
          </p:grpSpPr>
          <p:sp>
            <p:nvSpPr>
              <p:cNvPr id="51211" name="Text Box 18"/>
              <p:cNvSpPr txBox="1"/>
              <p:nvPr/>
            </p:nvSpPr>
            <p:spPr>
              <a:xfrm>
                <a:off x="3696" y="1968"/>
                <a:ext cx="2064" cy="796"/>
              </a:xfrm>
              <a:prstGeom prst="rect">
                <a:avLst/>
              </a:prstGeom>
              <a:noFill/>
              <a:ln w="76200" cap="flat" cmpd="sng">
                <a:solidFill>
                  <a:srgbClr val="FFCC66"/>
                </a:solidFill>
                <a:prstDash val="solid"/>
                <a:miter/>
                <a:headEnd type="none" w="med" len="med"/>
                <a:tailEnd type="none" w="med" len="med"/>
              </a:ln>
            </p:spPr>
            <p:txBody>
              <a:bodyPr>
                <a:spAutoFit/>
              </a:bodyPr>
              <a:p>
                <a:pPr eaLnBrk="1" hangingPunct="1">
                  <a:spcBef>
                    <a:spcPct val="50000"/>
                  </a:spcBef>
                </a:pPr>
                <a:r>
                  <a:rPr lang="en-US" altLang="zh-CN" sz="2400" dirty="0">
                    <a:latin typeface="Times New Roman" panose="02020603050405020304" pitchFamily="18" charset="0"/>
                  </a:rPr>
                  <a:t>OE</a:t>
                </a:r>
                <a:r>
                  <a:rPr lang="zh-CN" altLang="en-US" sz="2400" dirty="0">
                    <a:latin typeface="Times New Roman" panose="02020603050405020304" pitchFamily="18" charset="0"/>
                  </a:rPr>
                  <a:t>、</a:t>
                </a:r>
                <a:r>
                  <a:rPr lang="en-US" altLang="zh-CN" sz="2400" dirty="0">
                    <a:latin typeface="Times New Roman" panose="02020603050405020304" pitchFamily="18" charset="0"/>
                  </a:rPr>
                  <a:t>CLK</a:t>
                </a:r>
                <a:r>
                  <a:rPr lang="zh-CN" altLang="en-US" sz="2400" dirty="0">
                    <a:latin typeface="Times New Roman" panose="02020603050405020304" pitchFamily="18" charset="0"/>
                  </a:rPr>
                  <a:t>作为输出缓冲器的使能信号和时钟，作为公共端</a:t>
                </a:r>
                <a:endParaRPr lang="zh-CN" altLang="en-US" sz="2400" dirty="0">
                  <a:latin typeface="Times New Roman" panose="02020603050405020304" pitchFamily="18" charset="0"/>
                </a:endParaRPr>
              </a:p>
            </p:txBody>
          </p:sp>
          <p:sp>
            <p:nvSpPr>
              <p:cNvPr id="51212" name="Line 19"/>
              <p:cNvSpPr/>
              <p:nvPr/>
            </p:nvSpPr>
            <p:spPr>
              <a:xfrm flipH="1" flipV="1">
                <a:off x="2544" y="1440"/>
                <a:ext cx="1104" cy="624"/>
              </a:xfrm>
              <a:prstGeom prst="line">
                <a:avLst/>
              </a:prstGeom>
              <a:ln w="76200" cap="flat" cmpd="sng">
                <a:solidFill>
                  <a:srgbClr val="FFCC66"/>
                </a:solidFill>
                <a:prstDash val="solid"/>
                <a:headEnd type="none" w="med" len="med"/>
                <a:tailEnd type="triangle" w="med" len="med"/>
              </a:ln>
            </p:spPr>
          </p:sp>
        </p:grpSp>
        <p:sp>
          <p:nvSpPr>
            <p:cNvPr id="51210" name="Line 26"/>
            <p:cNvSpPr/>
            <p:nvPr/>
          </p:nvSpPr>
          <p:spPr>
            <a:xfrm flipH="1" flipV="1">
              <a:off x="1728" y="1344"/>
              <a:ext cx="1872" cy="720"/>
            </a:xfrm>
            <a:prstGeom prst="line">
              <a:avLst/>
            </a:prstGeom>
            <a:ln w="76200" cap="flat" cmpd="sng">
              <a:solidFill>
                <a:srgbClr val="FFCC66"/>
              </a:solidFill>
              <a:prstDash val="solid"/>
              <a:headEnd type="none" w="med" len="med"/>
              <a:tailEnd type="triangle" w="med" len="med"/>
            </a:ln>
          </p:spPr>
        </p:sp>
      </p:gr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iterate type="wd">
                                    <p:tmPct val="100000"/>
                                  </p:iterate>
                                  <p:childTnLst>
                                    <p:set>
                                      <p:cBhvr>
                                        <p:cTn id="6" dur="1" fill="hold">
                                          <p:stCondLst>
                                            <p:cond delay="0"/>
                                          </p:stCondLst>
                                        </p:cTn>
                                        <p:tgtEl>
                                          <p:spTgt spid="148491">
                                            <p:txEl>
                                              <p:charRg st="0" end="34"/>
                                            </p:txEl>
                                          </p:spTgt>
                                        </p:tgtEl>
                                        <p:attrNameLst>
                                          <p:attrName>style.visibility</p:attrName>
                                        </p:attrNameLst>
                                      </p:cBhvr>
                                      <p:to>
                                        <p:strVal val="visible"/>
                                      </p:to>
                                    </p:set>
                                    <p:anim calcmode="lin" valueType="num">
                                      <p:cBhvr additive="base">
                                        <p:cTn id="7" dur="300" fill="hold"/>
                                        <p:tgtEl>
                                          <p:spTgt spid="148491">
                                            <p:txEl>
                                              <p:charRg st="0" end="34"/>
                                            </p:txEl>
                                          </p:spTgt>
                                        </p:tgtEl>
                                        <p:attrNameLst>
                                          <p:attrName>ppt_x</p:attrName>
                                        </p:attrNameLst>
                                      </p:cBhvr>
                                      <p:tavLst>
                                        <p:tav tm="0">
                                          <p:val>
                                            <p:strVal val="1+#ppt_w/2"/>
                                          </p:val>
                                        </p:tav>
                                        <p:tav tm="100000">
                                          <p:val>
                                            <p:strVal val="#ppt_x"/>
                                          </p:val>
                                        </p:tav>
                                      </p:tavLst>
                                    </p:anim>
                                    <p:anim calcmode="lin" valueType="num">
                                      <p:cBhvr additive="base">
                                        <p:cTn id="8" dur="300" fill="hold"/>
                                        <p:tgtEl>
                                          <p:spTgt spid="148491">
                                            <p:txEl>
                                              <p:charRg st="0" end="34"/>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14849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7" presetClass="entr" presetSubtype="8" fill="hold" nodeType="clickEffect">
                                  <p:stCondLst>
                                    <p:cond delay="0"/>
                                  </p:stCondLst>
                                  <p:childTnLst>
                                    <p:set>
                                      <p:cBhvr>
                                        <p:cTn id="16" dur="1" fill="hold">
                                          <p:stCondLst>
                                            <p:cond delay="0"/>
                                          </p:stCondLst>
                                        </p:cTn>
                                        <p:tgtEl>
                                          <p:spTgt spid="148496"/>
                                        </p:tgtEl>
                                        <p:attrNameLst>
                                          <p:attrName>style.visibility</p:attrName>
                                        </p:attrNameLst>
                                      </p:cBhvr>
                                      <p:to>
                                        <p:strVal val="visible"/>
                                      </p:to>
                                    </p:set>
                                    <p:anim calcmode="lin" valueType="num">
                                      <p:cBhvr>
                                        <p:cTn id="17" dur="500" fill="hold"/>
                                        <p:tgtEl>
                                          <p:spTgt spid="148496"/>
                                        </p:tgtEl>
                                        <p:attrNameLst>
                                          <p:attrName>ppt_x</p:attrName>
                                        </p:attrNameLst>
                                      </p:cBhvr>
                                      <p:tavLst>
                                        <p:tav tm="0">
                                          <p:val>
                                            <p:strVal val="#ppt_x-#ppt_w/2"/>
                                          </p:val>
                                        </p:tav>
                                        <p:tav tm="100000">
                                          <p:val>
                                            <p:strVal val="#ppt_x"/>
                                          </p:val>
                                        </p:tav>
                                      </p:tavLst>
                                    </p:anim>
                                    <p:anim calcmode="lin" valueType="num">
                                      <p:cBhvr>
                                        <p:cTn id="18" dur="500" fill="hold"/>
                                        <p:tgtEl>
                                          <p:spTgt spid="148496"/>
                                        </p:tgtEl>
                                        <p:attrNameLst>
                                          <p:attrName>ppt_y</p:attrName>
                                        </p:attrNameLst>
                                      </p:cBhvr>
                                      <p:tavLst>
                                        <p:tav tm="0">
                                          <p:val>
                                            <p:strVal val="#ppt_y"/>
                                          </p:val>
                                        </p:tav>
                                        <p:tav tm="100000">
                                          <p:val>
                                            <p:strVal val="#ppt_y"/>
                                          </p:val>
                                        </p:tav>
                                      </p:tavLst>
                                    </p:anim>
                                    <p:anim calcmode="lin" valueType="num">
                                      <p:cBhvr>
                                        <p:cTn id="19" dur="500" fill="hold"/>
                                        <p:tgtEl>
                                          <p:spTgt spid="148496"/>
                                        </p:tgtEl>
                                        <p:attrNameLst>
                                          <p:attrName>ppt_w</p:attrName>
                                        </p:attrNameLst>
                                      </p:cBhvr>
                                      <p:tavLst>
                                        <p:tav tm="0">
                                          <p:val>
                                            <p:fltVal val="0.000000"/>
                                          </p:val>
                                        </p:tav>
                                        <p:tav tm="100000">
                                          <p:val>
                                            <p:strVal val="#ppt_w"/>
                                          </p:val>
                                        </p:tav>
                                      </p:tavLst>
                                    </p:anim>
                                    <p:anim calcmode="lin" valueType="num">
                                      <p:cBhvr>
                                        <p:cTn id="20" dur="500" fill="hold"/>
                                        <p:tgtEl>
                                          <p:spTgt spid="148496"/>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48496"/>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7" presetClass="entr" presetSubtype="2" fill="hold" nodeType="clickEffect">
                                  <p:stCondLst>
                                    <p:cond delay="0"/>
                                  </p:stCondLst>
                                  <p:childTnLst>
                                    <p:set>
                                      <p:cBhvr>
                                        <p:cTn id="24" dur="1" fill="hold">
                                          <p:stCondLst>
                                            <p:cond delay="0"/>
                                          </p:stCondLst>
                                        </p:cTn>
                                        <p:tgtEl>
                                          <p:spTgt spid="148503"/>
                                        </p:tgtEl>
                                        <p:attrNameLst>
                                          <p:attrName>style.visibility</p:attrName>
                                        </p:attrNameLst>
                                      </p:cBhvr>
                                      <p:to>
                                        <p:strVal val="visible"/>
                                      </p:to>
                                    </p:set>
                                    <p:anim calcmode="lin" valueType="num">
                                      <p:cBhvr>
                                        <p:cTn id="25" dur="500" fill="hold"/>
                                        <p:tgtEl>
                                          <p:spTgt spid="148503"/>
                                        </p:tgtEl>
                                        <p:attrNameLst>
                                          <p:attrName>ppt_x</p:attrName>
                                        </p:attrNameLst>
                                      </p:cBhvr>
                                      <p:tavLst>
                                        <p:tav tm="0">
                                          <p:val>
                                            <p:strVal val="#ppt_x+#ppt_w/2"/>
                                          </p:val>
                                        </p:tav>
                                        <p:tav tm="100000">
                                          <p:val>
                                            <p:strVal val="#ppt_x"/>
                                          </p:val>
                                        </p:tav>
                                      </p:tavLst>
                                    </p:anim>
                                    <p:anim calcmode="lin" valueType="num">
                                      <p:cBhvr>
                                        <p:cTn id="26" dur="500" fill="hold"/>
                                        <p:tgtEl>
                                          <p:spTgt spid="148503"/>
                                        </p:tgtEl>
                                        <p:attrNameLst>
                                          <p:attrName>ppt_y</p:attrName>
                                        </p:attrNameLst>
                                      </p:cBhvr>
                                      <p:tavLst>
                                        <p:tav tm="0">
                                          <p:val>
                                            <p:strVal val="#ppt_y"/>
                                          </p:val>
                                        </p:tav>
                                        <p:tav tm="100000">
                                          <p:val>
                                            <p:strVal val="#ppt_y"/>
                                          </p:val>
                                        </p:tav>
                                      </p:tavLst>
                                    </p:anim>
                                    <p:anim calcmode="lin" valueType="num">
                                      <p:cBhvr>
                                        <p:cTn id="27" dur="500" fill="hold"/>
                                        <p:tgtEl>
                                          <p:spTgt spid="148503"/>
                                        </p:tgtEl>
                                        <p:attrNameLst>
                                          <p:attrName>ppt_w</p:attrName>
                                        </p:attrNameLst>
                                      </p:cBhvr>
                                      <p:tavLst>
                                        <p:tav tm="0">
                                          <p:val>
                                            <p:fltVal val="0.000000"/>
                                          </p:val>
                                        </p:tav>
                                        <p:tav tm="100000">
                                          <p:val>
                                            <p:strVal val="#ppt_w"/>
                                          </p:val>
                                        </p:tav>
                                      </p:tavLst>
                                    </p:anim>
                                    <p:anim calcmode="lin" valueType="num">
                                      <p:cBhvr>
                                        <p:cTn id="28" dur="500" fill="hold"/>
                                        <p:tgtEl>
                                          <p:spTgt spid="148503"/>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48503"/>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17" presetClass="entr" presetSubtype="4" fill="hold" nodeType="clickEffect">
                                  <p:stCondLst>
                                    <p:cond delay="0"/>
                                  </p:stCondLst>
                                  <p:childTnLst>
                                    <p:set>
                                      <p:cBhvr>
                                        <p:cTn id="32" dur="1" fill="hold">
                                          <p:stCondLst>
                                            <p:cond delay="0"/>
                                          </p:stCondLst>
                                        </p:cTn>
                                        <p:tgtEl>
                                          <p:spTgt spid="148505"/>
                                        </p:tgtEl>
                                        <p:attrNameLst>
                                          <p:attrName>style.visibility</p:attrName>
                                        </p:attrNameLst>
                                      </p:cBhvr>
                                      <p:to>
                                        <p:strVal val="visible"/>
                                      </p:to>
                                    </p:set>
                                    <p:anim calcmode="lin" valueType="num">
                                      <p:cBhvr>
                                        <p:cTn id="33" dur="500" fill="hold"/>
                                        <p:tgtEl>
                                          <p:spTgt spid="148505"/>
                                        </p:tgtEl>
                                        <p:attrNameLst>
                                          <p:attrName>ppt_x</p:attrName>
                                        </p:attrNameLst>
                                      </p:cBhvr>
                                      <p:tavLst>
                                        <p:tav tm="0">
                                          <p:val>
                                            <p:strVal val="#ppt_x"/>
                                          </p:val>
                                        </p:tav>
                                        <p:tav tm="100000">
                                          <p:val>
                                            <p:strVal val="#ppt_x"/>
                                          </p:val>
                                        </p:tav>
                                      </p:tavLst>
                                    </p:anim>
                                    <p:anim calcmode="lin" valueType="num">
                                      <p:cBhvr>
                                        <p:cTn id="34" dur="500" fill="hold"/>
                                        <p:tgtEl>
                                          <p:spTgt spid="148505"/>
                                        </p:tgtEl>
                                        <p:attrNameLst>
                                          <p:attrName>ppt_y</p:attrName>
                                        </p:attrNameLst>
                                      </p:cBhvr>
                                      <p:tavLst>
                                        <p:tav tm="0">
                                          <p:val>
                                            <p:strVal val="#ppt_y+#ppt_h/2"/>
                                          </p:val>
                                        </p:tav>
                                        <p:tav tm="100000">
                                          <p:val>
                                            <p:strVal val="#ppt_y"/>
                                          </p:val>
                                        </p:tav>
                                      </p:tavLst>
                                    </p:anim>
                                    <p:anim calcmode="lin" valueType="num">
                                      <p:cBhvr>
                                        <p:cTn id="35" dur="500" fill="hold"/>
                                        <p:tgtEl>
                                          <p:spTgt spid="148505"/>
                                        </p:tgtEl>
                                        <p:attrNameLst>
                                          <p:attrName>ppt_w</p:attrName>
                                        </p:attrNameLst>
                                      </p:cBhvr>
                                      <p:tavLst>
                                        <p:tav tm="0">
                                          <p:val>
                                            <p:strVal val="#ppt_w"/>
                                          </p:val>
                                        </p:tav>
                                        <p:tav tm="100000">
                                          <p:val>
                                            <p:strVal val="#ppt_w"/>
                                          </p:val>
                                        </p:tav>
                                      </p:tavLst>
                                    </p:anim>
                                    <p:anim calcmode="lin" valueType="num">
                                      <p:cBhvr>
                                        <p:cTn id="36" dur="500" fill="hold"/>
                                        <p:tgtEl>
                                          <p:spTgt spid="148505"/>
                                        </p:tgtEl>
                                        <p:attrNameLst>
                                          <p:attrName>ppt_h</p:attrName>
                                        </p:attrNameLst>
                                      </p:cBhvr>
                                      <p:tavLst>
                                        <p:tav tm="0">
                                          <p:val>
                                            <p:fltVal val="0.000000"/>
                                          </p:val>
                                        </p:tav>
                                        <p:tav tm="100000">
                                          <p:val>
                                            <p:strVal val="#ppt_h"/>
                                          </p:val>
                                        </p:tav>
                                      </p:tavLst>
                                    </p:anim>
                                  </p:childTnLst>
                                  <p:subTnLst>
                                    <p:set>
                                      <p:cBhvr override="childStyle">
                                        <p:cTn dur="1" fill="hold" display="0" masterRel="nextClick" afterEffect="1"/>
                                        <p:tgtEl>
                                          <p:spTgt spid="148505"/>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18" presetClass="entr" presetSubtype="9" fill="hold" nodeType="clickEffect">
                                  <p:stCondLst>
                                    <p:cond delay="0"/>
                                  </p:stCondLst>
                                  <p:childTnLst>
                                    <p:set>
                                      <p:cBhvr>
                                        <p:cTn id="40" dur="1" fill="hold">
                                          <p:stCondLst>
                                            <p:cond delay="0"/>
                                          </p:stCondLst>
                                        </p:cTn>
                                        <p:tgtEl>
                                          <p:spTgt spid="148507"/>
                                        </p:tgtEl>
                                        <p:attrNameLst>
                                          <p:attrName>style.visibility</p:attrName>
                                        </p:attrNameLst>
                                      </p:cBhvr>
                                      <p:to>
                                        <p:strVal val="visible"/>
                                      </p:to>
                                    </p:set>
                                    <p:animEffect transition="in" filter="strips(upLeft)">
                                      <p:cBhvr>
                                        <p:cTn id="41" dur="500"/>
                                        <p:tgtEl>
                                          <p:spTgt spid="148507"/>
                                        </p:tgtEl>
                                      </p:cBhvr>
                                    </p:animEffect>
                                  </p:childTnLst>
                                  <p:subTnLst>
                                    <p:set>
                                      <p:cBhvr override="childStyle">
                                        <p:cTn dur="1" fill="hold" display="0" masterRel="nextClick" afterEffect="1"/>
                                        <p:tgtEl>
                                          <p:spTgt spid="14850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91"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Text Box 9"/>
          <p:cNvSpPr txBox="1"/>
          <p:nvPr/>
        </p:nvSpPr>
        <p:spPr>
          <a:xfrm>
            <a:off x="152400" y="92075"/>
            <a:ext cx="8991600" cy="822325"/>
          </a:xfrm>
          <a:prstGeom prst="rect">
            <a:avLst/>
          </a:prstGeom>
          <a:noFill/>
          <a:ln w="9525">
            <a:noFill/>
          </a:ln>
        </p:spPr>
        <p:txBody>
          <a:bodyPr>
            <a:spAutoFit/>
          </a:bodyPr>
          <a:p>
            <a:pPr algn="just" eaLnBrk="1" hangingPunct="1"/>
            <a:r>
              <a:rPr lang="en-US" altLang="zh-CN" sz="2400" dirty="0">
                <a:latin typeface="Times New Roman" panose="02020603050405020304" pitchFamily="18" charset="0"/>
              </a:rPr>
              <a:t>4. GAL</a:t>
            </a:r>
            <a:r>
              <a:rPr lang="zh-CN" altLang="en-US" sz="2400" dirty="0">
                <a:latin typeface="Times New Roman" panose="02020603050405020304" pitchFamily="18" charset="0"/>
              </a:rPr>
              <a:t>是继</a:t>
            </a:r>
            <a:r>
              <a:rPr lang="en-US" altLang="zh-CN" sz="2400" dirty="0">
                <a:latin typeface="Times New Roman" panose="02020603050405020304" pitchFamily="18" charset="0"/>
              </a:rPr>
              <a:t>PAL</a:t>
            </a:r>
            <a:r>
              <a:rPr lang="zh-CN" altLang="en-US" sz="2400" dirty="0">
                <a:latin typeface="Times New Roman" panose="02020603050405020304" pitchFamily="18" charset="0"/>
              </a:rPr>
              <a:t>之后具有较高性能的</a:t>
            </a:r>
            <a:r>
              <a:rPr lang="en-US" altLang="zh-CN" sz="2400" dirty="0">
                <a:latin typeface="Times New Roman" panose="02020603050405020304" pitchFamily="18" charset="0"/>
              </a:rPr>
              <a:t>PLD</a:t>
            </a:r>
            <a:r>
              <a:rPr lang="zh-CN" altLang="en-US" sz="2400" dirty="0">
                <a:latin typeface="Times New Roman" panose="02020603050405020304" pitchFamily="18" charset="0"/>
              </a:rPr>
              <a:t>，和</a:t>
            </a:r>
            <a:r>
              <a:rPr lang="en-US" altLang="zh-CN" sz="2400" dirty="0">
                <a:latin typeface="Times New Roman" panose="02020603050405020304" pitchFamily="18" charset="0"/>
              </a:rPr>
              <a:t>PAL</a:t>
            </a:r>
            <a:r>
              <a:rPr lang="zh-CN" altLang="en-US" sz="2400" dirty="0">
                <a:latin typeface="Times New Roman" panose="02020603050405020304" pitchFamily="18" charset="0"/>
              </a:rPr>
              <a:t>相比，具有以下特点：</a:t>
            </a:r>
            <a:endParaRPr lang="zh-CN" altLang="en-US" sz="2400" dirty="0">
              <a:latin typeface="Times New Roman" panose="02020603050405020304" pitchFamily="18" charset="0"/>
            </a:endParaRPr>
          </a:p>
        </p:txBody>
      </p:sp>
      <p:sp>
        <p:nvSpPr>
          <p:cNvPr id="150538" name="Text Box 10"/>
          <p:cNvSpPr txBox="1"/>
          <p:nvPr/>
        </p:nvSpPr>
        <p:spPr>
          <a:xfrm>
            <a:off x="457200" y="914400"/>
            <a:ext cx="8305800" cy="822325"/>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(1) </a:t>
            </a:r>
            <a:r>
              <a:rPr lang="zh-CN" altLang="en-US" sz="2400" dirty="0">
                <a:latin typeface="Times New Roman" panose="02020603050405020304" pitchFamily="18" charset="0"/>
              </a:rPr>
              <a:t>有较高的通用性和灵活性：它的每个逻辑宏单元可以根据需要任意组态既可实现组合电路，又可实现时序电路。</a:t>
            </a:r>
            <a:endParaRPr lang="zh-CN" altLang="en-US" sz="2400" dirty="0">
              <a:latin typeface="Times New Roman" panose="02020603050405020304" pitchFamily="18" charset="0"/>
            </a:endParaRPr>
          </a:p>
        </p:txBody>
      </p:sp>
      <p:sp>
        <p:nvSpPr>
          <p:cNvPr id="150539" name="Text Box 11"/>
          <p:cNvSpPr txBox="1"/>
          <p:nvPr/>
        </p:nvSpPr>
        <p:spPr>
          <a:xfrm>
            <a:off x="457200" y="1828800"/>
            <a:ext cx="8229600" cy="1965325"/>
          </a:xfrm>
          <a:prstGeom prst="rect">
            <a:avLst/>
          </a:prstGeom>
          <a:noFill/>
          <a:ln w="9525">
            <a:noFill/>
          </a:ln>
        </p:spPr>
        <p:txBody>
          <a:bodyPr>
            <a:spAutoFit/>
          </a:bodyPr>
          <a:p>
            <a:pPr algn="just" eaLnBrk="1" hangingPunct="1"/>
            <a:r>
              <a:rPr lang="en-US" altLang="zh-CN" sz="2400" dirty="0">
                <a:latin typeface="Times New Roman" panose="02020603050405020304" pitchFamily="18" charset="0"/>
              </a:rPr>
              <a:t>(2) 100</a:t>
            </a:r>
            <a:r>
              <a:rPr lang="zh-CN" altLang="en-US" sz="2400" dirty="0">
                <a:latin typeface="Times New Roman" panose="02020603050405020304" pitchFamily="18" charset="0"/>
              </a:rPr>
              <a:t>％可编程：</a:t>
            </a:r>
            <a:r>
              <a:rPr lang="en-US" altLang="zh-CN" sz="2400" dirty="0">
                <a:latin typeface="Times New Roman" panose="02020603050405020304" pitchFamily="18" charset="0"/>
              </a:rPr>
              <a:t>GAL</a:t>
            </a:r>
            <a:r>
              <a:rPr lang="zh-CN" altLang="en-US" sz="2400" dirty="0">
                <a:latin typeface="Times New Roman" panose="02020603050405020304" pitchFamily="18" charset="0"/>
              </a:rPr>
              <a:t>采用浮栅编程技术，使与阵列以及逻辑宏单元可以反复编程，当编程或逻辑设计有错时，可以擦除重新编程、反复修改，直到得到正确的结果，因而每个芯片可</a:t>
            </a:r>
            <a:r>
              <a:rPr lang="en-US" altLang="zh-CN" sz="2400" dirty="0">
                <a:latin typeface="Times New Roman" panose="02020603050405020304" pitchFamily="18" charset="0"/>
              </a:rPr>
              <a:t>100</a:t>
            </a:r>
            <a:r>
              <a:rPr lang="zh-CN" altLang="en-US" sz="2400" dirty="0">
                <a:latin typeface="Times New Roman" panose="02020603050405020304" pitchFamily="18" charset="0"/>
              </a:rPr>
              <a:t>％编程。</a:t>
            </a:r>
            <a:endParaRPr lang="zh-CN" altLang="en-US" sz="2400" dirty="0">
              <a:latin typeface="Times New Roman" panose="02020603050405020304" pitchFamily="18" charset="0"/>
            </a:endParaRPr>
          </a:p>
          <a:p>
            <a:pPr eaLnBrk="1" hangingPunct="1">
              <a:spcBef>
                <a:spcPct val="50000"/>
              </a:spcBef>
            </a:pPr>
            <a:endParaRPr lang="en-US" altLang="zh-CN" dirty="0">
              <a:latin typeface="Times New Roman" panose="02020603050405020304" pitchFamily="18" charset="0"/>
            </a:endParaRPr>
          </a:p>
        </p:txBody>
      </p:sp>
      <p:sp>
        <p:nvSpPr>
          <p:cNvPr id="150540" name="Text Box 12"/>
          <p:cNvSpPr txBox="1"/>
          <p:nvPr/>
        </p:nvSpPr>
        <p:spPr>
          <a:xfrm>
            <a:off x="457200" y="3505200"/>
            <a:ext cx="8229600" cy="1965325"/>
          </a:xfrm>
          <a:prstGeom prst="rect">
            <a:avLst/>
          </a:prstGeom>
          <a:noFill/>
          <a:ln w="9525">
            <a:noFill/>
          </a:ln>
        </p:spPr>
        <p:txBody>
          <a:bodyPr>
            <a:spAutoFit/>
          </a:bodyPr>
          <a:p>
            <a:pPr algn="just" eaLnBrk="1" hangingPunct="1"/>
            <a:r>
              <a:rPr lang="en-US" altLang="zh-CN" sz="2400" dirty="0">
                <a:latin typeface="Times New Roman" panose="02020603050405020304" pitchFamily="18" charset="0"/>
              </a:rPr>
              <a:t>(3) 100%</a:t>
            </a:r>
            <a:r>
              <a:rPr lang="zh-CN" altLang="en-US" sz="2400" dirty="0">
                <a:latin typeface="Times New Roman" panose="02020603050405020304" pitchFamily="18" charset="0"/>
              </a:rPr>
              <a:t>可测试：</a:t>
            </a:r>
            <a:r>
              <a:rPr lang="en-US" altLang="zh-CN" sz="2400" dirty="0">
                <a:latin typeface="Times New Roman" panose="02020603050405020304" pitchFamily="18" charset="0"/>
              </a:rPr>
              <a:t>GAL</a:t>
            </a:r>
            <a:r>
              <a:rPr lang="zh-CN" altLang="en-US" sz="2400" dirty="0">
                <a:latin typeface="Times New Roman" panose="02020603050405020304" pitchFamily="18" charset="0"/>
              </a:rPr>
              <a:t>的宏单元接成时序状态，可以通过测试软件对它门的状态进行预置，从而可以随意将电路置于某一状态，以缩短测试过程，保证电路在编程以后，对编程结果</a:t>
            </a:r>
            <a:r>
              <a:rPr lang="en-US" altLang="zh-CN" sz="2400" dirty="0">
                <a:latin typeface="Times New Roman" panose="02020603050405020304" pitchFamily="18" charset="0"/>
              </a:rPr>
              <a:t>100</a:t>
            </a:r>
            <a:r>
              <a:rPr lang="zh-CN" altLang="en-US" sz="2400" dirty="0">
                <a:latin typeface="Times New Roman" panose="02020603050405020304" pitchFamily="18" charset="0"/>
              </a:rPr>
              <a:t>％可测。</a:t>
            </a:r>
            <a:endParaRPr lang="zh-CN" altLang="en-US" sz="2400" dirty="0">
              <a:latin typeface="Times New Roman" panose="02020603050405020304" pitchFamily="18" charset="0"/>
            </a:endParaRPr>
          </a:p>
          <a:p>
            <a:pPr eaLnBrk="1" hangingPunct="1">
              <a:spcBef>
                <a:spcPct val="50000"/>
              </a:spcBef>
            </a:pPr>
            <a:endParaRPr lang="en-US" altLang="zh-CN" dirty="0">
              <a:latin typeface="Times New Roman" panose="02020603050405020304" pitchFamily="18" charset="0"/>
            </a:endParaRPr>
          </a:p>
        </p:txBody>
      </p:sp>
      <p:sp>
        <p:nvSpPr>
          <p:cNvPr id="150541" name="Text Box 13"/>
          <p:cNvSpPr txBox="1"/>
          <p:nvPr/>
        </p:nvSpPr>
        <p:spPr>
          <a:xfrm>
            <a:off x="457200" y="5257800"/>
            <a:ext cx="8001000" cy="1187450"/>
          </a:xfrm>
          <a:prstGeom prst="rect">
            <a:avLst/>
          </a:prstGeom>
          <a:noFill/>
          <a:ln w="9525">
            <a:noFill/>
          </a:ln>
        </p:spPr>
        <p:txBody>
          <a:bodyPr>
            <a:spAutoFit/>
          </a:bodyPr>
          <a:p>
            <a:pPr algn="just" eaLnBrk="1" hangingPunct="1"/>
            <a:r>
              <a:rPr lang="en-US" altLang="zh-CN" sz="2400" dirty="0">
                <a:latin typeface="Times New Roman" panose="02020603050405020304" pitchFamily="18" charset="0"/>
              </a:rPr>
              <a:t>(4) </a:t>
            </a:r>
            <a:r>
              <a:rPr lang="zh-CN" altLang="en-US" sz="2400" dirty="0">
                <a:latin typeface="Times New Roman" panose="02020603050405020304" pitchFamily="18" charset="0"/>
              </a:rPr>
              <a:t>高性能的</a:t>
            </a:r>
            <a:r>
              <a:rPr lang="en-US" altLang="zh-CN" sz="2400" dirty="0">
                <a:latin typeface="Times New Roman" panose="02020603050405020304" pitchFamily="18" charset="0"/>
              </a:rPr>
              <a:t>E</a:t>
            </a:r>
            <a:r>
              <a:rPr lang="en-US" altLang="zh-CN" sz="2400" baseline="30000" dirty="0">
                <a:latin typeface="Times New Roman" panose="02020603050405020304" pitchFamily="18" charset="0"/>
              </a:rPr>
              <a:t>2</a:t>
            </a:r>
            <a:r>
              <a:rPr lang="en-US" altLang="zh-CN" sz="2400" dirty="0">
                <a:latin typeface="Times New Roman" panose="02020603050405020304" pitchFamily="18" charset="0"/>
              </a:rPr>
              <a:t>COMS</a:t>
            </a:r>
            <a:r>
              <a:rPr lang="zh-CN" altLang="en-US" sz="2400" dirty="0">
                <a:latin typeface="Times New Roman" panose="02020603050405020304" pitchFamily="18" charset="0"/>
              </a:rPr>
              <a:t>工艺：使</a:t>
            </a:r>
            <a:r>
              <a:rPr lang="en-US" altLang="zh-CN" sz="2400" dirty="0">
                <a:latin typeface="Times New Roman" panose="02020603050405020304" pitchFamily="18" charset="0"/>
              </a:rPr>
              <a:t>GAL</a:t>
            </a:r>
            <a:r>
              <a:rPr lang="zh-CN" altLang="en-US" sz="2400" dirty="0">
                <a:latin typeface="Times New Roman" panose="02020603050405020304" pitchFamily="18" charset="0"/>
              </a:rPr>
              <a:t>的高速度、低功耗，编程数据可保存</a:t>
            </a:r>
            <a:r>
              <a:rPr lang="en-US" altLang="zh-CN" sz="2400" dirty="0">
                <a:latin typeface="Times New Roman" panose="02020603050405020304" pitchFamily="18" charset="0"/>
              </a:rPr>
              <a:t>20</a:t>
            </a:r>
            <a:r>
              <a:rPr lang="zh-CN" altLang="en-US" sz="2400" dirty="0">
                <a:latin typeface="Times New Roman" panose="02020603050405020304" pitchFamily="18" charset="0"/>
              </a:rPr>
              <a:t>年以上。正是由于这些良好的特性，使</a:t>
            </a:r>
            <a:r>
              <a:rPr lang="en-US" altLang="zh-CN" sz="2400" dirty="0">
                <a:latin typeface="Times New Roman" panose="02020603050405020304" pitchFamily="18" charset="0"/>
              </a:rPr>
              <a:t>GAL</a:t>
            </a:r>
            <a:r>
              <a:rPr lang="zh-CN" altLang="en-US" sz="2400" dirty="0">
                <a:latin typeface="Times New Roman" panose="02020603050405020304" pitchFamily="18" charset="0"/>
              </a:rPr>
              <a:t>器件成为数字系统设计的初期理想器件。</a:t>
            </a:r>
            <a:endParaRPr lang="zh-CN" altLang="en-US" sz="2400"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0538"/>
                                        </p:tgtEl>
                                        <p:attrNameLst>
                                          <p:attrName>style.visibility</p:attrName>
                                        </p:attrNameLst>
                                      </p:cBhvr>
                                      <p:to>
                                        <p:strVal val="visible"/>
                                      </p:to>
                                    </p:set>
                                    <p:anim calcmode="lin" valueType="num">
                                      <p:cBhvr additive="base">
                                        <p:cTn id="7" dur="500" fill="hold"/>
                                        <p:tgtEl>
                                          <p:spTgt spid="150538"/>
                                        </p:tgtEl>
                                        <p:attrNameLst>
                                          <p:attrName>ppt_x</p:attrName>
                                        </p:attrNameLst>
                                      </p:cBhvr>
                                      <p:tavLst>
                                        <p:tav tm="0">
                                          <p:val>
                                            <p:strVal val="1+#ppt_w/2"/>
                                          </p:val>
                                        </p:tav>
                                        <p:tav tm="100000">
                                          <p:val>
                                            <p:strVal val="#ppt_x"/>
                                          </p:val>
                                        </p:tav>
                                      </p:tavLst>
                                    </p:anim>
                                    <p:anim calcmode="lin" valueType="num">
                                      <p:cBhvr additive="base">
                                        <p:cTn id="8" dur="500" fill="hold"/>
                                        <p:tgtEl>
                                          <p:spTgt spid="15053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0539"/>
                                        </p:tgtEl>
                                        <p:attrNameLst>
                                          <p:attrName>style.visibility</p:attrName>
                                        </p:attrNameLst>
                                      </p:cBhvr>
                                      <p:to>
                                        <p:strVal val="visible"/>
                                      </p:to>
                                    </p:set>
                                    <p:anim calcmode="lin" valueType="num">
                                      <p:cBhvr additive="base">
                                        <p:cTn id="13" dur="500" fill="hold"/>
                                        <p:tgtEl>
                                          <p:spTgt spid="150539"/>
                                        </p:tgtEl>
                                        <p:attrNameLst>
                                          <p:attrName>ppt_x</p:attrName>
                                        </p:attrNameLst>
                                      </p:cBhvr>
                                      <p:tavLst>
                                        <p:tav tm="0">
                                          <p:val>
                                            <p:strVal val="1+#ppt_w/2"/>
                                          </p:val>
                                        </p:tav>
                                        <p:tav tm="100000">
                                          <p:val>
                                            <p:strVal val="#ppt_x"/>
                                          </p:val>
                                        </p:tav>
                                      </p:tavLst>
                                    </p:anim>
                                    <p:anim calcmode="lin" valueType="num">
                                      <p:cBhvr additive="base">
                                        <p:cTn id="14" dur="500" fill="hold"/>
                                        <p:tgtEl>
                                          <p:spTgt spid="15053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50540"/>
                                        </p:tgtEl>
                                        <p:attrNameLst>
                                          <p:attrName>style.visibility</p:attrName>
                                        </p:attrNameLst>
                                      </p:cBhvr>
                                      <p:to>
                                        <p:strVal val="visible"/>
                                      </p:to>
                                    </p:set>
                                    <p:anim calcmode="lin" valueType="num">
                                      <p:cBhvr additive="base">
                                        <p:cTn id="19" dur="500" fill="hold"/>
                                        <p:tgtEl>
                                          <p:spTgt spid="150540"/>
                                        </p:tgtEl>
                                        <p:attrNameLst>
                                          <p:attrName>ppt_x</p:attrName>
                                        </p:attrNameLst>
                                      </p:cBhvr>
                                      <p:tavLst>
                                        <p:tav tm="0">
                                          <p:val>
                                            <p:strVal val="1+#ppt_w/2"/>
                                          </p:val>
                                        </p:tav>
                                        <p:tav tm="100000">
                                          <p:val>
                                            <p:strVal val="#ppt_x"/>
                                          </p:val>
                                        </p:tav>
                                      </p:tavLst>
                                    </p:anim>
                                    <p:anim calcmode="lin" valueType="num">
                                      <p:cBhvr additive="base">
                                        <p:cTn id="20" dur="500" fill="hold"/>
                                        <p:tgtEl>
                                          <p:spTgt spid="15054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50541"/>
                                        </p:tgtEl>
                                        <p:attrNameLst>
                                          <p:attrName>style.visibility</p:attrName>
                                        </p:attrNameLst>
                                      </p:cBhvr>
                                      <p:to>
                                        <p:strVal val="visible"/>
                                      </p:to>
                                    </p:set>
                                    <p:anim calcmode="lin" valueType="num">
                                      <p:cBhvr additive="base">
                                        <p:cTn id="25" dur="500" fill="hold"/>
                                        <p:tgtEl>
                                          <p:spTgt spid="150541"/>
                                        </p:tgtEl>
                                        <p:attrNameLst>
                                          <p:attrName>ppt_x</p:attrName>
                                        </p:attrNameLst>
                                      </p:cBhvr>
                                      <p:tavLst>
                                        <p:tav tm="0">
                                          <p:val>
                                            <p:strVal val="1+#ppt_w/2"/>
                                          </p:val>
                                        </p:tav>
                                        <p:tav tm="100000">
                                          <p:val>
                                            <p:strVal val="#ppt_x"/>
                                          </p:val>
                                        </p:tav>
                                      </p:tavLst>
                                    </p:anim>
                                    <p:anim calcmode="lin" valueType="num">
                                      <p:cBhvr additive="base">
                                        <p:cTn id="26" dur="500" fill="hold"/>
                                        <p:tgtEl>
                                          <p:spTgt spid="1505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8" grpId="0"/>
      <p:bldP spid="150539" grpId="0"/>
      <p:bldP spid="150540" grpId="0"/>
      <p:bldP spid="15054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Text Box 9"/>
          <p:cNvSpPr txBox="1"/>
          <p:nvPr/>
        </p:nvSpPr>
        <p:spPr>
          <a:xfrm>
            <a:off x="152400" y="152400"/>
            <a:ext cx="7848600" cy="457200"/>
          </a:xfrm>
          <a:prstGeom prst="rect">
            <a:avLst/>
          </a:prstGeom>
          <a:noFill/>
          <a:ln w="9525">
            <a:noFill/>
          </a:ln>
        </p:spPr>
        <p:txBody>
          <a:bodyPr>
            <a:spAutoFit/>
          </a:bodyPr>
          <a:p>
            <a:pPr algn="just" eaLnBrk="1" hangingPunct="1"/>
            <a:r>
              <a:rPr lang="zh-CN" altLang="en-US" sz="2400" dirty="0">
                <a:latin typeface="Times New Roman" panose="02020603050405020304" pitchFamily="18" charset="0"/>
              </a:rPr>
              <a:t>（二）</a:t>
            </a:r>
            <a:r>
              <a:rPr lang="en-US" altLang="zh-CN" sz="2400" dirty="0">
                <a:latin typeface="Times New Roman" panose="02020603050405020304" pitchFamily="18" charset="0"/>
              </a:rPr>
              <a:t>GAL</a:t>
            </a:r>
            <a:r>
              <a:rPr lang="zh-CN" altLang="en-US" sz="2400" dirty="0">
                <a:latin typeface="Times New Roman" panose="02020603050405020304" pitchFamily="18" charset="0"/>
              </a:rPr>
              <a:t>器件的编程方法和应用</a:t>
            </a:r>
            <a:endParaRPr lang="zh-CN" altLang="en-US" sz="2400" dirty="0">
              <a:latin typeface="Times New Roman" panose="02020603050405020304" pitchFamily="18" charset="0"/>
            </a:endParaRPr>
          </a:p>
        </p:txBody>
      </p:sp>
      <p:sp>
        <p:nvSpPr>
          <p:cNvPr id="151562" name="Text Box 10"/>
          <p:cNvSpPr txBox="1"/>
          <p:nvPr/>
        </p:nvSpPr>
        <p:spPr>
          <a:xfrm>
            <a:off x="304800" y="609600"/>
            <a:ext cx="8153400" cy="1552575"/>
          </a:xfrm>
          <a:prstGeom prst="rect">
            <a:avLst/>
          </a:prstGeom>
          <a:noFill/>
          <a:ln w="9525">
            <a:noFill/>
          </a:ln>
        </p:spPr>
        <p:txBody>
          <a:bodyPr>
            <a:spAutoFit/>
          </a:bodyPr>
          <a:p>
            <a:pPr eaLnBrk="1" hangingPunct="1"/>
            <a:r>
              <a:rPr lang="en-US" altLang="zh-CN" sz="2400" dirty="0">
                <a:latin typeface="Times New Roman" panose="02020603050405020304" pitchFamily="18" charset="0"/>
              </a:rPr>
              <a:t>        </a:t>
            </a:r>
            <a:r>
              <a:rPr lang="zh-CN" altLang="en-US" sz="2400" dirty="0">
                <a:latin typeface="Times New Roman" panose="02020603050405020304" pitchFamily="18" charset="0"/>
              </a:rPr>
              <a:t>对</a:t>
            </a:r>
            <a:r>
              <a:rPr lang="en-US" altLang="zh-CN" sz="2400" dirty="0">
                <a:latin typeface="Times New Roman" panose="02020603050405020304" pitchFamily="18" charset="0"/>
              </a:rPr>
              <a:t>GAL</a:t>
            </a:r>
            <a:r>
              <a:rPr lang="zh-CN" altLang="en-US" sz="2400" dirty="0">
                <a:latin typeface="Times New Roman" panose="02020603050405020304" pitchFamily="18" charset="0"/>
              </a:rPr>
              <a:t>编程是设计电路的最后一个环节。除了对与阵列编程之外，还要对逻辑宏单元进行编程，以达到预定的输出逻辑关系。这样应当具备</a:t>
            </a:r>
            <a:r>
              <a:rPr lang="en-US" altLang="zh-CN" sz="2400" dirty="0">
                <a:latin typeface="Times New Roman" panose="02020603050405020304" pitchFamily="18" charset="0"/>
              </a:rPr>
              <a:t>GAL</a:t>
            </a:r>
            <a:r>
              <a:rPr lang="zh-CN" altLang="en-US" sz="2400" dirty="0">
                <a:latin typeface="Times New Roman" panose="02020603050405020304" pitchFamily="18" charset="0"/>
              </a:rPr>
              <a:t>编程的开发系统：</a:t>
            </a:r>
            <a:r>
              <a:rPr lang="zh-CN" altLang="en-US" sz="2400" dirty="0">
                <a:solidFill>
                  <a:srgbClr val="FF0000"/>
                </a:solidFill>
                <a:latin typeface="Times New Roman" panose="02020603050405020304" pitchFamily="18" charset="0"/>
              </a:rPr>
              <a:t>软件开发平台</a:t>
            </a:r>
            <a:r>
              <a:rPr lang="zh-CN" altLang="en-US" sz="2400" dirty="0">
                <a:latin typeface="Times New Roman" panose="02020603050405020304" pitchFamily="18" charset="0"/>
              </a:rPr>
              <a:t>和</a:t>
            </a:r>
            <a:r>
              <a:rPr lang="zh-CN" altLang="en-US" sz="2400" dirty="0">
                <a:solidFill>
                  <a:srgbClr val="FF0000"/>
                </a:solidFill>
                <a:latin typeface="Times New Roman" panose="02020603050405020304" pitchFamily="18" charset="0"/>
              </a:rPr>
              <a:t>硬件编程设备</a:t>
            </a:r>
            <a:r>
              <a:rPr lang="zh-CN" altLang="en-US" sz="2400" dirty="0">
                <a:latin typeface="Times New Roman" panose="02020603050405020304" pitchFamily="18" charset="0"/>
              </a:rPr>
              <a:t>，而软件平台是不可缺少的。</a:t>
            </a:r>
            <a:endParaRPr lang="zh-CN" altLang="en-US" sz="2400" dirty="0">
              <a:latin typeface="Times New Roman" panose="02020603050405020304" pitchFamily="18" charset="0"/>
            </a:endParaRPr>
          </a:p>
        </p:txBody>
      </p:sp>
      <p:sp>
        <p:nvSpPr>
          <p:cNvPr id="151564" name="Text Box 12"/>
          <p:cNvSpPr txBox="1"/>
          <p:nvPr/>
        </p:nvSpPr>
        <p:spPr>
          <a:xfrm>
            <a:off x="304800" y="2590800"/>
            <a:ext cx="7391400" cy="457200"/>
          </a:xfrm>
          <a:prstGeom prst="rect">
            <a:avLst/>
          </a:prstGeom>
          <a:noFill/>
          <a:ln w="9525">
            <a:noFill/>
          </a:ln>
        </p:spPr>
        <p:txBody>
          <a:bodyPr>
            <a:spAutoFit/>
          </a:bodyPr>
          <a:p>
            <a:pPr eaLnBrk="1" hangingPunct="1">
              <a:spcBef>
                <a:spcPct val="50000"/>
              </a:spcBef>
            </a:pPr>
            <a:r>
              <a:rPr lang="zh-CN" altLang="en-US" sz="2400" dirty="0">
                <a:latin typeface="Times New Roman" panose="02020603050405020304" pitchFamily="18" charset="0"/>
              </a:rPr>
              <a:t>目前</a:t>
            </a:r>
            <a:r>
              <a:rPr lang="en-US" altLang="zh-CN" sz="2400" dirty="0">
                <a:latin typeface="Times New Roman" panose="02020603050405020304" pitchFamily="18" charset="0"/>
              </a:rPr>
              <a:t>GAL</a:t>
            </a:r>
            <a:r>
              <a:rPr lang="zh-CN" altLang="en-US" sz="2400" dirty="0">
                <a:latin typeface="Times New Roman" panose="02020603050405020304" pitchFamily="18" charset="0"/>
              </a:rPr>
              <a:t>的编程方法有两种：</a:t>
            </a:r>
            <a:endParaRPr lang="zh-CN" altLang="en-US" sz="2400" dirty="0">
              <a:latin typeface="Times New Roman" panose="02020603050405020304" pitchFamily="18" charset="0"/>
            </a:endParaRPr>
          </a:p>
        </p:txBody>
      </p:sp>
      <p:sp>
        <p:nvSpPr>
          <p:cNvPr id="151565" name="Text Box 13"/>
          <p:cNvSpPr txBox="1"/>
          <p:nvPr/>
        </p:nvSpPr>
        <p:spPr>
          <a:xfrm>
            <a:off x="457200" y="3581400"/>
            <a:ext cx="7848600" cy="118745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         </a:t>
            </a:r>
            <a:r>
              <a:rPr lang="zh-CN" altLang="en-US" sz="2400" dirty="0">
                <a:latin typeface="Times New Roman" panose="02020603050405020304" pitchFamily="18" charset="0"/>
              </a:rPr>
              <a:t>一种是早期的</a:t>
            </a:r>
            <a:r>
              <a:rPr lang="en-US" altLang="zh-CN" sz="2400" dirty="0">
                <a:latin typeface="Times New Roman" panose="02020603050405020304" pitchFamily="18" charset="0"/>
              </a:rPr>
              <a:t>GAL</a:t>
            </a:r>
            <a:r>
              <a:rPr lang="zh-CN" altLang="en-US" sz="2400" dirty="0">
                <a:latin typeface="Times New Roman" panose="02020603050405020304" pitchFamily="18" charset="0"/>
              </a:rPr>
              <a:t>器件编程需要使用专门的编程器，将需要编程的</a:t>
            </a:r>
            <a:r>
              <a:rPr lang="en-US" altLang="zh-CN" sz="2400" dirty="0">
                <a:latin typeface="Times New Roman" panose="02020603050405020304" pitchFamily="18" charset="0"/>
              </a:rPr>
              <a:t>GAL</a:t>
            </a:r>
            <a:r>
              <a:rPr lang="zh-CN" altLang="en-US" sz="2400" dirty="0">
                <a:latin typeface="Times New Roman" panose="02020603050405020304" pitchFamily="18" charset="0"/>
              </a:rPr>
              <a:t>器件插入编程器进行编程，然后将编程后的</a:t>
            </a:r>
            <a:r>
              <a:rPr lang="en-US" altLang="zh-CN" sz="2400" dirty="0">
                <a:latin typeface="Times New Roman" panose="02020603050405020304" pitchFamily="18" charset="0"/>
              </a:rPr>
              <a:t>GAL</a:t>
            </a:r>
            <a:r>
              <a:rPr lang="zh-CN" altLang="en-US" sz="2400" dirty="0">
                <a:latin typeface="Times New Roman" panose="02020603050405020304" pitchFamily="18" charset="0"/>
              </a:rPr>
              <a:t>器件连接在设计者的设计系统。</a:t>
            </a:r>
            <a:endParaRPr lang="zh-CN" altLang="en-US" sz="2400" dirty="0">
              <a:latin typeface="Times New Roman" panose="02020603050405020304" pitchFamily="18" charset="0"/>
            </a:endParaRPr>
          </a:p>
        </p:txBody>
      </p:sp>
      <p:sp>
        <p:nvSpPr>
          <p:cNvPr id="151566" name="Text Box 14"/>
          <p:cNvSpPr txBox="1"/>
          <p:nvPr/>
        </p:nvSpPr>
        <p:spPr>
          <a:xfrm>
            <a:off x="381000" y="5029200"/>
            <a:ext cx="7696200" cy="822325"/>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        </a:t>
            </a:r>
            <a:r>
              <a:rPr lang="zh-CN" altLang="en-US" sz="2400" dirty="0">
                <a:latin typeface="Times New Roman" panose="02020603050405020304" pitchFamily="18" charset="0"/>
              </a:rPr>
              <a:t>另一种是新一代的</a:t>
            </a:r>
            <a:r>
              <a:rPr lang="en-US" altLang="zh-CN" sz="2400" dirty="0">
                <a:latin typeface="Times New Roman" panose="02020603050405020304" pitchFamily="18" charset="0"/>
              </a:rPr>
              <a:t>GAL</a:t>
            </a:r>
            <a:r>
              <a:rPr lang="zh-CN" altLang="en-US" sz="2400" dirty="0">
                <a:latin typeface="Times New Roman" panose="02020603050405020304" pitchFamily="18" charset="0"/>
              </a:rPr>
              <a:t>器件，可以脱离开编程器，直接在设计者的电路系统上编程。</a:t>
            </a:r>
            <a:endParaRPr lang="zh-CN" altLang="en-US" sz="2400"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1562"/>
                                        </p:tgtEl>
                                        <p:attrNameLst>
                                          <p:attrName>style.visibility</p:attrName>
                                        </p:attrNameLst>
                                      </p:cBhvr>
                                      <p:to>
                                        <p:strVal val="visible"/>
                                      </p:to>
                                    </p:set>
                                    <p:anim calcmode="lin" valueType="num">
                                      <p:cBhvr additive="base">
                                        <p:cTn id="7" dur="500" fill="hold"/>
                                        <p:tgtEl>
                                          <p:spTgt spid="151562"/>
                                        </p:tgtEl>
                                        <p:attrNameLst>
                                          <p:attrName>ppt_x</p:attrName>
                                        </p:attrNameLst>
                                      </p:cBhvr>
                                      <p:tavLst>
                                        <p:tav tm="0">
                                          <p:val>
                                            <p:strVal val="1+#ppt_w/2"/>
                                          </p:val>
                                        </p:tav>
                                        <p:tav tm="100000">
                                          <p:val>
                                            <p:strVal val="#ppt_x"/>
                                          </p:val>
                                        </p:tav>
                                      </p:tavLst>
                                    </p:anim>
                                    <p:anim calcmode="lin" valueType="num">
                                      <p:cBhvr additive="base">
                                        <p:cTn id="8" dur="500" fill="hold"/>
                                        <p:tgtEl>
                                          <p:spTgt spid="15156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1564"/>
                                        </p:tgtEl>
                                        <p:attrNameLst>
                                          <p:attrName>style.visibility</p:attrName>
                                        </p:attrNameLst>
                                      </p:cBhvr>
                                      <p:to>
                                        <p:strVal val="visible"/>
                                      </p:to>
                                    </p:set>
                                    <p:anim calcmode="lin" valueType="num">
                                      <p:cBhvr additive="base">
                                        <p:cTn id="13" dur="500" fill="hold"/>
                                        <p:tgtEl>
                                          <p:spTgt spid="151564"/>
                                        </p:tgtEl>
                                        <p:attrNameLst>
                                          <p:attrName>ppt_x</p:attrName>
                                        </p:attrNameLst>
                                      </p:cBhvr>
                                      <p:tavLst>
                                        <p:tav tm="0">
                                          <p:val>
                                            <p:strVal val="1+#ppt_w/2"/>
                                          </p:val>
                                        </p:tav>
                                        <p:tav tm="100000">
                                          <p:val>
                                            <p:strVal val="#ppt_x"/>
                                          </p:val>
                                        </p:tav>
                                      </p:tavLst>
                                    </p:anim>
                                    <p:anim calcmode="lin" valueType="num">
                                      <p:cBhvr additive="base">
                                        <p:cTn id="14" dur="500" fill="hold"/>
                                        <p:tgtEl>
                                          <p:spTgt spid="15156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51565"/>
                                        </p:tgtEl>
                                        <p:attrNameLst>
                                          <p:attrName>style.visibility</p:attrName>
                                        </p:attrNameLst>
                                      </p:cBhvr>
                                      <p:to>
                                        <p:strVal val="visible"/>
                                      </p:to>
                                    </p:set>
                                    <p:anim calcmode="lin" valueType="num">
                                      <p:cBhvr additive="base">
                                        <p:cTn id="19" dur="500" fill="hold"/>
                                        <p:tgtEl>
                                          <p:spTgt spid="151565"/>
                                        </p:tgtEl>
                                        <p:attrNameLst>
                                          <p:attrName>ppt_x</p:attrName>
                                        </p:attrNameLst>
                                      </p:cBhvr>
                                      <p:tavLst>
                                        <p:tav tm="0">
                                          <p:val>
                                            <p:strVal val="1+#ppt_w/2"/>
                                          </p:val>
                                        </p:tav>
                                        <p:tav tm="100000">
                                          <p:val>
                                            <p:strVal val="#ppt_x"/>
                                          </p:val>
                                        </p:tav>
                                      </p:tavLst>
                                    </p:anim>
                                    <p:anim calcmode="lin" valueType="num">
                                      <p:cBhvr additive="base">
                                        <p:cTn id="20" dur="500" fill="hold"/>
                                        <p:tgtEl>
                                          <p:spTgt spid="15156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51566"/>
                                        </p:tgtEl>
                                        <p:attrNameLst>
                                          <p:attrName>style.visibility</p:attrName>
                                        </p:attrNameLst>
                                      </p:cBhvr>
                                      <p:to>
                                        <p:strVal val="visible"/>
                                      </p:to>
                                    </p:set>
                                    <p:anim calcmode="lin" valueType="num">
                                      <p:cBhvr additive="base">
                                        <p:cTn id="25" dur="500" fill="hold"/>
                                        <p:tgtEl>
                                          <p:spTgt spid="151566"/>
                                        </p:tgtEl>
                                        <p:attrNameLst>
                                          <p:attrName>ppt_x</p:attrName>
                                        </p:attrNameLst>
                                      </p:cBhvr>
                                      <p:tavLst>
                                        <p:tav tm="0">
                                          <p:val>
                                            <p:strVal val="1+#ppt_w/2"/>
                                          </p:val>
                                        </p:tav>
                                        <p:tav tm="100000">
                                          <p:val>
                                            <p:strVal val="#ppt_x"/>
                                          </p:val>
                                        </p:tav>
                                      </p:tavLst>
                                    </p:anim>
                                    <p:anim calcmode="lin" valueType="num">
                                      <p:cBhvr additive="base">
                                        <p:cTn id="26" dur="500" fill="hold"/>
                                        <p:tgtEl>
                                          <p:spTgt spid="1515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62" grpId="0"/>
      <p:bldP spid="151564" grpId="0"/>
      <p:bldP spid="151565" grpId="0"/>
      <p:bldP spid="15156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88" name="Text Box 12"/>
          <p:cNvSpPr txBox="1"/>
          <p:nvPr/>
        </p:nvSpPr>
        <p:spPr>
          <a:xfrm>
            <a:off x="304800" y="1371600"/>
            <a:ext cx="8229600" cy="1917700"/>
          </a:xfrm>
          <a:prstGeom prst="rect">
            <a:avLst/>
          </a:prstGeom>
          <a:noFill/>
          <a:ln w="9525">
            <a:noFill/>
          </a:ln>
        </p:spPr>
        <p:txBody>
          <a:bodyPr>
            <a:spAutoFit/>
          </a:bodyPr>
          <a:p>
            <a:pPr eaLnBrk="1" hangingPunct="1"/>
            <a:r>
              <a:rPr lang="en-US" altLang="zh-CN" sz="2400" dirty="0">
                <a:latin typeface="Times New Roman" panose="02020603050405020304" pitchFamily="18" charset="0"/>
              </a:rPr>
              <a:t>        </a:t>
            </a:r>
            <a:r>
              <a:rPr lang="zh-CN" altLang="en-US" sz="2400" dirty="0">
                <a:latin typeface="Times New Roman" panose="02020603050405020304" pitchFamily="18" charset="0"/>
              </a:rPr>
              <a:t>另一类是编译软件，如</a:t>
            </a:r>
            <a:r>
              <a:rPr lang="en-US" altLang="zh-CN" sz="2400" dirty="0">
                <a:latin typeface="Times New Roman" panose="02020603050405020304" pitchFamily="18" charset="0"/>
              </a:rPr>
              <a:t>Synario</a:t>
            </a:r>
            <a:r>
              <a:rPr lang="zh-CN" altLang="en-US" sz="2400" dirty="0">
                <a:latin typeface="Times New Roman" panose="02020603050405020304" pitchFamily="18" charset="0"/>
              </a:rPr>
              <a:t>软件平台，这类软件的特点是待实现的逻辑电路是由设计者根据软件平台规定的图形输入文件或可编程逻辑设计语言编写的语言输入文件进行描述，然后软件平台对设计者的电路进行描述转换，分析，简化，模拟仿真、自动进行错误定位等。</a:t>
            </a:r>
            <a:endParaRPr lang="zh-CN" altLang="en-US" dirty="0">
              <a:latin typeface="Times New Roman" panose="02020603050405020304" pitchFamily="18" charset="0"/>
            </a:endParaRPr>
          </a:p>
        </p:txBody>
      </p:sp>
      <p:sp>
        <p:nvSpPr>
          <p:cNvPr id="54275" name="Text Box 13"/>
          <p:cNvSpPr txBox="1"/>
          <p:nvPr/>
        </p:nvSpPr>
        <p:spPr>
          <a:xfrm>
            <a:off x="228600" y="152400"/>
            <a:ext cx="8001000" cy="45720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GAL</a:t>
            </a:r>
            <a:r>
              <a:rPr lang="zh-CN" altLang="en-US" sz="2400" dirty="0">
                <a:latin typeface="Times New Roman" panose="02020603050405020304" pitchFamily="18" charset="0"/>
              </a:rPr>
              <a:t>的开发软件有许多种，大体上分为两类：</a:t>
            </a:r>
            <a:endParaRPr lang="zh-CN" altLang="en-US" sz="2400" dirty="0">
              <a:latin typeface="Times New Roman" panose="02020603050405020304" pitchFamily="18" charset="0"/>
            </a:endParaRPr>
          </a:p>
        </p:txBody>
      </p:sp>
      <p:sp>
        <p:nvSpPr>
          <p:cNvPr id="152590" name="Text Box 14"/>
          <p:cNvSpPr txBox="1"/>
          <p:nvPr/>
        </p:nvSpPr>
        <p:spPr>
          <a:xfrm>
            <a:off x="381000" y="609600"/>
            <a:ext cx="8229600" cy="822325"/>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       </a:t>
            </a:r>
            <a:r>
              <a:rPr lang="zh-CN" altLang="en-US" sz="2400" dirty="0">
                <a:latin typeface="Times New Roman" panose="02020603050405020304" pitchFamily="18" charset="0"/>
              </a:rPr>
              <a:t>一类是汇编型软件，如</a:t>
            </a:r>
            <a:r>
              <a:rPr lang="en-US" altLang="zh-CN" sz="2400" dirty="0">
                <a:latin typeface="Times New Roman" panose="02020603050405020304" pitchFamily="18" charset="0"/>
              </a:rPr>
              <a:t>FM</a:t>
            </a:r>
            <a:r>
              <a:rPr lang="zh-CN" altLang="en-US" sz="2400" dirty="0">
                <a:latin typeface="Times New Roman" panose="02020603050405020304" pitchFamily="18" charset="0"/>
              </a:rPr>
              <a:t>，这类软件没有简化功能，要求输入文件采用最简与或式的逻辑描述方式；</a:t>
            </a:r>
            <a:endParaRPr lang="zh-CN" altLang="en-US" sz="2400" dirty="0">
              <a:latin typeface="Times New Roman" panose="02020603050405020304" pitchFamily="18" charset="0"/>
            </a:endParaRPr>
          </a:p>
        </p:txBody>
      </p:sp>
      <p:sp>
        <p:nvSpPr>
          <p:cNvPr id="152592" name="Text Box 16"/>
          <p:cNvSpPr txBox="1"/>
          <p:nvPr/>
        </p:nvSpPr>
        <p:spPr>
          <a:xfrm>
            <a:off x="914400" y="3505200"/>
            <a:ext cx="6705600" cy="457200"/>
          </a:xfrm>
          <a:prstGeom prst="rect">
            <a:avLst/>
          </a:prstGeom>
          <a:noFill/>
          <a:ln w="9525">
            <a:noFill/>
          </a:ln>
        </p:spPr>
        <p:txBody>
          <a:bodyPr>
            <a:spAutoFit/>
          </a:bodyPr>
          <a:p>
            <a:pPr eaLnBrk="1" hangingPunct="1">
              <a:spcBef>
                <a:spcPct val="50000"/>
              </a:spcBef>
            </a:pPr>
            <a:r>
              <a:rPr lang="zh-CN" altLang="en-US" sz="2400" dirty="0">
                <a:solidFill>
                  <a:srgbClr val="FF0000"/>
                </a:solidFill>
                <a:latin typeface="Times New Roman" panose="02020603050405020304" pitchFamily="18" charset="0"/>
              </a:rPr>
              <a:t>同学自行学习</a:t>
            </a:r>
            <a:r>
              <a:rPr lang="en-US" altLang="zh-CN" sz="2400" dirty="0">
                <a:solidFill>
                  <a:srgbClr val="FF0000"/>
                </a:solidFill>
                <a:latin typeface="Times New Roman" panose="02020603050405020304" pitchFamily="18" charset="0"/>
              </a:rPr>
              <a:t>GAL</a:t>
            </a:r>
            <a:r>
              <a:rPr lang="zh-CN" altLang="en-US" sz="2400" dirty="0">
                <a:solidFill>
                  <a:srgbClr val="FF0000"/>
                </a:solidFill>
                <a:latin typeface="Times New Roman" panose="02020603050405020304" pitchFamily="18" charset="0"/>
              </a:rPr>
              <a:t>例题。</a:t>
            </a:r>
            <a:endParaRPr lang="zh-CN" altLang="en-US" sz="2400" dirty="0">
              <a:latin typeface="Times New Roman" panose="02020603050405020304" pitchFamily="18" charset="0"/>
            </a:endParaRPr>
          </a:p>
        </p:txBody>
      </p:sp>
      <p:sp>
        <p:nvSpPr>
          <p:cNvPr id="152593" name="Text Box 17"/>
          <p:cNvSpPr txBox="1"/>
          <p:nvPr/>
        </p:nvSpPr>
        <p:spPr>
          <a:xfrm>
            <a:off x="381000" y="4175125"/>
            <a:ext cx="6705600" cy="45720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GAL</a:t>
            </a:r>
            <a:r>
              <a:rPr lang="zh-CN" altLang="en-US" sz="2400" dirty="0">
                <a:latin typeface="Times New Roman" panose="02020603050405020304" pitchFamily="18" charset="0"/>
              </a:rPr>
              <a:t>器件仍然存在着以下问题：</a:t>
            </a:r>
            <a:endParaRPr lang="zh-CN" altLang="en-US" sz="2400" dirty="0">
              <a:latin typeface="Times New Roman" panose="02020603050405020304" pitchFamily="18" charset="0"/>
            </a:endParaRPr>
          </a:p>
        </p:txBody>
      </p:sp>
      <p:sp>
        <p:nvSpPr>
          <p:cNvPr id="152594" name="Text Box 18"/>
          <p:cNvSpPr txBox="1"/>
          <p:nvPr/>
        </p:nvSpPr>
        <p:spPr>
          <a:xfrm>
            <a:off x="381000" y="4632325"/>
            <a:ext cx="7924800" cy="457200"/>
          </a:xfrm>
          <a:prstGeom prst="rect">
            <a:avLst/>
          </a:prstGeom>
          <a:noFill/>
          <a:ln w="9525">
            <a:noFill/>
          </a:ln>
        </p:spPr>
        <p:txBody>
          <a:bodyPr>
            <a:spAutoFit/>
          </a:bodyPr>
          <a:p>
            <a:pPr algn="just" eaLnBrk="1" hangingPunct="1"/>
            <a:r>
              <a:rPr lang="zh-CN" altLang="en-US" sz="2400" dirty="0">
                <a:latin typeface="Times New Roman" panose="02020603050405020304" pitchFamily="18" charset="0"/>
              </a:rPr>
              <a:t>时钟必须共用；</a:t>
            </a:r>
            <a:endParaRPr lang="zh-CN" altLang="en-US" dirty="0">
              <a:latin typeface="Times New Roman" panose="02020603050405020304" pitchFamily="18" charset="0"/>
            </a:endParaRPr>
          </a:p>
        </p:txBody>
      </p:sp>
      <p:sp>
        <p:nvSpPr>
          <p:cNvPr id="152595" name="Text Box 19"/>
          <p:cNvSpPr txBox="1"/>
          <p:nvPr/>
        </p:nvSpPr>
        <p:spPr>
          <a:xfrm>
            <a:off x="381000" y="5089525"/>
            <a:ext cx="7848600" cy="457200"/>
          </a:xfrm>
          <a:prstGeom prst="rect">
            <a:avLst/>
          </a:prstGeom>
          <a:noFill/>
          <a:ln w="9525">
            <a:noFill/>
          </a:ln>
        </p:spPr>
        <p:txBody>
          <a:bodyPr>
            <a:spAutoFit/>
          </a:bodyPr>
          <a:p>
            <a:pPr eaLnBrk="1" hangingPunct="1">
              <a:spcBef>
                <a:spcPct val="50000"/>
              </a:spcBef>
            </a:pPr>
            <a:r>
              <a:rPr lang="zh-CN" altLang="en-US" sz="2400" dirty="0">
                <a:latin typeface="Times New Roman" panose="02020603050405020304" pitchFamily="18" charset="0"/>
              </a:rPr>
              <a:t>或的乘积项最多只有</a:t>
            </a:r>
            <a:r>
              <a:rPr lang="en-US" altLang="zh-CN" sz="2400" dirty="0">
                <a:latin typeface="Times New Roman" panose="02020603050405020304" pitchFamily="18" charset="0"/>
              </a:rPr>
              <a:t>8</a:t>
            </a:r>
            <a:r>
              <a:rPr lang="zh-CN" altLang="en-US" sz="2400" dirty="0">
                <a:latin typeface="Times New Roman" panose="02020603050405020304" pitchFamily="18" charset="0"/>
              </a:rPr>
              <a:t>个；</a:t>
            </a:r>
            <a:endParaRPr lang="zh-CN" altLang="en-US" sz="2400" dirty="0">
              <a:latin typeface="Times New Roman" panose="02020603050405020304" pitchFamily="18" charset="0"/>
            </a:endParaRPr>
          </a:p>
        </p:txBody>
      </p:sp>
      <p:sp>
        <p:nvSpPr>
          <p:cNvPr id="152596" name="Text Box 20"/>
          <p:cNvSpPr txBox="1"/>
          <p:nvPr/>
        </p:nvSpPr>
        <p:spPr>
          <a:xfrm>
            <a:off x="381000" y="5470525"/>
            <a:ext cx="8763000" cy="45720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GAL</a:t>
            </a:r>
            <a:r>
              <a:rPr lang="zh-CN" altLang="en-US" sz="2400" dirty="0">
                <a:latin typeface="Times New Roman" panose="02020603050405020304" pitchFamily="18" charset="0"/>
              </a:rPr>
              <a:t>器件的规模小，达不到在单片内集成一个数字系统的要求；</a:t>
            </a:r>
            <a:endParaRPr lang="zh-CN" altLang="en-US" sz="2400" dirty="0">
              <a:latin typeface="Times New Roman" panose="02020603050405020304" pitchFamily="18" charset="0"/>
            </a:endParaRPr>
          </a:p>
        </p:txBody>
      </p:sp>
      <p:sp>
        <p:nvSpPr>
          <p:cNvPr id="152597" name="Text Box 21"/>
          <p:cNvSpPr txBox="1"/>
          <p:nvPr/>
        </p:nvSpPr>
        <p:spPr>
          <a:xfrm>
            <a:off x="381000" y="5927725"/>
            <a:ext cx="8534400" cy="822325"/>
          </a:xfrm>
          <a:prstGeom prst="rect">
            <a:avLst/>
          </a:prstGeom>
          <a:noFill/>
          <a:ln w="9525">
            <a:noFill/>
          </a:ln>
        </p:spPr>
        <p:txBody>
          <a:bodyPr>
            <a:spAutoFit/>
          </a:bodyPr>
          <a:p>
            <a:pPr eaLnBrk="1" hangingPunct="1">
              <a:spcBef>
                <a:spcPct val="50000"/>
              </a:spcBef>
            </a:pPr>
            <a:r>
              <a:rPr lang="zh-CN" altLang="en-US" sz="2400" dirty="0">
                <a:latin typeface="Times New Roman" panose="02020603050405020304" pitchFamily="18" charset="0"/>
              </a:rPr>
              <a:t>尽管</a:t>
            </a:r>
            <a:r>
              <a:rPr lang="en-US" altLang="zh-CN" sz="2400" dirty="0">
                <a:latin typeface="Times New Roman" panose="02020603050405020304" pitchFamily="18" charset="0"/>
              </a:rPr>
              <a:t>GAL</a:t>
            </a:r>
            <a:r>
              <a:rPr lang="zh-CN" altLang="en-US" sz="2400" dirty="0">
                <a:latin typeface="Times New Roman" panose="02020603050405020304" pitchFamily="18" charset="0"/>
              </a:rPr>
              <a:t>器件有加密的功能，但随着解密技术的发展，对于这种阵列规模小的可编程逻辑器件解密已不是难题。</a:t>
            </a:r>
            <a:endParaRPr lang="zh-CN" altLang="en-US" sz="2400"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2590"/>
                                        </p:tgtEl>
                                        <p:attrNameLst>
                                          <p:attrName>style.visibility</p:attrName>
                                        </p:attrNameLst>
                                      </p:cBhvr>
                                      <p:to>
                                        <p:strVal val="visible"/>
                                      </p:to>
                                    </p:set>
                                    <p:anim calcmode="lin" valueType="num">
                                      <p:cBhvr additive="base">
                                        <p:cTn id="7" dur="500" fill="hold"/>
                                        <p:tgtEl>
                                          <p:spTgt spid="152590"/>
                                        </p:tgtEl>
                                        <p:attrNameLst>
                                          <p:attrName>ppt_x</p:attrName>
                                        </p:attrNameLst>
                                      </p:cBhvr>
                                      <p:tavLst>
                                        <p:tav tm="0">
                                          <p:val>
                                            <p:strVal val="1+#ppt_w/2"/>
                                          </p:val>
                                        </p:tav>
                                        <p:tav tm="100000">
                                          <p:val>
                                            <p:strVal val="#ppt_x"/>
                                          </p:val>
                                        </p:tav>
                                      </p:tavLst>
                                    </p:anim>
                                    <p:anim calcmode="lin" valueType="num">
                                      <p:cBhvr additive="base">
                                        <p:cTn id="8" dur="500" fill="hold"/>
                                        <p:tgtEl>
                                          <p:spTgt spid="15259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2588"/>
                                        </p:tgtEl>
                                        <p:attrNameLst>
                                          <p:attrName>style.visibility</p:attrName>
                                        </p:attrNameLst>
                                      </p:cBhvr>
                                      <p:to>
                                        <p:strVal val="visible"/>
                                      </p:to>
                                    </p:set>
                                    <p:anim calcmode="lin" valueType="num">
                                      <p:cBhvr additive="base">
                                        <p:cTn id="13" dur="500" fill="hold"/>
                                        <p:tgtEl>
                                          <p:spTgt spid="152588"/>
                                        </p:tgtEl>
                                        <p:attrNameLst>
                                          <p:attrName>ppt_x</p:attrName>
                                        </p:attrNameLst>
                                      </p:cBhvr>
                                      <p:tavLst>
                                        <p:tav tm="0">
                                          <p:val>
                                            <p:strVal val="1+#ppt_w/2"/>
                                          </p:val>
                                        </p:tav>
                                        <p:tav tm="100000">
                                          <p:val>
                                            <p:strVal val="#ppt_x"/>
                                          </p:val>
                                        </p:tav>
                                      </p:tavLst>
                                    </p:anim>
                                    <p:anim calcmode="lin" valueType="num">
                                      <p:cBhvr additive="base">
                                        <p:cTn id="14" dur="500" fill="hold"/>
                                        <p:tgtEl>
                                          <p:spTgt spid="15258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52592"/>
                                        </p:tgtEl>
                                        <p:attrNameLst>
                                          <p:attrName>style.visibility</p:attrName>
                                        </p:attrNameLst>
                                      </p:cBhvr>
                                      <p:to>
                                        <p:strVal val="visible"/>
                                      </p:to>
                                    </p:set>
                                    <p:anim calcmode="lin" valueType="num">
                                      <p:cBhvr additive="base">
                                        <p:cTn id="19" dur="500" fill="hold"/>
                                        <p:tgtEl>
                                          <p:spTgt spid="152592"/>
                                        </p:tgtEl>
                                        <p:attrNameLst>
                                          <p:attrName>ppt_x</p:attrName>
                                        </p:attrNameLst>
                                      </p:cBhvr>
                                      <p:tavLst>
                                        <p:tav tm="0">
                                          <p:val>
                                            <p:strVal val="1+#ppt_w/2"/>
                                          </p:val>
                                        </p:tav>
                                        <p:tav tm="100000">
                                          <p:val>
                                            <p:strVal val="#ppt_x"/>
                                          </p:val>
                                        </p:tav>
                                      </p:tavLst>
                                    </p:anim>
                                    <p:anim calcmode="lin" valueType="num">
                                      <p:cBhvr additive="base">
                                        <p:cTn id="20" dur="500" fill="hold"/>
                                        <p:tgtEl>
                                          <p:spTgt spid="15259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52593"/>
                                        </p:tgtEl>
                                        <p:attrNameLst>
                                          <p:attrName>style.visibility</p:attrName>
                                        </p:attrNameLst>
                                      </p:cBhvr>
                                      <p:to>
                                        <p:strVal val="visible"/>
                                      </p:to>
                                    </p:set>
                                    <p:anim calcmode="lin" valueType="num">
                                      <p:cBhvr additive="base">
                                        <p:cTn id="25" dur="500" fill="hold"/>
                                        <p:tgtEl>
                                          <p:spTgt spid="152593"/>
                                        </p:tgtEl>
                                        <p:attrNameLst>
                                          <p:attrName>ppt_x</p:attrName>
                                        </p:attrNameLst>
                                      </p:cBhvr>
                                      <p:tavLst>
                                        <p:tav tm="0">
                                          <p:val>
                                            <p:strVal val="1+#ppt_w/2"/>
                                          </p:val>
                                        </p:tav>
                                        <p:tav tm="100000">
                                          <p:val>
                                            <p:strVal val="#ppt_x"/>
                                          </p:val>
                                        </p:tav>
                                      </p:tavLst>
                                    </p:anim>
                                    <p:anim calcmode="lin" valueType="num">
                                      <p:cBhvr additive="base">
                                        <p:cTn id="26" dur="500" fill="hold"/>
                                        <p:tgtEl>
                                          <p:spTgt spid="15259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52594"/>
                                        </p:tgtEl>
                                        <p:attrNameLst>
                                          <p:attrName>style.visibility</p:attrName>
                                        </p:attrNameLst>
                                      </p:cBhvr>
                                      <p:to>
                                        <p:strVal val="visible"/>
                                      </p:to>
                                    </p:set>
                                    <p:anim calcmode="lin" valueType="num">
                                      <p:cBhvr additive="base">
                                        <p:cTn id="31" dur="500" fill="hold"/>
                                        <p:tgtEl>
                                          <p:spTgt spid="152594"/>
                                        </p:tgtEl>
                                        <p:attrNameLst>
                                          <p:attrName>ppt_x</p:attrName>
                                        </p:attrNameLst>
                                      </p:cBhvr>
                                      <p:tavLst>
                                        <p:tav tm="0">
                                          <p:val>
                                            <p:strVal val="1+#ppt_w/2"/>
                                          </p:val>
                                        </p:tav>
                                        <p:tav tm="100000">
                                          <p:val>
                                            <p:strVal val="#ppt_x"/>
                                          </p:val>
                                        </p:tav>
                                      </p:tavLst>
                                    </p:anim>
                                    <p:anim calcmode="lin" valueType="num">
                                      <p:cBhvr additive="base">
                                        <p:cTn id="32" dur="500" fill="hold"/>
                                        <p:tgtEl>
                                          <p:spTgt spid="15259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52595"/>
                                        </p:tgtEl>
                                        <p:attrNameLst>
                                          <p:attrName>style.visibility</p:attrName>
                                        </p:attrNameLst>
                                      </p:cBhvr>
                                      <p:to>
                                        <p:strVal val="visible"/>
                                      </p:to>
                                    </p:set>
                                    <p:anim calcmode="lin" valueType="num">
                                      <p:cBhvr additive="base">
                                        <p:cTn id="37" dur="500" fill="hold"/>
                                        <p:tgtEl>
                                          <p:spTgt spid="152595"/>
                                        </p:tgtEl>
                                        <p:attrNameLst>
                                          <p:attrName>ppt_x</p:attrName>
                                        </p:attrNameLst>
                                      </p:cBhvr>
                                      <p:tavLst>
                                        <p:tav tm="0">
                                          <p:val>
                                            <p:strVal val="1+#ppt_w/2"/>
                                          </p:val>
                                        </p:tav>
                                        <p:tav tm="100000">
                                          <p:val>
                                            <p:strVal val="#ppt_x"/>
                                          </p:val>
                                        </p:tav>
                                      </p:tavLst>
                                    </p:anim>
                                    <p:anim calcmode="lin" valueType="num">
                                      <p:cBhvr additive="base">
                                        <p:cTn id="38" dur="500" fill="hold"/>
                                        <p:tgtEl>
                                          <p:spTgt spid="15259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52596"/>
                                        </p:tgtEl>
                                        <p:attrNameLst>
                                          <p:attrName>style.visibility</p:attrName>
                                        </p:attrNameLst>
                                      </p:cBhvr>
                                      <p:to>
                                        <p:strVal val="visible"/>
                                      </p:to>
                                    </p:set>
                                    <p:anim calcmode="lin" valueType="num">
                                      <p:cBhvr additive="base">
                                        <p:cTn id="43" dur="500" fill="hold"/>
                                        <p:tgtEl>
                                          <p:spTgt spid="152596"/>
                                        </p:tgtEl>
                                        <p:attrNameLst>
                                          <p:attrName>ppt_x</p:attrName>
                                        </p:attrNameLst>
                                      </p:cBhvr>
                                      <p:tavLst>
                                        <p:tav tm="0">
                                          <p:val>
                                            <p:strVal val="1+#ppt_w/2"/>
                                          </p:val>
                                        </p:tav>
                                        <p:tav tm="100000">
                                          <p:val>
                                            <p:strVal val="#ppt_x"/>
                                          </p:val>
                                        </p:tav>
                                      </p:tavLst>
                                    </p:anim>
                                    <p:anim calcmode="lin" valueType="num">
                                      <p:cBhvr additive="base">
                                        <p:cTn id="44" dur="500" fill="hold"/>
                                        <p:tgtEl>
                                          <p:spTgt spid="152596"/>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52597"/>
                                        </p:tgtEl>
                                        <p:attrNameLst>
                                          <p:attrName>style.visibility</p:attrName>
                                        </p:attrNameLst>
                                      </p:cBhvr>
                                      <p:to>
                                        <p:strVal val="visible"/>
                                      </p:to>
                                    </p:set>
                                    <p:anim calcmode="lin" valueType="num">
                                      <p:cBhvr additive="base">
                                        <p:cTn id="49" dur="500" fill="hold"/>
                                        <p:tgtEl>
                                          <p:spTgt spid="152597"/>
                                        </p:tgtEl>
                                        <p:attrNameLst>
                                          <p:attrName>ppt_x</p:attrName>
                                        </p:attrNameLst>
                                      </p:cBhvr>
                                      <p:tavLst>
                                        <p:tav tm="0">
                                          <p:val>
                                            <p:strVal val="1+#ppt_w/2"/>
                                          </p:val>
                                        </p:tav>
                                        <p:tav tm="100000">
                                          <p:val>
                                            <p:strVal val="#ppt_x"/>
                                          </p:val>
                                        </p:tav>
                                      </p:tavLst>
                                    </p:anim>
                                    <p:anim calcmode="lin" valueType="num">
                                      <p:cBhvr additive="base">
                                        <p:cTn id="50" dur="500" fill="hold"/>
                                        <p:tgtEl>
                                          <p:spTgt spid="1525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8" grpId="0"/>
      <p:bldP spid="152590" grpId="0"/>
      <p:bldP spid="152592" grpId="0"/>
      <p:bldP spid="152593" grpId="0"/>
      <p:bldP spid="152594" grpId="0"/>
      <p:bldP spid="152595" grpId="0"/>
      <p:bldP spid="152596" grpId="0"/>
      <p:bldP spid="15259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p:nvPr>
        </p:nvSpPr>
        <p:spPr>
          <a:xfrm>
            <a:off x="685800" y="304800"/>
            <a:ext cx="8077200" cy="1143000"/>
          </a:xfrm>
          <a:solidFill>
            <a:srgbClr val="FF0066">
              <a:alpha val="100000"/>
            </a:srgbClr>
          </a:solidFill>
          <a:ln>
            <a:miter/>
          </a:ln>
          <a:scene3d>
            <a:camera prst="legacyObliqueBottomLeft">
              <a:rot lat="0" lon="0" rev="0"/>
            </a:camera>
            <a:lightRig rig="legacyFlat3" dir="t"/>
          </a:scene3d>
          <a:sp3d extrusionH="430200" prstMaterial="legacyMatte">
            <a:bevelT w="13500" h="13500" prst="angle"/>
            <a:bevelB w="13500" h="13500" prst="angle"/>
            <a:extrusionClr>
              <a:srgbClr val="FF0066"/>
            </a:extrusionClr>
          </a:sp3d>
        </p:spPr>
        <p:txBody>
          <a:bodyPr vert="horz" wrap="square" lIns="91440" tIns="45720" rIns="91440" bIns="45720" anchor="ctr" anchorCtr="0">
            <a:flatTx/>
          </a:bodyPr>
          <a:p>
            <a:pPr eaLnBrk="1" hangingPunct="1"/>
            <a:r>
              <a:rPr lang="en-US" altLang="zh-CN" b="1" dirty="0">
                <a:solidFill>
                  <a:srgbClr val="FFFF66"/>
                </a:solidFill>
              </a:rPr>
              <a:t>§8-5</a:t>
            </a:r>
            <a:r>
              <a:rPr lang="en-US" altLang="zh-CN" b="1" dirty="0">
                <a:solidFill>
                  <a:srgbClr val="FFCC00"/>
                </a:solidFill>
              </a:rPr>
              <a:t>     </a:t>
            </a:r>
            <a:r>
              <a:rPr lang="zh-CN" altLang="en-US" b="1" dirty="0">
                <a:solidFill>
                  <a:srgbClr val="FFFF66"/>
                </a:solidFill>
              </a:rPr>
              <a:t>高密度</a:t>
            </a:r>
            <a:r>
              <a:rPr lang="zh-CN" altLang="en-US" b="1" dirty="0">
                <a:solidFill>
                  <a:srgbClr val="FFFF99"/>
                </a:solidFill>
              </a:rPr>
              <a:t>可编程逻辑器件</a:t>
            </a:r>
            <a:r>
              <a:rPr lang="en-US" altLang="zh-CN" b="1" dirty="0">
                <a:solidFill>
                  <a:srgbClr val="FFFF99"/>
                </a:solidFill>
              </a:rPr>
              <a:t>HDPLD</a:t>
            </a:r>
            <a:r>
              <a:rPr lang="zh-CN" altLang="en-US" b="1" dirty="0">
                <a:solidFill>
                  <a:srgbClr val="FFFF99"/>
                </a:solidFill>
              </a:rPr>
              <a:t>原理及应用</a:t>
            </a:r>
            <a:endParaRPr lang="zh-CN" altLang="en-US" b="1" dirty="0">
              <a:solidFill>
                <a:srgbClr val="FFFF99"/>
              </a:solidFill>
            </a:endParaRPr>
          </a:p>
        </p:txBody>
      </p:sp>
      <p:sp>
        <p:nvSpPr>
          <p:cNvPr id="172039" name="Text Box 7"/>
          <p:cNvSpPr txBox="1"/>
          <p:nvPr/>
        </p:nvSpPr>
        <p:spPr>
          <a:xfrm>
            <a:off x="304800" y="2286000"/>
            <a:ext cx="8305800" cy="118745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        </a:t>
            </a:r>
            <a:r>
              <a:rPr lang="en-US" altLang="zh-CN" sz="2400" b="1" dirty="0">
                <a:latin typeface="Times New Roman" panose="02020603050405020304" pitchFamily="18" charset="0"/>
              </a:rPr>
              <a:t>HDPLD</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High Density Programmable Logic Device</a:t>
            </a:r>
            <a:r>
              <a:rPr lang="zh-CN" altLang="en-US" sz="2400" b="1" dirty="0">
                <a:latin typeface="Times New Roman" panose="02020603050405020304" pitchFamily="18" charset="0"/>
              </a:rPr>
              <a:t>）在单片芯片内可以集成成千上万个等效门，因此在单片高密度可编程逻辑器件内集成数字电路系统成为可能。</a:t>
            </a:r>
            <a:endParaRPr lang="zh-CN" altLang="en-US" sz="2400" b="1" dirty="0">
              <a:latin typeface="Times New Roman" panose="02020603050405020304" pitchFamily="18" charset="0"/>
            </a:endParaRPr>
          </a:p>
        </p:txBody>
      </p:sp>
      <p:sp>
        <p:nvSpPr>
          <p:cNvPr id="172040" name="Text Box 8"/>
          <p:cNvSpPr txBox="1"/>
          <p:nvPr/>
        </p:nvSpPr>
        <p:spPr>
          <a:xfrm>
            <a:off x="228600" y="4114800"/>
            <a:ext cx="8229600" cy="822325"/>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        </a:t>
            </a:r>
            <a:r>
              <a:rPr lang="en-US" altLang="zh-CN" sz="2400" b="1" dirty="0">
                <a:latin typeface="Times New Roman" panose="02020603050405020304" pitchFamily="18" charset="0"/>
              </a:rPr>
              <a:t>HDPLD</a:t>
            </a:r>
            <a:r>
              <a:rPr lang="zh-CN" altLang="en-US" sz="2400" b="1" dirty="0">
                <a:latin typeface="Times New Roman" panose="02020603050405020304" pitchFamily="18" charset="0"/>
              </a:rPr>
              <a:t>器件在结构上仍延续</a:t>
            </a:r>
            <a:r>
              <a:rPr lang="en-US" altLang="zh-CN" sz="2400" b="1" dirty="0">
                <a:latin typeface="Times New Roman" panose="02020603050405020304" pitchFamily="18" charset="0"/>
              </a:rPr>
              <a:t>GAL</a:t>
            </a:r>
            <a:r>
              <a:rPr lang="zh-CN" altLang="en-US" sz="2400" b="1" dirty="0">
                <a:latin typeface="Times New Roman" panose="02020603050405020304" pitchFamily="18" charset="0"/>
              </a:rPr>
              <a:t>的结构原理，因而还是电擦写、电编程的</a:t>
            </a:r>
            <a:r>
              <a:rPr lang="en-US" altLang="zh-CN" sz="2400" b="1" dirty="0">
                <a:latin typeface="Times New Roman" panose="02020603050405020304" pitchFamily="18" charset="0"/>
              </a:rPr>
              <a:t>EPLD</a:t>
            </a:r>
            <a:r>
              <a:rPr lang="zh-CN" altLang="en-US" sz="2400" b="1" dirty="0">
                <a:latin typeface="Times New Roman" panose="02020603050405020304" pitchFamily="18" charset="0"/>
              </a:rPr>
              <a:t>器件。</a:t>
            </a:r>
            <a:endParaRPr lang="zh-CN" altLang="en-US" b="1" dirty="0">
              <a:latin typeface="Times New Roman" panose="02020603050405020304" pitchFamily="18" charset="0"/>
            </a:endParaRPr>
          </a:p>
        </p:txBody>
      </p:sp>
      <p:sp>
        <p:nvSpPr>
          <p:cNvPr id="172041" name="Text Box 9"/>
          <p:cNvSpPr txBox="1"/>
          <p:nvPr/>
        </p:nvSpPr>
        <p:spPr>
          <a:xfrm>
            <a:off x="609600" y="5181600"/>
            <a:ext cx="6781800" cy="457200"/>
          </a:xfrm>
          <a:prstGeom prst="rect">
            <a:avLst/>
          </a:prstGeom>
          <a:noFill/>
          <a:ln w="9525">
            <a:noFill/>
          </a:ln>
        </p:spPr>
        <p:txBody>
          <a:bodyPr>
            <a:spAutoFit/>
          </a:bodyPr>
          <a:p>
            <a:pPr eaLnBrk="1" hangingPunct="1">
              <a:spcBef>
                <a:spcPct val="50000"/>
              </a:spcBef>
            </a:pPr>
            <a:r>
              <a:rPr lang="zh-CN" altLang="en-US" sz="2400" b="1" dirty="0">
                <a:latin typeface="黑体" panose="02010609060101010101" pitchFamily="2" charset="-122"/>
                <a:ea typeface="黑体" panose="02010609060101010101" pitchFamily="2" charset="-122"/>
              </a:rPr>
              <a:t>一、在系统编程芯片</a:t>
            </a:r>
            <a:r>
              <a:rPr lang="en-US" altLang="zh-CN" sz="2400" b="1" dirty="0">
                <a:latin typeface="黑体" panose="02010609060101010101" pitchFamily="2" charset="-122"/>
                <a:ea typeface="黑体" panose="02010609060101010101" pitchFamily="2" charset="-122"/>
              </a:rPr>
              <a:t>EPM7128S</a:t>
            </a:r>
            <a:r>
              <a:rPr lang="zh-CN" altLang="en-US" sz="2400" b="1" dirty="0">
                <a:latin typeface="黑体" panose="02010609060101010101" pitchFamily="2" charset="-122"/>
                <a:ea typeface="黑体" panose="02010609060101010101" pitchFamily="2" charset="-122"/>
              </a:rPr>
              <a:t>的基本结构</a:t>
            </a:r>
            <a:endParaRPr lang="zh-CN" altLang="en-US" sz="2400" b="1" dirty="0">
              <a:latin typeface="黑体" panose="02010609060101010101" pitchFamily="2" charset="-122"/>
              <a:ea typeface="黑体" panose="02010609060101010101" pitchFamily="2" charset="-122"/>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2039"/>
                                        </p:tgtEl>
                                        <p:attrNameLst>
                                          <p:attrName>style.visibility</p:attrName>
                                        </p:attrNameLst>
                                      </p:cBhvr>
                                      <p:to>
                                        <p:strVal val="visible"/>
                                      </p:to>
                                    </p:set>
                                    <p:anim calcmode="lin" valueType="num">
                                      <p:cBhvr additive="base">
                                        <p:cTn id="7" dur="500" fill="hold"/>
                                        <p:tgtEl>
                                          <p:spTgt spid="172039"/>
                                        </p:tgtEl>
                                        <p:attrNameLst>
                                          <p:attrName>ppt_x</p:attrName>
                                        </p:attrNameLst>
                                      </p:cBhvr>
                                      <p:tavLst>
                                        <p:tav tm="0">
                                          <p:val>
                                            <p:strVal val="1+#ppt_w/2"/>
                                          </p:val>
                                        </p:tav>
                                        <p:tav tm="100000">
                                          <p:val>
                                            <p:strVal val="#ppt_x"/>
                                          </p:val>
                                        </p:tav>
                                      </p:tavLst>
                                    </p:anim>
                                    <p:anim calcmode="lin" valueType="num">
                                      <p:cBhvr additive="base">
                                        <p:cTn id="8" dur="500" fill="hold"/>
                                        <p:tgtEl>
                                          <p:spTgt spid="17203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2040"/>
                                        </p:tgtEl>
                                        <p:attrNameLst>
                                          <p:attrName>style.visibility</p:attrName>
                                        </p:attrNameLst>
                                      </p:cBhvr>
                                      <p:to>
                                        <p:strVal val="visible"/>
                                      </p:to>
                                    </p:set>
                                    <p:anim calcmode="lin" valueType="num">
                                      <p:cBhvr additive="base">
                                        <p:cTn id="13" dur="500" fill="hold"/>
                                        <p:tgtEl>
                                          <p:spTgt spid="172040"/>
                                        </p:tgtEl>
                                        <p:attrNameLst>
                                          <p:attrName>ppt_x</p:attrName>
                                        </p:attrNameLst>
                                      </p:cBhvr>
                                      <p:tavLst>
                                        <p:tav tm="0">
                                          <p:val>
                                            <p:strVal val="1+#ppt_w/2"/>
                                          </p:val>
                                        </p:tav>
                                        <p:tav tm="100000">
                                          <p:val>
                                            <p:strVal val="#ppt_x"/>
                                          </p:val>
                                        </p:tav>
                                      </p:tavLst>
                                    </p:anim>
                                    <p:anim calcmode="lin" valueType="num">
                                      <p:cBhvr additive="base">
                                        <p:cTn id="14" dur="500" fill="hold"/>
                                        <p:tgtEl>
                                          <p:spTgt spid="17204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2041"/>
                                        </p:tgtEl>
                                        <p:attrNameLst>
                                          <p:attrName>style.visibility</p:attrName>
                                        </p:attrNameLst>
                                      </p:cBhvr>
                                      <p:to>
                                        <p:strVal val="visible"/>
                                      </p:to>
                                    </p:set>
                                    <p:anim calcmode="lin" valueType="num">
                                      <p:cBhvr additive="base">
                                        <p:cTn id="19" dur="500" fill="hold"/>
                                        <p:tgtEl>
                                          <p:spTgt spid="172041"/>
                                        </p:tgtEl>
                                        <p:attrNameLst>
                                          <p:attrName>ppt_x</p:attrName>
                                        </p:attrNameLst>
                                      </p:cBhvr>
                                      <p:tavLst>
                                        <p:tav tm="0">
                                          <p:val>
                                            <p:strVal val="1+#ppt_w/2"/>
                                          </p:val>
                                        </p:tav>
                                        <p:tav tm="100000">
                                          <p:val>
                                            <p:strVal val="#ppt_x"/>
                                          </p:val>
                                        </p:tav>
                                      </p:tavLst>
                                    </p:anim>
                                    <p:anim calcmode="lin" valueType="num">
                                      <p:cBhvr additive="base">
                                        <p:cTn id="20" dur="500" fill="hold"/>
                                        <p:tgtEl>
                                          <p:spTgt spid="1720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9" grpId="0"/>
      <p:bldP spid="172040" grpId="0"/>
      <p:bldP spid="17204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ext Box 12"/>
          <p:cNvSpPr txBox="1"/>
          <p:nvPr/>
        </p:nvSpPr>
        <p:spPr>
          <a:xfrm>
            <a:off x="228600" y="304800"/>
            <a:ext cx="8610600" cy="822325"/>
          </a:xfrm>
          <a:prstGeom prst="rect">
            <a:avLst/>
          </a:prstGeom>
          <a:noFill/>
          <a:ln w="9525">
            <a:noFill/>
          </a:ln>
        </p:spPr>
        <p:txBody>
          <a:bodyPr>
            <a:spAutoFit/>
          </a:bodyPr>
          <a:p>
            <a:pPr eaLnBrk="1" hangingPunct="1">
              <a:spcBef>
                <a:spcPct val="50000"/>
              </a:spcBef>
            </a:pPr>
            <a:r>
              <a:rPr lang="zh-CN" altLang="en-US" sz="2400" dirty="0">
                <a:latin typeface="Times New Roman" panose="02020603050405020304" pitchFamily="18" charset="0"/>
              </a:rPr>
              <a:t>在系统编程芯片</a:t>
            </a:r>
            <a:r>
              <a:rPr lang="en-US" altLang="zh-CN" sz="2400" dirty="0">
                <a:latin typeface="Times New Roman" panose="02020603050405020304" pitchFamily="18" charset="0"/>
              </a:rPr>
              <a:t>EPM7128S</a:t>
            </a:r>
            <a:r>
              <a:rPr lang="zh-CN" altLang="en-US" sz="2400" dirty="0">
                <a:latin typeface="Times New Roman" panose="02020603050405020304" pitchFamily="18" charset="0"/>
              </a:rPr>
              <a:t>是</a:t>
            </a:r>
            <a:r>
              <a:rPr lang="en-US" altLang="zh-CN" sz="2400" dirty="0">
                <a:latin typeface="Times New Roman" panose="02020603050405020304" pitchFamily="18" charset="0"/>
              </a:rPr>
              <a:t>Altera</a:t>
            </a:r>
            <a:r>
              <a:rPr lang="zh-CN" altLang="en-US" sz="2400" dirty="0">
                <a:latin typeface="Times New Roman" panose="02020603050405020304" pitchFamily="18" charset="0"/>
              </a:rPr>
              <a:t>公司生产的高密度、高性能</a:t>
            </a:r>
            <a:r>
              <a:rPr lang="en-US" altLang="zh-CN" sz="2400" dirty="0">
                <a:latin typeface="Times New Roman" panose="02020603050405020304" pitchFamily="18" charset="0"/>
              </a:rPr>
              <a:t>CMOS</a:t>
            </a:r>
            <a:r>
              <a:rPr lang="zh-CN" altLang="en-US" sz="2400" dirty="0">
                <a:latin typeface="Times New Roman" panose="02020603050405020304" pitchFamily="18" charset="0"/>
              </a:rPr>
              <a:t>可编程逻辑器件之一，下图是</a:t>
            </a:r>
            <a:r>
              <a:rPr lang="en-US" altLang="zh-CN" sz="2400" dirty="0">
                <a:latin typeface="Times New Roman" panose="02020603050405020304" pitchFamily="18" charset="0"/>
              </a:rPr>
              <a:t>PLCC</a:t>
            </a:r>
            <a:r>
              <a:rPr lang="zh-CN" altLang="en-US" sz="2400" dirty="0">
                <a:latin typeface="Times New Roman" panose="02020603050405020304" pitchFamily="18" charset="0"/>
              </a:rPr>
              <a:t>封装</a:t>
            </a:r>
            <a:r>
              <a:rPr lang="en-US" altLang="zh-CN" sz="2400" dirty="0">
                <a:latin typeface="Times New Roman" panose="02020603050405020304" pitchFamily="18" charset="0"/>
              </a:rPr>
              <a:t>84</a:t>
            </a:r>
            <a:r>
              <a:rPr lang="zh-CN" altLang="en-US" sz="2400" dirty="0">
                <a:latin typeface="Times New Roman" panose="02020603050405020304" pitchFamily="18" charset="0"/>
              </a:rPr>
              <a:t>端子的引脚图</a:t>
            </a:r>
            <a:endParaRPr lang="zh-CN" altLang="en-US" sz="2400" dirty="0">
              <a:latin typeface="Times New Roman" panose="02020603050405020304" pitchFamily="18" charset="0"/>
            </a:endParaRPr>
          </a:p>
        </p:txBody>
      </p:sp>
      <p:graphicFrame>
        <p:nvGraphicFramePr>
          <p:cNvPr id="153613" name="Object 13"/>
          <p:cNvGraphicFramePr>
            <a:graphicFrameLocks noChangeAspect="1"/>
          </p:cNvGraphicFramePr>
          <p:nvPr/>
        </p:nvGraphicFramePr>
        <p:xfrm>
          <a:off x="1524000" y="1524000"/>
          <a:ext cx="5943600" cy="5661025"/>
        </p:xfrm>
        <a:graphic>
          <a:graphicData uri="http://schemas.openxmlformats.org/presentationml/2006/ole">
            <mc:AlternateContent xmlns:mc="http://schemas.openxmlformats.org/markup-compatibility/2006">
              <mc:Choice xmlns:v="urn:schemas-microsoft-com:vml" Requires="v">
                <p:oleObj spid="_x0000_s3114" name="" r:id="rId1" imgW="3200400" imgH="3143250" progId="Paint.Picture">
                  <p:embed/>
                </p:oleObj>
              </mc:Choice>
              <mc:Fallback>
                <p:oleObj name="" r:id="rId1" imgW="3200400" imgH="3143250" progId="Paint.Picture">
                  <p:embed/>
                  <p:pic>
                    <p:nvPicPr>
                      <p:cNvPr id="0" name="图片 3113"/>
                      <p:cNvPicPr/>
                      <p:nvPr/>
                    </p:nvPicPr>
                    <p:blipFill>
                      <a:blip r:embed="rId2"/>
                      <a:stretch>
                        <a:fillRect/>
                      </a:stretch>
                    </p:blipFill>
                    <p:spPr>
                      <a:xfrm>
                        <a:off x="1524000" y="1524000"/>
                        <a:ext cx="5943600" cy="5661025"/>
                      </a:xfrm>
                      <a:prstGeom prst="rect">
                        <a:avLst/>
                      </a:prstGeom>
                      <a:noFill/>
                      <a:ln w="38100">
                        <a:noFill/>
                        <a:miter/>
                      </a:ln>
                    </p:spPr>
                  </p:pic>
                </p:oleObj>
              </mc:Fallback>
            </mc:AlternateContent>
          </a:graphicData>
        </a:graphic>
      </p:graphicFrame>
      <p:grpSp>
        <p:nvGrpSpPr>
          <p:cNvPr id="153617" name="Group 17"/>
          <p:cNvGrpSpPr/>
          <p:nvPr/>
        </p:nvGrpSpPr>
        <p:grpSpPr>
          <a:xfrm>
            <a:off x="4267200" y="2438400"/>
            <a:ext cx="3733800" cy="2743200"/>
            <a:chOff x="2688" y="1536"/>
            <a:chExt cx="2352" cy="1728"/>
          </a:xfrm>
        </p:grpSpPr>
        <p:sp>
          <p:nvSpPr>
            <p:cNvPr id="56331" name="AutoShape 15"/>
            <p:cNvSpPr/>
            <p:nvPr/>
          </p:nvSpPr>
          <p:spPr>
            <a:xfrm rot="-5540207">
              <a:off x="2784" y="1440"/>
              <a:ext cx="192" cy="384"/>
            </a:xfrm>
            <a:prstGeom prst="leftBrace">
              <a:avLst>
                <a:gd name="adj1" fmla="val 16666"/>
                <a:gd name="adj2" fmla="val 51120"/>
              </a:avLst>
            </a:prstGeom>
            <a:noFill/>
            <a:ln w="38100" cap="flat" cmpd="sng">
              <a:solidFill>
                <a:srgbClr val="FFCC66"/>
              </a:solidFill>
              <a:prstDash val="solid"/>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56332" name="AutoShape 16"/>
            <p:cNvSpPr/>
            <p:nvPr/>
          </p:nvSpPr>
          <p:spPr>
            <a:xfrm>
              <a:off x="3600" y="2592"/>
              <a:ext cx="1440" cy="672"/>
            </a:xfrm>
            <a:prstGeom prst="wedgeRectCallout">
              <a:avLst>
                <a:gd name="adj1" fmla="val -93750"/>
                <a:gd name="adj2" fmla="val -188986"/>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dirty="0">
                  <a:latin typeface="Times New Roman" panose="02020603050405020304" pitchFamily="18" charset="0"/>
                </a:rPr>
                <a:t>它有</a:t>
              </a:r>
              <a:r>
                <a:rPr lang="en-US" altLang="zh-CN" sz="2400" dirty="0">
                  <a:latin typeface="Times New Roman" panose="02020603050405020304" pitchFamily="18" charset="0"/>
                </a:rPr>
                <a:t>4</a:t>
              </a:r>
              <a:r>
                <a:rPr lang="zh-CN" altLang="en-US" sz="2400" dirty="0">
                  <a:latin typeface="Times New Roman" panose="02020603050405020304" pitchFamily="18" charset="0"/>
                </a:rPr>
                <a:t>个直接</a:t>
              </a:r>
              <a:endParaRPr lang="zh-CN" altLang="en-US" sz="2400" dirty="0">
                <a:latin typeface="Times New Roman" panose="02020603050405020304" pitchFamily="18" charset="0"/>
              </a:endParaRPr>
            </a:p>
            <a:p>
              <a:pPr eaLnBrk="1" hangingPunct="1"/>
              <a:r>
                <a:rPr lang="zh-CN" altLang="en-US" sz="2400" dirty="0">
                  <a:latin typeface="Times New Roman" panose="02020603050405020304" pitchFamily="18" charset="0"/>
                </a:rPr>
                <a:t>输入（</a:t>
              </a:r>
              <a:r>
                <a:rPr lang="en-US" altLang="zh-CN" sz="2400" dirty="0">
                  <a:latin typeface="Times New Roman" panose="02020603050405020304" pitchFamily="18" charset="0"/>
                </a:rPr>
                <a:t>INPUT</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p:txBody>
        </p:sp>
      </p:grpSp>
      <p:grpSp>
        <p:nvGrpSpPr>
          <p:cNvPr id="153622" name="Group 22"/>
          <p:cNvGrpSpPr/>
          <p:nvPr/>
        </p:nvGrpSpPr>
        <p:grpSpPr>
          <a:xfrm>
            <a:off x="0" y="914400"/>
            <a:ext cx="7010400" cy="3429000"/>
            <a:chOff x="0" y="576"/>
            <a:chExt cx="4416" cy="2160"/>
          </a:xfrm>
        </p:grpSpPr>
        <p:sp>
          <p:nvSpPr>
            <p:cNvPr id="56327" name="AutoShape 18"/>
            <p:cNvSpPr/>
            <p:nvPr/>
          </p:nvSpPr>
          <p:spPr>
            <a:xfrm>
              <a:off x="0" y="576"/>
              <a:ext cx="1680" cy="720"/>
            </a:xfrm>
            <a:prstGeom prst="wedgeRectCallout">
              <a:avLst>
                <a:gd name="adj1" fmla="val 212681"/>
                <a:gd name="adj2" fmla="val 120972"/>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2400" dirty="0">
                  <a:latin typeface="Times New Roman" panose="02020603050405020304" pitchFamily="18" charset="0"/>
                </a:rPr>
                <a:t>TMS</a:t>
              </a:r>
              <a:r>
                <a:rPr lang="zh-CN" altLang="en-US" sz="2400" dirty="0">
                  <a:latin typeface="Times New Roman" panose="02020603050405020304" pitchFamily="18" charset="0"/>
                </a:rPr>
                <a:t>、</a:t>
              </a:r>
              <a:r>
                <a:rPr lang="en-US" altLang="zh-CN" sz="2400" dirty="0">
                  <a:latin typeface="Times New Roman" panose="02020603050405020304" pitchFamily="18" charset="0"/>
                </a:rPr>
                <a:t>TDI</a:t>
              </a:r>
              <a:r>
                <a:rPr lang="zh-CN" altLang="en-US" sz="2400" dirty="0">
                  <a:latin typeface="Times New Roman" panose="02020603050405020304" pitchFamily="18" charset="0"/>
                </a:rPr>
                <a:t>、</a:t>
              </a:r>
              <a:r>
                <a:rPr lang="en-US" altLang="zh-CN" sz="2400" dirty="0">
                  <a:latin typeface="Times New Roman" panose="02020603050405020304" pitchFamily="18" charset="0"/>
                </a:rPr>
                <a:t>TDO</a:t>
              </a:r>
              <a:endParaRPr lang="en-US" altLang="zh-CN" sz="2400" dirty="0">
                <a:latin typeface="Times New Roman" panose="02020603050405020304" pitchFamily="18" charset="0"/>
              </a:endParaRPr>
            </a:p>
            <a:p>
              <a:pPr eaLnBrk="1" hangingPunct="1"/>
              <a:r>
                <a:rPr lang="zh-CN" altLang="en-US" sz="2400" dirty="0">
                  <a:latin typeface="Times New Roman" panose="02020603050405020304" pitchFamily="18" charset="0"/>
                </a:rPr>
                <a:t>和</a:t>
              </a:r>
              <a:r>
                <a:rPr lang="en-US" altLang="zh-CN" sz="2400" dirty="0">
                  <a:latin typeface="Times New Roman" panose="02020603050405020304" pitchFamily="18" charset="0"/>
                </a:rPr>
                <a:t>TCK</a:t>
              </a:r>
              <a:r>
                <a:rPr lang="zh-CN" altLang="en-US" sz="2400" dirty="0">
                  <a:latin typeface="Times New Roman" panose="02020603050405020304" pitchFamily="18" charset="0"/>
                </a:rPr>
                <a:t>是在系统编</a:t>
              </a:r>
              <a:endParaRPr lang="zh-CN" altLang="en-US" sz="2400" dirty="0">
                <a:latin typeface="Times New Roman" panose="02020603050405020304" pitchFamily="18" charset="0"/>
              </a:endParaRPr>
            </a:p>
            <a:p>
              <a:pPr eaLnBrk="1" hangingPunct="1"/>
              <a:r>
                <a:rPr lang="zh-CN" altLang="en-US" sz="2400" dirty="0">
                  <a:latin typeface="Times New Roman" panose="02020603050405020304" pitchFamily="18" charset="0"/>
                </a:rPr>
                <a:t>程引脚</a:t>
              </a:r>
              <a:endParaRPr lang="zh-CN" altLang="en-US" sz="2400" dirty="0">
                <a:latin typeface="Times New Roman" panose="02020603050405020304" pitchFamily="18" charset="0"/>
              </a:endParaRPr>
            </a:p>
          </p:txBody>
        </p:sp>
        <p:sp>
          <p:nvSpPr>
            <p:cNvPr id="56328" name="Line 19"/>
            <p:cNvSpPr/>
            <p:nvPr/>
          </p:nvSpPr>
          <p:spPr>
            <a:xfrm>
              <a:off x="1680" y="1296"/>
              <a:ext cx="2736" cy="1440"/>
            </a:xfrm>
            <a:prstGeom prst="line">
              <a:avLst/>
            </a:prstGeom>
            <a:ln w="76200" cap="flat" cmpd="sng">
              <a:solidFill>
                <a:srgbClr val="FFCC66"/>
              </a:solidFill>
              <a:prstDash val="solid"/>
              <a:headEnd type="none" w="med" len="med"/>
              <a:tailEnd type="triangle" w="med" len="med"/>
            </a:ln>
          </p:spPr>
        </p:sp>
        <p:sp>
          <p:nvSpPr>
            <p:cNvPr id="56329" name="Line 20"/>
            <p:cNvSpPr/>
            <p:nvPr/>
          </p:nvSpPr>
          <p:spPr>
            <a:xfrm>
              <a:off x="1104" y="1296"/>
              <a:ext cx="240" cy="432"/>
            </a:xfrm>
            <a:prstGeom prst="line">
              <a:avLst/>
            </a:prstGeom>
            <a:ln w="76200" cap="flat" cmpd="sng">
              <a:solidFill>
                <a:srgbClr val="FFCC66"/>
              </a:solidFill>
              <a:prstDash val="solid"/>
              <a:headEnd type="none" w="med" len="med"/>
              <a:tailEnd type="triangle" w="med" len="med"/>
            </a:ln>
          </p:spPr>
        </p:sp>
        <p:sp>
          <p:nvSpPr>
            <p:cNvPr id="56330" name="Line 21"/>
            <p:cNvSpPr/>
            <p:nvPr/>
          </p:nvSpPr>
          <p:spPr>
            <a:xfrm>
              <a:off x="672" y="1296"/>
              <a:ext cx="624" cy="1296"/>
            </a:xfrm>
            <a:prstGeom prst="line">
              <a:avLst/>
            </a:prstGeom>
            <a:ln w="76200" cap="flat" cmpd="sng">
              <a:solidFill>
                <a:srgbClr val="FFCC66"/>
              </a:solidFill>
              <a:prstDash val="solid"/>
              <a:headEnd type="none" w="med" len="med"/>
              <a:tailEnd type="triangle" w="med" len="med"/>
            </a:ln>
          </p:spPr>
        </p:sp>
      </p:grpSp>
      <p:sp>
        <p:nvSpPr>
          <p:cNvPr id="153623" name="AutoShape 23"/>
          <p:cNvSpPr/>
          <p:nvPr/>
        </p:nvSpPr>
        <p:spPr>
          <a:xfrm>
            <a:off x="304800" y="5257800"/>
            <a:ext cx="1295400" cy="1143000"/>
          </a:xfrm>
          <a:prstGeom prst="wedgeRectCallout">
            <a:avLst>
              <a:gd name="adj1" fmla="val 93014"/>
              <a:gd name="adj2" fmla="val -63333"/>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2400" dirty="0">
                <a:latin typeface="Times New Roman" panose="02020603050405020304" pitchFamily="18" charset="0"/>
              </a:rPr>
              <a:t>64</a:t>
            </a:r>
            <a:r>
              <a:rPr lang="zh-CN" altLang="en-US" sz="2400" dirty="0">
                <a:latin typeface="Times New Roman" panose="02020603050405020304" pitchFamily="18" charset="0"/>
              </a:rPr>
              <a:t>个</a:t>
            </a:r>
            <a:r>
              <a:rPr lang="en-US" altLang="zh-CN" sz="2400" dirty="0">
                <a:latin typeface="Times New Roman" panose="02020603050405020304" pitchFamily="18" charset="0"/>
              </a:rPr>
              <a:t>I/O</a:t>
            </a:r>
            <a:endParaRPr lang="en-US" altLang="zh-CN" sz="2400" dirty="0">
              <a:latin typeface="Times New Roman" panose="02020603050405020304" pitchFamily="18" charset="0"/>
            </a:endParaRPr>
          </a:p>
          <a:p>
            <a:pPr eaLnBrk="1" hangingPunct="1"/>
            <a:r>
              <a:rPr lang="zh-CN" altLang="en-US" sz="2400" dirty="0">
                <a:latin typeface="Times New Roman" panose="02020603050405020304" pitchFamily="18" charset="0"/>
              </a:rPr>
              <a:t>引脚</a:t>
            </a:r>
            <a:endParaRPr lang="zh-CN" altLang="en-US" sz="2400"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536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9" fill="hold" nodeType="clickEffect">
                                  <p:stCondLst>
                                    <p:cond delay="0"/>
                                  </p:stCondLst>
                                  <p:childTnLst>
                                    <p:set>
                                      <p:cBhvr>
                                        <p:cTn id="10" dur="1" fill="hold">
                                          <p:stCondLst>
                                            <p:cond delay="0"/>
                                          </p:stCondLst>
                                        </p:cTn>
                                        <p:tgtEl>
                                          <p:spTgt spid="153617"/>
                                        </p:tgtEl>
                                        <p:attrNameLst>
                                          <p:attrName>style.visibility</p:attrName>
                                        </p:attrNameLst>
                                      </p:cBhvr>
                                      <p:to>
                                        <p:strVal val="visible"/>
                                      </p:to>
                                    </p:set>
                                    <p:animEffect transition="in" filter="strips(upLeft)">
                                      <p:cBhvr>
                                        <p:cTn id="11" dur="500"/>
                                        <p:tgtEl>
                                          <p:spTgt spid="153617"/>
                                        </p:tgtEl>
                                      </p:cBhvr>
                                    </p:animEffect>
                                  </p:childTnLst>
                                  <p:subTnLst>
                                    <p:set>
                                      <p:cBhvr override="childStyle">
                                        <p:cTn dur="1" fill="hold" display="0" masterRel="nextClick" afterEffect="1"/>
                                        <p:tgtEl>
                                          <p:spTgt spid="153617"/>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18" presetClass="entr" presetSubtype="6" fill="hold" nodeType="clickEffect">
                                  <p:stCondLst>
                                    <p:cond delay="0"/>
                                  </p:stCondLst>
                                  <p:childTnLst>
                                    <p:set>
                                      <p:cBhvr>
                                        <p:cTn id="15" dur="1" fill="hold">
                                          <p:stCondLst>
                                            <p:cond delay="0"/>
                                          </p:stCondLst>
                                        </p:cTn>
                                        <p:tgtEl>
                                          <p:spTgt spid="153622"/>
                                        </p:tgtEl>
                                        <p:attrNameLst>
                                          <p:attrName>style.visibility</p:attrName>
                                        </p:attrNameLst>
                                      </p:cBhvr>
                                      <p:to>
                                        <p:strVal val="visible"/>
                                      </p:to>
                                    </p:set>
                                    <p:animEffect transition="in" filter="strips(downRight)">
                                      <p:cBhvr>
                                        <p:cTn id="16" dur="500"/>
                                        <p:tgtEl>
                                          <p:spTgt spid="153622"/>
                                        </p:tgtEl>
                                      </p:cBhvr>
                                    </p:animEffect>
                                  </p:childTnLst>
                                  <p:subTnLst>
                                    <p:set>
                                      <p:cBhvr override="childStyle">
                                        <p:cTn dur="1" fill="hold" display="0" masterRel="nextClick" afterEffect="1"/>
                                        <p:tgtEl>
                                          <p:spTgt spid="153622"/>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53623"/>
                                        </p:tgtEl>
                                        <p:attrNameLst>
                                          <p:attrName>style.visibility</p:attrName>
                                        </p:attrNameLst>
                                      </p:cBhvr>
                                      <p:to>
                                        <p:strVal val="visible"/>
                                      </p:to>
                                    </p:set>
                                  </p:childTnLst>
                                  <p:subTnLst>
                                    <p:set>
                                      <p:cBhvr override="childStyle">
                                        <p:cTn dur="1" fill="hold" display="0" masterRel="nextClick" afterEffect="1"/>
                                        <p:tgtEl>
                                          <p:spTgt spid="15362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Text Box 11"/>
          <p:cNvSpPr txBox="1"/>
          <p:nvPr/>
        </p:nvSpPr>
        <p:spPr>
          <a:xfrm>
            <a:off x="76200" y="76200"/>
            <a:ext cx="8001000" cy="1187450"/>
          </a:xfrm>
          <a:prstGeom prst="rect">
            <a:avLst/>
          </a:prstGeom>
          <a:noFill/>
          <a:ln w="9525">
            <a:noFill/>
          </a:ln>
        </p:spPr>
        <p:txBody>
          <a:bodyPr>
            <a:spAutoFit/>
          </a:bodyPr>
          <a:p>
            <a:pPr eaLnBrk="1" hangingPunct="1">
              <a:spcBef>
                <a:spcPct val="50000"/>
              </a:spcBef>
            </a:pPr>
            <a:r>
              <a:rPr lang="zh-CN" altLang="en-US" sz="2400" dirty="0">
                <a:latin typeface="Times New Roman" panose="02020603050405020304" pitchFamily="18" charset="0"/>
              </a:rPr>
              <a:t>下图是</a:t>
            </a:r>
            <a:r>
              <a:rPr lang="en-US" altLang="zh-CN" sz="2400" dirty="0">
                <a:latin typeface="Times New Roman" panose="02020603050405020304" pitchFamily="18" charset="0"/>
              </a:rPr>
              <a:t>EPM7128S</a:t>
            </a:r>
            <a:r>
              <a:rPr lang="zh-CN" altLang="en-US" sz="2400" dirty="0">
                <a:latin typeface="Times New Roman" panose="02020603050405020304" pitchFamily="18" charset="0"/>
              </a:rPr>
              <a:t>器件结构图：由</a:t>
            </a:r>
            <a:r>
              <a:rPr lang="en-US" altLang="zh-CN" sz="2400" dirty="0">
                <a:latin typeface="Times New Roman" panose="02020603050405020304" pitchFamily="18" charset="0"/>
              </a:rPr>
              <a:t>8</a:t>
            </a:r>
            <a:r>
              <a:rPr lang="zh-CN" altLang="en-US" sz="2400" dirty="0">
                <a:latin typeface="Times New Roman" panose="02020603050405020304" pitchFamily="18" charset="0"/>
              </a:rPr>
              <a:t>个相似的逻辑阵列块（</a:t>
            </a:r>
            <a:r>
              <a:rPr lang="en-US" altLang="zh-CN" sz="2400" dirty="0">
                <a:latin typeface="Times New Roman" panose="02020603050405020304" pitchFamily="18" charset="0"/>
              </a:rPr>
              <a:t>Logic Array Block,LAB</a:t>
            </a:r>
            <a:r>
              <a:rPr lang="zh-CN" altLang="en-US" sz="2400" dirty="0">
                <a:latin typeface="Times New Roman" panose="02020603050405020304" pitchFamily="18" charset="0"/>
              </a:rPr>
              <a:t>）、一个可编程内连矩阵（</a:t>
            </a:r>
            <a:r>
              <a:rPr lang="en-US" altLang="zh-CN" sz="2400" dirty="0">
                <a:latin typeface="Times New Roman" panose="02020603050405020304" pitchFamily="18" charset="0"/>
              </a:rPr>
              <a:t>PIA</a:t>
            </a:r>
            <a:r>
              <a:rPr lang="zh-CN" altLang="en-US" sz="2400" dirty="0">
                <a:latin typeface="Times New Roman" panose="02020603050405020304" pitchFamily="18" charset="0"/>
              </a:rPr>
              <a:t>）和多个输入</a:t>
            </a:r>
            <a:r>
              <a:rPr lang="en-US" altLang="zh-CN" sz="2400" dirty="0">
                <a:latin typeface="Times New Roman" panose="02020603050405020304" pitchFamily="18" charset="0"/>
              </a:rPr>
              <a:t>/</a:t>
            </a:r>
            <a:r>
              <a:rPr lang="zh-CN" altLang="en-US" sz="2400" dirty="0">
                <a:latin typeface="Times New Roman" panose="02020603050405020304" pitchFamily="18" charset="0"/>
              </a:rPr>
              <a:t>输出控制块</a:t>
            </a:r>
            <a:r>
              <a:rPr lang="en-US" altLang="zh-CN" sz="2400" dirty="0">
                <a:latin typeface="Times New Roman" panose="02020603050405020304" pitchFamily="18" charset="0"/>
              </a:rPr>
              <a:t>(I/O Block)</a:t>
            </a:r>
            <a:r>
              <a:rPr lang="zh-CN" altLang="en-US" sz="2400" dirty="0">
                <a:latin typeface="Times New Roman" panose="02020603050405020304" pitchFamily="18" charset="0"/>
              </a:rPr>
              <a:t>组成。</a:t>
            </a:r>
            <a:endParaRPr lang="zh-CN" altLang="en-US" sz="2400" dirty="0">
              <a:latin typeface="Times New Roman" panose="02020603050405020304" pitchFamily="18" charset="0"/>
            </a:endParaRPr>
          </a:p>
        </p:txBody>
      </p:sp>
      <p:graphicFrame>
        <p:nvGraphicFramePr>
          <p:cNvPr id="154637" name="Object 13"/>
          <p:cNvGraphicFramePr>
            <a:graphicFrameLocks noChangeAspect="1"/>
          </p:cNvGraphicFramePr>
          <p:nvPr/>
        </p:nvGraphicFramePr>
        <p:xfrm>
          <a:off x="1143000" y="1295400"/>
          <a:ext cx="7696200" cy="6034088"/>
        </p:xfrm>
        <a:graphic>
          <a:graphicData uri="http://schemas.openxmlformats.org/presentationml/2006/ole">
            <mc:AlternateContent xmlns:mc="http://schemas.openxmlformats.org/markup-compatibility/2006">
              <mc:Choice xmlns:v="urn:schemas-microsoft-com:vml" Requires="v">
                <p:oleObj spid="_x0000_s3115" name="" r:id="rId1" imgW="4943475" imgH="3876675" progId="Paint.Picture">
                  <p:embed/>
                </p:oleObj>
              </mc:Choice>
              <mc:Fallback>
                <p:oleObj name="" r:id="rId1" imgW="4943475" imgH="3876675" progId="Paint.Picture">
                  <p:embed/>
                  <p:pic>
                    <p:nvPicPr>
                      <p:cNvPr id="0" name="图片 3114"/>
                      <p:cNvPicPr/>
                      <p:nvPr/>
                    </p:nvPicPr>
                    <p:blipFill>
                      <a:blip r:embed="rId2"/>
                      <a:stretch>
                        <a:fillRect/>
                      </a:stretch>
                    </p:blipFill>
                    <p:spPr>
                      <a:xfrm>
                        <a:off x="1143000" y="1295400"/>
                        <a:ext cx="7696200" cy="6034088"/>
                      </a:xfrm>
                      <a:prstGeom prst="rect">
                        <a:avLst/>
                      </a:prstGeom>
                      <a:noFill/>
                      <a:ln w="38100">
                        <a:noFill/>
                        <a:miter/>
                      </a:ln>
                    </p:spPr>
                  </p:pic>
                </p:oleObj>
              </mc:Fallback>
            </mc:AlternateContent>
          </a:graphicData>
        </a:graphic>
      </p:graphicFrame>
      <p:grpSp>
        <p:nvGrpSpPr>
          <p:cNvPr id="154643" name="Group 19"/>
          <p:cNvGrpSpPr/>
          <p:nvPr/>
        </p:nvGrpSpPr>
        <p:grpSpPr>
          <a:xfrm>
            <a:off x="3352800" y="0"/>
            <a:ext cx="4191000" cy="4648200"/>
            <a:chOff x="2112" y="0"/>
            <a:chExt cx="2640" cy="2928"/>
          </a:xfrm>
        </p:grpSpPr>
        <p:sp>
          <p:nvSpPr>
            <p:cNvPr id="57357" name="Line 14"/>
            <p:cNvSpPr/>
            <p:nvPr/>
          </p:nvSpPr>
          <p:spPr>
            <a:xfrm flipH="1">
              <a:off x="2592" y="240"/>
              <a:ext cx="624" cy="1920"/>
            </a:xfrm>
            <a:prstGeom prst="line">
              <a:avLst/>
            </a:prstGeom>
            <a:ln w="76200" cap="flat" cmpd="sng">
              <a:solidFill>
                <a:srgbClr val="FFCC66"/>
              </a:solidFill>
              <a:prstDash val="solid"/>
              <a:headEnd type="none" w="med" len="med"/>
              <a:tailEnd type="triangle" w="med" len="med"/>
            </a:ln>
          </p:spPr>
        </p:sp>
        <p:sp>
          <p:nvSpPr>
            <p:cNvPr id="57358" name="Rectangle 17"/>
            <p:cNvSpPr/>
            <p:nvPr/>
          </p:nvSpPr>
          <p:spPr>
            <a:xfrm>
              <a:off x="2688" y="0"/>
              <a:ext cx="2064" cy="288"/>
            </a:xfrm>
            <a:prstGeom prst="rect">
              <a:avLst/>
            </a:prstGeom>
            <a:noFill/>
            <a:ln w="5715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57359" name="Rectangle 18"/>
            <p:cNvSpPr/>
            <p:nvPr/>
          </p:nvSpPr>
          <p:spPr>
            <a:xfrm>
              <a:off x="2112" y="2160"/>
              <a:ext cx="720" cy="768"/>
            </a:xfrm>
            <a:prstGeom prst="rect">
              <a:avLst/>
            </a:prstGeom>
            <a:noFill/>
            <a:ln w="3810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grpSp>
        <p:nvGrpSpPr>
          <p:cNvPr id="154646" name="Group 22"/>
          <p:cNvGrpSpPr/>
          <p:nvPr/>
        </p:nvGrpSpPr>
        <p:grpSpPr>
          <a:xfrm>
            <a:off x="4038600" y="457200"/>
            <a:ext cx="3810000" cy="5943600"/>
            <a:chOff x="2544" y="288"/>
            <a:chExt cx="2400" cy="3744"/>
          </a:xfrm>
        </p:grpSpPr>
        <p:sp>
          <p:nvSpPr>
            <p:cNvPr id="57354" name="Line 15"/>
            <p:cNvSpPr/>
            <p:nvPr/>
          </p:nvSpPr>
          <p:spPr>
            <a:xfrm flipH="1">
              <a:off x="3216" y="576"/>
              <a:ext cx="432" cy="1344"/>
            </a:xfrm>
            <a:prstGeom prst="line">
              <a:avLst/>
            </a:prstGeom>
            <a:ln w="76200" cap="flat" cmpd="sng">
              <a:solidFill>
                <a:srgbClr val="FFCC66"/>
              </a:solidFill>
              <a:prstDash val="solid"/>
              <a:headEnd type="none" w="med" len="med"/>
              <a:tailEnd type="triangle" w="med" len="med"/>
            </a:ln>
          </p:spPr>
        </p:sp>
        <p:sp>
          <p:nvSpPr>
            <p:cNvPr id="57355" name="Rectangle 20"/>
            <p:cNvSpPr/>
            <p:nvPr/>
          </p:nvSpPr>
          <p:spPr>
            <a:xfrm>
              <a:off x="2544" y="288"/>
              <a:ext cx="2400" cy="288"/>
            </a:xfrm>
            <a:prstGeom prst="rect">
              <a:avLst/>
            </a:prstGeom>
            <a:noFill/>
            <a:ln w="5715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57356" name="Rectangle 21"/>
            <p:cNvSpPr/>
            <p:nvPr/>
          </p:nvSpPr>
          <p:spPr>
            <a:xfrm>
              <a:off x="2976" y="1920"/>
              <a:ext cx="336" cy="2112"/>
            </a:xfrm>
            <a:prstGeom prst="rect">
              <a:avLst/>
            </a:prstGeom>
            <a:noFill/>
            <a:ln w="5715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grpSp>
        <p:nvGrpSpPr>
          <p:cNvPr id="154649" name="Group 25"/>
          <p:cNvGrpSpPr/>
          <p:nvPr/>
        </p:nvGrpSpPr>
        <p:grpSpPr>
          <a:xfrm>
            <a:off x="457200" y="762000"/>
            <a:ext cx="5029200" cy="3886200"/>
            <a:chOff x="288" y="480"/>
            <a:chExt cx="3168" cy="2448"/>
          </a:xfrm>
        </p:grpSpPr>
        <p:sp>
          <p:nvSpPr>
            <p:cNvPr id="57351" name="Line 16"/>
            <p:cNvSpPr/>
            <p:nvPr/>
          </p:nvSpPr>
          <p:spPr>
            <a:xfrm flipH="1">
              <a:off x="1776" y="768"/>
              <a:ext cx="528" cy="1344"/>
            </a:xfrm>
            <a:prstGeom prst="line">
              <a:avLst/>
            </a:prstGeom>
            <a:ln w="76200" cap="flat" cmpd="sng">
              <a:solidFill>
                <a:srgbClr val="FFCC66"/>
              </a:solidFill>
              <a:prstDash val="solid"/>
              <a:headEnd type="none" w="med" len="med"/>
              <a:tailEnd type="triangle" w="med" len="med"/>
            </a:ln>
          </p:spPr>
        </p:sp>
        <p:sp>
          <p:nvSpPr>
            <p:cNvPr id="57352" name="Rectangle 23"/>
            <p:cNvSpPr/>
            <p:nvPr/>
          </p:nvSpPr>
          <p:spPr>
            <a:xfrm>
              <a:off x="288" y="480"/>
              <a:ext cx="3168" cy="288"/>
            </a:xfrm>
            <a:prstGeom prst="rect">
              <a:avLst/>
            </a:prstGeom>
            <a:noFill/>
            <a:ln w="3810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57353" name="Rectangle 24"/>
            <p:cNvSpPr/>
            <p:nvPr/>
          </p:nvSpPr>
          <p:spPr>
            <a:xfrm>
              <a:off x="1584" y="2112"/>
              <a:ext cx="336" cy="816"/>
            </a:xfrm>
            <a:prstGeom prst="rect">
              <a:avLst/>
            </a:prstGeom>
            <a:noFill/>
            <a:ln w="5715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546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12" fill="hold" nodeType="clickEffect">
                                  <p:stCondLst>
                                    <p:cond delay="0"/>
                                  </p:stCondLst>
                                  <p:childTnLst>
                                    <p:set>
                                      <p:cBhvr>
                                        <p:cTn id="10" dur="1" fill="hold">
                                          <p:stCondLst>
                                            <p:cond delay="0"/>
                                          </p:stCondLst>
                                        </p:cTn>
                                        <p:tgtEl>
                                          <p:spTgt spid="154643"/>
                                        </p:tgtEl>
                                        <p:attrNameLst>
                                          <p:attrName>style.visibility</p:attrName>
                                        </p:attrNameLst>
                                      </p:cBhvr>
                                      <p:to>
                                        <p:strVal val="visible"/>
                                      </p:to>
                                    </p:set>
                                    <p:animEffect transition="in" filter="strips(downLeft)">
                                      <p:cBhvr>
                                        <p:cTn id="11" dur="500"/>
                                        <p:tgtEl>
                                          <p:spTgt spid="154643"/>
                                        </p:tgtEl>
                                      </p:cBhvr>
                                    </p:animEffect>
                                  </p:childTnLst>
                                  <p:subTnLst>
                                    <p:set>
                                      <p:cBhvr override="childStyle">
                                        <p:cTn dur="1" fill="hold" display="0" masterRel="nextClick" afterEffect="1"/>
                                        <p:tgtEl>
                                          <p:spTgt spid="154643"/>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18" presetClass="entr" presetSubtype="12" fill="hold" nodeType="clickEffect">
                                  <p:stCondLst>
                                    <p:cond delay="0"/>
                                  </p:stCondLst>
                                  <p:childTnLst>
                                    <p:set>
                                      <p:cBhvr>
                                        <p:cTn id="15" dur="1" fill="hold">
                                          <p:stCondLst>
                                            <p:cond delay="0"/>
                                          </p:stCondLst>
                                        </p:cTn>
                                        <p:tgtEl>
                                          <p:spTgt spid="154646"/>
                                        </p:tgtEl>
                                        <p:attrNameLst>
                                          <p:attrName>style.visibility</p:attrName>
                                        </p:attrNameLst>
                                      </p:cBhvr>
                                      <p:to>
                                        <p:strVal val="visible"/>
                                      </p:to>
                                    </p:set>
                                    <p:animEffect transition="in" filter="strips(downLeft)">
                                      <p:cBhvr>
                                        <p:cTn id="16" dur="500"/>
                                        <p:tgtEl>
                                          <p:spTgt spid="154646"/>
                                        </p:tgtEl>
                                      </p:cBhvr>
                                    </p:animEffect>
                                  </p:childTnLst>
                                  <p:subTnLst>
                                    <p:set>
                                      <p:cBhvr override="childStyle">
                                        <p:cTn dur="1" fill="hold" display="0" masterRel="nextClick" afterEffect="1"/>
                                        <p:tgtEl>
                                          <p:spTgt spid="154646"/>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17" presetClass="entr" presetSubtype="1" fill="hold" nodeType="clickEffect">
                                  <p:stCondLst>
                                    <p:cond delay="0"/>
                                  </p:stCondLst>
                                  <p:childTnLst>
                                    <p:set>
                                      <p:cBhvr>
                                        <p:cTn id="20" dur="1" fill="hold">
                                          <p:stCondLst>
                                            <p:cond delay="0"/>
                                          </p:stCondLst>
                                        </p:cTn>
                                        <p:tgtEl>
                                          <p:spTgt spid="154649"/>
                                        </p:tgtEl>
                                        <p:attrNameLst>
                                          <p:attrName>style.visibility</p:attrName>
                                        </p:attrNameLst>
                                      </p:cBhvr>
                                      <p:to>
                                        <p:strVal val="visible"/>
                                      </p:to>
                                    </p:set>
                                    <p:anim calcmode="lin" valueType="num">
                                      <p:cBhvr>
                                        <p:cTn id="21" dur="500" fill="hold"/>
                                        <p:tgtEl>
                                          <p:spTgt spid="154649"/>
                                        </p:tgtEl>
                                        <p:attrNameLst>
                                          <p:attrName>ppt_x</p:attrName>
                                        </p:attrNameLst>
                                      </p:cBhvr>
                                      <p:tavLst>
                                        <p:tav tm="0">
                                          <p:val>
                                            <p:strVal val="#ppt_x"/>
                                          </p:val>
                                        </p:tav>
                                        <p:tav tm="100000">
                                          <p:val>
                                            <p:strVal val="#ppt_x"/>
                                          </p:val>
                                        </p:tav>
                                      </p:tavLst>
                                    </p:anim>
                                    <p:anim calcmode="lin" valueType="num">
                                      <p:cBhvr>
                                        <p:cTn id="22" dur="500" fill="hold"/>
                                        <p:tgtEl>
                                          <p:spTgt spid="154649"/>
                                        </p:tgtEl>
                                        <p:attrNameLst>
                                          <p:attrName>ppt_y</p:attrName>
                                        </p:attrNameLst>
                                      </p:cBhvr>
                                      <p:tavLst>
                                        <p:tav tm="0">
                                          <p:val>
                                            <p:strVal val="#ppt_y-#ppt_h/2"/>
                                          </p:val>
                                        </p:tav>
                                        <p:tav tm="100000">
                                          <p:val>
                                            <p:strVal val="#ppt_y"/>
                                          </p:val>
                                        </p:tav>
                                      </p:tavLst>
                                    </p:anim>
                                    <p:anim calcmode="lin" valueType="num">
                                      <p:cBhvr>
                                        <p:cTn id="23" dur="500" fill="hold"/>
                                        <p:tgtEl>
                                          <p:spTgt spid="154649"/>
                                        </p:tgtEl>
                                        <p:attrNameLst>
                                          <p:attrName>ppt_w</p:attrName>
                                        </p:attrNameLst>
                                      </p:cBhvr>
                                      <p:tavLst>
                                        <p:tav tm="0">
                                          <p:val>
                                            <p:strVal val="#ppt_w"/>
                                          </p:val>
                                        </p:tav>
                                        <p:tav tm="100000">
                                          <p:val>
                                            <p:strVal val="#ppt_w"/>
                                          </p:val>
                                        </p:tav>
                                      </p:tavLst>
                                    </p:anim>
                                    <p:anim calcmode="lin" valueType="num">
                                      <p:cBhvr>
                                        <p:cTn id="24" dur="500" fill="hold"/>
                                        <p:tgtEl>
                                          <p:spTgt spid="154649"/>
                                        </p:tgtEl>
                                        <p:attrNameLst>
                                          <p:attrName>ppt_h</p:attrName>
                                        </p:attrNameLst>
                                      </p:cBhvr>
                                      <p:tavLst>
                                        <p:tav tm="0">
                                          <p:val>
                                            <p:fltVal val="0.000000"/>
                                          </p:val>
                                        </p:tav>
                                        <p:tav tm="100000">
                                          <p:val>
                                            <p:strVal val="#ppt_h"/>
                                          </p:val>
                                        </p:tav>
                                      </p:tavLst>
                                    </p:anim>
                                  </p:childTnLst>
                                  <p:subTnLst>
                                    <p:set>
                                      <p:cBhvr override="childStyle">
                                        <p:cTn dur="1" fill="hold" display="0" masterRel="nextClick" afterEffect="1"/>
                                        <p:tgtEl>
                                          <p:spTgt spid="15464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Text Box 15"/>
          <p:cNvSpPr txBox="1"/>
          <p:nvPr/>
        </p:nvSpPr>
        <p:spPr>
          <a:xfrm>
            <a:off x="152400" y="152400"/>
            <a:ext cx="7239000" cy="533400"/>
          </a:xfrm>
          <a:prstGeom prst="rect">
            <a:avLst/>
          </a:prstGeom>
          <a:noFill/>
          <a:ln w="9525">
            <a:noFill/>
          </a:ln>
        </p:spPr>
        <p:txBody>
          <a:bodyPr>
            <a:spAutoFit/>
          </a:bodyPr>
          <a:p>
            <a:pPr algn="just" eaLnBrk="1" hangingPunct="1">
              <a:spcAft>
                <a:spcPts val="600"/>
              </a:spcAft>
            </a:pPr>
            <a:r>
              <a:rPr lang="zh-CN" altLang="en-US" sz="2400" b="1" dirty="0">
                <a:latin typeface="黑体" panose="02010609060101010101" pitchFamily="2" charset="-122"/>
                <a:ea typeface="黑体" panose="02010609060101010101" pitchFamily="2" charset="-122"/>
              </a:rPr>
              <a:t>二、</a:t>
            </a:r>
            <a:r>
              <a:rPr lang="en-US" altLang="zh-CN" sz="2400" b="1" dirty="0">
                <a:latin typeface="黑体" panose="02010609060101010101" pitchFamily="2" charset="-122"/>
                <a:ea typeface="黑体" panose="02010609060101010101" pitchFamily="2" charset="-122"/>
              </a:rPr>
              <a:t>EPM7128S</a:t>
            </a:r>
            <a:r>
              <a:rPr lang="zh-CN" altLang="en-US" sz="2400" b="1" dirty="0">
                <a:latin typeface="黑体" panose="02010609060101010101" pitchFamily="2" charset="-122"/>
                <a:ea typeface="黑体" panose="02010609060101010101" pitchFamily="2" charset="-122"/>
              </a:rPr>
              <a:t>的特点</a:t>
            </a:r>
            <a:endParaRPr lang="zh-CN" altLang="en-US" sz="2400" dirty="0">
              <a:latin typeface="Times New Roman" panose="02020603050405020304" pitchFamily="18" charset="0"/>
            </a:endParaRPr>
          </a:p>
        </p:txBody>
      </p:sp>
      <p:sp>
        <p:nvSpPr>
          <p:cNvPr id="155664" name="Text Box 16"/>
          <p:cNvSpPr txBox="1"/>
          <p:nvPr/>
        </p:nvSpPr>
        <p:spPr>
          <a:xfrm>
            <a:off x="228600" y="762000"/>
            <a:ext cx="8153400" cy="457200"/>
          </a:xfrm>
          <a:prstGeom prst="rect">
            <a:avLst/>
          </a:prstGeom>
          <a:noFill/>
          <a:ln w="9525">
            <a:noFill/>
          </a:ln>
        </p:spPr>
        <p:txBody>
          <a:bodyPr>
            <a:spAutoFit/>
          </a:bodyPr>
          <a:p>
            <a:pPr eaLnBrk="1" hangingPunct="1"/>
            <a:r>
              <a:rPr lang="zh-CN" altLang="en-US" sz="2400" b="1" dirty="0">
                <a:latin typeface="Times New Roman" panose="02020603050405020304" pitchFamily="18" charset="0"/>
              </a:rPr>
              <a:t>（一）高集成密度</a:t>
            </a: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55665" name="Text Box 17"/>
          <p:cNvSpPr txBox="1"/>
          <p:nvPr/>
        </p:nvSpPr>
        <p:spPr>
          <a:xfrm>
            <a:off x="228600" y="1524000"/>
            <a:ext cx="8610600" cy="457200"/>
          </a:xfrm>
          <a:prstGeom prst="rect">
            <a:avLst/>
          </a:prstGeom>
          <a:noFill/>
          <a:ln w="9525">
            <a:noFill/>
          </a:ln>
        </p:spPr>
        <p:txBody>
          <a:bodyPr>
            <a:spAutoFit/>
          </a:bodyPr>
          <a:p>
            <a:pPr algn="just" eaLnBrk="1" hangingPunct="1"/>
            <a:r>
              <a:rPr lang="zh-CN" altLang="en-US" sz="2400" b="1" dirty="0">
                <a:latin typeface="Times New Roman" panose="02020603050405020304" pitchFamily="18" charset="0"/>
              </a:rPr>
              <a:t>（二）速度高、低功耗、抗噪声容限较大</a:t>
            </a: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55666" name="Text Box 18"/>
          <p:cNvSpPr txBox="1"/>
          <p:nvPr/>
        </p:nvSpPr>
        <p:spPr>
          <a:xfrm>
            <a:off x="228600" y="2362200"/>
            <a:ext cx="8610600" cy="457200"/>
          </a:xfrm>
          <a:prstGeom prst="rect">
            <a:avLst/>
          </a:prstGeom>
          <a:noFill/>
          <a:ln w="9525">
            <a:noFill/>
          </a:ln>
        </p:spPr>
        <p:txBody>
          <a:bodyPr>
            <a:spAutoFit/>
          </a:bodyPr>
          <a:p>
            <a:pPr algn="just" eaLnBrk="1" hangingPunct="1"/>
            <a:r>
              <a:rPr lang="zh-CN" altLang="en-US" sz="2400" b="1" dirty="0">
                <a:latin typeface="Times New Roman" panose="02020603050405020304" pitchFamily="18" charset="0"/>
              </a:rPr>
              <a:t>（三）在系统编程能力</a:t>
            </a: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55668" name="Text Box 20"/>
          <p:cNvSpPr txBox="1"/>
          <p:nvPr/>
        </p:nvSpPr>
        <p:spPr>
          <a:xfrm>
            <a:off x="228600" y="3124200"/>
            <a:ext cx="8610600" cy="457200"/>
          </a:xfrm>
          <a:prstGeom prst="rect">
            <a:avLst/>
          </a:prstGeom>
          <a:noFill/>
          <a:ln w="9525">
            <a:noFill/>
          </a:ln>
        </p:spPr>
        <p:txBody>
          <a:bodyPr>
            <a:spAutoFit/>
          </a:bodyPr>
          <a:p>
            <a:pPr algn="just" eaLnBrk="1" hangingPunct="1"/>
            <a:r>
              <a:rPr lang="zh-CN" altLang="en-US" sz="2400" b="1" dirty="0">
                <a:latin typeface="Times New Roman" panose="02020603050405020304" pitchFamily="18" charset="0"/>
              </a:rPr>
              <a:t>（四）可测试性能力</a:t>
            </a: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55669" name="Text Box 21"/>
          <p:cNvSpPr txBox="1"/>
          <p:nvPr/>
        </p:nvSpPr>
        <p:spPr>
          <a:xfrm>
            <a:off x="228600" y="3886200"/>
            <a:ext cx="8610600" cy="457200"/>
          </a:xfrm>
          <a:prstGeom prst="rect">
            <a:avLst/>
          </a:prstGeom>
          <a:noFill/>
          <a:ln w="9525">
            <a:noFill/>
          </a:ln>
        </p:spPr>
        <p:txBody>
          <a:bodyPr>
            <a:spAutoFit/>
          </a:bodyPr>
          <a:p>
            <a:pPr algn="just" eaLnBrk="1" hangingPunct="1"/>
            <a:r>
              <a:rPr lang="zh-CN" altLang="en-US" sz="2400" b="1" dirty="0">
                <a:latin typeface="Times New Roman" panose="02020603050405020304" pitchFamily="18" charset="0"/>
              </a:rPr>
              <a:t>（五）线或功能</a:t>
            </a: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55670" name="Text Box 22"/>
          <p:cNvSpPr txBox="1"/>
          <p:nvPr/>
        </p:nvSpPr>
        <p:spPr>
          <a:xfrm>
            <a:off x="228600" y="4648200"/>
            <a:ext cx="8610600" cy="457200"/>
          </a:xfrm>
          <a:prstGeom prst="rect">
            <a:avLst/>
          </a:prstGeom>
          <a:noFill/>
          <a:ln w="9525">
            <a:noFill/>
          </a:ln>
        </p:spPr>
        <p:txBody>
          <a:bodyPr>
            <a:spAutoFit/>
          </a:bodyPr>
          <a:p>
            <a:pPr algn="just" eaLnBrk="1" hangingPunct="1"/>
            <a:r>
              <a:rPr lang="zh-CN" altLang="en-US" sz="2400" b="1" dirty="0">
                <a:latin typeface="Times New Roman" panose="02020603050405020304" pitchFamily="18" charset="0"/>
              </a:rPr>
              <a:t>（六）异步时钟、异步清除功能</a:t>
            </a: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55671" name="Text Box 23"/>
          <p:cNvSpPr txBox="1"/>
          <p:nvPr/>
        </p:nvSpPr>
        <p:spPr>
          <a:xfrm>
            <a:off x="228600" y="5334000"/>
            <a:ext cx="5105400" cy="457200"/>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（七）单片多系统能力；</a:t>
            </a:r>
            <a:endParaRPr lang="zh-CN" altLang="en-US" sz="2400" b="1" dirty="0">
              <a:latin typeface="Times New Roman" panose="02020603050405020304" pitchFamily="18" charset="0"/>
            </a:endParaRPr>
          </a:p>
        </p:txBody>
      </p:sp>
      <p:sp>
        <p:nvSpPr>
          <p:cNvPr id="155672" name="Text Box 24"/>
          <p:cNvSpPr txBox="1"/>
          <p:nvPr/>
        </p:nvSpPr>
        <p:spPr>
          <a:xfrm>
            <a:off x="228600" y="5943600"/>
            <a:ext cx="5410200" cy="457200"/>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（八）很强的加密能力</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5664"/>
                                        </p:tgtEl>
                                        <p:attrNameLst>
                                          <p:attrName>style.visibility</p:attrName>
                                        </p:attrNameLst>
                                      </p:cBhvr>
                                      <p:to>
                                        <p:strVal val="visible"/>
                                      </p:to>
                                    </p:set>
                                    <p:anim calcmode="lin" valueType="num">
                                      <p:cBhvr additive="base">
                                        <p:cTn id="7" dur="500" fill="hold"/>
                                        <p:tgtEl>
                                          <p:spTgt spid="155664"/>
                                        </p:tgtEl>
                                        <p:attrNameLst>
                                          <p:attrName>ppt_x</p:attrName>
                                        </p:attrNameLst>
                                      </p:cBhvr>
                                      <p:tavLst>
                                        <p:tav tm="0">
                                          <p:val>
                                            <p:strVal val="1+#ppt_w/2"/>
                                          </p:val>
                                        </p:tav>
                                        <p:tav tm="100000">
                                          <p:val>
                                            <p:strVal val="#ppt_x"/>
                                          </p:val>
                                        </p:tav>
                                      </p:tavLst>
                                    </p:anim>
                                    <p:anim calcmode="lin" valueType="num">
                                      <p:cBhvr additive="base">
                                        <p:cTn id="8" dur="500" fill="hold"/>
                                        <p:tgtEl>
                                          <p:spTgt spid="1556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5665"/>
                                        </p:tgtEl>
                                        <p:attrNameLst>
                                          <p:attrName>style.visibility</p:attrName>
                                        </p:attrNameLst>
                                      </p:cBhvr>
                                      <p:to>
                                        <p:strVal val="visible"/>
                                      </p:to>
                                    </p:set>
                                    <p:anim calcmode="lin" valueType="num">
                                      <p:cBhvr additive="base">
                                        <p:cTn id="13" dur="500" fill="hold"/>
                                        <p:tgtEl>
                                          <p:spTgt spid="155665"/>
                                        </p:tgtEl>
                                        <p:attrNameLst>
                                          <p:attrName>ppt_x</p:attrName>
                                        </p:attrNameLst>
                                      </p:cBhvr>
                                      <p:tavLst>
                                        <p:tav tm="0">
                                          <p:val>
                                            <p:strVal val="1+#ppt_w/2"/>
                                          </p:val>
                                        </p:tav>
                                        <p:tav tm="100000">
                                          <p:val>
                                            <p:strVal val="#ppt_x"/>
                                          </p:val>
                                        </p:tav>
                                      </p:tavLst>
                                    </p:anim>
                                    <p:anim calcmode="lin" valueType="num">
                                      <p:cBhvr additive="base">
                                        <p:cTn id="14" dur="500" fill="hold"/>
                                        <p:tgtEl>
                                          <p:spTgt spid="15566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55666"/>
                                        </p:tgtEl>
                                        <p:attrNameLst>
                                          <p:attrName>style.visibility</p:attrName>
                                        </p:attrNameLst>
                                      </p:cBhvr>
                                      <p:to>
                                        <p:strVal val="visible"/>
                                      </p:to>
                                    </p:set>
                                    <p:anim calcmode="lin" valueType="num">
                                      <p:cBhvr additive="base">
                                        <p:cTn id="19" dur="500" fill="hold"/>
                                        <p:tgtEl>
                                          <p:spTgt spid="155666"/>
                                        </p:tgtEl>
                                        <p:attrNameLst>
                                          <p:attrName>ppt_x</p:attrName>
                                        </p:attrNameLst>
                                      </p:cBhvr>
                                      <p:tavLst>
                                        <p:tav tm="0">
                                          <p:val>
                                            <p:strVal val="1+#ppt_w/2"/>
                                          </p:val>
                                        </p:tav>
                                        <p:tav tm="100000">
                                          <p:val>
                                            <p:strVal val="#ppt_x"/>
                                          </p:val>
                                        </p:tav>
                                      </p:tavLst>
                                    </p:anim>
                                    <p:anim calcmode="lin" valueType="num">
                                      <p:cBhvr additive="base">
                                        <p:cTn id="20" dur="500" fill="hold"/>
                                        <p:tgtEl>
                                          <p:spTgt spid="15566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55668"/>
                                        </p:tgtEl>
                                        <p:attrNameLst>
                                          <p:attrName>style.visibility</p:attrName>
                                        </p:attrNameLst>
                                      </p:cBhvr>
                                      <p:to>
                                        <p:strVal val="visible"/>
                                      </p:to>
                                    </p:set>
                                    <p:anim calcmode="lin" valueType="num">
                                      <p:cBhvr additive="base">
                                        <p:cTn id="25" dur="500" fill="hold"/>
                                        <p:tgtEl>
                                          <p:spTgt spid="155668"/>
                                        </p:tgtEl>
                                        <p:attrNameLst>
                                          <p:attrName>ppt_x</p:attrName>
                                        </p:attrNameLst>
                                      </p:cBhvr>
                                      <p:tavLst>
                                        <p:tav tm="0">
                                          <p:val>
                                            <p:strVal val="1+#ppt_w/2"/>
                                          </p:val>
                                        </p:tav>
                                        <p:tav tm="100000">
                                          <p:val>
                                            <p:strVal val="#ppt_x"/>
                                          </p:val>
                                        </p:tav>
                                      </p:tavLst>
                                    </p:anim>
                                    <p:anim calcmode="lin" valueType="num">
                                      <p:cBhvr additive="base">
                                        <p:cTn id="26" dur="500" fill="hold"/>
                                        <p:tgtEl>
                                          <p:spTgt spid="15566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55669"/>
                                        </p:tgtEl>
                                        <p:attrNameLst>
                                          <p:attrName>style.visibility</p:attrName>
                                        </p:attrNameLst>
                                      </p:cBhvr>
                                      <p:to>
                                        <p:strVal val="visible"/>
                                      </p:to>
                                    </p:set>
                                    <p:anim calcmode="lin" valueType="num">
                                      <p:cBhvr additive="base">
                                        <p:cTn id="31" dur="500" fill="hold"/>
                                        <p:tgtEl>
                                          <p:spTgt spid="155669"/>
                                        </p:tgtEl>
                                        <p:attrNameLst>
                                          <p:attrName>ppt_x</p:attrName>
                                        </p:attrNameLst>
                                      </p:cBhvr>
                                      <p:tavLst>
                                        <p:tav tm="0">
                                          <p:val>
                                            <p:strVal val="1+#ppt_w/2"/>
                                          </p:val>
                                        </p:tav>
                                        <p:tav tm="100000">
                                          <p:val>
                                            <p:strVal val="#ppt_x"/>
                                          </p:val>
                                        </p:tav>
                                      </p:tavLst>
                                    </p:anim>
                                    <p:anim calcmode="lin" valueType="num">
                                      <p:cBhvr additive="base">
                                        <p:cTn id="32" dur="500" fill="hold"/>
                                        <p:tgtEl>
                                          <p:spTgt spid="15566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55670"/>
                                        </p:tgtEl>
                                        <p:attrNameLst>
                                          <p:attrName>style.visibility</p:attrName>
                                        </p:attrNameLst>
                                      </p:cBhvr>
                                      <p:to>
                                        <p:strVal val="visible"/>
                                      </p:to>
                                    </p:set>
                                    <p:anim calcmode="lin" valueType="num">
                                      <p:cBhvr additive="base">
                                        <p:cTn id="37" dur="500" fill="hold"/>
                                        <p:tgtEl>
                                          <p:spTgt spid="155670"/>
                                        </p:tgtEl>
                                        <p:attrNameLst>
                                          <p:attrName>ppt_x</p:attrName>
                                        </p:attrNameLst>
                                      </p:cBhvr>
                                      <p:tavLst>
                                        <p:tav tm="0">
                                          <p:val>
                                            <p:strVal val="1+#ppt_w/2"/>
                                          </p:val>
                                        </p:tav>
                                        <p:tav tm="100000">
                                          <p:val>
                                            <p:strVal val="#ppt_x"/>
                                          </p:val>
                                        </p:tav>
                                      </p:tavLst>
                                    </p:anim>
                                    <p:anim calcmode="lin" valueType="num">
                                      <p:cBhvr additive="base">
                                        <p:cTn id="38" dur="500" fill="hold"/>
                                        <p:tgtEl>
                                          <p:spTgt spid="15567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55671"/>
                                        </p:tgtEl>
                                        <p:attrNameLst>
                                          <p:attrName>style.visibility</p:attrName>
                                        </p:attrNameLst>
                                      </p:cBhvr>
                                      <p:to>
                                        <p:strVal val="visible"/>
                                      </p:to>
                                    </p:set>
                                    <p:anim calcmode="lin" valueType="num">
                                      <p:cBhvr additive="base">
                                        <p:cTn id="43" dur="500" fill="hold"/>
                                        <p:tgtEl>
                                          <p:spTgt spid="155671"/>
                                        </p:tgtEl>
                                        <p:attrNameLst>
                                          <p:attrName>ppt_x</p:attrName>
                                        </p:attrNameLst>
                                      </p:cBhvr>
                                      <p:tavLst>
                                        <p:tav tm="0">
                                          <p:val>
                                            <p:strVal val="1+#ppt_w/2"/>
                                          </p:val>
                                        </p:tav>
                                        <p:tav tm="100000">
                                          <p:val>
                                            <p:strVal val="#ppt_x"/>
                                          </p:val>
                                        </p:tav>
                                      </p:tavLst>
                                    </p:anim>
                                    <p:anim calcmode="lin" valueType="num">
                                      <p:cBhvr additive="base">
                                        <p:cTn id="44" dur="500" fill="hold"/>
                                        <p:tgtEl>
                                          <p:spTgt spid="15567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55672"/>
                                        </p:tgtEl>
                                        <p:attrNameLst>
                                          <p:attrName>style.visibility</p:attrName>
                                        </p:attrNameLst>
                                      </p:cBhvr>
                                      <p:to>
                                        <p:strVal val="visible"/>
                                      </p:to>
                                    </p:set>
                                    <p:anim calcmode="lin" valueType="num">
                                      <p:cBhvr additive="base">
                                        <p:cTn id="49" dur="500" fill="hold"/>
                                        <p:tgtEl>
                                          <p:spTgt spid="155672"/>
                                        </p:tgtEl>
                                        <p:attrNameLst>
                                          <p:attrName>ppt_x</p:attrName>
                                        </p:attrNameLst>
                                      </p:cBhvr>
                                      <p:tavLst>
                                        <p:tav tm="0">
                                          <p:val>
                                            <p:strVal val="1+#ppt_w/2"/>
                                          </p:val>
                                        </p:tav>
                                        <p:tav tm="100000">
                                          <p:val>
                                            <p:strVal val="#ppt_x"/>
                                          </p:val>
                                        </p:tav>
                                      </p:tavLst>
                                    </p:anim>
                                    <p:anim calcmode="lin" valueType="num">
                                      <p:cBhvr additive="base">
                                        <p:cTn id="50" dur="500" fill="hold"/>
                                        <p:tgtEl>
                                          <p:spTgt spid="1556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64" grpId="0"/>
      <p:bldP spid="155665" grpId="0"/>
      <p:bldP spid="155666" grpId="0"/>
      <p:bldP spid="155668" grpId="0"/>
      <p:bldP spid="155669" grpId="0"/>
      <p:bldP spid="155670" grpId="0"/>
      <p:bldP spid="155671" grpId="0"/>
      <p:bldP spid="15567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10"/>
          <p:cNvSpPr>
            <a:spLocks noGrp="1"/>
          </p:cNvSpPr>
          <p:nvPr>
            <p:ph type="title"/>
          </p:nvPr>
        </p:nvSpPr>
        <p:spPr>
          <a:xfrm>
            <a:off x="533400" y="381000"/>
            <a:ext cx="8153400" cy="1143000"/>
          </a:xfrm>
          <a:solidFill>
            <a:srgbClr val="FF0066">
              <a:alpha val="100000"/>
            </a:srgbClr>
          </a:solidFill>
          <a:ln>
            <a:miter/>
          </a:ln>
          <a:scene3d>
            <a:camera prst="legacyObliqueBottomLeft">
              <a:rot lat="0" lon="0" rev="0"/>
            </a:camera>
            <a:lightRig rig="legacyFlat3" dir="t"/>
          </a:scene3d>
          <a:sp3d extrusionH="430200" prstMaterial="legacyMatte">
            <a:bevelT w="13500" h="13500" prst="angle"/>
            <a:bevelB w="13500" h="13500" prst="angle"/>
            <a:extrusionClr>
              <a:srgbClr val="FF0066"/>
            </a:extrusionClr>
          </a:sp3d>
        </p:spPr>
        <p:txBody>
          <a:bodyPr vert="horz" wrap="square" lIns="91440" tIns="45720" rIns="91440" bIns="45720" anchor="ctr" anchorCtr="0">
            <a:flatTx/>
          </a:bodyPr>
          <a:p>
            <a:pPr eaLnBrk="1" hangingPunct="1"/>
            <a:r>
              <a:rPr lang="en-US" altLang="zh-CN" b="1" dirty="0">
                <a:solidFill>
                  <a:srgbClr val="FFFF66"/>
                </a:solidFill>
              </a:rPr>
              <a:t>§8-6</a:t>
            </a:r>
            <a:r>
              <a:rPr lang="en-US" altLang="zh-CN" b="1" dirty="0">
                <a:solidFill>
                  <a:srgbClr val="FFCC00"/>
                </a:solidFill>
              </a:rPr>
              <a:t>    </a:t>
            </a:r>
            <a:r>
              <a:rPr lang="zh-CN" altLang="en-US" b="1" dirty="0">
                <a:solidFill>
                  <a:srgbClr val="FFFF66"/>
                </a:solidFill>
              </a:rPr>
              <a:t>现场可编程门阵列</a:t>
            </a:r>
            <a:r>
              <a:rPr lang="en-US" altLang="zh-CN" b="1" dirty="0">
                <a:solidFill>
                  <a:srgbClr val="FFFF66"/>
                </a:solidFill>
              </a:rPr>
              <a:t>FPGA</a:t>
            </a:r>
            <a:endParaRPr lang="en-US" altLang="zh-CN" b="1" dirty="0">
              <a:solidFill>
                <a:srgbClr val="FFFF99"/>
              </a:solidFill>
            </a:endParaRPr>
          </a:p>
        </p:txBody>
      </p:sp>
      <p:sp>
        <p:nvSpPr>
          <p:cNvPr id="156683" name="Text Box 11"/>
          <p:cNvSpPr txBox="1"/>
          <p:nvPr/>
        </p:nvSpPr>
        <p:spPr>
          <a:xfrm>
            <a:off x="381000" y="1981200"/>
            <a:ext cx="8229600" cy="822325"/>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        </a:t>
            </a:r>
            <a:r>
              <a:rPr lang="zh-CN" altLang="en-US" sz="2400" b="1" dirty="0">
                <a:latin typeface="Times New Roman" panose="02020603050405020304" pitchFamily="18" charset="0"/>
              </a:rPr>
              <a:t>前面讨论的可编程逻辑器件基本组成部分是与阵列、或阵列和输出电路。再加上触发器则可实现时序电路</a:t>
            </a:r>
            <a:endParaRPr lang="zh-CN" altLang="en-US" sz="2400" b="1" dirty="0">
              <a:latin typeface="Times New Roman" panose="02020603050405020304" pitchFamily="18" charset="0"/>
            </a:endParaRPr>
          </a:p>
        </p:txBody>
      </p:sp>
      <p:sp>
        <p:nvSpPr>
          <p:cNvPr id="156684" name="Text Box 12"/>
          <p:cNvSpPr txBox="1"/>
          <p:nvPr/>
        </p:nvSpPr>
        <p:spPr>
          <a:xfrm>
            <a:off x="381000" y="2971800"/>
            <a:ext cx="8077200" cy="118745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        </a:t>
            </a:r>
            <a:r>
              <a:rPr lang="zh-CN" altLang="en-US" sz="2400" b="1" dirty="0">
                <a:latin typeface="Times New Roman" panose="02020603050405020304" pitchFamily="18" charset="0"/>
              </a:rPr>
              <a:t>本节介绍的</a:t>
            </a:r>
            <a:r>
              <a:rPr lang="en-US" altLang="zh-CN" sz="2400" b="1" dirty="0">
                <a:latin typeface="Times New Roman" panose="02020603050405020304" pitchFamily="18" charset="0"/>
              </a:rPr>
              <a:t>FPGA</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Field Programmable Gate Array</a:t>
            </a:r>
            <a:r>
              <a:rPr lang="zh-CN" altLang="en-US" sz="2400" b="1" dirty="0">
                <a:latin typeface="Times New Roman" panose="02020603050405020304" pitchFamily="18" charset="0"/>
              </a:rPr>
              <a:t>）不像</a:t>
            </a:r>
            <a:r>
              <a:rPr lang="en-US" altLang="zh-CN" sz="2400" b="1" dirty="0">
                <a:latin typeface="Times New Roman" panose="02020603050405020304" pitchFamily="18" charset="0"/>
              </a:rPr>
              <a:t>PLD</a:t>
            </a:r>
            <a:r>
              <a:rPr lang="zh-CN" altLang="en-US" sz="2400" b="1" dirty="0">
                <a:latin typeface="Times New Roman" panose="02020603050405020304" pitchFamily="18" charset="0"/>
              </a:rPr>
              <a:t>那样受结构的限制，它可以靠门与门的连接来实现任何复杂的逻辑电路，更适合实现多级逻辑功能。</a:t>
            </a:r>
            <a:endParaRPr lang="zh-CN" altLang="en-US" sz="2400" b="1" dirty="0">
              <a:latin typeface="Times New Roman" panose="02020603050405020304" pitchFamily="18" charset="0"/>
            </a:endParaRPr>
          </a:p>
        </p:txBody>
      </p:sp>
      <p:sp>
        <p:nvSpPr>
          <p:cNvPr id="156685" name="Text Box 13"/>
          <p:cNvSpPr txBox="1"/>
          <p:nvPr/>
        </p:nvSpPr>
        <p:spPr>
          <a:xfrm>
            <a:off x="609600" y="4572000"/>
            <a:ext cx="7848600" cy="118745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        </a:t>
            </a:r>
            <a:r>
              <a:rPr lang="zh-CN" altLang="en-US" sz="2400" b="1" dirty="0">
                <a:latin typeface="Times New Roman" panose="02020603050405020304" pitchFamily="18" charset="0"/>
              </a:rPr>
              <a:t>陆续推出了新型的现场可编程门阵列</a:t>
            </a:r>
            <a:r>
              <a:rPr lang="en-US" altLang="zh-CN" sz="2400" b="1" dirty="0">
                <a:latin typeface="Times New Roman" panose="02020603050405020304" pitchFamily="18" charset="0"/>
              </a:rPr>
              <a:t>FPGA</a:t>
            </a:r>
            <a:r>
              <a:rPr lang="zh-CN" altLang="en-US" sz="2400" b="1" dirty="0">
                <a:latin typeface="Times New Roman" panose="02020603050405020304" pitchFamily="18" charset="0"/>
              </a:rPr>
              <a:t>。功能更加丰富，具有基本逻辑门电路、传输外部信号的输入</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输出电路和可编程内连资源之外，还具有很高的密度等等。</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6683"/>
                                        </p:tgtEl>
                                        <p:attrNameLst>
                                          <p:attrName>style.visibility</p:attrName>
                                        </p:attrNameLst>
                                      </p:cBhvr>
                                      <p:to>
                                        <p:strVal val="visible"/>
                                      </p:to>
                                    </p:set>
                                    <p:anim calcmode="lin" valueType="num">
                                      <p:cBhvr additive="base">
                                        <p:cTn id="7" dur="500" fill="hold"/>
                                        <p:tgtEl>
                                          <p:spTgt spid="156683"/>
                                        </p:tgtEl>
                                        <p:attrNameLst>
                                          <p:attrName>ppt_x</p:attrName>
                                        </p:attrNameLst>
                                      </p:cBhvr>
                                      <p:tavLst>
                                        <p:tav tm="0">
                                          <p:val>
                                            <p:strVal val="1+#ppt_w/2"/>
                                          </p:val>
                                        </p:tav>
                                        <p:tav tm="100000">
                                          <p:val>
                                            <p:strVal val="#ppt_x"/>
                                          </p:val>
                                        </p:tav>
                                      </p:tavLst>
                                    </p:anim>
                                    <p:anim calcmode="lin" valueType="num">
                                      <p:cBhvr additive="base">
                                        <p:cTn id="8" dur="500" fill="hold"/>
                                        <p:tgtEl>
                                          <p:spTgt spid="1566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6684"/>
                                        </p:tgtEl>
                                        <p:attrNameLst>
                                          <p:attrName>style.visibility</p:attrName>
                                        </p:attrNameLst>
                                      </p:cBhvr>
                                      <p:to>
                                        <p:strVal val="visible"/>
                                      </p:to>
                                    </p:set>
                                    <p:anim calcmode="lin" valueType="num">
                                      <p:cBhvr additive="base">
                                        <p:cTn id="13" dur="500" fill="hold"/>
                                        <p:tgtEl>
                                          <p:spTgt spid="156684"/>
                                        </p:tgtEl>
                                        <p:attrNameLst>
                                          <p:attrName>ppt_x</p:attrName>
                                        </p:attrNameLst>
                                      </p:cBhvr>
                                      <p:tavLst>
                                        <p:tav tm="0">
                                          <p:val>
                                            <p:strVal val="1+#ppt_w/2"/>
                                          </p:val>
                                        </p:tav>
                                        <p:tav tm="100000">
                                          <p:val>
                                            <p:strVal val="#ppt_x"/>
                                          </p:val>
                                        </p:tav>
                                      </p:tavLst>
                                    </p:anim>
                                    <p:anim calcmode="lin" valueType="num">
                                      <p:cBhvr additive="base">
                                        <p:cTn id="14" dur="500" fill="hold"/>
                                        <p:tgtEl>
                                          <p:spTgt spid="15668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56685"/>
                                        </p:tgtEl>
                                        <p:attrNameLst>
                                          <p:attrName>style.visibility</p:attrName>
                                        </p:attrNameLst>
                                      </p:cBhvr>
                                      <p:to>
                                        <p:strVal val="visible"/>
                                      </p:to>
                                    </p:set>
                                    <p:anim calcmode="lin" valueType="num">
                                      <p:cBhvr additive="base">
                                        <p:cTn id="19" dur="500" fill="hold"/>
                                        <p:tgtEl>
                                          <p:spTgt spid="156685"/>
                                        </p:tgtEl>
                                        <p:attrNameLst>
                                          <p:attrName>ppt_x</p:attrName>
                                        </p:attrNameLst>
                                      </p:cBhvr>
                                      <p:tavLst>
                                        <p:tav tm="0">
                                          <p:val>
                                            <p:strVal val="1+#ppt_w/2"/>
                                          </p:val>
                                        </p:tav>
                                        <p:tav tm="100000">
                                          <p:val>
                                            <p:strVal val="#ppt_x"/>
                                          </p:val>
                                        </p:tav>
                                      </p:tavLst>
                                    </p:anim>
                                    <p:anim calcmode="lin" valueType="num">
                                      <p:cBhvr additive="base">
                                        <p:cTn id="20" dur="500" fill="hold"/>
                                        <p:tgtEl>
                                          <p:spTgt spid="1566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83" grpId="0"/>
      <p:bldP spid="156684" grpId="0"/>
      <p:bldP spid="15668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Text Box 8"/>
          <p:cNvSpPr txBox="1"/>
          <p:nvPr/>
        </p:nvSpPr>
        <p:spPr>
          <a:xfrm>
            <a:off x="152400" y="152400"/>
            <a:ext cx="7696200" cy="533400"/>
          </a:xfrm>
          <a:prstGeom prst="rect">
            <a:avLst/>
          </a:prstGeom>
          <a:noFill/>
          <a:ln w="9525">
            <a:noFill/>
          </a:ln>
        </p:spPr>
        <p:txBody>
          <a:bodyPr>
            <a:spAutoFit/>
          </a:bodyPr>
          <a:p>
            <a:pPr algn="just" eaLnBrk="1" hangingPunct="1">
              <a:spcAft>
                <a:spcPts val="600"/>
              </a:spcAft>
            </a:pPr>
            <a:r>
              <a:rPr lang="zh-CN" altLang="en-US" sz="2400" b="1" dirty="0">
                <a:latin typeface="黑体" panose="02010609060101010101" pitchFamily="2" charset="-122"/>
                <a:ea typeface="黑体" panose="02010609060101010101" pitchFamily="2" charset="-122"/>
              </a:rPr>
              <a:t>一、现场可编程门阵列</a:t>
            </a:r>
            <a:r>
              <a:rPr lang="en-US" altLang="zh-CN" sz="2400" b="1" dirty="0">
                <a:latin typeface="黑体" panose="02010609060101010101" pitchFamily="2" charset="-122"/>
                <a:ea typeface="黑体" panose="02010609060101010101" pitchFamily="2" charset="-122"/>
              </a:rPr>
              <a:t>FPGA</a:t>
            </a:r>
            <a:r>
              <a:rPr lang="zh-CN" altLang="en-US" sz="2400" b="1" dirty="0">
                <a:latin typeface="黑体" panose="02010609060101010101" pitchFamily="2" charset="-122"/>
                <a:ea typeface="黑体" panose="02010609060101010101" pitchFamily="2" charset="-122"/>
              </a:rPr>
              <a:t>结构</a:t>
            </a:r>
            <a:endParaRPr lang="zh-CN" altLang="en-US" sz="2400" b="1" dirty="0">
              <a:latin typeface="黑体" panose="02010609060101010101" pitchFamily="2" charset="-122"/>
              <a:ea typeface="黑体" panose="02010609060101010101" pitchFamily="2" charset="-122"/>
            </a:endParaRPr>
          </a:p>
        </p:txBody>
      </p:sp>
      <p:sp>
        <p:nvSpPr>
          <p:cNvPr id="157705" name="Text Box 9"/>
          <p:cNvSpPr txBox="1"/>
          <p:nvPr/>
        </p:nvSpPr>
        <p:spPr>
          <a:xfrm>
            <a:off x="152400" y="533400"/>
            <a:ext cx="8153400" cy="822325"/>
          </a:xfrm>
          <a:prstGeom prst="rect">
            <a:avLst/>
          </a:prstGeom>
          <a:noFill/>
          <a:ln w="9525">
            <a:noFill/>
          </a:ln>
        </p:spPr>
        <p:txBody>
          <a:bodyPr>
            <a:spAutoFit/>
          </a:bodyPr>
          <a:p>
            <a:pPr eaLnBrk="1" hangingPunct="1"/>
            <a:r>
              <a:rPr lang="en-US" altLang="zh-CN" sz="2400" dirty="0">
                <a:latin typeface="Times New Roman" panose="02020603050405020304" pitchFamily="18" charset="0"/>
              </a:rPr>
              <a:t>        </a:t>
            </a:r>
            <a:r>
              <a:rPr lang="en-US" altLang="zh-CN" sz="2400" b="1" dirty="0">
                <a:latin typeface="Times New Roman" panose="02020603050405020304" pitchFamily="18" charset="0"/>
              </a:rPr>
              <a:t>FPGA</a:t>
            </a:r>
            <a:r>
              <a:rPr lang="zh-CN" altLang="en-US" sz="2400" b="1" dirty="0">
                <a:latin typeface="Times New Roman" panose="02020603050405020304" pitchFamily="18" charset="0"/>
              </a:rPr>
              <a:t>的编程单元是基于静态存储器（</a:t>
            </a:r>
            <a:r>
              <a:rPr lang="en-US" altLang="zh-CN" sz="2400" b="1" dirty="0">
                <a:latin typeface="Times New Roman" panose="02020603050405020304" pitchFamily="18" charset="0"/>
              </a:rPr>
              <a:t>SRAM</a:t>
            </a:r>
            <a:r>
              <a:rPr lang="zh-CN" altLang="en-US" sz="2400" b="1" dirty="0">
                <a:latin typeface="Times New Roman" panose="02020603050405020304" pitchFamily="18" charset="0"/>
              </a:rPr>
              <a:t>）结构，从理论上讲，具有无限次重复编程的能力</a:t>
            </a:r>
            <a:endParaRPr lang="zh-CN" altLang="en-US" sz="2400" b="1" dirty="0">
              <a:latin typeface="Times New Roman" panose="02020603050405020304" pitchFamily="18" charset="0"/>
            </a:endParaRPr>
          </a:p>
        </p:txBody>
      </p:sp>
      <p:sp>
        <p:nvSpPr>
          <p:cNvPr id="157706" name="Text Box 10"/>
          <p:cNvSpPr txBox="1"/>
          <p:nvPr/>
        </p:nvSpPr>
        <p:spPr>
          <a:xfrm>
            <a:off x="0" y="1371600"/>
            <a:ext cx="8686800" cy="822325"/>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        </a:t>
            </a:r>
            <a:r>
              <a:rPr lang="zh-CN" altLang="en-US" sz="2400" b="1" dirty="0">
                <a:latin typeface="Times New Roman" panose="02020603050405020304" pitchFamily="18" charset="0"/>
              </a:rPr>
              <a:t>下面介绍</a:t>
            </a:r>
            <a:r>
              <a:rPr lang="en-US" altLang="zh-CN" sz="2400" b="1" dirty="0">
                <a:latin typeface="Times New Roman" panose="02020603050405020304" pitchFamily="18" charset="0"/>
              </a:rPr>
              <a:t>XILINX</a:t>
            </a:r>
            <a:r>
              <a:rPr lang="zh-CN" altLang="en-US" sz="2400" b="1" dirty="0">
                <a:latin typeface="Times New Roman" panose="02020603050405020304" pitchFamily="18" charset="0"/>
              </a:rPr>
              <a:t>公司的</a:t>
            </a:r>
            <a:r>
              <a:rPr lang="en-US" altLang="zh-CN" sz="2400" b="1" dirty="0">
                <a:latin typeface="Times New Roman" panose="02020603050405020304" pitchFamily="18" charset="0"/>
              </a:rPr>
              <a:t>XC4000E</a:t>
            </a:r>
            <a:r>
              <a:rPr lang="zh-CN" altLang="en-US" sz="2400" b="1" dirty="0">
                <a:latin typeface="Times New Roman" panose="02020603050405020304" pitchFamily="18" charset="0"/>
              </a:rPr>
              <a:t>系列芯片，了解</a:t>
            </a:r>
            <a:r>
              <a:rPr lang="en-US" altLang="zh-CN" sz="2400" b="1" dirty="0">
                <a:latin typeface="Times New Roman" panose="02020603050405020304" pitchFamily="18" charset="0"/>
              </a:rPr>
              <a:t>FPGA</a:t>
            </a:r>
            <a:r>
              <a:rPr lang="zh-CN" altLang="en-US" sz="2400" b="1" dirty="0">
                <a:latin typeface="Times New Roman" panose="02020603050405020304" pitchFamily="18" charset="0"/>
              </a:rPr>
              <a:t>内部各个模块的功能，见下图：</a:t>
            </a:r>
            <a:endParaRPr lang="zh-CN" altLang="en-US" sz="2400" b="1" dirty="0">
              <a:latin typeface="Times New Roman" panose="02020603050405020304" pitchFamily="18" charset="0"/>
            </a:endParaRPr>
          </a:p>
        </p:txBody>
      </p:sp>
      <p:graphicFrame>
        <p:nvGraphicFramePr>
          <p:cNvPr id="157707" name="Object 11"/>
          <p:cNvGraphicFramePr>
            <a:graphicFrameLocks noChangeAspect="1"/>
          </p:cNvGraphicFramePr>
          <p:nvPr/>
        </p:nvGraphicFramePr>
        <p:xfrm>
          <a:off x="1828800" y="2133600"/>
          <a:ext cx="4953000" cy="5105400"/>
        </p:xfrm>
        <a:graphic>
          <a:graphicData uri="http://schemas.openxmlformats.org/presentationml/2006/ole">
            <mc:AlternateContent xmlns:mc="http://schemas.openxmlformats.org/markup-compatibility/2006">
              <mc:Choice xmlns:v="urn:schemas-microsoft-com:vml" Requires="v">
                <p:oleObj spid="_x0000_s3110" name="" r:id="rId1" imgW="3238500" imgH="3409950" progId="Paint.Picture">
                  <p:embed/>
                </p:oleObj>
              </mc:Choice>
              <mc:Fallback>
                <p:oleObj name="" r:id="rId1" imgW="3238500" imgH="3409950" progId="Paint.Picture">
                  <p:embed/>
                  <p:pic>
                    <p:nvPicPr>
                      <p:cNvPr id="0" name="图片 3109"/>
                      <p:cNvPicPr/>
                      <p:nvPr/>
                    </p:nvPicPr>
                    <p:blipFill>
                      <a:blip r:embed="rId2"/>
                      <a:stretch>
                        <a:fillRect/>
                      </a:stretch>
                    </p:blipFill>
                    <p:spPr>
                      <a:xfrm>
                        <a:off x="1828800" y="2133600"/>
                        <a:ext cx="4953000" cy="5105400"/>
                      </a:xfrm>
                      <a:prstGeom prst="rect">
                        <a:avLst/>
                      </a:prstGeom>
                      <a:noFill/>
                      <a:ln w="38100">
                        <a:noFill/>
                        <a:miter/>
                      </a:ln>
                    </p:spPr>
                  </p:pic>
                </p:oleObj>
              </mc:Fallback>
            </mc:AlternateContent>
          </a:graphicData>
        </a:graphic>
      </p:graphicFrame>
      <p:sp>
        <p:nvSpPr>
          <p:cNvPr id="157708" name="AutoShape 12"/>
          <p:cNvSpPr/>
          <p:nvPr/>
        </p:nvSpPr>
        <p:spPr>
          <a:xfrm>
            <a:off x="6781800" y="2362200"/>
            <a:ext cx="1981200" cy="914400"/>
          </a:xfrm>
          <a:prstGeom prst="wedgeRectCallout">
            <a:avLst>
              <a:gd name="adj1" fmla="val -100241"/>
              <a:gd name="adj2" fmla="val 30037"/>
            </a:avLst>
          </a:prstGeom>
          <a:solidFill>
            <a:srgbClr val="FFCC66"/>
          </a:solidFill>
          <a:ln w="9525">
            <a:noFill/>
          </a:ln>
        </p:spPr>
        <p:txBody>
          <a:bodyPr wrap="none" anchor="ctr" anchorCtr="0"/>
          <a:p>
            <a:pPr eaLnBrk="1" hangingPunct="1"/>
            <a:r>
              <a:rPr lang="zh-CN" altLang="en-US" sz="2400" dirty="0">
                <a:latin typeface="Times New Roman" panose="02020603050405020304" pitchFamily="18" charset="0"/>
              </a:rPr>
              <a:t>可配置逻辑模</a:t>
            </a:r>
            <a:endParaRPr lang="zh-CN" altLang="en-US" sz="2400" dirty="0">
              <a:latin typeface="Times New Roman" panose="02020603050405020304" pitchFamily="18" charset="0"/>
            </a:endParaRPr>
          </a:p>
          <a:p>
            <a:pPr eaLnBrk="1" hangingPunct="1"/>
            <a:r>
              <a:rPr lang="zh-CN" altLang="en-US" sz="2400" dirty="0">
                <a:latin typeface="Times New Roman" panose="02020603050405020304" pitchFamily="18" charset="0"/>
              </a:rPr>
              <a:t>块</a:t>
            </a:r>
            <a:r>
              <a:rPr lang="en-US" altLang="zh-CN" sz="2400" dirty="0">
                <a:latin typeface="Times New Roman" panose="02020603050405020304" pitchFamily="18" charset="0"/>
              </a:rPr>
              <a:t>CLB</a:t>
            </a:r>
            <a:endParaRPr lang="en-US" altLang="zh-CN" sz="2400" dirty="0">
              <a:latin typeface="Times New Roman" panose="02020603050405020304" pitchFamily="18" charset="0"/>
            </a:endParaRPr>
          </a:p>
        </p:txBody>
      </p:sp>
      <p:sp>
        <p:nvSpPr>
          <p:cNvPr id="157709" name="AutoShape 13"/>
          <p:cNvSpPr/>
          <p:nvPr/>
        </p:nvSpPr>
        <p:spPr>
          <a:xfrm>
            <a:off x="228600" y="3048000"/>
            <a:ext cx="1600200" cy="762000"/>
          </a:xfrm>
          <a:prstGeom prst="wedgeRectCallout">
            <a:avLst>
              <a:gd name="adj1" fmla="val 66667"/>
              <a:gd name="adj2" fmla="val 192917"/>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dirty="0">
                <a:latin typeface="Times New Roman" panose="02020603050405020304" pitchFamily="18" charset="0"/>
              </a:rPr>
              <a:t>输入</a:t>
            </a:r>
            <a:r>
              <a:rPr lang="en-US" altLang="zh-CN" sz="2400" dirty="0">
                <a:latin typeface="Times New Roman" panose="02020603050405020304" pitchFamily="18" charset="0"/>
              </a:rPr>
              <a:t>/</a:t>
            </a:r>
            <a:r>
              <a:rPr lang="zh-CN" altLang="en-US" sz="2400" dirty="0">
                <a:latin typeface="Times New Roman" panose="02020603050405020304" pitchFamily="18" charset="0"/>
              </a:rPr>
              <a:t>输出</a:t>
            </a:r>
            <a:endParaRPr lang="zh-CN" altLang="en-US" sz="2400" dirty="0">
              <a:latin typeface="Times New Roman" panose="02020603050405020304" pitchFamily="18" charset="0"/>
            </a:endParaRPr>
          </a:p>
          <a:p>
            <a:pPr eaLnBrk="1" hangingPunct="1"/>
            <a:r>
              <a:rPr lang="zh-CN" altLang="en-US" sz="2400" dirty="0">
                <a:latin typeface="Times New Roman" panose="02020603050405020304" pitchFamily="18" charset="0"/>
              </a:rPr>
              <a:t>模块</a:t>
            </a:r>
            <a:r>
              <a:rPr lang="en-US" altLang="zh-CN" sz="2400" dirty="0">
                <a:latin typeface="Times New Roman" panose="02020603050405020304" pitchFamily="18" charset="0"/>
              </a:rPr>
              <a:t>I/OB</a:t>
            </a:r>
            <a:endParaRPr lang="en-US" altLang="zh-CN" sz="2400" dirty="0">
              <a:latin typeface="Times New Roman" panose="02020603050405020304" pitchFamily="18" charset="0"/>
            </a:endParaRPr>
          </a:p>
        </p:txBody>
      </p:sp>
      <p:sp>
        <p:nvSpPr>
          <p:cNvPr id="157710" name="AutoShape 14"/>
          <p:cNvSpPr/>
          <p:nvPr/>
        </p:nvSpPr>
        <p:spPr>
          <a:xfrm>
            <a:off x="228600" y="5486400"/>
            <a:ext cx="1371600" cy="990600"/>
          </a:xfrm>
          <a:prstGeom prst="wedgeRectCallout">
            <a:avLst>
              <a:gd name="adj1" fmla="val 187847"/>
              <a:gd name="adj2" fmla="val -155769"/>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dirty="0">
                <a:latin typeface="Times New Roman" panose="02020603050405020304" pitchFamily="18" charset="0"/>
              </a:rPr>
              <a:t>可编程连</a:t>
            </a:r>
            <a:endParaRPr lang="zh-CN" altLang="en-US" sz="2400" dirty="0">
              <a:latin typeface="Times New Roman" panose="02020603050405020304" pitchFamily="18" charset="0"/>
            </a:endParaRPr>
          </a:p>
          <a:p>
            <a:pPr eaLnBrk="1" hangingPunct="1"/>
            <a:r>
              <a:rPr lang="zh-CN" altLang="en-US" sz="2400" dirty="0">
                <a:latin typeface="Times New Roman" panose="02020603050405020304" pitchFamily="18" charset="0"/>
              </a:rPr>
              <a:t>线</a:t>
            </a:r>
            <a:r>
              <a:rPr lang="en-US" altLang="zh-CN" sz="2400" dirty="0">
                <a:latin typeface="Times New Roman" panose="02020603050405020304" pitchFamily="18" charset="0"/>
              </a:rPr>
              <a:t>PI</a:t>
            </a:r>
            <a:endParaRPr lang="en-US" altLang="zh-CN" sz="2400" dirty="0">
              <a:latin typeface="Times New Roman" panose="02020603050405020304" pitchFamily="18" charset="0"/>
            </a:endParaRPr>
          </a:p>
        </p:txBody>
      </p:sp>
      <p:sp>
        <p:nvSpPr>
          <p:cNvPr id="157711" name="AutoShape 15"/>
          <p:cNvSpPr/>
          <p:nvPr/>
        </p:nvSpPr>
        <p:spPr>
          <a:xfrm>
            <a:off x="7315200" y="5105400"/>
            <a:ext cx="1447800" cy="914400"/>
          </a:xfrm>
          <a:prstGeom prst="wedgeRectCallout">
            <a:avLst>
              <a:gd name="adj1" fmla="val -196380"/>
              <a:gd name="adj2" fmla="val -56250"/>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dirty="0">
                <a:latin typeface="Times New Roman" panose="02020603050405020304" pitchFamily="18" charset="0"/>
              </a:rPr>
              <a:t>编程开关</a:t>
            </a:r>
            <a:endParaRPr lang="zh-CN" altLang="en-US" sz="2400" dirty="0">
              <a:latin typeface="Times New Roman" panose="02020603050405020304" pitchFamily="18" charset="0"/>
            </a:endParaRPr>
          </a:p>
          <a:p>
            <a:pPr eaLnBrk="1" hangingPunct="1"/>
            <a:r>
              <a:rPr lang="zh-CN" altLang="en-US" sz="2400" dirty="0">
                <a:latin typeface="Times New Roman" panose="02020603050405020304" pitchFamily="18" charset="0"/>
              </a:rPr>
              <a:t>矩阵</a:t>
            </a:r>
            <a:r>
              <a:rPr lang="en-US" altLang="zh-CN" sz="2400" dirty="0">
                <a:latin typeface="Times New Roman" panose="02020603050405020304" pitchFamily="18" charset="0"/>
              </a:rPr>
              <a:t>PSM</a:t>
            </a:r>
            <a:endParaRPr lang="en-US" altLang="zh-CN" sz="2400"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7705"/>
                                        </p:tgtEl>
                                        <p:attrNameLst>
                                          <p:attrName>style.visibility</p:attrName>
                                        </p:attrNameLst>
                                      </p:cBhvr>
                                      <p:to>
                                        <p:strVal val="visible"/>
                                      </p:to>
                                    </p:set>
                                    <p:anim calcmode="lin" valueType="num">
                                      <p:cBhvr additive="base">
                                        <p:cTn id="7" dur="500" fill="hold"/>
                                        <p:tgtEl>
                                          <p:spTgt spid="157705"/>
                                        </p:tgtEl>
                                        <p:attrNameLst>
                                          <p:attrName>ppt_x</p:attrName>
                                        </p:attrNameLst>
                                      </p:cBhvr>
                                      <p:tavLst>
                                        <p:tav tm="0">
                                          <p:val>
                                            <p:strVal val="1+#ppt_w/2"/>
                                          </p:val>
                                        </p:tav>
                                        <p:tav tm="100000">
                                          <p:val>
                                            <p:strVal val="#ppt_x"/>
                                          </p:val>
                                        </p:tav>
                                      </p:tavLst>
                                    </p:anim>
                                    <p:anim calcmode="lin" valueType="num">
                                      <p:cBhvr additive="base">
                                        <p:cTn id="8" dur="500" fill="hold"/>
                                        <p:tgtEl>
                                          <p:spTgt spid="15770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7706"/>
                                        </p:tgtEl>
                                        <p:attrNameLst>
                                          <p:attrName>style.visibility</p:attrName>
                                        </p:attrNameLst>
                                      </p:cBhvr>
                                      <p:to>
                                        <p:strVal val="visible"/>
                                      </p:to>
                                    </p:set>
                                    <p:anim calcmode="lin" valueType="num">
                                      <p:cBhvr additive="base">
                                        <p:cTn id="13" dur="500" fill="hold"/>
                                        <p:tgtEl>
                                          <p:spTgt spid="157706"/>
                                        </p:tgtEl>
                                        <p:attrNameLst>
                                          <p:attrName>ppt_x</p:attrName>
                                        </p:attrNameLst>
                                      </p:cBhvr>
                                      <p:tavLst>
                                        <p:tav tm="0">
                                          <p:val>
                                            <p:strVal val="1+#ppt_w/2"/>
                                          </p:val>
                                        </p:tav>
                                        <p:tav tm="100000">
                                          <p:val>
                                            <p:strVal val="#ppt_x"/>
                                          </p:val>
                                        </p:tav>
                                      </p:tavLst>
                                    </p:anim>
                                    <p:anim calcmode="lin" valueType="num">
                                      <p:cBhvr additive="base">
                                        <p:cTn id="14" dur="500" fill="hold"/>
                                        <p:tgtEl>
                                          <p:spTgt spid="15770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5770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57708"/>
                                        </p:tgtEl>
                                        <p:attrNameLst>
                                          <p:attrName>style.visibility</p:attrName>
                                        </p:attrNameLst>
                                      </p:cBhvr>
                                      <p:to>
                                        <p:strVal val="visible"/>
                                      </p:to>
                                    </p:set>
                                    <p:anim calcmode="lin" valueType="num">
                                      <p:cBhvr additive="base">
                                        <p:cTn id="23" dur="500" fill="hold"/>
                                        <p:tgtEl>
                                          <p:spTgt spid="157708"/>
                                        </p:tgtEl>
                                        <p:attrNameLst>
                                          <p:attrName>ppt_x</p:attrName>
                                        </p:attrNameLst>
                                      </p:cBhvr>
                                      <p:tavLst>
                                        <p:tav tm="0">
                                          <p:val>
                                            <p:strVal val="1+#ppt_w/2"/>
                                          </p:val>
                                        </p:tav>
                                        <p:tav tm="100000">
                                          <p:val>
                                            <p:strVal val="#ppt_x"/>
                                          </p:val>
                                        </p:tav>
                                      </p:tavLst>
                                    </p:anim>
                                    <p:anim calcmode="lin" valueType="num">
                                      <p:cBhvr additive="base">
                                        <p:cTn id="24" dur="500" fill="hold"/>
                                        <p:tgtEl>
                                          <p:spTgt spid="15770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57708"/>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57709"/>
                                        </p:tgtEl>
                                        <p:attrNameLst>
                                          <p:attrName>style.visibility</p:attrName>
                                        </p:attrNameLst>
                                      </p:cBhvr>
                                      <p:to>
                                        <p:strVal val="visible"/>
                                      </p:to>
                                    </p:set>
                                    <p:anim calcmode="lin" valueType="num">
                                      <p:cBhvr additive="base">
                                        <p:cTn id="29" dur="500" fill="hold"/>
                                        <p:tgtEl>
                                          <p:spTgt spid="157709"/>
                                        </p:tgtEl>
                                        <p:attrNameLst>
                                          <p:attrName>ppt_x</p:attrName>
                                        </p:attrNameLst>
                                      </p:cBhvr>
                                      <p:tavLst>
                                        <p:tav tm="0">
                                          <p:val>
                                            <p:strVal val="0-#ppt_w/2"/>
                                          </p:val>
                                        </p:tav>
                                        <p:tav tm="100000">
                                          <p:val>
                                            <p:strVal val="#ppt_x"/>
                                          </p:val>
                                        </p:tav>
                                      </p:tavLst>
                                    </p:anim>
                                    <p:anim calcmode="lin" valueType="num">
                                      <p:cBhvr additive="base">
                                        <p:cTn id="30" dur="500" fill="hold"/>
                                        <p:tgtEl>
                                          <p:spTgt spid="157709"/>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57709"/>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8" presetClass="entr" presetSubtype="3" fill="hold" grpId="0" nodeType="clickEffect">
                                  <p:stCondLst>
                                    <p:cond delay="0"/>
                                  </p:stCondLst>
                                  <p:childTnLst>
                                    <p:set>
                                      <p:cBhvr>
                                        <p:cTn id="34" dur="1" fill="hold">
                                          <p:stCondLst>
                                            <p:cond delay="0"/>
                                          </p:stCondLst>
                                        </p:cTn>
                                        <p:tgtEl>
                                          <p:spTgt spid="157710"/>
                                        </p:tgtEl>
                                        <p:attrNameLst>
                                          <p:attrName>style.visibility</p:attrName>
                                        </p:attrNameLst>
                                      </p:cBhvr>
                                      <p:to>
                                        <p:strVal val="visible"/>
                                      </p:to>
                                    </p:set>
                                    <p:animEffect transition="in" filter="strips(upRight)">
                                      <p:cBhvr>
                                        <p:cTn id="35" dur="500"/>
                                        <p:tgtEl>
                                          <p:spTgt spid="157710"/>
                                        </p:tgtEl>
                                      </p:cBhvr>
                                    </p:animEffect>
                                  </p:childTnLst>
                                  <p:subTnLst>
                                    <p:set>
                                      <p:cBhvr override="childStyle">
                                        <p:cTn dur="1" fill="hold" display="0" masterRel="nextClick" afterEffect="1"/>
                                        <p:tgtEl>
                                          <p:spTgt spid="157710"/>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18" presetClass="entr" presetSubtype="9" fill="hold" grpId="0" nodeType="clickEffect">
                                  <p:stCondLst>
                                    <p:cond delay="0"/>
                                  </p:stCondLst>
                                  <p:childTnLst>
                                    <p:set>
                                      <p:cBhvr>
                                        <p:cTn id="39" dur="1" fill="hold">
                                          <p:stCondLst>
                                            <p:cond delay="0"/>
                                          </p:stCondLst>
                                        </p:cTn>
                                        <p:tgtEl>
                                          <p:spTgt spid="157711"/>
                                        </p:tgtEl>
                                        <p:attrNameLst>
                                          <p:attrName>style.visibility</p:attrName>
                                        </p:attrNameLst>
                                      </p:cBhvr>
                                      <p:to>
                                        <p:strVal val="visible"/>
                                      </p:to>
                                    </p:set>
                                    <p:animEffect transition="in" filter="strips(upLeft)">
                                      <p:cBhvr>
                                        <p:cTn id="40" dur="500"/>
                                        <p:tgtEl>
                                          <p:spTgt spid="157711"/>
                                        </p:tgtEl>
                                      </p:cBhvr>
                                    </p:animEffect>
                                  </p:childTnLst>
                                  <p:subTnLst>
                                    <p:set>
                                      <p:cBhvr override="childStyle">
                                        <p:cTn dur="1" fill="hold" display="0" masterRel="nextClick" afterEffect="1"/>
                                        <p:tgtEl>
                                          <p:spTgt spid="15771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5" grpId="0"/>
      <p:bldP spid="157706" grpId="0"/>
      <p:bldP spid="157708" grpId="0" animBg="1"/>
      <p:bldP spid="157709" grpId="0" animBg="1"/>
      <p:bldP spid="157710" grpId="0" animBg="1"/>
      <p:bldP spid="15771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Text Box 5"/>
          <p:cNvSpPr txBox="1"/>
          <p:nvPr/>
        </p:nvSpPr>
        <p:spPr>
          <a:xfrm>
            <a:off x="152400" y="152400"/>
            <a:ext cx="8153400" cy="533400"/>
          </a:xfrm>
          <a:prstGeom prst="rect">
            <a:avLst/>
          </a:prstGeom>
          <a:noFill/>
          <a:ln w="9525">
            <a:noFill/>
          </a:ln>
        </p:spPr>
        <p:txBody>
          <a:bodyPr>
            <a:spAutoFit/>
          </a:bodyPr>
          <a:p>
            <a:pPr algn="just" eaLnBrk="1" hangingPunct="1">
              <a:spcAft>
                <a:spcPts val="600"/>
              </a:spcAft>
            </a:pPr>
            <a:r>
              <a:rPr lang="zh-CN" altLang="en-US" sz="2400" b="1" dirty="0">
                <a:latin typeface="黑体" panose="02010609060101010101" pitchFamily="2" charset="-122"/>
                <a:ea typeface="黑体" panose="02010609060101010101" pitchFamily="2" charset="-122"/>
              </a:rPr>
              <a:t>四、现场可编程门阵列</a:t>
            </a:r>
            <a:r>
              <a:rPr lang="en-US" altLang="zh-CN" sz="2400" b="1" dirty="0">
                <a:latin typeface="黑体" panose="02010609060101010101" pitchFamily="2" charset="-122"/>
                <a:ea typeface="黑体" panose="02010609060101010101" pitchFamily="2" charset="-122"/>
              </a:rPr>
              <a:t>FPGA</a:t>
            </a:r>
            <a:r>
              <a:rPr lang="zh-CN" altLang="en-US" sz="2400" b="1" dirty="0">
                <a:latin typeface="黑体" panose="02010609060101010101" pitchFamily="2" charset="-122"/>
                <a:ea typeface="黑体" panose="02010609060101010101" pitchFamily="2" charset="-122"/>
              </a:rPr>
              <a:t>的特点</a:t>
            </a:r>
            <a:endParaRPr lang="zh-CN" altLang="en-US" sz="2400" b="1" dirty="0">
              <a:latin typeface="黑体" panose="02010609060101010101" pitchFamily="2" charset="-122"/>
              <a:ea typeface="黑体" panose="02010609060101010101" pitchFamily="2" charset="-122"/>
            </a:endParaRPr>
          </a:p>
        </p:txBody>
      </p:sp>
      <p:sp>
        <p:nvSpPr>
          <p:cNvPr id="158726" name="Text Box 6"/>
          <p:cNvSpPr txBox="1"/>
          <p:nvPr/>
        </p:nvSpPr>
        <p:spPr>
          <a:xfrm>
            <a:off x="228600" y="685800"/>
            <a:ext cx="8077200" cy="1187450"/>
          </a:xfrm>
          <a:prstGeom prst="rect">
            <a:avLst/>
          </a:prstGeom>
          <a:noFill/>
          <a:ln w="9525">
            <a:noFill/>
          </a:ln>
        </p:spPr>
        <p:txBody>
          <a:bodyPr>
            <a:spAutoFit/>
          </a:bodyPr>
          <a:p>
            <a:pPr eaLnBrk="1" hangingPunct="1"/>
            <a:r>
              <a:rPr lang="en-US" altLang="zh-CN" sz="2400" dirty="0">
                <a:latin typeface="Times New Roman" panose="02020603050405020304" pitchFamily="18" charset="0"/>
              </a:rPr>
              <a:t>      </a:t>
            </a:r>
            <a:r>
              <a:rPr lang="zh-CN" altLang="en-US" sz="2400" b="1" dirty="0">
                <a:latin typeface="Times New Roman" panose="02020603050405020304" pitchFamily="18" charset="0"/>
              </a:rPr>
              <a:t>（一）</a:t>
            </a:r>
            <a:r>
              <a:rPr lang="en-US" altLang="zh-CN" sz="2400" b="1" dirty="0">
                <a:latin typeface="Times New Roman" panose="02020603050405020304" pitchFamily="18" charset="0"/>
              </a:rPr>
              <a:t>SRAM</a:t>
            </a:r>
            <a:r>
              <a:rPr lang="zh-CN" altLang="en-US" sz="2400" b="1" dirty="0">
                <a:latin typeface="Times New Roman" panose="02020603050405020304" pitchFamily="18" charset="0"/>
              </a:rPr>
              <a:t>结构：可以无限次编程，但它属于易失性元件，掉电后芯片内信息丢失；通电之后，要为</a:t>
            </a:r>
            <a:r>
              <a:rPr lang="en-US" altLang="zh-CN" sz="2400" b="1" dirty="0">
                <a:latin typeface="Times New Roman" panose="02020603050405020304" pitchFamily="18" charset="0"/>
              </a:rPr>
              <a:t>FPGA</a:t>
            </a:r>
            <a:r>
              <a:rPr lang="zh-CN" altLang="en-US" sz="2400" b="1" dirty="0">
                <a:latin typeface="Times New Roman" panose="02020603050405020304" pitchFamily="18" charset="0"/>
              </a:rPr>
              <a:t>重新配置逻辑，</a:t>
            </a:r>
            <a:r>
              <a:rPr lang="en-US" altLang="zh-CN" sz="2400" b="1" dirty="0">
                <a:latin typeface="Times New Roman" panose="02020603050405020304" pitchFamily="18" charset="0"/>
              </a:rPr>
              <a:t>FPGA</a:t>
            </a:r>
            <a:r>
              <a:rPr lang="zh-CN" altLang="en-US" sz="2400" b="1" dirty="0">
                <a:latin typeface="Times New Roman" panose="02020603050405020304" pitchFamily="18" charset="0"/>
              </a:rPr>
              <a:t>配置方式有七种，请读者参考有关文献。</a:t>
            </a:r>
            <a:endParaRPr lang="zh-CN" altLang="en-US" sz="2400" b="1" dirty="0">
              <a:latin typeface="Times New Roman" panose="02020603050405020304" pitchFamily="18" charset="0"/>
            </a:endParaRPr>
          </a:p>
        </p:txBody>
      </p:sp>
      <p:sp>
        <p:nvSpPr>
          <p:cNvPr id="158728" name="Text Box 8"/>
          <p:cNvSpPr txBox="1"/>
          <p:nvPr/>
        </p:nvSpPr>
        <p:spPr>
          <a:xfrm>
            <a:off x="228600" y="1905000"/>
            <a:ext cx="8001000" cy="1917700"/>
          </a:xfrm>
          <a:prstGeom prst="rect">
            <a:avLst/>
          </a:prstGeom>
          <a:noFill/>
          <a:ln w="9525">
            <a:noFill/>
          </a:ln>
        </p:spPr>
        <p:txBody>
          <a:bodyPr>
            <a:spAutoFit/>
          </a:bodyPr>
          <a:p>
            <a:pPr algn="just" eaLnBrk="1" hangingPunct="1"/>
            <a:r>
              <a:rPr lang="en-US" altLang="zh-CN" sz="2400" dirty="0">
                <a:latin typeface="Times New Roman" panose="02020603050405020304" pitchFamily="18" charset="0"/>
              </a:rPr>
              <a:t>     </a:t>
            </a:r>
            <a:r>
              <a:rPr lang="zh-CN" altLang="en-US" sz="2400" b="1" dirty="0">
                <a:latin typeface="Times New Roman" panose="02020603050405020304" pitchFamily="18" charset="0"/>
              </a:rPr>
              <a:t>（二）内部连线结构：</a:t>
            </a:r>
            <a:r>
              <a:rPr lang="en-US" altLang="zh-CN" sz="2400" b="1" dirty="0">
                <a:latin typeface="Times New Roman" panose="02020603050405020304" pitchFamily="18" charset="0"/>
              </a:rPr>
              <a:t>HDPLD</a:t>
            </a:r>
            <a:r>
              <a:rPr lang="zh-CN" altLang="en-US" sz="2400" b="1" dirty="0">
                <a:latin typeface="Times New Roman" panose="02020603050405020304" pitchFamily="18" charset="0"/>
              </a:rPr>
              <a:t>的信号汇总于编程内连矩阵，然后分配到各个宏单元，因此信号通路固定，系统速度可以预测。而</a:t>
            </a:r>
            <a:r>
              <a:rPr lang="en-US" altLang="zh-CN" sz="2400" b="1" dirty="0">
                <a:latin typeface="Times New Roman" panose="02020603050405020304" pitchFamily="18" charset="0"/>
              </a:rPr>
              <a:t>FPGA</a:t>
            </a:r>
            <a:r>
              <a:rPr lang="zh-CN" altLang="en-US" sz="2400" b="1" dirty="0">
                <a:latin typeface="Times New Roman" panose="02020603050405020304" pitchFamily="18" charset="0"/>
              </a:rPr>
              <a:t>的内连线是分布在</a:t>
            </a:r>
            <a:r>
              <a:rPr lang="en-US" altLang="zh-CN" sz="2400" b="1" dirty="0">
                <a:latin typeface="Times New Roman" panose="02020603050405020304" pitchFamily="18" charset="0"/>
              </a:rPr>
              <a:t>CLB</a:t>
            </a:r>
            <a:r>
              <a:rPr lang="zh-CN" altLang="en-US" sz="2400" b="1" dirty="0">
                <a:latin typeface="Times New Roman" panose="02020603050405020304" pitchFamily="18" charset="0"/>
              </a:rPr>
              <a:t>周围，而且编程的种类和编程点很多，使得布线相当灵活，因此在系统速度方面低于</a:t>
            </a:r>
            <a:r>
              <a:rPr lang="en-US" altLang="zh-CN" sz="2400" b="1" dirty="0">
                <a:latin typeface="Times New Roman" panose="02020603050405020304" pitchFamily="18" charset="0"/>
              </a:rPr>
              <a:t>HDPLD</a:t>
            </a:r>
            <a:r>
              <a:rPr lang="zh-CN" altLang="en-US" sz="2400" b="1" dirty="0">
                <a:latin typeface="Times New Roman" panose="02020603050405020304" pitchFamily="18" charset="0"/>
              </a:rPr>
              <a:t>的速度。</a:t>
            </a:r>
            <a:endParaRPr lang="zh-CN" altLang="en-US" b="1" dirty="0">
              <a:latin typeface="Times New Roman" panose="02020603050405020304" pitchFamily="18" charset="0"/>
            </a:endParaRPr>
          </a:p>
        </p:txBody>
      </p:sp>
      <p:sp>
        <p:nvSpPr>
          <p:cNvPr id="61445" name="Text Box 9"/>
          <p:cNvSpPr txBox="1"/>
          <p:nvPr/>
        </p:nvSpPr>
        <p:spPr>
          <a:xfrm>
            <a:off x="609600" y="4267200"/>
            <a:ext cx="7696200" cy="366713"/>
          </a:xfrm>
          <a:prstGeom prst="rect">
            <a:avLst/>
          </a:prstGeom>
          <a:noFill/>
          <a:ln w="9525">
            <a:noFill/>
          </a:ln>
        </p:spPr>
        <p:txBody>
          <a:bodyPr>
            <a:spAutoFit/>
          </a:bodyPr>
          <a:p>
            <a:pPr eaLnBrk="1" hangingPunct="1">
              <a:spcBef>
                <a:spcPct val="50000"/>
              </a:spcBef>
            </a:pPr>
            <a:endParaRPr lang="zh-CN" altLang="zh-CN" dirty="0">
              <a:latin typeface="Times New Roman" panose="02020603050405020304" pitchFamily="18" charset="0"/>
            </a:endParaRPr>
          </a:p>
        </p:txBody>
      </p:sp>
      <p:sp>
        <p:nvSpPr>
          <p:cNvPr id="158731" name="Text Box 11"/>
          <p:cNvSpPr txBox="1"/>
          <p:nvPr/>
        </p:nvSpPr>
        <p:spPr>
          <a:xfrm>
            <a:off x="228600" y="3886200"/>
            <a:ext cx="7924800" cy="1187450"/>
          </a:xfrm>
          <a:prstGeom prst="rect">
            <a:avLst/>
          </a:prstGeom>
          <a:noFill/>
          <a:ln w="9525">
            <a:noFill/>
          </a:ln>
        </p:spPr>
        <p:txBody>
          <a:bodyPr>
            <a:spAutoFit/>
          </a:bodyPr>
          <a:p>
            <a:pPr algn="just" eaLnBrk="1" hangingPunct="1"/>
            <a:r>
              <a:rPr lang="en-US" altLang="zh-CN" sz="2400" dirty="0">
                <a:latin typeface="Times New Roman" panose="02020603050405020304" pitchFamily="18" charset="0"/>
              </a:rPr>
              <a:t>    </a:t>
            </a:r>
            <a:r>
              <a:rPr lang="zh-CN" altLang="en-US" sz="2400" b="1" dirty="0">
                <a:latin typeface="Times New Roman" panose="02020603050405020304" pitchFamily="18" charset="0"/>
              </a:rPr>
              <a:t>（三）芯片逻辑利用率：由于</a:t>
            </a:r>
            <a:r>
              <a:rPr lang="en-US" altLang="zh-CN" sz="2400" b="1" dirty="0">
                <a:latin typeface="Times New Roman" panose="02020603050405020304" pitchFamily="18" charset="0"/>
              </a:rPr>
              <a:t>FPGA</a:t>
            </a:r>
            <a:r>
              <a:rPr lang="zh-CN" altLang="en-US" sz="2400" b="1" dirty="0">
                <a:latin typeface="Times New Roman" panose="02020603050405020304" pitchFamily="18" charset="0"/>
              </a:rPr>
              <a:t>的</a:t>
            </a:r>
            <a:r>
              <a:rPr lang="en-US" altLang="zh-CN" sz="2400" b="1" dirty="0">
                <a:latin typeface="Times New Roman" panose="02020603050405020304" pitchFamily="18" charset="0"/>
              </a:rPr>
              <a:t>CLB</a:t>
            </a:r>
            <a:r>
              <a:rPr lang="zh-CN" altLang="en-US" sz="2400" b="1" dirty="0">
                <a:latin typeface="Times New Roman" panose="02020603050405020304" pitchFamily="18" charset="0"/>
              </a:rPr>
              <a:t>规模小，可分为两个独立的电路，又有丰富的连线，所以系统综合时可进行充分的优化，以达到逻辑最高的利用。</a:t>
            </a:r>
            <a:endParaRPr lang="zh-CN" altLang="en-US" sz="2400" b="1" dirty="0">
              <a:latin typeface="Times New Roman" panose="02020603050405020304" pitchFamily="18" charset="0"/>
            </a:endParaRPr>
          </a:p>
        </p:txBody>
      </p:sp>
      <p:sp>
        <p:nvSpPr>
          <p:cNvPr id="158732" name="Text Box 12"/>
          <p:cNvSpPr txBox="1"/>
          <p:nvPr/>
        </p:nvSpPr>
        <p:spPr>
          <a:xfrm>
            <a:off x="304800" y="5257800"/>
            <a:ext cx="8153400" cy="118745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     </a:t>
            </a:r>
            <a:r>
              <a:rPr lang="zh-CN" altLang="en-US" sz="2400" b="1" dirty="0">
                <a:latin typeface="Times New Roman" panose="02020603050405020304" pitchFamily="18" charset="0"/>
              </a:rPr>
              <a:t>（四）芯片功耗：高密度可编程逻辑器件</a:t>
            </a:r>
            <a:r>
              <a:rPr lang="en-US" altLang="zh-CN" sz="2400" b="1" dirty="0">
                <a:latin typeface="Times New Roman" panose="02020603050405020304" pitchFamily="18" charset="0"/>
              </a:rPr>
              <a:t>HDPLD</a:t>
            </a:r>
            <a:r>
              <a:rPr lang="zh-CN" altLang="en-US" sz="2400" b="1" dirty="0">
                <a:latin typeface="Times New Roman" panose="02020603050405020304" pitchFamily="18" charset="0"/>
              </a:rPr>
              <a:t>的功耗一般在</a:t>
            </a:r>
            <a:r>
              <a:rPr lang="en-US" altLang="zh-CN" sz="2400" b="1" dirty="0">
                <a:latin typeface="Times New Roman" panose="02020603050405020304" pitchFamily="18" charset="0"/>
              </a:rPr>
              <a:t>0.5W</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2.5W</a:t>
            </a:r>
            <a:r>
              <a:rPr lang="zh-CN" altLang="en-US" sz="2400" b="1" dirty="0">
                <a:latin typeface="Times New Roman" panose="02020603050405020304" pitchFamily="18" charset="0"/>
              </a:rPr>
              <a:t>之间，而</a:t>
            </a:r>
            <a:r>
              <a:rPr lang="en-US" altLang="zh-CN" sz="2400" b="1" dirty="0">
                <a:latin typeface="Times New Roman" panose="02020603050405020304" pitchFamily="18" charset="0"/>
              </a:rPr>
              <a:t>FPGA</a:t>
            </a:r>
            <a:r>
              <a:rPr lang="zh-CN" altLang="en-US" sz="2400" b="1" dirty="0">
                <a:latin typeface="Times New Roman" panose="02020603050405020304" pitchFamily="18" charset="0"/>
              </a:rPr>
              <a:t>芯片功耗</a:t>
            </a:r>
            <a:r>
              <a:rPr lang="en-US" altLang="zh-CN" sz="2400" b="1" dirty="0">
                <a:latin typeface="Times New Roman" panose="02020603050405020304" pitchFamily="18" charset="0"/>
              </a:rPr>
              <a:t>0.25mW</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5mW</a:t>
            </a:r>
            <a:r>
              <a:rPr lang="zh-CN" altLang="en-US" sz="2400" b="1" dirty="0">
                <a:latin typeface="Times New Roman" panose="02020603050405020304" pitchFamily="18" charset="0"/>
              </a:rPr>
              <a:t>，静态时几乎没有功耗，所以称</a:t>
            </a:r>
            <a:r>
              <a:rPr lang="en-US" altLang="zh-CN" sz="2400" b="1" dirty="0">
                <a:latin typeface="Times New Roman" panose="02020603050405020304" pitchFamily="18" charset="0"/>
              </a:rPr>
              <a:t>FPGA</a:t>
            </a:r>
            <a:r>
              <a:rPr lang="zh-CN" altLang="en-US" sz="2400" b="1" dirty="0">
                <a:latin typeface="Times New Roman" panose="02020603050405020304" pitchFamily="18" charset="0"/>
              </a:rPr>
              <a:t>为零功耗器件。</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8726"/>
                                        </p:tgtEl>
                                        <p:attrNameLst>
                                          <p:attrName>style.visibility</p:attrName>
                                        </p:attrNameLst>
                                      </p:cBhvr>
                                      <p:to>
                                        <p:strVal val="visible"/>
                                      </p:to>
                                    </p:set>
                                    <p:anim calcmode="lin" valueType="num">
                                      <p:cBhvr additive="base">
                                        <p:cTn id="7" dur="500" fill="hold"/>
                                        <p:tgtEl>
                                          <p:spTgt spid="158726"/>
                                        </p:tgtEl>
                                        <p:attrNameLst>
                                          <p:attrName>ppt_x</p:attrName>
                                        </p:attrNameLst>
                                      </p:cBhvr>
                                      <p:tavLst>
                                        <p:tav tm="0">
                                          <p:val>
                                            <p:strVal val="1+#ppt_w/2"/>
                                          </p:val>
                                        </p:tav>
                                        <p:tav tm="100000">
                                          <p:val>
                                            <p:strVal val="#ppt_x"/>
                                          </p:val>
                                        </p:tav>
                                      </p:tavLst>
                                    </p:anim>
                                    <p:anim calcmode="lin" valueType="num">
                                      <p:cBhvr additive="base">
                                        <p:cTn id="8" dur="500" fill="hold"/>
                                        <p:tgtEl>
                                          <p:spTgt spid="15872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8728"/>
                                        </p:tgtEl>
                                        <p:attrNameLst>
                                          <p:attrName>style.visibility</p:attrName>
                                        </p:attrNameLst>
                                      </p:cBhvr>
                                      <p:to>
                                        <p:strVal val="visible"/>
                                      </p:to>
                                    </p:set>
                                    <p:anim calcmode="lin" valueType="num">
                                      <p:cBhvr additive="base">
                                        <p:cTn id="13" dur="500" fill="hold"/>
                                        <p:tgtEl>
                                          <p:spTgt spid="158728"/>
                                        </p:tgtEl>
                                        <p:attrNameLst>
                                          <p:attrName>ppt_x</p:attrName>
                                        </p:attrNameLst>
                                      </p:cBhvr>
                                      <p:tavLst>
                                        <p:tav tm="0">
                                          <p:val>
                                            <p:strVal val="1+#ppt_w/2"/>
                                          </p:val>
                                        </p:tav>
                                        <p:tav tm="100000">
                                          <p:val>
                                            <p:strVal val="#ppt_x"/>
                                          </p:val>
                                        </p:tav>
                                      </p:tavLst>
                                    </p:anim>
                                    <p:anim calcmode="lin" valueType="num">
                                      <p:cBhvr additive="base">
                                        <p:cTn id="14" dur="500" fill="hold"/>
                                        <p:tgtEl>
                                          <p:spTgt spid="15872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58731"/>
                                        </p:tgtEl>
                                        <p:attrNameLst>
                                          <p:attrName>style.visibility</p:attrName>
                                        </p:attrNameLst>
                                      </p:cBhvr>
                                      <p:to>
                                        <p:strVal val="visible"/>
                                      </p:to>
                                    </p:set>
                                    <p:anim calcmode="lin" valueType="num">
                                      <p:cBhvr additive="base">
                                        <p:cTn id="19" dur="500" fill="hold"/>
                                        <p:tgtEl>
                                          <p:spTgt spid="158731"/>
                                        </p:tgtEl>
                                        <p:attrNameLst>
                                          <p:attrName>ppt_x</p:attrName>
                                        </p:attrNameLst>
                                      </p:cBhvr>
                                      <p:tavLst>
                                        <p:tav tm="0">
                                          <p:val>
                                            <p:strVal val="1+#ppt_w/2"/>
                                          </p:val>
                                        </p:tav>
                                        <p:tav tm="100000">
                                          <p:val>
                                            <p:strVal val="#ppt_x"/>
                                          </p:val>
                                        </p:tav>
                                      </p:tavLst>
                                    </p:anim>
                                    <p:anim calcmode="lin" valueType="num">
                                      <p:cBhvr additive="base">
                                        <p:cTn id="20" dur="500" fill="hold"/>
                                        <p:tgtEl>
                                          <p:spTgt spid="15873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58732"/>
                                        </p:tgtEl>
                                        <p:attrNameLst>
                                          <p:attrName>style.visibility</p:attrName>
                                        </p:attrNameLst>
                                      </p:cBhvr>
                                      <p:to>
                                        <p:strVal val="visible"/>
                                      </p:to>
                                    </p:set>
                                    <p:anim calcmode="lin" valueType="num">
                                      <p:cBhvr additive="base">
                                        <p:cTn id="25" dur="500" fill="hold"/>
                                        <p:tgtEl>
                                          <p:spTgt spid="158732"/>
                                        </p:tgtEl>
                                        <p:attrNameLst>
                                          <p:attrName>ppt_x</p:attrName>
                                        </p:attrNameLst>
                                      </p:cBhvr>
                                      <p:tavLst>
                                        <p:tav tm="0">
                                          <p:val>
                                            <p:strVal val="1+#ppt_w/2"/>
                                          </p:val>
                                        </p:tav>
                                        <p:tav tm="100000">
                                          <p:val>
                                            <p:strVal val="#ppt_x"/>
                                          </p:val>
                                        </p:tav>
                                      </p:tavLst>
                                    </p:anim>
                                    <p:anim calcmode="lin" valueType="num">
                                      <p:cBhvr additive="base">
                                        <p:cTn id="26" dur="500" fill="hold"/>
                                        <p:tgtEl>
                                          <p:spTgt spid="1587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6" grpId="0"/>
      <p:bldP spid="158728" grpId="0"/>
      <p:bldP spid="158731" grpId="0"/>
      <p:bldP spid="15873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10"/>
          <p:cNvSpPr>
            <a:spLocks noGrp="1"/>
          </p:cNvSpPr>
          <p:nvPr>
            <p:ph type="title"/>
          </p:nvPr>
        </p:nvSpPr>
        <p:spPr>
          <a:xfrm>
            <a:off x="533400" y="381000"/>
            <a:ext cx="8305800" cy="1143000"/>
          </a:xfrm>
          <a:solidFill>
            <a:srgbClr val="FF0066">
              <a:alpha val="100000"/>
            </a:srgbClr>
          </a:solidFill>
          <a:ln>
            <a:miter/>
          </a:ln>
          <a:scene3d>
            <a:camera prst="legacyObliqueBottomLeft">
              <a:rot lat="0" lon="0" rev="0"/>
            </a:camera>
            <a:lightRig rig="legacyFlat3" dir="t"/>
          </a:scene3d>
          <a:sp3d extrusionH="430200" prstMaterial="legacyMatte">
            <a:bevelT w="13500" h="13500" prst="angle"/>
            <a:bevelB w="13500" h="13500" prst="angle"/>
            <a:extrusionClr>
              <a:srgbClr val="FF0066"/>
            </a:extrusionClr>
          </a:sp3d>
        </p:spPr>
        <p:txBody>
          <a:bodyPr vert="horz" wrap="square" lIns="91440" tIns="45720" rIns="91440" bIns="45720" anchor="ctr" anchorCtr="0">
            <a:flatTx/>
          </a:bodyPr>
          <a:p>
            <a:pPr eaLnBrk="1" hangingPunct="1"/>
            <a:r>
              <a:rPr lang="en-US" altLang="zh-CN" b="1" dirty="0">
                <a:solidFill>
                  <a:srgbClr val="FFFF66"/>
                </a:solidFill>
              </a:rPr>
              <a:t>§8-7</a:t>
            </a:r>
            <a:r>
              <a:rPr lang="en-US" altLang="zh-CN" b="1" dirty="0">
                <a:solidFill>
                  <a:srgbClr val="FFCC00"/>
                </a:solidFill>
              </a:rPr>
              <a:t>     </a:t>
            </a:r>
            <a:r>
              <a:rPr lang="zh-CN" altLang="en-US" b="1" dirty="0">
                <a:solidFill>
                  <a:srgbClr val="FFFF66"/>
                </a:solidFill>
              </a:rPr>
              <a:t>随机存取存储器（</a:t>
            </a:r>
            <a:r>
              <a:rPr lang="en-US" altLang="zh-CN" b="1" dirty="0">
                <a:solidFill>
                  <a:srgbClr val="FFFF66"/>
                </a:solidFill>
              </a:rPr>
              <a:t>SRAM</a:t>
            </a:r>
            <a:r>
              <a:rPr lang="zh-CN" altLang="en-US" b="1" dirty="0">
                <a:solidFill>
                  <a:srgbClr val="FFFF66"/>
                </a:solidFill>
              </a:rPr>
              <a:t>）</a:t>
            </a:r>
            <a:endParaRPr lang="zh-CN" altLang="en-US" b="1" dirty="0">
              <a:solidFill>
                <a:srgbClr val="FFFF99"/>
              </a:solidFill>
            </a:endParaRPr>
          </a:p>
        </p:txBody>
      </p:sp>
      <p:sp>
        <p:nvSpPr>
          <p:cNvPr id="159755" name="Text Box 11"/>
          <p:cNvSpPr txBox="1"/>
          <p:nvPr/>
        </p:nvSpPr>
        <p:spPr>
          <a:xfrm>
            <a:off x="533400" y="1905000"/>
            <a:ext cx="8001000" cy="822325"/>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       </a:t>
            </a:r>
            <a:r>
              <a:rPr lang="zh-CN" altLang="en-US" sz="2400" b="1" dirty="0">
                <a:latin typeface="Times New Roman" panose="02020603050405020304" pitchFamily="18" charset="0"/>
              </a:rPr>
              <a:t>在计算机及数据处理系统中需要存放大量数据、中间结果、表格等设备，这就是随机存取存储器</a:t>
            </a:r>
            <a:r>
              <a:rPr lang="en-US" altLang="zh-CN" sz="2400" b="1" dirty="0">
                <a:latin typeface="Times New Roman" panose="02020603050405020304" pitchFamily="18" charset="0"/>
              </a:rPr>
              <a:t>SRAM</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159756" name="Text Box 12"/>
          <p:cNvSpPr txBox="1"/>
          <p:nvPr/>
        </p:nvSpPr>
        <p:spPr>
          <a:xfrm>
            <a:off x="457200" y="2743200"/>
            <a:ext cx="8077200" cy="191770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        </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可分为单极型和双极型：双极型工作速率高，但是集成度不如单极型的高，目前，由于工艺水平的不断提高，单极型</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的速率已经可以和双极型</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相比，而且单极型</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具有功耗低的优点。这里只以单极型</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为例进行分析</a:t>
            </a:r>
            <a:endParaRPr lang="zh-CN" altLang="en-US" sz="2400" b="1" dirty="0">
              <a:latin typeface="Times New Roman" panose="02020603050405020304" pitchFamily="18" charset="0"/>
            </a:endParaRPr>
          </a:p>
        </p:txBody>
      </p:sp>
      <p:sp>
        <p:nvSpPr>
          <p:cNvPr id="159757" name="Text Box 13"/>
          <p:cNvSpPr txBox="1"/>
          <p:nvPr/>
        </p:nvSpPr>
        <p:spPr>
          <a:xfrm>
            <a:off x="457200" y="4724400"/>
            <a:ext cx="8229600" cy="191770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        </a:t>
            </a:r>
            <a:r>
              <a:rPr lang="zh-CN" altLang="en-US" sz="2400" b="1" dirty="0">
                <a:latin typeface="Times New Roman" panose="02020603050405020304" pitchFamily="18" charset="0"/>
              </a:rPr>
              <a:t>单极型</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又可分为静态</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与动态</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：静态</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是用</a:t>
            </a:r>
            <a:r>
              <a:rPr lang="en-US" altLang="zh-CN" sz="2400" b="1" dirty="0">
                <a:latin typeface="Times New Roman" panose="02020603050405020304" pitchFamily="18" charset="0"/>
              </a:rPr>
              <a:t>MOS</a:t>
            </a:r>
            <a:r>
              <a:rPr lang="zh-CN" altLang="en-US" sz="2400" b="1" dirty="0">
                <a:latin typeface="Times New Roman" panose="02020603050405020304" pitchFamily="18" charset="0"/>
              </a:rPr>
              <a:t>管触发器来存储代码，所用</a:t>
            </a:r>
            <a:r>
              <a:rPr lang="en-US" altLang="zh-CN" sz="2400" b="1" dirty="0">
                <a:latin typeface="Times New Roman" panose="02020603050405020304" pitchFamily="18" charset="0"/>
              </a:rPr>
              <a:t>MOS</a:t>
            </a:r>
            <a:r>
              <a:rPr lang="zh-CN" altLang="en-US" sz="2400" b="1" dirty="0">
                <a:latin typeface="Times New Roman" panose="02020603050405020304" pitchFamily="18" charset="0"/>
              </a:rPr>
              <a:t>管较多、集成度低、功耗也较大。动态</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是用栅极分布电容保存信息，它的存储单元所需要的</a:t>
            </a:r>
            <a:r>
              <a:rPr lang="en-US" altLang="zh-CN" sz="2400" b="1" dirty="0">
                <a:latin typeface="Times New Roman" panose="02020603050405020304" pitchFamily="18" charset="0"/>
              </a:rPr>
              <a:t>MOS</a:t>
            </a:r>
            <a:r>
              <a:rPr lang="zh-CN" altLang="en-US" sz="2400" b="1" dirty="0">
                <a:latin typeface="Times New Roman" panose="02020603050405020304" pitchFamily="18" charset="0"/>
              </a:rPr>
              <a:t>管较少，因此集成度高、功耗也小。静态</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使用方便，不需要刷新</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9755"/>
                                        </p:tgtEl>
                                        <p:attrNameLst>
                                          <p:attrName>style.visibility</p:attrName>
                                        </p:attrNameLst>
                                      </p:cBhvr>
                                      <p:to>
                                        <p:strVal val="visible"/>
                                      </p:to>
                                    </p:set>
                                    <p:anim calcmode="lin" valueType="num">
                                      <p:cBhvr additive="base">
                                        <p:cTn id="7" dur="500" fill="hold"/>
                                        <p:tgtEl>
                                          <p:spTgt spid="159755"/>
                                        </p:tgtEl>
                                        <p:attrNameLst>
                                          <p:attrName>ppt_x</p:attrName>
                                        </p:attrNameLst>
                                      </p:cBhvr>
                                      <p:tavLst>
                                        <p:tav tm="0">
                                          <p:val>
                                            <p:strVal val="1+#ppt_w/2"/>
                                          </p:val>
                                        </p:tav>
                                        <p:tav tm="100000">
                                          <p:val>
                                            <p:strVal val="#ppt_x"/>
                                          </p:val>
                                        </p:tav>
                                      </p:tavLst>
                                    </p:anim>
                                    <p:anim calcmode="lin" valueType="num">
                                      <p:cBhvr additive="base">
                                        <p:cTn id="8" dur="500" fill="hold"/>
                                        <p:tgtEl>
                                          <p:spTgt spid="15975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9756"/>
                                        </p:tgtEl>
                                        <p:attrNameLst>
                                          <p:attrName>style.visibility</p:attrName>
                                        </p:attrNameLst>
                                      </p:cBhvr>
                                      <p:to>
                                        <p:strVal val="visible"/>
                                      </p:to>
                                    </p:set>
                                    <p:anim calcmode="lin" valueType="num">
                                      <p:cBhvr additive="base">
                                        <p:cTn id="13" dur="500" fill="hold"/>
                                        <p:tgtEl>
                                          <p:spTgt spid="159756"/>
                                        </p:tgtEl>
                                        <p:attrNameLst>
                                          <p:attrName>ppt_x</p:attrName>
                                        </p:attrNameLst>
                                      </p:cBhvr>
                                      <p:tavLst>
                                        <p:tav tm="0">
                                          <p:val>
                                            <p:strVal val="1+#ppt_w/2"/>
                                          </p:val>
                                        </p:tav>
                                        <p:tav tm="100000">
                                          <p:val>
                                            <p:strVal val="#ppt_x"/>
                                          </p:val>
                                        </p:tav>
                                      </p:tavLst>
                                    </p:anim>
                                    <p:anim calcmode="lin" valueType="num">
                                      <p:cBhvr additive="base">
                                        <p:cTn id="14" dur="500" fill="hold"/>
                                        <p:tgtEl>
                                          <p:spTgt spid="15975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59757"/>
                                        </p:tgtEl>
                                        <p:attrNameLst>
                                          <p:attrName>style.visibility</p:attrName>
                                        </p:attrNameLst>
                                      </p:cBhvr>
                                      <p:to>
                                        <p:strVal val="visible"/>
                                      </p:to>
                                    </p:set>
                                    <p:anim calcmode="lin" valueType="num">
                                      <p:cBhvr additive="base">
                                        <p:cTn id="19" dur="500" fill="hold"/>
                                        <p:tgtEl>
                                          <p:spTgt spid="159757"/>
                                        </p:tgtEl>
                                        <p:attrNameLst>
                                          <p:attrName>ppt_x</p:attrName>
                                        </p:attrNameLst>
                                      </p:cBhvr>
                                      <p:tavLst>
                                        <p:tav tm="0">
                                          <p:val>
                                            <p:strVal val="1+#ppt_w/2"/>
                                          </p:val>
                                        </p:tav>
                                        <p:tav tm="100000">
                                          <p:val>
                                            <p:strVal val="#ppt_x"/>
                                          </p:val>
                                        </p:tav>
                                      </p:tavLst>
                                    </p:anim>
                                    <p:anim calcmode="lin" valueType="num">
                                      <p:cBhvr additive="base">
                                        <p:cTn id="20" dur="500" fill="hold"/>
                                        <p:tgtEl>
                                          <p:spTgt spid="1597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55" grpId="0"/>
      <p:bldP spid="159756" grpId="0"/>
      <p:bldP spid="15975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Text Box 9"/>
          <p:cNvSpPr txBox="1"/>
          <p:nvPr/>
        </p:nvSpPr>
        <p:spPr>
          <a:xfrm>
            <a:off x="152400" y="152400"/>
            <a:ext cx="5791200" cy="457200"/>
          </a:xfrm>
          <a:prstGeom prst="rect">
            <a:avLst/>
          </a:prstGeom>
          <a:noFill/>
          <a:ln w="9525">
            <a:noFill/>
          </a:ln>
        </p:spPr>
        <p:txBody>
          <a:bodyPr>
            <a:spAutoFit/>
          </a:bodyPr>
          <a:p>
            <a:pPr eaLnBrk="1" hangingPunct="1">
              <a:spcBef>
                <a:spcPct val="50000"/>
              </a:spcBef>
            </a:pPr>
            <a:r>
              <a:rPr lang="zh-CN" altLang="en-US" sz="2400" b="1" dirty="0">
                <a:latin typeface="黑体" panose="02010609060101010101" pitchFamily="2" charset="-122"/>
                <a:ea typeface="黑体" panose="02010609060101010101" pitchFamily="2" charset="-122"/>
              </a:rPr>
              <a:t>一、</a:t>
            </a:r>
            <a:r>
              <a:rPr lang="en-US" altLang="zh-CN" sz="2400" b="1" dirty="0">
                <a:latin typeface="黑体" panose="02010609060101010101" pitchFamily="2" charset="-122"/>
                <a:ea typeface="黑体" panose="02010609060101010101" pitchFamily="2" charset="-122"/>
              </a:rPr>
              <a:t>RAM</a:t>
            </a:r>
            <a:r>
              <a:rPr lang="zh-CN" altLang="en-US" sz="2400" b="1" dirty="0">
                <a:latin typeface="黑体" panose="02010609060101010101" pitchFamily="2" charset="-122"/>
                <a:ea typeface="黑体" panose="02010609060101010101" pitchFamily="2" charset="-122"/>
              </a:rPr>
              <a:t>的基本结构</a:t>
            </a:r>
            <a:endParaRPr lang="zh-CN" altLang="en-US" sz="2400" b="1" dirty="0">
              <a:latin typeface="黑体" panose="02010609060101010101" pitchFamily="2" charset="-122"/>
              <a:ea typeface="黑体" panose="02010609060101010101" pitchFamily="2" charset="-122"/>
            </a:endParaRPr>
          </a:p>
        </p:txBody>
      </p:sp>
      <p:sp>
        <p:nvSpPr>
          <p:cNvPr id="63491" name="Text Box 10"/>
          <p:cNvSpPr txBox="1"/>
          <p:nvPr/>
        </p:nvSpPr>
        <p:spPr>
          <a:xfrm>
            <a:off x="228600" y="685800"/>
            <a:ext cx="8001000" cy="457200"/>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        </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的基本结构如下图所示的三个部分：</a:t>
            </a:r>
            <a:endParaRPr lang="zh-CN" altLang="en-US" sz="2400" b="1" dirty="0">
              <a:latin typeface="Times New Roman" panose="02020603050405020304" pitchFamily="18" charset="0"/>
            </a:endParaRPr>
          </a:p>
        </p:txBody>
      </p:sp>
      <p:graphicFrame>
        <p:nvGraphicFramePr>
          <p:cNvPr id="160779" name="Object 11"/>
          <p:cNvGraphicFramePr/>
          <p:nvPr/>
        </p:nvGraphicFramePr>
        <p:xfrm>
          <a:off x="1828800" y="1905000"/>
          <a:ext cx="5072063" cy="4662488"/>
        </p:xfrm>
        <a:graphic>
          <a:graphicData uri="http://schemas.openxmlformats.org/presentationml/2006/ole">
            <mc:AlternateContent xmlns:mc="http://schemas.openxmlformats.org/markup-compatibility/2006">
              <mc:Choice xmlns:v="urn:schemas-microsoft-com:vml" Requires="v">
                <p:oleObj spid="_x0000_s3113" name="" r:id="rId1" imgW="2419350" imgH="1971675" progId="Paint.Picture">
                  <p:embed/>
                </p:oleObj>
              </mc:Choice>
              <mc:Fallback>
                <p:oleObj name="" r:id="rId1" imgW="2419350" imgH="1971675" progId="Paint.Picture">
                  <p:embed/>
                  <p:pic>
                    <p:nvPicPr>
                      <p:cNvPr id="0" name="图片 3112"/>
                      <p:cNvPicPr/>
                      <p:nvPr/>
                    </p:nvPicPr>
                    <p:blipFill>
                      <a:blip r:embed="rId2"/>
                      <a:stretch>
                        <a:fillRect/>
                      </a:stretch>
                    </p:blipFill>
                    <p:spPr>
                      <a:xfrm>
                        <a:off x="1828800" y="1905000"/>
                        <a:ext cx="5072063" cy="4662488"/>
                      </a:xfrm>
                      <a:prstGeom prst="rect">
                        <a:avLst/>
                      </a:prstGeom>
                      <a:noFill/>
                      <a:ln w="38100">
                        <a:noFill/>
                        <a:miter/>
                      </a:ln>
                    </p:spPr>
                  </p:pic>
                </p:oleObj>
              </mc:Fallback>
            </mc:AlternateContent>
          </a:graphicData>
        </a:graphic>
      </p:graphicFrame>
      <p:sp>
        <p:nvSpPr>
          <p:cNvPr id="160780" name="AutoShape 12"/>
          <p:cNvSpPr/>
          <p:nvPr/>
        </p:nvSpPr>
        <p:spPr>
          <a:xfrm>
            <a:off x="6400800" y="609600"/>
            <a:ext cx="1752600" cy="609600"/>
          </a:xfrm>
          <a:prstGeom prst="wedgeRectCallout">
            <a:avLst>
              <a:gd name="adj1" fmla="val -86412"/>
              <a:gd name="adj2" fmla="val 231250"/>
            </a:avLst>
          </a:prstGeom>
          <a:solidFill>
            <a:srgbClr val="FFCC00"/>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dirty="0">
                <a:latin typeface="Times New Roman" panose="02020603050405020304" pitchFamily="18" charset="0"/>
              </a:rPr>
              <a:t>存储矩阵、</a:t>
            </a:r>
            <a:endParaRPr lang="zh-CN" altLang="en-US" sz="2400" dirty="0">
              <a:latin typeface="Times New Roman" panose="02020603050405020304" pitchFamily="18" charset="0"/>
            </a:endParaRPr>
          </a:p>
        </p:txBody>
      </p:sp>
      <p:sp>
        <p:nvSpPr>
          <p:cNvPr id="160781" name="AutoShape 13"/>
          <p:cNvSpPr/>
          <p:nvPr/>
        </p:nvSpPr>
        <p:spPr>
          <a:xfrm>
            <a:off x="228600" y="1143000"/>
            <a:ext cx="1600200" cy="457200"/>
          </a:xfrm>
          <a:prstGeom prst="wedgeRectCallout">
            <a:avLst>
              <a:gd name="adj1" fmla="val 128870"/>
              <a:gd name="adj2" fmla="val 190972"/>
            </a:avLst>
          </a:prstGeom>
          <a:solidFill>
            <a:srgbClr val="FFCC00"/>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dirty="0">
                <a:latin typeface="Times New Roman" panose="02020603050405020304" pitchFamily="18" charset="0"/>
              </a:rPr>
              <a:t>地址译码器</a:t>
            </a:r>
            <a:endParaRPr lang="zh-CN" altLang="en-US" sz="2400" dirty="0">
              <a:latin typeface="Times New Roman" panose="02020603050405020304" pitchFamily="18" charset="0"/>
            </a:endParaRPr>
          </a:p>
        </p:txBody>
      </p:sp>
      <p:sp>
        <p:nvSpPr>
          <p:cNvPr id="160782" name="AutoShape 14"/>
          <p:cNvSpPr/>
          <p:nvPr/>
        </p:nvSpPr>
        <p:spPr>
          <a:xfrm>
            <a:off x="1828800" y="1143000"/>
            <a:ext cx="1828800" cy="457200"/>
          </a:xfrm>
          <a:prstGeom prst="wedgeRectCallout">
            <a:avLst>
              <a:gd name="adj1" fmla="val 85417"/>
              <a:gd name="adj2" fmla="val 732639"/>
            </a:avLst>
          </a:prstGeom>
          <a:solidFill>
            <a:srgbClr val="FFCC00"/>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dirty="0">
                <a:latin typeface="Times New Roman" panose="02020603050405020304" pitchFamily="18" charset="0"/>
              </a:rPr>
              <a:t>和读写电路</a:t>
            </a:r>
            <a:endParaRPr lang="zh-CN" altLang="en-US" sz="2400" dirty="0">
              <a:latin typeface="Times New Roman" panose="02020603050405020304" pitchFamily="18" charset="0"/>
            </a:endParaRPr>
          </a:p>
        </p:txBody>
      </p:sp>
      <p:sp>
        <p:nvSpPr>
          <p:cNvPr id="160783" name="AutoShape 15"/>
          <p:cNvSpPr/>
          <p:nvPr/>
        </p:nvSpPr>
        <p:spPr>
          <a:xfrm>
            <a:off x="304800" y="4572000"/>
            <a:ext cx="990600" cy="457200"/>
          </a:xfrm>
          <a:prstGeom prst="wedgeRectCallout">
            <a:avLst>
              <a:gd name="adj1" fmla="val 131731"/>
              <a:gd name="adj2" fmla="val -375694"/>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dirty="0">
                <a:latin typeface="Times New Roman" panose="02020603050405020304" pitchFamily="18" charset="0"/>
              </a:rPr>
              <a:t>地址</a:t>
            </a:r>
            <a:endParaRPr lang="zh-CN" altLang="en-US" sz="2400" dirty="0">
              <a:latin typeface="Times New Roman" panose="02020603050405020304" pitchFamily="18" charset="0"/>
            </a:endParaRPr>
          </a:p>
        </p:txBody>
      </p:sp>
      <p:sp>
        <p:nvSpPr>
          <p:cNvPr id="160784" name="AutoShape 16"/>
          <p:cNvSpPr/>
          <p:nvPr/>
        </p:nvSpPr>
        <p:spPr>
          <a:xfrm>
            <a:off x="685800" y="5943600"/>
            <a:ext cx="1447800" cy="609600"/>
          </a:xfrm>
          <a:prstGeom prst="wedgeRectCallout">
            <a:avLst>
              <a:gd name="adj1" fmla="val 326972"/>
              <a:gd name="adj2" fmla="val -198699"/>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dirty="0">
                <a:latin typeface="Times New Roman" panose="02020603050405020304" pitchFamily="18" charset="0"/>
              </a:rPr>
              <a:t>片选信号</a:t>
            </a:r>
            <a:endParaRPr lang="zh-CN" altLang="en-US" sz="2400" dirty="0">
              <a:latin typeface="Times New Roman" panose="02020603050405020304" pitchFamily="18" charset="0"/>
            </a:endParaRPr>
          </a:p>
        </p:txBody>
      </p:sp>
      <p:sp>
        <p:nvSpPr>
          <p:cNvPr id="160785" name="AutoShape 17"/>
          <p:cNvSpPr/>
          <p:nvPr/>
        </p:nvSpPr>
        <p:spPr>
          <a:xfrm>
            <a:off x="6553200" y="5562600"/>
            <a:ext cx="1981200" cy="609600"/>
          </a:xfrm>
          <a:prstGeom prst="wedgeRectCallout">
            <a:avLst>
              <a:gd name="adj1" fmla="val -196153"/>
              <a:gd name="adj2" fmla="val -143750"/>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dirty="0">
                <a:latin typeface="Times New Roman" panose="02020603050405020304" pitchFamily="18" charset="0"/>
              </a:rPr>
              <a:t>读写控制信号</a:t>
            </a:r>
            <a:endParaRPr lang="zh-CN" altLang="en-US" sz="2400" dirty="0">
              <a:latin typeface="Times New Roman" panose="02020603050405020304" pitchFamily="18" charset="0"/>
            </a:endParaRPr>
          </a:p>
        </p:txBody>
      </p:sp>
      <p:sp>
        <p:nvSpPr>
          <p:cNvPr id="160786" name="AutoShape 18"/>
          <p:cNvSpPr/>
          <p:nvPr/>
        </p:nvSpPr>
        <p:spPr>
          <a:xfrm>
            <a:off x="6781800" y="2819400"/>
            <a:ext cx="1752600" cy="1066800"/>
          </a:xfrm>
          <a:prstGeom prst="wedgeRectCallout">
            <a:avLst>
              <a:gd name="adj1" fmla="val -122282"/>
              <a:gd name="adj2" fmla="val 250296"/>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dirty="0">
                <a:latin typeface="Times New Roman" panose="02020603050405020304" pitchFamily="18" charset="0"/>
              </a:rPr>
              <a:t>数据输入</a:t>
            </a:r>
            <a:endParaRPr lang="zh-CN" altLang="en-US" sz="2400" dirty="0">
              <a:latin typeface="Times New Roman" panose="02020603050405020304" pitchFamily="18" charset="0"/>
            </a:endParaRPr>
          </a:p>
          <a:p>
            <a:pPr eaLnBrk="1" hangingPunct="1"/>
            <a:r>
              <a:rPr lang="zh-CN" altLang="en-US" sz="2400" dirty="0">
                <a:latin typeface="Times New Roman" panose="02020603050405020304" pitchFamily="18" charset="0"/>
              </a:rPr>
              <a:t>和输出信号</a:t>
            </a:r>
            <a:endParaRPr lang="zh-CN" altLang="en-US" sz="2400"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607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07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07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078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8" presetClass="entr" presetSubtype="3" fill="hold" grpId="0" nodeType="clickEffect">
                                  <p:stCondLst>
                                    <p:cond delay="0"/>
                                  </p:stCondLst>
                                  <p:childTnLst>
                                    <p:set>
                                      <p:cBhvr>
                                        <p:cTn id="22" dur="1" fill="hold">
                                          <p:stCondLst>
                                            <p:cond delay="0"/>
                                          </p:stCondLst>
                                        </p:cTn>
                                        <p:tgtEl>
                                          <p:spTgt spid="160783"/>
                                        </p:tgtEl>
                                        <p:attrNameLst>
                                          <p:attrName>style.visibility</p:attrName>
                                        </p:attrNameLst>
                                      </p:cBhvr>
                                      <p:to>
                                        <p:strVal val="visible"/>
                                      </p:to>
                                    </p:set>
                                    <p:animEffect transition="in" filter="strips(upRight)">
                                      <p:cBhvr>
                                        <p:cTn id="23" dur="500"/>
                                        <p:tgtEl>
                                          <p:spTgt spid="160783"/>
                                        </p:tgtEl>
                                      </p:cBhvr>
                                    </p:animEffect>
                                  </p:childTnLst>
                                  <p:subTnLst>
                                    <p:set>
                                      <p:cBhvr override="childStyle">
                                        <p:cTn dur="1" fill="hold" display="0" masterRel="nextClick" afterEffect="1"/>
                                        <p:tgtEl>
                                          <p:spTgt spid="160783"/>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18" presetClass="entr" presetSubtype="3" fill="hold" grpId="0" nodeType="clickEffect">
                                  <p:stCondLst>
                                    <p:cond delay="0"/>
                                  </p:stCondLst>
                                  <p:childTnLst>
                                    <p:set>
                                      <p:cBhvr>
                                        <p:cTn id="27" dur="1" fill="hold">
                                          <p:stCondLst>
                                            <p:cond delay="0"/>
                                          </p:stCondLst>
                                        </p:cTn>
                                        <p:tgtEl>
                                          <p:spTgt spid="160784"/>
                                        </p:tgtEl>
                                        <p:attrNameLst>
                                          <p:attrName>style.visibility</p:attrName>
                                        </p:attrNameLst>
                                      </p:cBhvr>
                                      <p:to>
                                        <p:strVal val="visible"/>
                                      </p:to>
                                    </p:set>
                                    <p:animEffect transition="in" filter="strips(upRight)">
                                      <p:cBhvr>
                                        <p:cTn id="28" dur="500"/>
                                        <p:tgtEl>
                                          <p:spTgt spid="160784"/>
                                        </p:tgtEl>
                                      </p:cBhvr>
                                    </p:animEffect>
                                  </p:childTnLst>
                                  <p:subTnLst>
                                    <p:set>
                                      <p:cBhvr override="childStyle">
                                        <p:cTn dur="1" fill="hold" display="0" masterRel="nextClick" afterEffect="1"/>
                                        <p:tgtEl>
                                          <p:spTgt spid="160784"/>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160785"/>
                                        </p:tgtEl>
                                        <p:attrNameLst>
                                          <p:attrName>style.visibility</p:attrName>
                                        </p:attrNameLst>
                                      </p:cBhvr>
                                      <p:to>
                                        <p:strVal val="visible"/>
                                      </p:to>
                                    </p:set>
                                    <p:anim calcmode="lin" valueType="num">
                                      <p:cBhvr additive="base">
                                        <p:cTn id="33" dur="500" fill="hold"/>
                                        <p:tgtEl>
                                          <p:spTgt spid="160785"/>
                                        </p:tgtEl>
                                        <p:attrNameLst>
                                          <p:attrName>ppt_x</p:attrName>
                                        </p:attrNameLst>
                                      </p:cBhvr>
                                      <p:tavLst>
                                        <p:tav tm="0">
                                          <p:val>
                                            <p:strVal val="1+#ppt_w/2"/>
                                          </p:val>
                                        </p:tav>
                                        <p:tav tm="100000">
                                          <p:val>
                                            <p:strVal val="#ppt_x"/>
                                          </p:val>
                                        </p:tav>
                                      </p:tavLst>
                                    </p:anim>
                                    <p:anim calcmode="lin" valueType="num">
                                      <p:cBhvr additive="base">
                                        <p:cTn id="34" dur="500" fill="hold"/>
                                        <p:tgtEl>
                                          <p:spTgt spid="160785"/>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60785"/>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8" presetClass="entr" presetSubtype="12" fill="hold" grpId="0" nodeType="clickEffect">
                                  <p:stCondLst>
                                    <p:cond delay="0"/>
                                  </p:stCondLst>
                                  <p:childTnLst>
                                    <p:set>
                                      <p:cBhvr>
                                        <p:cTn id="38" dur="1" fill="hold">
                                          <p:stCondLst>
                                            <p:cond delay="0"/>
                                          </p:stCondLst>
                                        </p:cTn>
                                        <p:tgtEl>
                                          <p:spTgt spid="160786"/>
                                        </p:tgtEl>
                                        <p:attrNameLst>
                                          <p:attrName>style.visibility</p:attrName>
                                        </p:attrNameLst>
                                      </p:cBhvr>
                                      <p:to>
                                        <p:strVal val="visible"/>
                                      </p:to>
                                    </p:set>
                                    <p:animEffect transition="in" filter="strips(downLeft)">
                                      <p:cBhvr>
                                        <p:cTn id="39" dur="500"/>
                                        <p:tgtEl>
                                          <p:spTgt spid="160786"/>
                                        </p:tgtEl>
                                      </p:cBhvr>
                                    </p:animEffect>
                                  </p:childTnLst>
                                  <p:subTnLst>
                                    <p:set>
                                      <p:cBhvr override="childStyle">
                                        <p:cTn dur="1" fill="hold" display="0" masterRel="nextClick" afterEffect="1"/>
                                        <p:tgtEl>
                                          <p:spTgt spid="16078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80" grpId="0" animBg="1"/>
      <p:bldP spid="160781" grpId="0" animBg="1"/>
      <p:bldP spid="160782" grpId="0" animBg="1"/>
      <p:bldP spid="160783" grpId="0" animBg="1"/>
      <p:bldP spid="160784" grpId="0" animBg="1"/>
      <p:bldP spid="160785" grpId="0" animBg="1"/>
      <p:bldP spid="16078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Text Box 13"/>
          <p:cNvSpPr txBox="1"/>
          <p:nvPr/>
        </p:nvSpPr>
        <p:spPr>
          <a:xfrm>
            <a:off x="304800" y="152400"/>
            <a:ext cx="8534400" cy="2282825"/>
          </a:xfrm>
          <a:prstGeom prst="rect">
            <a:avLst/>
          </a:prstGeom>
          <a:noFill/>
          <a:ln w="9525">
            <a:noFill/>
          </a:ln>
        </p:spPr>
        <p:txBody>
          <a:bodyPr>
            <a:spAutoFit/>
          </a:bodyPr>
          <a:p>
            <a:pPr eaLnBrk="1" hangingPunct="1">
              <a:spcBef>
                <a:spcPct val="50000"/>
              </a:spcBef>
            </a:pPr>
            <a:r>
              <a:rPr lang="en-US" altLang="zh-CN" sz="2400" dirty="0">
                <a:latin typeface="Times New Roman" panose="02020603050405020304" pitchFamily="18" charset="0"/>
              </a:rPr>
              <a:t>       </a:t>
            </a:r>
            <a:r>
              <a:rPr lang="zh-CN" altLang="en-US" sz="2400" b="1" dirty="0">
                <a:latin typeface="Times New Roman" panose="02020603050405020304" pitchFamily="18" charset="0"/>
              </a:rPr>
              <a:t>下图是二元寻址的</a:t>
            </a:r>
            <a:r>
              <a:rPr lang="en-US" altLang="zh-CN" sz="2400" b="1" dirty="0">
                <a:latin typeface="Times New Roman" panose="02020603050405020304" pitchFamily="18" charset="0"/>
              </a:rPr>
              <a:t>M</a:t>
            </a:r>
            <a:r>
              <a:rPr lang="zh-CN" altLang="en-US" sz="2400" b="1" dirty="0">
                <a:latin typeface="Times New Roman" panose="02020603050405020304" pitchFamily="18" charset="0"/>
              </a:rPr>
              <a:t>字</a:t>
            </a:r>
            <a:r>
              <a:rPr lang="en-US" altLang="zh-CN" sz="2400" b="1" dirty="0">
                <a:latin typeface="宋体" panose="02010600030101010101" pitchFamily="2" charset="-122"/>
              </a:rPr>
              <a:t>×1</a:t>
            </a:r>
            <a:r>
              <a:rPr lang="zh-CN" altLang="en-US" sz="2400" b="1" dirty="0">
                <a:latin typeface="宋体" panose="02010600030101010101" pitchFamily="2" charset="-122"/>
              </a:rPr>
              <a:t>位</a:t>
            </a:r>
            <a:r>
              <a:rPr lang="en-US" altLang="zh-CN" sz="2400" b="1" dirty="0">
                <a:latin typeface="宋体" panose="02010600030101010101" pitchFamily="2" charset="-122"/>
              </a:rPr>
              <a:t>RAM</a:t>
            </a:r>
            <a:r>
              <a:rPr lang="zh-CN" altLang="en-US" sz="2400" b="1" dirty="0">
                <a:latin typeface="宋体" panose="02010600030101010101" pitchFamily="2" charset="-122"/>
              </a:rPr>
              <a:t>结构图，它的存储矩阵是</a:t>
            </a:r>
            <a:r>
              <a:rPr lang="en-US" altLang="zh-CN" sz="2400" b="1" dirty="0">
                <a:latin typeface="宋体" panose="02010600030101010101" pitchFamily="2" charset="-122"/>
              </a:rPr>
              <a:t>α×β</a:t>
            </a:r>
            <a:r>
              <a:rPr lang="zh-CN" altLang="en-US" sz="2400" b="1" dirty="0">
                <a:latin typeface="宋体" panose="02010600030101010101" pitchFamily="2" charset="-122"/>
              </a:rPr>
              <a:t>位，地址译码器分</a:t>
            </a:r>
            <a:r>
              <a:rPr lang="zh-CN" altLang="en-US" sz="2400" b="1" dirty="0">
                <a:solidFill>
                  <a:srgbClr val="FF0000"/>
                </a:solidFill>
                <a:latin typeface="宋体" panose="02010600030101010101" pitchFamily="2" charset="-122"/>
              </a:rPr>
              <a:t>行译码</a:t>
            </a:r>
            <a:r>
              <a:rPr lang="zh-CN" altLang="en-US" sz="2400" b="1" dirty="0">
                <a:latin typeface="宋体" panose="02010600030101010101" pitchFamily="2" charset="-122"/>
              </a:rPr>
              <a:t>器和</a:t>
            </a:r>
            <a:r>
              <a:rPr lang="zh-CN" altLang="en-US" sz="2400" b="1" dirty="0">
                <a:solidFill>
                  <a:srgbClr val="FF0000"/>
                </a:solidFill>
                <a:latin typeface="宋体" panose="02010600030101010101" pitchFamily="2" charset="-122"/>
              </a:rPr>
              <a:t>列译码</a:t>
            </a:r>
            <a:r>
              <a:rPr lang="zh-CN" altLang="en-US" sz="2400" b="1" dirty="0">
                <a:latin typeface="宋体" panose="02010600030101010101" pitchFamily="2" charset="-122"/>
              </a:rPr>
              <a:t>器，只有行及列共同选中的单元才能进行读、写。这种寻址的方式所需要行线和列线的总数较少。例如要存储</a:t>
            </a:r>
            <a:r>
              <a:rPr lang="en-US" altLang="zh-CN" sz="2400" b="1" dirty="0">
                <a:latin typeface="宋体" panose="02010600030101010101" pitchFamily="2" charset="-122"/>
              </a:rPr>
              <a:t>256</a:t>
            </a:r>
            <a:r>
              <a:rPr lang="zh-CN" altLang="en-US" sz="2400" b="1" dirty="0">
                <a:latin typeface="宋体" panose="02010600030101010101" pitchFamily="2" charset="-122"/>
              </a:rPr>
              <a:t>字</a:t>
            </a:r>
            <a:r>
              <a:rPr lang="en-US" altLang="zh-CN" sz="2400" b="1" dirty="0">
                <a:latin typeface="宋体" panose="02010600030101010101" pitchFamily="2" charset="-122"/>
              </a:rPr>
              <a:t>×1</a:t>
            </a:r>
            <a:r>
              <a:rPr lang="zh-CN" altLang="en-US" sz="2400" b="1" dirty="0">
                <a:latin typeface="宋体" panose="02010600030101010101" pitchFamily="2" charset="-122"/>
              </a:rPr>
              <a:t>位的容量，采用一元寻址就需要</a:t>
            </a:r>
            <a:r>
              <a:rPr lang="en-US" altLang="zh-CN" sz="2400" b="1" dirty="0">
                <a:latin typeface="宋体" panose="02010600030101010101" pitchFamily="2" charset="-122"/>
              </a:rPr>
              <a:t>256</a:t>
            </a:r>
            <a:r>
              <a:rPr lang="zh-CN" altLang="en-US" sz="2400" b="1" dirty="0">
                <a:latin typeface="宋体" panose="02010600030101010101" pitchFamily="2" charset="-122"/>
              </a:rPr>
              <a:t>条字线，若采用二元寻址只需</a:t>
            </a:r>
            <a:r>
              <a:rPr lang="en-US" altLang="zh-CN" sz="2400" b="1" dirty="0">
                <a:latin typeface="宋体" panose="02010600030101010101" pitchFamily="2" charset="-122"/>
              </a:rPr>
              <a:t>α=16</a:t>
            </a:r>
            <a:r>
              <a:rPr lang="zh-CN" altLang="en-US" sz="2400" b="1" dirty="0">
                <a:latin typeface="宋体" panose="02010600030101010101" pitchFamily="2" charset="-122"/>
              </a:rPr>
              <a:t>，</a:t>
            </a:r>
            <a:r>
              <a:rPr lang="en-US" altLang="zh-CN" sz="2400" b="1" dirty="0">
                <a:latin typeface="宋体" panose="02010600030101010101" pitchFamily="2" charset="-122"/>
              </a:rPr>
              <a:t>β=16</a:t>
            </a:r>
            <a:r>
              <a:rPr lang="zh-CN" altLang="en-US" sz="2400" b="1" dirty="0">
                <a:latin typeface="宋体" panose="02010600030101010101" pitchFamily="2" charset="-122"/>
              </a:rPr>
              <a:t>，共</a:t>
            </a:r>
            <a:r>
              <a:rPr lang="en-US" altLang="zh-CN" sz="2400" b="1" dirty="0">
                <a:latin typeface="宋体" panose="02010600030101010101" pitchFamily="2" charset="-122"/>
              </a:rPr>
              <a:t>32</a:t>
            </a:r>
            <a:r>
              <a:rPr lang="zh-CN" altLang="en-US" sz="2400" b="1" dirty="0">
                <a:latin typeface="宋体" panose="02010600030101010101" pitchFamily="2" charset="-122"/>
              </a:rPr>
              <a:t>条线也就可以了。</a:t>
            </a:r>
            <a:endParaRPr lang="zh-CN" altLang="en-US" sz="2400" b="1" dirty="0">
              <a:latin typeface="宋体" panose="02010600030101010101" pitchFamily="2" charset="-122"/>
            </a:endParaRPr>
          </a:p>
        </p:txBody>
      </p:sp>
      <p:graphicFrame>
        <p:nvGraphicFramePr>
          <p:cNvPr id="161806" name="Object 14"/>
          <p:cNvGraphicFramePr>
            <a:graphicFrameLocks noChangeAspect="1"/>
          </p:cNvGraphicFramePr>
          <p:nvPr/>
        </p:nvGraphicFramePr>
        <p:xfrm>
          <a:off x="1676400" y="2514600"/>
          <a:ext cx="4419600" cy="4724400"/>
        </p:xfrm>
        <a:graphic>
          <a:graphicData uri="http://schemas.openxmlformats.org/presentationml/2006/ole">
            <mc:AlternateContent xmlns:mc="http://schemas.openxmlformats.org/markup-compatibility/2006">
              <mc:Choice xmlns:v="urn:schemas-microsoft-com:vml" Requires="v">
                <p:oleObj spid="_x0000_s3111" name="" r:id="rId1" imgW="3000375" imgH="3362325" progId="Paint.Picture">
                  <p:embed/>
                </p:oleObj>
              </mc:Choice>
              <mc:Fallback>
                <p:oleObj name="" r:id="rId1" imgW="3000375" imgH="3362325" progId="Paint.Picture">
                  <p:embed/>
                  <p:pic>
                    <p:nvPicPr>
                      <p:cNvPr id="0" name="图片 3110"/>
                      <p:cNvPicPr/>
                      <p:nvPr/>
                    </p:nvPicPr>
                    <p:blipFill>
                      <a:blip r:embed="rId2"/>
                      <a:stretch>
                        <a:fillRect/>
                      </a:stretch>
                    </p:blipFill>
                    <p:spPr>
                      <a:xfrm>
                        <a:off x="1676400" y="2514600"/>
                        <a:ext cx="4419600" cy="4724400"/>
                      </a:xfrm>
                      <a:prstGeom prst="rect">
                        <a:avLst/>
                      </a:prstGeom>
                      <a:noFill/>
                      <a:ln w="38100">
                        <a:noFill/>
                        <a:miter/>
                      </a:ln>
                    </p:spPr>
                  </p:pic>
                </p:oleObj>
              </mc:Fallback>
            </mc:AlternateContent>
          </a:graphicData>
        </a:graphic>
      </p:graphicFrame>
      <p:sp>
        <p:nvSpPr>
          <p:cNvPr id="161807" name="Line 15"/>
          <p:cNvSpPr/>
          <p:nvPr/>
        </p:nvSpPr>
        <p:spPr>
          <a:xfrm flipH="1">
            <a:off x="2743200" y="914400"/>
            <a:ext cx="1143000" cy="3200400"/>
          </a:xfrm>
          <a:prstGeom prst="line">
            <a:avLst/>
          </a:prstGeom>
          <a:ln w="57150" cap="flat" cmpd="sng">
            <a:solidFill>
              <a:srgbClr val="FF0000"/>
            </a:solidFill>
            <a:prstDash val="solid"/>
            <a:headEnd type="none" w="med" len="med"/>
            <a:tailEnd type="triangle" w="med" len="med"/>
          </a:ln>
        </p:spPr>
      </p:sp>
      <p:sp>
        <p:nvSpPr>
          <p:cNvPr id="161808" name="Line 16"/>
          <p:cNvSpPr/>
          <p:nvPr/>
        </p:nvSpPr>
        <p:spPr>
          <a:xfrm flipH="1">
            <a:off x="4648200" y="914400"/>
            <a:ext cx="914400" cy="2133600"/>
          </a:xfrm>
          <a:prstGeom prst="line">
            <a:avLst/>
          </a:prstGeom>
          <a:ln w="57150" cap="flat" cmpd="sng">
            <a:solidFill>
              <a:srgbClr val="FF0000"/>
            </a:solidFill>
            <a:prstDash val="solid"/>
            <a:headEnd type="none" w="med" len="med"/>
            <a:tailEnd type="triangle" w="med" len="med"/>
          </a:ln>
        </p:spPr>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618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12" fill="hold" nodeType="clickEffect">
                                  <p:stCondLst>
                                    <p:cond delay="0"/>
                                  </p:stCondLst>
                                  <p:childTnLst>
                                    <p:set>
                                      <p:cBhvr>
                                        <p:cTn id="10" dur="1" fill="hold">
                                          <p:stCondLst>
                                            <p:cond delay="0"/>
                                          </p:stCondLst>
                                        </p:cTn>
                                        <p:tgtEl>
                                          <p:spTgt spid="161807"/>
                                        </p:tgtEl>
                                        <p:attrNameLst>
                                          <p:attrName>style.visibility</p:attrName>
                                        </p:attrNameLst>
                                      </p:cBhvr>
                                      <p:to>
                                        <p:strVal val="visible"/>
                                      </p:to>
                                    </p:set>
                                    <p:animEffect transition="in" filter="strips(downLeft)">
                                      <p:cBhvr>
                                        <p:cTn id="11" dur="500"/>
                                        <p:tgtEl>
                                          <p:spTgt spid="161807"/>
                                        </p:tgtEl>
                                      </p:cBhvr>
                                    </p:animEffect>
                                  </p:childTnLst>
                                  <p:subTnLst>
                                    <p:set>
                                      <p:cBhvr override="childStyle">
                                        <p:cTn dur="1" fill="hold" display="0" masterRel="nextClick" afterEffect="1"/>
                                        <p:tgtEl>
                                          <p:spTgt spid="161807"/>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18" presetClass="entr" presetSubtype="12" fill="hold" nodeType="clickEffect">
                                  <p:stCondLst>
                                    <p:cond delay="0"/>
                                  </p:stCondLst>
                                  <p:childTnLst>
                                    <p:set>
                                      <p:cBhvr>
                                        <p:cTn id="15" dur="1" fill="hold">
                                          <p:stCondLst>
                                            <p:cond delay="0"/>
                                          </p:stCondLst>
                                        </p:cTn>
                                        <p:tgtEl>
                                          <p:spTgt spid="161808"/>
                                        </p:tgtEl>
                                        <p:attrNameLst>
                                          <p:attrName>style.visibility</p:attrName>
                                        </p:attrNameLst>
                                      </p:cBhvr>
                                      <p:to>
                                        <p:strVal val="visible"/>
                                      </p:to>
                                    </p:set>
                                    <p:animEffect transition="in" filter="strips(downLeft)">
                                      <p:cBhvr>
                                        <p:cTn id="16" dur="500"/>
                                        <p:tgtEl>
                                          <p:spTgt spid="161808"/>
                                        </p:tgtEl>
                                      </p:cBhvr>
                                    </p:animEffect>
                                  </p:childTnLst>
                                  <p:subTnLst>
                                    <p:set>
                                      <p:cBhvr override="childStyle">
                                        <p:cTn dur="1" fill="hold" display="0" masterRel="nextClick" afterEffect="1"/>
                                        <p:tgtEl>
                                          <p:spTgt spid="16180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62830" name="Object 14"/>
          <p:cNvGraphicFramePr>
            <a:graphicFrameLocks noChangeAspect="1"/>
          </p:cNvGraphicFramePr>
          <p:nvPr/>
        </p:nvGraphicFramePr>
        <p:xfrm>
          <a:off x="4648200" y="1295400"/>
          <a:ext cx="4495800" cy="5562600"/>
        </p:xfrm>
        <a:graphic>
          <a:graphicData uri="http://schemas.openxmlformats.org/presentationml/2006/ole">
            <mc:AlternateContent xmlns:mc="http://schemas.openxmlformats.org/markup-compatibility/2006">
              <mc:Choice xmlns:v="urn:schemas-microsoft-com:vml" Requires="v">
                <p:oleObj spid="_x0000_s3112" name="" r:id="rId1" imgW="3143250" imgH="3895725" progId="Paint.Picture">
                  <p:embed/>
                </p:oleObj>
              </mc:Choice>
              <mc:Fallback>
                <p:oleObj name="" r:id="rId1" imgW="3143250" imgH="3895725" progId="Paint.Picture">
                  <p:embed/>
                  <p:pic>
                    <p:nvPicPr>
                      <p:cNvPr id="0" name="图片 3111"/>
                      <p:cNvPicPr/>
                      <p:nvPr/>
                    </p:nvPicPr>
                    <p:blipFill>
                      <a:blip r:embed="rId2"/>
                      <a:stretch>
                        <a:fillRect/>
                      </a:stretch>
                    </p:blipFill>
                    <p:spPr>
                      <a:xfrm>
                        <a:off x="4648200" y="1295400"/>
                        <a:ext cx="4495800" cy="5562600"/>
                      </a:xfrm>
                      <a:prstGeom prst="rect">
                        <a:avLst/>
                      </a:prstGeom>
                      <a:noFill/>
                      <a:ln w="38100">
                        <a:noFill/>
                        <a:miter/>
                      </a:ln>
                    </p:spPr>
                  </p:pic>
                </p:oleObj>
              </mc:Fallback>
            </mc:AlternateContent>
          </a:graphicData>
        </a:graphic>
      </p:graphicFrame>
      <p:sp>
        <p:nvSpPr>
          <p:cNvPr id="65539" name="Text Box 9"/>
          <p:cNvSpPr txBox="1"/>
          <p:nvPr/>
        </p:nvSpPr>
        <p:spPr>
          <a:xfrm>
            <a:off x="152400" y="0"/>
            <a:ext cx="4343400" cy="457200"/>
          </a:xfrm>
          <a:prstGeom prst="rect">
            <a:avLst/>
          </a:prstGeom>
          <a:noFill/>
          <a:ln w="9525">
            <a:noFill/>
          </a:ln>
        </p:spPr>
        <p:txBody>
          <a:bodyPr>
            <a:spAutoFit/>
          </a:bodyPr>
          <a:p>
            <a:pPr eaLnBrk="1" hangingPunct="1">
              <a:spcBef>
                <a:spcPct val="50000"/>
              </a:spcBef>
            </a:pPr>
            <a:r>
              <a:rPr lang="zh-CN" altLang="en-US" sz="2400" b="1" dirty="0">
                <a:latin typeface="黑体" panose="02010609060101010101" pitchFamily="2" charset="-122"/>
                <a:ea typeface="黑体" panose="02010609060101010101" pitchFamily="2" charset="-122"/>
              </a:rPr>
              <a:t>二、存储单元</a:t>
            </a:r>
            <a:endParaRPr lang="zh-CN" altLang="en-US" sz="2400" b="1" dirty="0">
              <a:latin typeface="黑体" panose="02010609060101010101" pitchFamily="2" charset="-122"/>
              <a:ea typeface="黑体" panose="02010609060101010101" pitchFamily="2" charset="-122"/>
            </a:endParaRPr>
          </a:p>
        </p:txBody>
      </p:sp>
      <p:sp>
        <p:nvSpPr>
          <p:cNvPr id="162826" name="Text Box 10"/>
          <p:cNvSpPr txBox="1"/>
          <p:nvPr/>
        </p:nvSpPr>
        <p:spPr>
          <a:xfrm>
            <a:off x="0" y="381000"/>
            <a:ext cx="8382000" cy="457200"/>
          </a:xfrm>
          <a:prstGeom prst="rect">
            <a:avLst/>
          </a:prstGeom>
          <a:noFill/>
          <a:ln w="9525">
            <a:noFill/>
          </a:ln>
        </p:spPr>
        <p:txBody>
          <a:bodyPr>
            <a:spAutoFit/>
          </a:bodyPr>
          <a:p>
            <a:pPr eaLnBrk="1" hangingPunct="1">
              <a:spcBef>
                <a:spcPct val="50000"/>
              </a:spcBef>
            </a:pPr>
            <a:r>
              <a:rPr lang="en-US" altLang="zh-CN" sz="2400" dirty="0">
                <a:latin typeface="宋体" panose="02010600030101010101" pitchFamily="2" charset="-122"/>
              </a:rPr>
              <a:t>    </a:t>
            </a:r>
            <a:r>
              <a:rPr lang="en-US" altLang="zh-CN" sz="2400" b="1" dirty="0">
                <a:latin typeface="宋体" panose="02010600030101010101" pitchFamily="2" charset="-122"/>
              </a:rPr>
              <a:t>RAM</a:t>
            </a:r>
            <a:r>
              <a:rPr lang="zh-CN" altLang="en-US" sz="2400" b="1" dirty="0">
                <a:latin typeface="宋体" panose="02010600030101010101" pitchFamily="2" charset="-122"/>
              </a:rPr>
              <a:t>中的存储单元可由双极型管组成，也可由</a:t>
            </a:r>
            <a:r>
              <a:rPr lang="en-US" altLang="zh-CN" sz="2400" b="1" dirty="0">
                <a:latin typeface="宋体" panose="02010600030101010101" pitchFamily="2" charset="-122"/>
              </a:rPr>
              <a:t>MOS</a:t>
            </a:r>
            <a:r>
              <a:rPr lang="zh-CN" altLang="en-US" sz="2400" b="1" dirty="0">
                <a:latin typeface="宋体" panose="02010600030101010101" pitchFamily="2" charset="-122"/>
              </a:rPr>
              <a:t>管组成。</a:t>
            </a:r>
            <a:endParaRPr lang="zh-CN" altLang="en-US" sz="2400" b="1" dirty="0">
              <a:latin typeface="宋体" panose="02010600030101010101" pitchFamily="2" charset="-122"/>
            </a:endParaRPr>
          </a:p>
        </p:txBody>
      </p:sp>
      <p:sp>
        <p:nvSpPr>
          <p:cNvPr id="162827" name="Text Box 11"/>
          <p:cNvSpPr txBox="1"/>
          <p:nvPr/>
        </p:nvSpPr>
        <p:spPr>
          <a:xfrm>
            <a:off x="0" y="777875"/>
            <a:ext cx="8686800" cy="822325"/>
          </a:xfrm>
          <a:prstGeom prst="rect">
            <a:avLst/>
          </a:prstGeom>
          <a:noFill/>
          <a:ln w="9525">
            <a:noFill/>
          </a:ln>
        </p:spPr>
        <p:txBody>
          <a:bodyPr>
            <a:spAutoFit/>
          </a:bodyPr>
          <a:p>
            <a:pPr eaLnBrk="1" hangingPunct="1">
              <a:spcBef>
                <a:spcPct val="50000"/>
              </a:spcBef>
            </a:pPr>
            <a:r>
              <a:rPr lang="en-US" altLang="zh-CN" sz="2400" dirty="0">
                <a:latin typeface="宋体" panose="02010600030101010101" pitchFamily="2" charset="-122"/>
              </a:rPr>
              <a:t>    </a:t>
            </a:r>
            <a:r>
              <a:rPr lang="en-US" altLang="zh-CN" sz="2400" b="1" dirty="0">
                <a:latin typeface="宋体" panose="02010600030101010101" pitchFamily="2" charset="-122"/>
              </a:rPr>
              <a:t>MOS</a:t>
            </a:r>
            <a:r>
              <a:rPr lang="zh-CN" altLang="en-US" sz="2400" b="1" dirty="0">
                <a:latin typeface="宋体" panose="02010600030101010101" pitchFamily="2" charset="-122"/>
              </a:rPr>
              <a:t>管可以工作于静态，也可以工作于动态，而双极型管单元大多工作于静态。</a:t>
            </a:r>
            <a:endParaRPr lang="zh-CN" altLang="en-US" sz="2400" b="1" dirty="0">
              <a:latin typeface="宋体" panose="02010600030101010101" pitchFamily="2" charset="-122"/>
            </a:endParaRPr>
          </a:p>
        </p:txBody>
      </p:sp>
      <p:sp>
        <p:nvSpPr>
          <p:cNvPr id="162828" name="Text Box 12"/>
          <p:cNvSpPr txBox="1"/>
          <p:nvPr/>
        </p:nvSpPr>
        <p:spPr>
          <a:xfrm>
            <a:off x="0" y="1600200"/>
            <a:ext cx="6400800" cy="457200"/>
          </a:xfrm>
          <a:prstGeom prst="rect">
            <a:avLst/>
          </a:prstGeom>
          <a:noFill/>
          <a:ln w="9525">
            <a:noFill/>
          </a:ln>
        </p:spPr>
        <p:txBody>
          <a:bodyPr>
            <a:spAutoFit/>
          </a:bodyPr>
          <a:p>
            <a:pPr eaLnBrk="1" hangingPunct="1">
              <a:spcBef>
                <a:spcPct val="50000"/>
              </a:spcBef>
            </a:pPr>
            <a:r>
              <a:rPr lang="zh-CN" altLang="en-US" sz="2400" b="1" dirty="0">
                <a:latin typeface="Times New Roman" panose="02020603050405020304" pitchFamily="18" charset="0"/>
              </a:rPr>
              <a:t>（一）</a:t>
            </a:r>
            <a:r>
              <a:rPr lang="en-US" altLang="zh-CN" sz="2400" b="1" dirty="0">
                <a:latin typeface="Times New Roman" panose="02020603050405020304" pitchFamily="18" charset="0"/>
              </a:rPr>
              <a:t>MOS</a:t>
            </a:r>
            <a:r>
              <a:rPr lang="zh-CN" altLang="en-US" sz="2400" b="1" dirty="0">
                <a:latin typeface="Times New Roman" panose="02020603050405020304" pitchFamily="18" charset="0"/>
              </a:rPr>
              <a:t>静态单元如下图所示：</a:t>
            </a:r>
            <a:endParaRPr lang="zh-CN" altLang="en-US" sz="2400" b="1" dirty="0">
              <a:latin typeface="Times New Roman" panose="02020603050405020304" pitchFamily="18" charset="0"/>
            </a:endParaRPr>
          </a:p>
        </p:txBody>
      </p:sp>
      <p:grpSp>
        <p:nvGrpSpPr>
          <p:cNvPr id="162834" name="Group 18"/>
          <p:cNvGrpSpPr/>
          <p:nvPr/>
        </p:nvGrpSpPr>
        <p:grpSpPr>
          <a:xfrm>
            <a:off x="914400" y="1600200"/>
            <a:ext cx="6629400" cy="2514600"/>
            <a:chOff x="576" y="1008"/>
            <a:chExt cx="4176" cy="1584"/>
          </a:xfrm>
        </p:grpSpPr>
        <p:sp>
          <p:nvSpPr>
            <p:cNvPr id="65561" name="AutoShape 15"/>
            <p:cNvSpPr/>
            <p:nvPr/>
          </p:nvSpPr>
          <p:spPr>
            <a:xfrm>
              <a:off x="576" y="1536"/>
              <a:ext cx="1968" cy="576"/>
            </a:xfrm>
            <a:prstGeom prst="wedgeRectCallout">
              <a:avLst>
                <a:gd name="adj1" fmla="val 92833"/>
                <a:gd name="adj2" fmla="val 70486"/>
              </a:avLst>
            </a:prstGeom>
            <a:solidFill>
              <a:srgbClr val="FFCC66"/>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0</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1</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2</a:t>
              </a:r>
              <a:r>
                <a:rPr lang="zh-CN" altLang="en-US" sz="2400" b="1" dirty="0">
                  <a:latin typeface="Times New Roman" panose="02020603050405020304" pitchFamily="18" charset="0"/>
                </a:rPr>
                <a:t>及</a:t>
              </a:r>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3</a:t>
              </a:r>
              <a:r>
                <a:rPr lang="zh-CN" altLang="en-US" sz="2400" b="1" dirty="0">
                  <a:latin typeface="Times New Roman" panose="02020603050405020304" pitchFamily="18" charset="0"/>
                </a:rPr>
                <a:t>构成</a:t>
              </a:r>
              <a:endParaRPr lang="zh-CN" altLang="en-US" sz="2400" b="1" dirty="0">
                <a:latin typeface="Times New Roman" panose="02020603050405020304" pitchFamily="18" charset="0"/>
              </a:endParaRPr>
            </a:p>
            <a:p>
              <a:pPr algn="ctr" eaLnBrk="1" hangingPunct="1"/>
              <a:r>
                <a:rPr lang="en-US" altLang="zh-CN" sz="2400" b="1" dirty="0">
                  <a:latin typeface="Times New Roman" panose="02020603050405020304" pitchFamily="18" charset="0"/>
                </a:rPr>
                <a:t>R-S</a:t>
              </a:r>
              <a:r>
                <a:rPr lang="zh-CN" altLang="en-US" sz="2400" b="1" dirty="0">
                  <a:latin typeface="Times New Roman" panose="02020603050405020304" pitchFamily="18" charset="0"/>
                </a:rPr>
                <a:t>触发器，</a:t>
              </a:r>
              <a:endParaRPr lang="zh-CN" altLang="en-US" sz="2400" b="1" dirty="0">
                <a:latin typeface="Times New Roman" panose="02020603050405020304" pitchFamily="18" charset="0"/>
              </a:endParaRPr>
            </a:p>
          </p:txBody>
        </p:sp>
        <p:sp>
          <p:nvSpPr>
            <p:cNvPr id="65562" name="Rectangle 16"/>
            <p:cNvSpPr/>
            <p:nvPr/>
          </p:nvSpPr>
          <p:spPr>
            <a:xfrm>
              <a:off x="3408" y="1008"/>
              <a:ext cx="1344" cy="1584"/>
            </a:xfrm>
            <a:prstGeom prst="rect">
              <a:avLst/>
            </a:prstGeom>
            <a:noFill/>
            <a:ln w="5715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grpSp>
        <p:nvGrpSpPr>
          <p:cNvPr id="162837" name="Group 21"/>
          <p:cNvGrpSpPr/>
          <p:nvPr/>
        </p:nvGrpSpPr>
        <p:grpSpPr>
          <a:xfrm>
            <a:off x="838200" y="2438400"/>
            <a:ext cx="7315200" cy="1905000"/>
            <a:chOff x="528" y="1536"/>
            <a:chExt cx="4608" cy="1200"/>
          </a:xfrm>
        </p:grpSpPr>
        <p:sp>
          <p:nvSpPr>
            <p:cNvPr id="65559" name="AutoShape 19"/>
            <p:cNvSpPr/>
            <p:nvPr/>
          </p:nvSpPr>
          <p:spPr>
            <a:xfrm>
              <a:off x="528" y="2208"/>
              <a:ext cx="1536" cy="528"/>
            </a:xfrm>
            <a:prstGeom prst="wedgeRectCallout">
              <a:avLst>
                <a:gd name="adj1" fmla="val 118556"/>
                <a:gd name="adj2" fmla="val -101894"/>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4</a:t>
              </a:r>
              <a:r>
                <a:rPr lang="zh-CN" altLang="en-US" sz="2400" b="1" dirty="0">
                  <a:latin typeface="Times New Roman" panose="02020603050405020304" pitchFamily="18" charset="0"/>
                </a:rPr>
                <a:t>及</a:t>
              </a:r>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5</a:t>
              </a:r>
              <a:r>
                <a:rPr lang="zh-CN" altLang="en-US" sz="2400" b="1" dirty="0">
                  <a:latin typeface="Times New Roman" panose="02020603050405020304" pitchFamily="18" charset="0"/>
                </a:rPr>
                <a:t>是行选管，</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是一行中公用的</a:t>
              </a:r>
              <a:endParaRPr lang="zh-CN" altLang="en-US" sz="2400" b="1" dirty="0">
                <a:latin typeface="Times New Roman" panose="02020603050405020304" pitchFamily="18" charset="0"/>
              </a:endParaRPr>
            </a:p>
          </p:txBody>
        </p:sp>
        <p:sp>
          <p:nvSpPr>
            <p:cNvPr id="65560" name="Rectangle 20"/>
            <p:cNvSpPr/>
            <p:nvPr/>
          </p:nvSpPr>
          <p:spPr>
            <a:xfrm>
              <a:off x="3168" y="1536"/>
              <a:ext cx="1968" cy="480"/>
            </a:xfrm>
            <a:prstGeom prst="rect">
              <a:avLst/>
            </a:prstGeom>
            <a:noFill/>
            <a:ln w="5715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grpSp>
        <p:nvGrpSpPr>
          <p:cNvPr id="162840" name="Group 24"/>
          <p:cNvGrpSpPr/>
          <p:nvPr/>
        </p:nvGrpSpPr>
        <p:grpSpPr>
          <a:xfrm>
            <a:off x="1447800" y="3810000"/>
            <a:ext cx="6781800" cy="1066800"/>
            <a:chOff x="912" y="2448"/>
            <a:chExt cx="4272" cy="672"/>
          </a:xfrm>
        </p:grpSpPr>
        <p:sp>
          <p:nvSpPr>
            <p:cNvPr id="65557" name="AutoShape 22"/>
            <p:cNvSpPr/>
            <p:nvPr/>
          </p:nvSpPr>
          <p:spPr>
            <a:xfrm>
              <a:off x="912" y="2448"/>
              <a:ext cx="1392" cy="480"/>
            </a:xfrm>
            <a:prstGeom prst="wedgeRectCallout">
              <a:avLst>
                <a:gd name="adj1" fmla="val 94611"/>
                <a:gd name="adj2" fmla="val 20417"/>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6</a:t>
              </a:r>
              <a:r>
                <a:rPr lang="zh-CN" altLang="en-US" sz="2400" b="1" dirty="0">
                  <a:latin typeface="Times New Roman" panose="02020603050405020304" pitchFamily="18" charset="0"/>
                </a:rPr>
                <a:t>及</a:t>
              </a:r>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7</a:t>
              </a:r>
              <a:r>
                <a:rPr lang="zh-CN" altLang="en-US" sz="2400" b="1" dirty="0">
                  <a:latin typeface="Times New Roman" panose="02020603050405020304" pitchFamily="18" charset="0"/>
                </a:rPr>
                <a:t>是列选管，</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是一列公用的</a:t>
              </a:r>
              <a:endParaRPr lang="zh-CN" altLang="en-US" sz="2400" b="1" dirty="0">
                <a:latin typeface="Times New Roman" panose="02020603050405020304" pitchFamily="18" charset="0"/>
              </a:endParaRPr>
            </a:p>
          </p:txBody>
        </p:sp>
        <p:sp>
          <p:nvSpPr>
            <p:cNvPr id="65558" name="Rectangle 23"/>
            <p:cNvSpPr/>
            <p:nvPr/>
          </p:nvSpPr>
          <p:spPr>
            <a:xfrm>
              <a:off x="2928" y="2640"/>
              <a:ext cx="2256" cy="480"/>
            </a:xfrm>
            <a:prstGeom prst="rect">
              <a:avLst/>
            </a:prstGeom>
            <a:noFill/>
            <a:ln w="5715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grpSp>
        <p:nvGrpSpPr>
          <p:cNvPr id="162845" name="Group 29"/>
          <p:cNvGrpSpPr/>
          <p:nvPr/>
        </p:nvGrpSpPr>
        <p:grpSpPr>
          <a:xfrm>
            <a:off x="6243638" y="5500688"/>
            <a:ext cx="2595562" cy="976312"/>
            <a:chOff x="3933" y="3465"/>
            <a:chExt cx="1635" cy="615"/>
          </a:xfrm>
        </p:grpSpPr>
        <p:sp>
          <p:nvSpPr>
            <p:cNvPr id="65554" name="Text Box 25"/>
            <p:cNvSpPr txBox="1"/>
            <p:nvPr/>
          </p:nvSpPr>
          <p:spPr>
            <a:xfrm>
              <a:off x="5279" y="3465"/>
              <a:ext cx="289" cy="231"/>
            </a:xfrm>
            <a:prstGeom prst="rect">
              <a:avLst/>
            </a:prstGeom>
            <a:noFill/>
            <a:ln w="9525">
              <a:noFill/>
            </a:ln>
          </p:spPr>
          <p:txBody>
            <a:bodyPr>
              <a:spAutoFit/>
            </a:bodyPr>
            <a:p>
              <a:pPr eaLnBrk="1" hangingPunct="1">
                <a:spcBef>
                  <a:spcPct val="50000"/>
                </a:spcBef>
              </a:pPr>
              <a:r>
                <a:rPr lang="en-US" altLang="zh-CN" dirty="0">
                  <a:solidFill>
                    <a:srgbClr val="FF0000"/>
                  </a:solidFill>
                  <a:latin typeface="Times New Roman" panose="02020603050405020304" pitchFamily="18" charset="0"/>
                </a:rPr>
                <a:t>0</a:t>
              </a:r>
              <a:endParaRPr lang="en-US" altLang="zh-CN" dirty="0">
                <a:latin typeface="Times New Roman" panose="02020603050405020304" pitchFamily="18" charset="0"/>
              </a:endParaRPr>
            </a:p>
          </p:txBody>
        </p:sp>
        <p:sp>
          <p:nvSpPr>
            <p:cNvPr id="65555" name="Text Box 26"/>
            <p:cNvSpPr txBox="1"/>
            <p:nvPr/>
          </p:nvSpPr>
          <p:spPr>
            <a:xfrm>
              <a:off x="5279" y="3849"/>
              <a:ext cx="289" cy="231"/>
            </a:xfrm>
            <a:prstGeom prst="rect">
              <a:avLst/>
            </a:prstGeom>
            <a:noFill/>
            <a:ln w="9525">
              <a:noFill/>
            </a:ln>
          </p:spPr>
          <p:txBody>
            <a:bodyPr>
              <a:spAutoFit/>
            </a:bodyPr>
            <a:p>
              <a:pPr eaLnBrk="1" hangingPunct="1">
                <a:spcBef>
                  <a:spcPct val="50000"/>
                </a:spcBef>
              </a:pPr>
              <a:r>
                <a:rPr lang="en-US" altLang="zh-CN" dirty="0">
                  <a:solidFill>
                    <a:srgbClr val="FF0000"/>
                  </a:solidFill>
                  <a:latin typeface="Times New Roman" panose="02020603050405020304" pitchFamily="18" charset="0"/>
                </a:rPr>
                <a:t>0</a:t>
              </a:r>
              <a:endParaRPr lang="en-US" altLang="zh-CN" dirty="0">
                <a:latin typeface="Times New Roman" panose="02020603050405020304" pitchFamily="18" charset="0"/>
              </a:endParaRPr>
            </a:p>
          </p:txBody>
        </p:sp>
        <p:sp>
          <p:nvSpPr>
            <p:cNvPr id="65556" name="Text Box 27"/>
            <p:cNvSpPr txBox="1"/>
            <p:nvPr/>
          </p:nvSpPr>
          <p:spPr>
            <a:xfrm>
              <a:off x="3933" y="3648"/>
              <a:ext cx="288" cy="231"/>
            </a:xfrm>
            <a:prstGeom prst="rect">
              <a:avLst/>
            </a:prstGeom>
            <a:noFill/>
            <a:ln w="9525">
              <a:noFill/>
            </a:ln>
          </p:spPr>
          <p:txBody>
            <a:bodyPr>
              <a:spAutoFit/>
            </a:bodyPr>
            <a:p>
              <a:pPr eaLnBrk="1" hangingPunct="1">
                <a:spcBef>
                  <a:spcPct val="50000"/>
                </a:spcBef>
              </a:pPr>
              <a:r>
                <a:rPr lang="en-US" altLang="zh-CN" dirty="0">
                  <a:solidFill>
                    <a:srgbClr val="FF0000"/>
                  </a:solidFill>
                  <a:latin typeface="Times New Roman" panose="02020603050405020304" pitchFamily="18" charset="0"/>
                </a:rPr>
                <a:t>1</a:t>
              </a:r>
              <a:endParaRPr lang="en-US" altLang="zh-CN" dirty="0">
                <a:latin typeface="Times New Roman" panose="02020603050405020304" pitchFamily="18" charset="0"/>
              </a:endParaRPr>
            </a:p>
          </p:txBody>
        </p:sp>
      </p:grpSp>
      <p:grpSp>
        <p:nvGrpSpPr>
          <p:cNvPr id="162853" name="Group 37"/>
          <p:cNvGrpSpPr/>
          <p:nvPr/>
        </p:nvGrpSpPr>
        <p:grpSpPr>
          <a:xfrm>
            <a:off x="5105400" y="2667000"/>
            <a:ext cx="1447800" cy="3200400"/>
            <a:chOff x="3216" y="1680"/>
            <a:chExt cx="912" cy="2016"/>
          </a:xfrm>
        </p:grpSpPr>
        <p:sp>
          <p:nvSpPr>
            <p:cNvPr id="65549" name="Line 30"/>
            <p:cNvSpPr/>
            <p:nvPr/>
          </p:nvSpPr>
          <p:spPr>
            <a:xfrm flipH="1">
              <a:off x="3888" y="3408"/>
              <a:ext cx="240" cy="0"/>
            </a:xfrm>
            <a:prstGeom prst="line">
              <a:avLst/>
            </a:prstGeom>
            <a:ln w="57150" cap="flat" cmpd="sng">
              <a:solidFill>
                <a:srgbClr val="FFCC66"/>
              </a:solidFill>
              <a:prstDash val="solid"/>
              <a:headEnd type="none" w="med" len="med"/>
              <a:tailEnd type="none" w="med" len="med"/>
            </a:ln>
          </p:spPr>
        </p:sp>
        <p:sp>
          <p:nvSpPr>
            <p:cNvPr id="65550" name="Line 31"/>
            <p:cNvSpPr/>
            <p:nvPr/>
          </p:nvSpPr>
          <p:spPr>
            <a:xfrm>
              <a:off x="3888" y="3408"/>
              <a:ext cx="0" cy="288"/>
            </a:xfrm>
            <a:prstGeom prst="line">
              <a:avLst/>
            </a:prstGeom>
            <a:ln w="57150" cap="flat" cmpd="sng">
              <a:solidFill>
                <a:srgbClr val="FFCC66"/>
              </a:solidFill>
              <a:prstDash val="solid"/>
              <a:headEnd type="none" w="med" len="med"/>
              <a:tailEnd type="none" w="med" len="med"/>
            </a:ln>
          </p:spPr>
        </p:sp>
        <p:sp>
          <p:nvSpPr>
            <p:cNvPr id="65551" name="Line 33"/>
            <p:cNvSpPr/>
            <p:nvPr/>
          </p:nvSpPr>
          <p:spPr>
            <a:xfrm flipH="1">
              <a:off x="3216" y="3696"/>
              <a:ext cx="672" cy="0"/>
            </a:xfrm>
            <a:prstGeom prst="line">
              <a:avLst/>
            </a:prstGeom>
            <a:ln w="57150" cap="flat" cmpd="sng">
              <a:solidFill>
                <a:srgbClr val="FFCC66"/>
              </a:solidFill>
              <a:prstDash val="solid"/>
              <a:headEnd type="none" w="med" len="med"/>
              <a:tailEnd type="none" w="med" len="med"/>
            </a:ln>
          </p:spPr>
        </p:sp>
        <p:sp>
          <p:nvSpPr>
            <p:cNvPr id="65552" name="Line 35"/>
            <p:cNvSpPr/>
            <p:nvPr/>
          </p:nvSpPr>
          <p:spPr>
            <a:xfrm flipV="1">
              <a:off x="3216" y="1680"/>
              <a:ext cx="0" cy="2016"/>
            </a:xfrm>
            <a:prstGeom prst="line">
              <a:avLst/>
            </a:prstGeom>
            <a:ln w="57150" cap="flat" cmpd="sng">
              <a:solidFill>
                <a:srgbClr val="FFCC66"/>
              </a:solidFill>
              <a:prstDash val="solid"/>
              <a:headEnd type="none" w="med" len="med"/>
              <a:tailEnd type="none" w="med" len="med"/>
            </a:ln>
          </p:spPr>
        </p:sp>
        <p:sp>
          <p:nvSpPr>
            <p:cNvPr id="65553" name="Line 36"/>
            <p:cNvSpPr/>
            <p:nvPr/>
          </p:nvSpPr>
          <p:spPr>
            <a:xfrm>
              <a:off x="3216" y="1680"/>
              <a:ext cx="384" cy="0"/>
            </a:xfrm>
            <a:prstGeom prst="line">
              <a:avLst/>
            </a:prstGeom>
            <a:ln w="57150" cap="flat" cmpd="sng">
              <a:solidFill>
                <a:srgbClr val="FFCC66"/>
              </a:solidFill>
              <a:prstDash val="solid"/>
              <a:headEnd type="none" w="med" len="med"/>
              <a:tailEnd type="triangle" w="med" len="med"/>
            </a:ln>
          </p:spPr>
        </p:sp>
      </p:grpSp>
      <p:sp>
        <p:nvSpPr>
          <p:cNvPr id="162854" name="AutoShape 38"/>
          <p:cNvSpPr/>
          <p:nvPr/>
        </p:nvSpPr>
        <p:spPr>
          <a:xfrm>
            <a:off x="228600" y="4419600"/>
            <a:ext cx="4800600" cy="2209800"/>
          </a:xfrm>
          <a:prstGeom prst="wedgeRectCallout">
            <a:avLst>
              <a:gd name="adj1" fmla="val 51093"/>
              <a:gd name="adj2" fmla="val -123778"/>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当使能为低电平，写也为低电平时，</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三态门</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将输入数据</a:t>
            </a:r>
            <a:r>
              <a:rPr lang="en-US" altLang="zh-CN" sz="2400" b="1" dirty="0">
                <a:latin typeface="Times New Roman" panose="02020603050405020304" pitchFamily="18" charset="0"/>
              </a:rPr>
              <a:t>D</a:t>
            </a:r>
            <a:r>
              <a:rPr lang="en-US" altLang="zh-CN" sz="2400" b="1" baseline="-25000" dirty="0">
                <a:latin typeface="Times New Roman" panose="02020603050405020304" pitchFamily="18" charset="0"/>
              </a:rPr>
              <a:t>i</a:t>
            </a:r>
            <a:r>
              <a:rPr lang="zh-CN" altLang="en-US" sz="2400" b="1" dirty="0">
                <a:latin typeface="Times New Roman" panose="02020603050405020304" pitchFamily="18" charset="0"/>
              </a:rPr>
              <a:t>通过</a:t>
            </a:r>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6</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4</a:t>
            </a:r>
            <a:r>
              <a:rPr lang="zh-CN" altLang="en-US" sz="2400" b="1" dirty="0">
                <a:latin typeface="Times New Roman" panose="02020603050405020304" pitchFamily="18" charset="0"/>
              </a:rPr>
              <a:t>作</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用于</a:t>
            </a:r>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3</a:t>
            </a:r>
            <a:r>
              <a:rPr lang="zh-CN" altLang="en-US" sz="2400" b="1" dirty="0">
                <a:latin typeface="Times New Roman" panose="02020603050405020304" pitchFamily="18" charset="0"/>
              </a:rPr>
              <a:t>栅极，同时将</a:t>
            </a:r>
            <a:r>
              <a:rPr lang="en-US" altLang="zh-CN" sz="2400" b="1" dirty="0">
                <a:latin typeface="Times New Roman" panose="02020603050405020304" pitchFamily="18" charset="0"/>
              </a:rPr>
              <a:t>D</a:t>
            </a:r>
            <a:r>
              <a:rPr lang="en-US" altLang="zh-CN" sz="2400" b="1" baseline="-25000" dirty="0">
                <a:latin typeface="Times New Roman" panose="02020603050405020304" pitchFamily="18" charset="0"/>
              </a:rPr>
              <a:t>i</a:t>
            </a:r>
            <a:r>
              <a:rPr lang="zh-CN" altLang="en-US" sz="2400" b="1" dirty="0">
                <a:latin typeface="Times New Roman" panose="02020603050405020304" pitchFamily="18" charset="0"/>
              </a:rPr>
              <a:t>的互补值通</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过</a:t>
            </a:r>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7</a:t>
            </a:r>
            <a:r>
              <a:rPr lang="zh-CN" altLang="en-US" sz="2400" b="1" dirty="0">
                <a:latin typeface="Times New Roman" panose="02020603050405020304" pitchFamily="18" charset="0"/>
              </a:rPr>
              <a:t>及</a:t>
            </a:r>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5</a:t>
            </a:r>
            <a:r>
              <a:rPr lang="zh-CN" altLang="en-US" sz="2400" b="1" dirty="0">
                <a:latin typeface="Times New Roman" panose="02020603050405020304" pitchFamily="18" charset="0"/>
              </a:rPr>
              <a:t>作用于</a:t>
            </a:r>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2</a:t>
            </a:r>
            <a:r>
              <a:rPr lang="zh-CN" altLang="en-US" sz="2400" b="1" dirty="0">
                <a:latin typeface="Times New Roman" panose="02020603050405020304" pitchFamily="18" charset="0"/>
              </a:rPr>
              <a:t>的栅极，从而使</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触发器按</a:t>
            </a:r>
            <a:r>
              <a:rPr lang="en-US" altLang="zh-CN" sz="2400" b="1" dirty="0">
                <a:latin typeface="Times New Roman" panose="02020603050405020304" pitchFamily="18" charset="0"/>
              </a:rPr>
              <a:t>D</a:t>
            </a:r>
            <a:r>
              <a:rPr lang="en-US" altLang="zh-CN" sz="2400" b="1" baseline="-25000" dirty="0">
                <a:latin typeface="Times New Roman" panose="02020603050405020304" pitchFamily="18" charset="0"/>
              </a:rPr>
              <a:t>i</a:t>
            </a:r>
            <a:r>
              <a:rPr lang="zh-CN" altLang="en-US" sz="2400" b="1" dirty="0">
                <a:latin typeface="Times New Roman" panose="02020603050405020304" pitchFamily="18" charset="0"/>
              </a:rPr>
              <a:t>翻转，完成写入。</a:t>
            </a:r>
            <a:endParaRPr lang="zh-CN" altLang="en-US"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iterate type="wd">
                                    <p:tmPct val="100000"/>
                                  </p:iterate>
                                  <p:childTnLst>
                                    <p:set>
                                      <p:cBhvr>
                                        <p:cTn id="6" dur="1" fill="hold">
                                          <p:stCondLst>
                                            <p:cond delay="0"/>
                                          </p:stCondLst>
                                        </p:cTn>
                                        <p:tgtEl>
                                          <p:spTgt spid="162826">
                                            <p:txEl>
                                              <p:charRg st="0" end="33"/>
                                            </p:txEl>
                                          </p:spTgt>
                                        </p:tgtEl>
                                        <p:attrNameLst>
                                          <p:attrName>style.visibility</p:attrName>
                                        </p:attrNameLst>
                                      </p:cBhvr>
                                      <p:to>
                                        <p:strVal val="visible"/>
                                      </p:to>
                                    </p:set>
                                    <p:anim calcmode="lin" valueType="num">
                                      <p:cBhvr additive="base">
                                        <p:cTn id="7" dur="300" fill="hold"/>
                                        <p:tgtEl>
                                          <p:spTgt spid="162826">
                                            <p:txEl>
                                              <p:charRg st="0" end="33"/>
                                            </p:txEl>
                                          </p:spTgt>
                                        </p:tgtEl>
                                        <p:attrNameLst>
                                          <p:attrName>ppt_x</p:attrName>
                                        </p:attrNameLst>
                                      </p:cBhvr>
                                      <p:tavLst>
                                        <p:tav tm="0">
                                          <p:val>
                                            <p:strVal val="1+#ppt_w/2"/>
                                          </p:val>
                                        </p:tav>
                                        <p:tav tm="100000">
                                          <p:val>
                                            <p:strVal val="#ppt_x"/>
                                          </p:val>
                                        </p:tav>
                                      </p:tavLst>
                                    </p:anim>
                                    <p:anim calcmode="lin" valueType="num">
                                      <p:cBhvr additive="base">
                                        <p:cTn id="8" dur="300" fill="hold"/>
                                        <p:tgtEl>
                                          <p:spTgt spid="162826">
                                            <p:txEl>
                                              <p:charRg st="0" end="33"/>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2827"/>
                                        </p:tgtEl>
                                        <p:attrNameLst>
                                          <p:attrName>style.visibility</p:attrName>
                                        </p:attrNameLst>
                                      </p:cBhvr>
                                      <p:to>
                                        <p:strVal val="visible"/>
                                      </p:to>
                                    </p:set>
                                    <p:anim calcmode="lin" valueType="num">
                                      <p:cBhvr additive="base">
                                        <p:cTn id="13" dur="500" fill="hold"/>
                                        <p:tgtEl>
                                          <p:spTgt spid="162827"/>
                                        </p:tgtEl>
                                        <p:attrNameLst>
                                          <p:attrName>ppt_x</p:attrName>
                                        </p:attrNameLst>
                                      </p:cBhvr>
                                      <p:tavLst>
                                        <p:tav tm="0">
                                          <p:val>
                                            <p:strVal val="1+#ppt_w/2"/>
                                          </p:val>
                                        </p:tav>
                                        <p:tav tm="100000">
                                          <p:val>
                                            <p:strVal val="#ppt_x"/>
                                          </p:val>
                                        </p:tav>
                                      </p:tavLst>
                                    </p:anim>
                                    <p:anim calcmode="lin" valueType="num">
                                      <p:cBhvr additive="base">
                                        <p:cTn id="14" dur="500" fill="hold"/>
                                        <p:tgtEl>
                                          <p:spTgt spid="16282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62828"/>
                                        </p:tgtEl>
                                        <p:attrNameLst>
                                          <p:attrName>style.visibility</p:attrName>
                                        </p:attrNameLst>
                                      </p:cBhvr>
                                      <p:to>
                                        <p:strVal val="visible"/>
                                      </p:to>
                                    </p:set>
                                    <p:anim calcmode="lin" valueType="num">
                                      <p:cBhvr additive="base">
                                        <p:cTn id="19" dur="500" fill="hold"/>
                                        <p:tgtEl>
                                          <p:spTgt spid="162828"/>
                                        </p:tgtEl>
                                        <p:attrNameLst>
                                          <p:attrName>ppt_x</p:attrName>
                                        </p:attrNameLst>
                                      </p:cBhvr>
                                      <p:tavLst>
                                        <p:tav tm="0">
                                          <p:val>
                                            <p:strVal val="1+#ppt_w/2"/>
                                          </p:val>
                                        </p:tav>
                                        <p:tav tm="100000">
                                          <p:val>
                                            <p:strVal val="#ppt_x"/>
                                          </p:val>
                                        </p:tav>
                                      </p:tavLst>
                                    </p:anim>
                                    <p:anim calcmode="lin" valueType="num">
                                      <p:cBhvr additive="base">
                                        <p:cTn id="20" dur="500" fill="hold"/>
                                        <p:tgtEl>
                                          <p:spTgt spid="16282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62830"/>
                                        </p:tgtEl>
                                        <p:attrNameLst>
                                          <p:attrName>style.visibility</p:attrName>
                                        </p:attrNameLst>
                                      </p:cBhvr>
                                      <p:to>
                                        <p:strVal val="visible"/>
                                      </p:to>
                                    </p:set>
                                    <p:anim calcmode="lin" valueType="num">
                                      <p:cBhvr additive="base">
                                        <p:cTn id="25" dur="500" fill="hold"/>
                                        <p:tgtEl>
                                          <p:spTgt spid="162830"/>
                                        </p:tgtEl>
                                        <p:attrNameLst>
                                          <p:attrName>ppt_x</p:attrName>
                                        </p:attrNameLst>
                                      </p:cBhvr>
                                      <p:tavLst>
                                        <p:tav tm="0">
                                          <p:val>
                                            <p:strVal val="1+#ppt_w/2"/>
                                          </p:val>
                                        </p:tav>
                                        <p:tav tm="100000">
                                          <p:val>
                                            <p:strVal val="#ppt_x"/>
                                          </p:val>
                                        </p:tav>
                                      </p:tavLst>
                                    </p:anim>
                                    <p:anim calcmode="lin" valueType="num">
                                      <p:cBhvr additive="base">
                                        <p:cTn id="26" dur="500" fill="hold"/>
                                        <p:tgtEl>
                                          <p:spTgt spid="16283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nodeType="clickEffect">
                                  <p:stCondLst>
                                    <p:cond delay="0"/>
                                  </p:stCondLst>
                                  <p:childTnLst>
                                    <p:set>
                                      <p:cBhvr>
                                        <p:cTn id="30" dur="1" fill="hold">
                                          <p:stCondLst>
                                            <p:cond delay="0"/>
                                          </p:stCondLst>
                                        </p:cTn>
                                        <p:tgtEl>
                                          <p:spTgt spid="162834"/>
                                        </p:tgtEl>
                                        <p:attrNameLst>
                                          <p:attrName>style.visibility</p:attrName>
                                        </p:attrNameLst>
                                      </p:cBhvr>
                                      <p:to>
                                        <p:strVal val="visible"/>
                                      </p:to>
                                    </p:set>
                                    <p:anim calcmode="lin" valueType="num">
                                      <p:cBhvr>
                                        <p:cTn id="31" dur="500" fill="hold"/>
                                        <p:tgtEl>
                                          <p:spTgt spid="162834"/>
                                        </p:tgtEl>
                                        <p:attrNameLst>
                                          <p:attrName>ppt_x</p:attrName>
                                        </p:attrNameLst>
                                      </p:cBhvr>
                                      <p:tavLst>
                                        <p:tav tm="0">
                                          <p:val>
                                            <p:strVal val="#ppt_x-#ppt_w/2"/>
                                          </p:val>
                                        </p:tav>
                                        <p:tav tm="100000">
                                          <p:val>
                                            <p:strVal val="#ppt_x"/>
                                          </p:val>
                                        </p:tav>
                                      </p:tavLst>
                                    </p:anim>
                                    <p:anim calcmode="lin" valueType="num">
                                      <p:cBhvr>
                                        <p:cTn id="32" dur="500" fill="hold"/>
                                        <p:tgtEl>
                                          <p:spTgt spid="162834"/>
                                        </p:tgtEl>
                                        <p:attrNameLst>
                                          <p:attrName>ppt_y</p:attrName>
                                        </p:attrNameLst>
                                      </p:cBhvr>
                                      <p:tavLst>
                                        <p:tav tm="0">
                                          <p:val>
                                            <p:strVal val="#ppt_y"/>
                                          </p:val>
                                        </p:tav>
                                        <p:tav tm="100000">
                                          <p:val>
                                            <p:strVal val="#ppt_y"/>
                                          </p:val>
                                        </p:tav>
                                      </p:tavLst>
                                    </p:anim>
                                    <p:anim calcmode="lin" valueType="num">
                                      <p:cBhvr>
                                        <p:cTn id="33" dur="500" fill="hold"/>
                                        <p:tgtEl>
                                          <p:spTgt spid="162834"/>
                                        </p:tgtEl>
                                        <p:attrNameLst>
                                          <p:attrName>ppt_w</p:attrName>
                                        </p:attrNameLst>
                                      </p:cBhvr>
                                      <p:tavLst>
                                        <p:tav tm="0">
                                          <p:val>
                                            <p:fltVal val="0.000000"/>
                                          </p:val>
                                        </p:tav>
                                        <p:tav tm="100000">
                                          <p:val>
                                            <p:strVal val="#ppt_w"/>
                                          </p:val>
                                        </p:tav>
                                      </p:tavLst>
                                    </p:anim>
                                    <p:anim calcmode="lin" valueType="num">
                                      <p:cBhvr>
                                        <p:cTn id="34" dur="500" fill="hold"/>
                                        <p:tgtEl>
                                          <p:spTgt spid="162834"/>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62834"/>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8" presetClass="entr" presetSubtype="3" fill="hold" nodeType="clickEffect">
                                  <p:stCondLst>
                                    <p:cond delay="0"/>
                                  </p:stCondLst>
                                  <p:childTnLst>
                                    <p:set>
                                      <p:cBhvr>
                                        <p:cTn id="38" dur="1" fill="hold">
                                          <p:stCondLst>
                                            <p:cond delay="0"/>
                                          </p:stCondLst>
                                        </p:cTn>
                                        <p:tgtEl>
                                          <p:spTgt spid="162837"/>
                                        </p:tgtEl>
                                        <p:attrNameLst>
                                          <p:attrName>style.visibility</p:attrName>
                                        </p:attrNameLst>
                                      </p:cBhvr>
                                      <p:to>
                                        <p:strVal val="visible"/>
                                      </p:to>
                                    </p:set>
                                    <p:animEffect transition="in" filter="strips(upRight)">
                                      <p:cBhvr>
                                        <p:cTn id="39" dur="500"/>
                                        <p:tgtEl>
                                          <p:spTgt spid="162837"/>
                                        </p:tgtEl>
                                      </p:cBhvr>
                                    </p:animEffect>
                                  </p:childTnLst>
                                  <p:subTnLst>
                                    <p:set>
                                      <p:cBhvr override="childStyle">
                                        <p:cTn dur="1" fill="hold" display="0" masterRel="nextClick" afterEffect="1"/>
                                        <p:tgtEl>
                                          <p:spTgt spid="162837"/>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18" presetClass="entr" presetSubtype="6" fill="hold" nodeType="clickEffect">
                                  <p:stCondLst>
                                    <p:cond delay="0"/>
                                  </p:stCondLst>
                                  <p:childTnLst>
                                    <p:set>
                                      <p:cBhvr>
                                        <p:cTn id="43" dur="1" fill="hold">
                                          <p:stCondLst>
                                            <p:cond delay="0"/>
                                          </p:stCondLst>
                                        </p:cTn>
                                        <p:tgtEl>
                                          <p:spTgt spid="162840"/>
                                        </p:tgtEl>
                                        <p:attrNameLst>
                                          <p:attrName>style.visibility</p:attrName>
                                        </p:attrNameLst>
                                      </p:cBhvr>
                                      <p:to>
                                        <p:strVal val="visible"/>
                                      </p:to>
                                    </p:set>
                                    <p:animEffect transition="in" filter="strips(downRight)">
                                      <p:cBhvr>
                                        <p:cTn id="44" dur="500"/>
                                        <p:tgtEl>
                                          <p:spTgt spid="162840"/>
                                        </p:tgtEl>
                                      </p:cBhvr>
                                    </p:animEffect>
                                  </p:childTnLst>
                                  <p:subTnLst>
                                    <p:set>
                                      <p:cBhvr override="childStyle">
                                        <p:cTn dur="1" fill="hold" display="0" masterRel="nextClick" afterEffect="1"/>
                                        <p:tgtEl>
                                          <p:spTgt spid="162840"/>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499"/>
                                          </p:stCondLst>
                                        </p:cTn>
                                        <p:tgtEl>
                                          <p:spTgt spid="16284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7" presetClass="entr" presetSubtype="4" fill="hold" nodeType="clickEffect">
                                  <p:stCondLst>
                                    <p:cond delay="0"/>
                                  </p:stCondLst>
                                  <p:childTnLst>
                                    <p:set>
                                      <p:cBhvr>
                                        <p:cTn id="52" dur="1" fill="hold">
                                          <p:stCondLst>
                                            <p:cond delay="0"/>
                                          </p:stCondLst>
                                        </p:cTn>
                                        <p:tgtEl>
                                          <p:spTgt spid="162853"/>
                                        </p:tgtEl>
                                        <p:attrNameLst>
                                          <p:attrName>style.visibility</p:attrName>
                                        </p:attrNameLst>
                                      </p:cBhvr>
                                      <p:to>
                                        <p:strVal val="visible"/>
                                      </p:to>
                                    </p:set>
                                    <p:anim calcmode="lin" valueType="num">
                                      <p:cBhvr>
                                        <p:cTn id="53" dur="500" fill="hold"/>
                                        <p:tgtEl>
                                          <p:spTgt spid="162853"/>
                                        </p:tgtEl>
                                        <p:attrNameLst>
                                          <p:attrName>ppt_x</p:attrName>
                                        </p:attrNameLst>
                                      </p:cBhvr>
                                      <p:tavLst>
                                        <p:tav tm="0">
                                          <p:val>
                                            <p:strVal val="#ppt_x"/>
                                          </p:val>
                                        </p:tav>
                                        <p:tav tm="100000">
                                          <p:val>
                                            <p:strVal val="#ppt_x"/>
                                          </p:val>
                                        </p:tav>
                                      </p:tavLst>
                                    </p:anim>
                                    <p:anim calcmode="lin" valueType="num">
                                      <p:cBhvr>
                                        <p:cTn id="54" dur="500" fill="hold"/>
                                        <p:tgtEl>
                                          <p:spTgt spid="162853"/>
                                        </p:tgtEl>
                                        <p:attrNameLst>
                                          <p:attrName>ppt_y</p:attrName>
                                        </p:attrNameLst>
                                      </p:cBhvr>
                                      <p:tavLst>
                                        <p:tav tm="0">
                                          <p:val>
                                            <p:strVal val="#ppt_y+#ppt_h/2"/>
                                          </p:val>
                                        </p:tav>
                                        <p:tav tm="100000">
                                          <p:val>
                                            <p:strVal val="#ppt_y"/>
                                          </p:val>
                                        </p:tav>
                                      </p:tavLst>
                                    </p:anim>
                                    <p:anim calcmode="lin" valueType="num">
                                      <p:cBhvr>
                                        <p:cTn id="55" dur="500" fill="hold"/>
                                        <p:tgtEl>
                                          <p:spTgt spid="162853"/>
                                        </p:tgtEl>
                                        <p:attrNameLst>
                                          <p:attrName>ppt_w</p:attrName>
                                        </p:attrNameLst>
                                      </p:cBhvr>
                                      <p:tavLst>
                                        <p:tav tm="0">
                                          <p:val>
                                            <p:strVal val="#ppt_w"/>
                                          </p:val>
                                        </p:tav>
                                        <p:tav tm="100000">
                                          <p:val>
                                            <p:strVal val="#ppt_w"/>
                                          </p:val>
                                        </p:tav>
                                      </p:tavLst>
                                    </p:anim>
                                    <p:anim calcmode="lin" valueType="num">
                                      <p:cBhvr>
                                        <p:cTn id="56" dur="500" fill="hold"/>
                                        <p:tgtEl>
                                          <p:spTgt spid="162853"/>
                                        </p:tgtEl>
                                        <p:attrNameLst>
                                          <p:attrName>ppt_h</p:attrName>
                                        </p:attrNameLst>
                                      </p:cBhvr>
                                      <p:tavLst>
                                        <p:tav tm="0">
                                          <p:val>
                                            <p:fltVal val="0.00000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499"/>
                                          </p:stCondLst>
                                        </p:cTn>
                                        <p:tgtEl>
                                          <p:spTgt spid="1628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6" grpId="0" build="p"/>
      <p:bldP spid="162827" grpId="0"/>
      <p:bldP spid="162828" grpId="0"/>
      <p:bldP spid="16285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Text Box 9"/>
          <p:cNvSpPr txBox="1"/>
          <p:nvPr/>
        </p:nvSpPr>
        <p:spPr>
          <a:xfrm>
            <a:off x="76200" y="152400"/>
            <a:ext cx="5715000" cy="457200"/>
          </a:xfrm>
          <a:prstGeom prst="rect">
            <a:avLst/>
          </a:prstGeom>
          <a:noFill/>
          <a:ln w="9525">
            <a:noFill/>
          </a:ln>
        </p:spPr>
        <p:txBody>
          <a:bodyPr>
            <a:spAutoFit/>
          </a:bodyPr>
          <a:p>
            <a:pPr algn="just" eaLnBrk="1" hangingPunct="1"/>
            <a:r>
              <a:rPr lang="zh-CN" altLang="en-US" sz="2400" dirty="0">
                <a:latin typeface="Times New Roman" panose="02020603050405020304" pitchFamily="18" charset="0"/>
              </a:rPr>
              <a:t>（二）动态</a:t>
            </a:r>
            <a:r>
              <a:rPr lang="en-US" altLang="zh-CN" sz="2400" dirty="0">
                <a:latin typeface="Times New Roman" panose="02020603050405020304" pitchFamily="18" charset="0"/>
              </a:rPr>
              <a:t>MOS</a:t>
            </a:r>
            <a:r>
              <a:rPr lang="zh-CN" altLang="en-US" sz="2400" dirty="0">
                <a:latin typeface="Times New Roman" panose="02020603050405020304" pitchFamily="18" charset="0"/>
              </a:rPr>
              <a:t>存储单元如下图</a:t>
            </a:r>
            <a:endParaRPr lang="zh-CN" altLang="en-US" dirty="0">
              <a:latin typeface="Times New Roman" panose="02020603050405020304" pitchFamily="18" charset="0"/>
            </a:endParaRPr>
          </a:p>
        </p:txBody>
      </p:sp>
      <p:graphicFrame>
        <p:nvGraphicFramePr>
          <p:cNvPr id="164874" name="Object 10"/>
          <p:cNvGraphicFramePr>
            <a:graphicFrameLocks noChangeAspect="1"/>
          </p:cNvGraphicFramePr>
          <p:nvPr/>
        </p:nvGraphicFramePr>
        <p:xfrm>
          <a:off x="3733800" y="762000"/>
          <a:ext cx="5353050" cy="6858000"/>
        </p:xfrm>
        <a:graphic>
          <a:graphicData uri="http://schemas.openxmlformats.org/presentationml/2006/ole">
            <mc:AlternateContent xmlns:mc="http://schemas.openxmlformats.org/markup-compatibility/2006">
              <mc:Choice xmlns:v="urn:schemas-microsoft-com:vml" Requires="v">
                <p:oleObj spid="_x0000_s3116" name="" r:id="rId1" imgW="3048000" imgH="3905250" progId="Paint.Picture">
                  <p:embed/>
                </p:oleObj>
              </mc:Choice>
              <mc:Fallback>
                <p:oleObj name="" r:id="rId1" imgW="3048000" imgH="3905250" progId="Paint.Picture">
                  <p:embed/>
                  <p:pic>
                    <p:nvPicPr>
                      <p:cNvPr id="0" name="图片 3115"/>
                      <p:cNvPicPr/>
                      <p:nvPr/>
                    </p:nvPicPr>
                    <p:blipFill>
                      <a:blip r:embed="rId2"/>
                      <a:stretch>
                        <a:fillRect/>
                      </a:stretch>
                    </p:blipFill>
                    <p:spPr>
                      <a:xfrm>
                        <a:off x="3733800" y="762000"/>
                        <a:ext cx="5353050" cy="6858000"/>
                      </a:xfrm>
                      <a:prstGeom prst="rect">
                        <a:avLst/>
                      </a:prstGeom>
                      <a:noFill/>
                      <a:ln w="38100">
                        <a:noFill/>
                        <a:miter/>
                      </a:ln>
                    </p:spPr>
                  </p:pic>
                </p:oleObj>
              </mc:Fallback>
            </mc:AlternateContent>
          </a:graphicData>
        </a:graphic>
      </p:graphicFrame>
      <p:sp>
        <p:nvSpPr>
          <p:cNvPr id="164875" name="AutoShape 11"/>
          <p:cNvSpPr/>
          <p:nvPr/>
        </p:nvSpPr>
        <p:spPr>
          <a:xfrm>
            <a:off x="304800" y="838200"/>
            <a:ext cx="3200400" cy="1371600"/>
          </a:xfrm>
          <a:prstGeom prst="wedgeRectCallout">
            <a:avLst>
              <a:gd name="adj1" fmla="val 114287"/>
              <a:gd name="adj2" fmla="val 224421"/>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dirty="0">
                <a:latin typeface="Times New Roman" panose="02020603050405020304" pitchFamily="18" charset="0"/>
              </a:rPr>
              <a:t>这是一动态存储单元，</a:t>
            </a:r>
            <a:endParaRPr lang="zh-CN" altLang="en-US" sz="2400" dirty="0">
              <a:latin typeface="Times New Roman" panose="02020603050405020304" pitchFamily="18" charset="0"/>
            </a:endParaRPr>
          </a:p>
          <a:p>
            <a:pPr eaLnBrk="1" hangingPunct="1"/>
            <a:r>
              <a:rPr lang="zh-CN" altLang="en-US" sz="2400" dirty="0">
                <a:latin typeface="Times New Roman" panose="02020603050405020304" pitchFamily="18" charset="0"/>
              </a:rPr>
              <a:t>靠栅极电容</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及</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存储</a:t>
            </a:r>
            <a:endParaRPr lang="zh-CN" altLang="en-US" sz="2400" dirty="0">
              <a:latin typeface="Times New Roman" panose="02020603050405020304" pitchFamily="18" charset="0"/>
            </a:endParaRPr>
          </a:p>
          <a:p>
            <a:pPr eaLnBrk="1" hangingPunct="1"/>
            <a:r>
              <a:rPr lang="zh-CN" altLang="en-US" sz="2400" dirty="0">
                <a:latin typeface="Times New Roman" panose="02020603050405020304" pitchFamily="18" charset="0"/>
              </a:rPr>
              <a:t>电荷。</a:t>
            </a:r>
            <a:endParaRPr lang="zh-CN" altLang="en-US" sz="2400" baseline="-25000" dirty="0">
              <a:latin typeface="Times New Roman" panose="02020603050405020304" pitchFamily="18" charset="0"/>
            </a:endParaRPr>
          </a:p>
          <a:p>
            <a:pPr eaLnBrk="1" hangingPunct="1"/>
            <a:endParaRPr lang="en-US" altLang="zh-CN" sz="2400" baseline="-25000" dirty="0">
              <a:latin typeface="Times New Roman" panose="02020603050405020304" pitchFamily="18" charset="0"/>
            </a:endParaRPr>
          </a:p>
        </p:txBody>
      </p:sp>
      <p:sp>
        <p:nvSpPr>
          <p:cNvPr id="164879" name="AutoShape 15"/>
          <p:cNvSpPr/>
          <p:nvPr/>
        </p:nvSpPr>
        <p:spPr>
          <a:xfrm>
            <a:off x="76200" y="4038600"/>
            <a:ext cx="3733800" cy="1752600"/>
          </a:xfrm>
          <a:prstGeom prst="wedgeRectCallout">
            <a:avLst>
              <a:gd name="adj1" fmla="val 65944"/>
              <a:gd name="adj2" fmla="val 3713"/>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如要写入“</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，只需在数据</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线</a:t>
            </a:r>
            <a:r>
              <a:rPr lang="en-US" altLang="zh-CN" sz="2400" b="1" dirty="0">
                <a:latin typeface="Times New Roman" panose="02020603050405020304" pitchFamily="18" charset="0"/>
              </a:rPr>
              <a:t>D</a:t>
            </a:r>
            <a:r>
              <a:rPr lang="zh-CN" altLang="en-US" sz="2400" b="1" dirty="0">
                <a:latin typeface="Times New Roman" panose="02020603050405020304" pitchFamily="18" charset="0"/>
              </a:rPr>
              <a:t>上作用“</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便可以给</a:t>
            </a:r>
            <a:r>
              <a:rPr lang="en-US" altLang="zh-CN" sz="2400" b="1" dirty="0">
                <a:latin typeface="Times New Roman" panose="02020603050405020304" pitchFamily="18" charset="0"/>
              </a:rPr>
              <a:t>C</a:t>
            </a:r>
            <a:r>
              <a:rPr lang="en-US" altLang="zh-CN" sz="2400" b="1" baseline="-25000" dirty="0">
                <a:latin typeface="Times New Roman" panose="02020603050405020304" pitchFamily="18" charset="0"/>
              </a:rPr>
              <a:t>2</a:t>
            </a:r>
            <a:endParaRPr lang="en-US" altLang="zh-CN" sz="2400" b="1" baseline="-25000" dirty="0">
              <a:latin typeface="Times New Roman" panose="02020603050405020304" pitchFamily="18" charset="0"/>
            </a:endParaRPr>
          </a:p>
          <a:p>
            <a:pPr eaLnBrk="1" hangingPunct="1"/>
            <a:r>
              <a:rPr lang="zh-CN" altLang="en-US" sz="2400" b="1" dirty="0">
                <a:latin typeface="Times New Roman" panose="02020603050405020304" pitchFamily="18" charset="0"/>
              </a:rPr>
              <a:t>充上足够的电荷，而</a:t>
            </a:r>
            <a:r>
              <a:rPr lang="en-US" altLang="zh-CN" sz="2400" b="1" dirty="0">
                <a:latin typeface="Times New Roman" panose="02020603050405020304" pitchFamily="18" charset="0"/>
              </a:rPr>
              <a:t>C</a:t>
            </a:r>
            <a:r>
              <a:rPr lang="en-US" altLang="zh-CN" sz="2400" b="1" baseline="-25000" dirty="0">
                <a:latin typeface="Times New Roman" panose="02020603050405020304" pitchFamily="18" charset="0"/>
              </a:rPr>
              <a:t>1</a:t>
            </a:r>
            <a:r>
              <a:rPr lang="zh-CN" altLang="en-US" sz="2400" b="1" dirty="0">
                <a:latin typeface="Times New Roman" panose="02020603050405020304" pitchFamily="18" charset="0"/>
              </a:rPr>
              <a:t>则不</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被充电，表示记入了“</a:t>
            </a:r>
            <a:r>
              <a:rPr lang="en-US" altLang="zh-CN" sz="2400" b="1" dirty="0">
                <a:latin typeface="Times New Roman" panose="02020603050405020304" pitchFamily="18" charset="0"/>
              </a:rPr>
              <a:t>1”</a:t>
            </a:r>
            <a:endParaRPr lang="en-US" altLang="zh-CN" sz="2400" b="1" dirty="0">
              <a:latin typeface="Times New Roman" panose="02020603050405020304" pitchFamily="18" charset="0"/>
            </a:endParaRPr>
          </a:p>
        </p:txBody>
      </p:sp>
      <p:grpSp>
        <p:nvGrpSpPr>
          <p:cNvPr id="164885" name="Group 21"/>
          <p:cNvGrpSpPr/>
          <p:nvPr/>
        </p:nvGrpSpPr>
        <p:grpSpPr>
          <a:xfrm>
            <a:off x="76200" y="1066800"/>
            <a:ext cx="7315200" cy="5486400"/>
            <a:chOff x="48" y="672"/>
            <a:chExt cx="4608" cy="3456"/>
          </a:xfrm>
        </p:grpSpPr>
        <p:sp>
          <p:nvSpPr>
            <p:cNvPr id="66578" name="AutoShape 16"/>
            <p:cNvSpPr/>
            <p:nvPr/>
          </p:nvSpPr>
          <p:spPr>
            <a:xfrm>
              <a:off x="48" y="2976"/>
              <a:ext cx="2592" cy="1152"/>
            </a:xfrm>
            <a:prstGeom prst="wedgeRectCallout">
              <a:avLst>
                <a:gd name="adj1" fmla="val 70949"/>
                <a:gd name="adj2" fmla="val -43750"/>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当刷新端加高电压时，负载管</a:t>
              </a:r>
              <a:endParaRPr lang="zh-CN" altLang="en-US" sz="2400" b="1" dirty="0">
                <a:latin typeface="Times New Roman" panose="02020603050405020304" pitchFamily="18" charset="0"/>
              </a:endParaRPr>
            </a:p>
            <a:p>
              <a:pPr eaLnBrk="1" hangingPunct="1"/>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3</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4</a:t>
              </a:r>
              <a:r>
                <a:rPr lang="zh-CN" altLang="en-US" sz="2400" b="1" dirty="0">
                  <a:latin typeface="Times New Roman" panose="02020603050405020304" pitchFamily="18" charset="0"/>
                </a:rPr>
                <a:t>导通，同时行线加高电</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压使</a:t>
              </a:r>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6</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5</a:t>
              </a:r>
              <a:r>
                <a:rPr lang="zh-CN" altLang="en-US" sz="2400" b="1" dirty="0">
                  <a:latin typeface="Times New Roman" panose="02020603050405020304" pitchFamily="18" charset="0"/>
                </a:rPr>
                <a:t>也导通，构成</a:t>
              </a:r>
              <a:r>
                <a:rPr lang="en-US" altLang="zh-CN" sz="2400" b="1" dirty="0">
                  <a:latin typeface="Times New Roman" panose="02020603050405020304" pitchFamily="18" charset="0"/>
                </a:rPr>
                <a:t>R-S</a:t>
              </a:r>
              <a:endParaRPr lang="en-US" altLang="zh-CN" sz="2400" b="1" dirty="0">
                <a:latin typeface="Times New Roman" panose="02020603050405020304" pitchFamily="18" charset="0"/>
              </a:endParaRPr>
            </a:p>
            <a:p>
              <a:pPr eaLnBrk="1" hangingPunct="1"/>
              <a:r>
                <a:rPr lang="zh-CN" altLang="en-US" sz="2400" b="1" dirty="0">
                  <a:latin typeface="Times New Roman" panose="02020603050405020304" pitchFamily="18" charset="0"/>
                </a:rPr>
                <a:t>触发器，触发器的状态由</a:t>
              </a:r>
              <a:r>
                <a:rPr lang="en-US" altLang="zh-CN" sz="2400" b="1" dirty="0">
                  <a:latin typeface="Times New Roman" panose="02020603050405020304" pitchFamily="18" charset="0"/>
                </a:rPr>
                <a:t>C</a:t>
              </a:r>
              <a:r>
                <a:rPr lang="en-US" altLang="zh-CN" sz="2400" b="1" baseline="-25000" dirty="0">
                  <a:latin typeface="Times New Roman" panose="02020603050405020304" pitchFamily="18" charset="0"/>
                </a:rPr>
                <a:t>1</a:t>
              </a:r>
              <a:r>
                <a:rPr lang="zh-CN" altLang="en-US" sz="2400" b="1" dirty="0">
                  <a:latin typeface="Times New Roman" panose="02020603050405020304" pitchFamily="18" charset="0"/>
                </a:rPr>
                <a:t>及</a:t>
              </a:r>
              <a:endParaRPr lang="zh-CN" altLang="en-US" sz="2400" b="1" dirty="0">
                <a:latin typeface="Times New Roman" panose="02020603050405020304" pitchFamily="18" charset="0"/>
              </a:endParaRPr>
            </a:p>
            <a:p>
              <a:pPr eaLnBrk="1" hangingPunct="1"/>
              <a:r>
                <a:rPr lang="en-US" altLang="zh-CN" sz="2400" b="1" dirty="0">
                  <a:latin typeface="Times New Roman" panose="02020603050405020304" pitchFamily="18" charset="0"/>
                </a:rPr>
                <a:t>C</a:t>
              </a:r>
              <a:r>
                <a:rPr lang="en-US" altLang="zh-CN" sz="2400" b="1" baseline="-25000" dirty="0">
                  <a:latin typeface="Times New Roman" panose="02020603050405020304" pitchFamily="18" charset="0"/>
                </a:rPr>
                <a:t>2</a:t>
              </a:r>
              <a:r>
                <a:rPr lang="zh-CN" altLang="en-US" sz="2400" b="1" dirty="0">
                  <a:latin typeface="Times New Roman" panose="02020603050405020304" pitchFamily="18" charset="0"/>
                </a:rPr>
                <a:t>中的电压决定</a:t>
              </a:r>
              <a:endParaRPr lang="zh-CN" altLang="en-US" sz="2400" b="1" dirty="0">
                <a:latin typeface="Times New Roman" panose="02020603050405020304" pitchFamily="18" charset="0"/>
              </a:endParaRPr>
            </a:p>
          </p:txBody>
        </p:sp>
        <p:sp>
          <p:nvSpPr>
            <p:cNvPr id="66579" name="Rectangle 17"/>
            <p:cNvSpPr/>
            <p:nvPr/>
          </p:nvSpPr>
          <p:spPr>
            <a:xfrm>
              <a:off x="3120" y="672"/>
              <a:ext cx="1536" cy="2496"/>
            </a:xfrm>
            <a:prstGeom prst="rect">
              <a:avLst/>
            </a:prstGeom>
            <a:noFill/>
            <a:ln w="7620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grpSp>
      <p:grpSp>
        <p:nvGrpSpPr>
          <p:cNvPr id="164884" name="Group 20"/>
          <p:cNvGrpSpPr/>
          <p:nvPr/>
        </p:nvGrpSpPr>
        <p:grpSpPr>
          <a:xfrm>
            <a:off x="76200" y="685800"/>
            <a:ext cx="7391400" cy="1981200"/>
            <a:chOff x="48" y="432"/>
            <a:chExt cx="4656" cy="1248"/>
          </a:xfrm>
        </p:grpSpPr>
        <p:sp>
          <p:nvSpPr>
            <p:cNvPr id="66576" name="Rectangle 18"/>
            <p:cNvSpPr/>
            <p:nvPr/>
          </p:nvSpPr>
          <p:spPr>
            <a:xfrm>
              <a:off x="3072" y="624"/>
              <a:ext cx="1632" cy="1056"/>
            </a:xfrm>
            <a:prstGeom prst="rect">
              <a:avLst/>
            </a:prstGeom>
            <a:noFill/>
            <a:ln w="76200" cap="flat" cmpd="sng">
              <a:solidFill>
                <a:srgbClr val="FFCC66"/>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
          <p:nvSpPr>
            <p:cNvPr id="66577" name="AutoShape 19"/>
            <p:cNvSpPr/>
            <p:nvPr/>
          </p:nvSpPr>
          <p:spPr>
            <a:xfrm>
              <a:off x="48" y="432"/>
              <a:ext cx="2304" cy="960"/>
            </a:xfrm>
            <a:prstGeom prst="wedgeRectCallout">
              <a:avLst>
                <a:gd name="adj1" fmla="val 79690"/>
                <a:gd name="adj2" fmla="val 21250"/>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栅极电容保留信息只有一</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段时间，需定期地给它刷</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新，以免信息丢失，所以</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在每一行上设有刷新电路。</a:t>
              </a:r>
              <a:endParaRPr lang="zh-CN" altLang="en-US" sz="2400" b="1" dirty="0">
                <a:latin typeface="Times New Roman" panose="02020603050405020304" pitchFamily="18" charset="0"/>
              </a:endParaRPr>
            </a:p>
          </p:txBody>
        </p:sp>
      </p:grpSp>
      <p:grpSp>
        <p:nvGrpSpPr>
          <p:cNvPr id="164891" name="Group 27"/>
          <p:cNvGrpSpPr/>
          <p:nvPr/>
        </p:nvGrpSpPr>
        <p:grpSpPr>
          <a:xfrm>
            <a:off x="0" y="2514600"/>
            <a:ext cx="6705600" cy="3352800"/>
            <a:chOff x="0" y="1584"/>
            <a:chExt cx="4224" cy="2112"/>
          </a:xfrm>
        </p:grpSpPr>
        <p:grpSp>
          <p:nvGrpSpPr>
            <p:cNvPr id="66569" name="Group 22"/>
            <p:cNvGrpSpPr/>
            <p:nvPr/>
          </p:nvGrpSpPr>
          <p:grpSpPr>
            <a:xfrm>
              <a:off x="0" y="1584"/>
              <a:ext cx="2592" cy="768"/>
              <a:chOff x="0" y="1584"/>
              <a:chExt cx="2592" cy="768"/>
            </a:xfrm>
          </p:grpSpPr>
          <p:sp>
            <p:nvSpPr>
              <p:cNvPr id="66574" name="AutoShape 12"/>
              <p:cNvSpPr/>
              <p:nvPr/>
            </p:nvSpPr>
            <p:spPr>
              <a:xfrm>
                <a:off x="0" y="1584"/>
                <a:ext cx="2256" cy="768"/>
              </a:xfrm>
              <a:prstGeom prst="wedgeRectCallout">
                <a:avLst>
                  <a:gd name="adj1" fmla="val 119148"/>
                  <a:gd name="adj2" fmla="val 179426"/>
                </a:avLst>
              </a:prstGeom>
              <a:solidFill>
                <a:srgbClr val="FFCC66"/>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2400" b="1" dirty="0">
                    <a:latin typeface="Times New Roman" panose="02020603050405020304" pitchFamily="18" charset="0"/>
                  </a:rPr>
                  <a:t>当</a:t>
                </a:r>
                <a:r>
                  <a:rPr lang="en-US" altLang="zh-CN" sz="2400" b="1" dirty="0">
                    <a:latin typeface="Times New Roman" panose="02020603050405020304" pitchFamily="18" charset="0"/>
                  </a:rPr>
                  <a:t>X</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Y</a:t>
                </a:r>
                <a:r>
                  <a:rPr lang="zh-CN" altLang="en-US" sz="2400" b="1" dirty="0">
                    <a:latin typeface="Times New Roman" panose="02020603050405020304" pitchFamily="18" charset="0"/>
                  </a:rPr>
                  <a:t>线均为高电平时，</a:t>
                </a:r>
                <a:endParaRPr lang="zh-CN" altLang="en-US" sz="2400" b="1" dirty="0">
                  <a:latin typeface="Times New Roman" panose="02020603050405020304" pitchFamily="18" charset="0"/>
                </a:endParaRPr>
              </a:p>
              <a:p>
                <a:pPr eaLnBrk="1" hangingPunct="1"/>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5</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6</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7</a:t>
                </a:r>
                <a:r>
                  <a:rPr lang="zh-CN" altLang="en-US" sz="2400" b="1" dirty="0">
                    <a:latin typeface="Times New Roman" panose="02020603050405020304" pitchFamily="18" charset="0"/>
                  </a:rPr>
                  <a:t>及</a:t>
                </a:r>
                <a:r>
                  <a:rPr lang="en-US" altLang="zh-CN" sz="2400" b="1" dirty="0">
                    <a:latin typeface="Times New Roman" panose="02020603050405020304" pitchFamily="18" charset="0"/>
                  </a:rPr>
                  <a:t>T</a:t>
                </a:r>
                <a:r>
                  <a:rPr lang="en-US" altLang="zh-CN" sz="2400" b="1" baseline="-25000" dirty="0">
                    <a:latin typeface="Times New Roman" panose="02020603050405020304" pitchFamily="18" charset="0"/>
                  </a:rPr>
                  <a:t>8</a:t>
                </a:r>
                <a:r>
                  <a:rPr lang="zh-CN" altLang="en-US" sz="2400" b="1" dirty="0">
                    <a:latin typeface="Times New Roman" panose="02020603050405020304" pitchFamily="18" charset="0"/>
                  </a:rPr>
                  <a:t>都导通，</a:t>
                </a:r>
                <a:endParaRPr lang="zh-CN" altLang="en-US" sz="2400" b="1" dirty="0">
                  <a:latin typeface="Times New Roman" panose="02020603050405020304" pitchFamily="18" charset="0"/>
                </a:endParaRPr>
              </a:p>
              <a:p>
                <a:pPr eaLnBrk="1" hangingPunct="1"/>
                <a:r>
                  <a:rPr lang="zh-CN" altLang="en-US" sz="2400" b="1" dirty="0">
                    <a:latin typeface="Times New Roman" panose="02020603050405020304" pitchFamily="18" charset="0"/>
                  </a:rPr>
                  <a:t>此单元接至数据线，</a:t>
                </a:r>
                <a:endParaRPr lang="zh-CN" altLang="en-US" sz="2400" b="1" dirty="0">
                  <a:latin typeface="Times New Roman" panose="02020603050405020304" pitchFamily="18" charset="0"/>
                </a:endParaRPr>
              </a:p>
            </p:txBody>
          </p:sp>
          <p:sp>
            <p:nvSpPr>
              <p:cNvPr id="66575" name="Line 13"/>
              <p:cNvSpPr/>
              <p:nvPr/>
            </p:nvSpPr>
            <p:spPr>
              <a:xfrm flipV="1">
                <a:off x="2208" y="2256"/>
                <a:ext cx="384" cy="96"/>
              </a:xfrm>
              <a:prstGeom prst="line">
                <a:avLst/>
              </a:prstGeom>
              <a:ln w="76200" cap="flat" cmpd="sng">
                <a:solidFill>
                  <a:srgbClr val="FFCC66"/>
                </a:solidFill>
                <a:prstDash val="solid"/>
                <a:headEnd type="none" w="med" len="med"/>
                <a:tailEnd type="triangle" w="med" len="med"/>
              </a:ln>
            </p:spPr>
          </p:sp>
        </p:grpSp>
        <p:grpSp>
          <p:nvGrpSpPr>
            <p:cNvPr id="66570" name="Group 26"/>
            <p:cNvGrpSpPr/>
            <p:nvPr/>
          </p:nvGrpSpPr>
          <p:grpSpPr>
            <a:xfrm>
              <a:off x="2688" y="1968"/>
              <a:ext cx="1536" cy="1728"/>
              <a:chOff x="2688" y="1968"/>
              <a:chExt cx="1536" cy="1728"/>
            </a:xfrm>
          </p:grpSpPr>
          <p:sp>
            <p:nvSpPr>
              <p:cNvPr id="66571" name="Line 23"/>
              <p:cNvSpPr/>
              <p:nvPr/>
            </p:nvSpPr>
            <p:spPr>
              <a:xfrm flipV="1">
                <a:off x="2688" y="1968"/>
                <a:ext cx="0" cy="1728"/>
              </a:xfrm>
              <a:prstGeom prst="line">
                <a:avLst/>
              </a:prstGeom>
              <a:ln w="76200" cap="flat" cmpd="sng">
                <a:solidFill>
                  <a:schemeClr val="accent1"/>
                </a:solidFill>
                <a:prstDash val="solid"/>
                <a:headEnd type="none" w="med" len="med"/>
                <a:tailEnd type="none" w="med" len="med"/>
              </a:ln>
            </p:spPr>
          </p:sp>
          <p:sp>
            <p:nvSpPr>
              <p:cNvPr id="66572" name="Line 24"/>
              <p:cNvSpPr/>
              <p:nvPr/>
            </p:nvSpPr>
            <p:spPr>
              <a:xfrm>
                <a:off x="2688" y="1968"/>
                <a:ext cx="768" cy="0"/>
              </a:xfrm>
              <a:prstGeom prst="line">
                <a:avLst/>
              </a:prstGeom>
              <a:ln w="76200" cap="flat" cmpd="sng">
                <a:solidFill>
                  <a:schemeClr val="accent1"/>
                </a:solidFill>
                <a:prstDash val="solid"/>
                <a:headEnd type="none" w="med" len="med"/>
                <a:tailEnd type="none" w="med" len="med"/>
              </a:ln>
            </p:spPr>
          </p:sp>
          <p:sp>
            <p:nvSpPr>
              <p:cNvPr id="66573" name="Line 25"/>
              <p:cNvSpPr/>
              <p:nvPr/>
            </p:nvSpPr>
            <p:spPr>
              <a:xfrm>
                <a:off x="3456" y="1968"/>
                <a:ext cx="768" cy="864"/>
              </a:xfrm>
              <a:prstGeom prst="line">
                <a:avLst/>
              </a:prstGeom>
              <a:ln w="76200" cap="flat" cmpd="sng">
                <a:solidFill>
                  <a:schemeClr val="accent1"/>
                </a:solidFill>
                <a:prstDash val="solid"/>
                <a:headEnd type="none" w="med" len="med"/>
                <a:tailEnd type="triangle" w="med" len="med"/>
              </a:ln>
            </p:spPr>
          </p:sp>
        </p:grpSp>
      </p:gr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64874"/>
                                        </p:tgtEl>
                                        <p:attrNameLst>
                                          <p:attrName>style.visibility</p:attrName>
                                        </p:attrNameLst>
                                      </p:cBhvr>
                                      <p:to>
                                        <p:strVal val="visible"/>
                                      </p:to>
                                    </p:set>
                                    <p:anim calcmode="lin" valueType="num">
                                      <p:cBhvr additive="base">
                                        <p:cTn id="7" dur="500" fill="hold"/>
                                        <p:tgtEl>
                                          <p:spTgt spid="164874"/>
                                        </p:tgtEl>
                                        <p:attrNameLst>
                                          <p:attrName>ppt_x</p:attrName>
                                        </p:attrNameLst>
                                      </p:cBhvr>
                                      <p:tavLst>
                                        <p:tav tm="0">
                                          <p:val>
                                            <p:strVal val="1+#ppt_w/2"/>
                                          </p:val>
                                        </p:tav>
                                        <p:tav tm="100000">
                                          <p:val>
                                            <p:strVal val="#ppt_x"/>
                                          </p:val>
                                        </p:tav>
                                      </p:tavLst>
                                    </p:anim>
                                    <p:anim calcmode="lin" valueType="num">
                                      <p:cBhvr additive="base">
                                        <p:cTn id="8" dur="500" fill="hold"/>
                                        <p:tgtEl>
                                          <p:spTgt spid="1648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164875"/>
                                        </p:tgtEl>
                                        <p:attrNameLst>
                                          <p:attrName>style.visibility</p:attrName>
                                        </p:attrNameLst>
                                      </p:cBhvr>
                                      <p:to>
                                        <p:strVal val="visible"/>
                                      </p:to>
                                    </p:set>
                                    <p:animEffect transition="in" filter="strips(downRight)">
                                      <p:cBhvr>
                                        <p:cTn id="13" dur="500"/>
                                        <p:tgtEl>
                                          <p:spTgt spid="164875"/>
                                        </p:tgtEl>
                                      </p:cBhvr>
                                    </p:animEffect>
                                  </p:childTnLst>
                                  <p:subTnLst>
                                    <p:set>
                                      <p:cBhvr override="childStyle">
                                        <p:cTn dur="1" fill="hold" display="0" masterRel="nextClick" afterEffect="1"/>
                                        <p:tgtEl>
                                          <p:spTgt spid="164875"/>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18" presetClass="entr" presetSubtype="6" fill="hold" nodeType="clickEffect">
                                  <p:stCondLst>
                                    <p:cond delay="0"/>
                                  </p:stCondLst>
                                  <p:childTnLst>
                                    <p:set>
                                      <p:cBhvr>
                                        <p:cTn id="17" dur="1" fill="hold">
                                          <p:stCondLst>
                                            <p:cond delay="0"/>
                                          </p:stCondLst>
                                        </p:cTn>
                                        <p:tgtEl>
                                          <p:spTgt spid="164891"/>
                                        </p:tgtEl>
                                        <p:attrNameLst>
                                          <p:attrName>style.visibility</p:attrName>
                                        </p:attrNameLst>
                                      </p:cBhvr>
                                      <p:to>
                                        <p:strVal val="visible"/>
                                      </p:to>
                                    </p:set>
                                    <p:animEffect transition="in" filter="strips(downRight)">
                                      <p:cBhvr>
                                        <p:cTn id="18" dur="500"/>
                                        <p:tgtEl>
                                          <p:spTgt spid="164891"/>
                                        </p:tgtEl>
                                      </p:cBhvr>
                                    </p:animEffect>
                                  </p:childTnLst>
                                  <p:subTnLst>
                                    <p:set>
                                      <p:cBhvr override="childStyle">
                                        <p:cTn dur="1" fill="hold" display="0" masterRel="nextClick" afterEffect="1"/>
                                        <p:tgtEl>
                                          <p:spTgt spid="164891"/>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8" presetClass="entr" presetSubtype="3" fill="hold" grpId="0" nodeType="clickEffect">
                                  <p:stCondLst>
                                    <p:cond delay="0"/>
                                  </p:stCondLst>
                                  <p:childTnLst>
                                    <p:set>
                                      <p:cBhvr>
                                        <p:cTn id="22" dur="1" fill="hold">
                                          <p:stCondLst>
                                            <p:cond delay="0"/>
                                          </p:stCondLst>
                                        </p:cTn>
                                        <p:tgtEl>
                                          <p:spTgt spid="164879"/>
                                        </p:tgtEl>
                                        <p:attrNameLst>
                                          <p:attrName>style.visibility</p:attrName>
                                        </p:attrNameLst>
                                      </p:cBhvr>
                                      <p:to>
                                        <p:strVal val="visible"/>
                                      </p:to>
                                    </p:set>
                                    <p:animEffect transition="in" filter="strips(upRight)">
                                      <p:cBhvr>
                                        <p:cTn id="23" dur="500"/>
                                        <p:tgtEl>
                                          <p:spTgt spid="164879"/>
                                        </p:tgtEl>
                                      </p:cBhvr>
                                    </p:animEffect>
                                  </p:childTnLst>
                                  <p:subTnLst>
                                    <p:set>
                                      <p:cBhvr override="childStyle">
                                        <p:cTn dur="1" fill="hold" display="0" masterRel="nextClick" afterEffect="1"/>
                                        <p:tgtEl>
                                          <p:spTgt spid="164879"/>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18" presetClass="entr" presetSubtype="6" fill="hold" nodeType="clickEffect">
                                  <p:stCondLst>
                                    <p:cond delay="0"/>
                                  </p:stCondLst>
                                  <p:childTnLst>
                                    <p:set>
                                      <p:cBhvr>
                                        <p:cTn id="27" dur="1" fill="hold">
                                          <p:stCondLst>
                                            <p:cond delay="0"/>
                                          </p:stCondLst>
                                        </p:cTn>
                                        <p:tgtEl>
                                          <p:spTgt spid="164884"/>
                                        </p:tgtEl>
                                        <p:attrNameLst>
                                          <p:attrName>style.visibility</p:attrName>
                                        </p:attrNameLst>
                                      </p:cBhvr>
                                      <p:to>
                                        <p:strVal val="visible"/>
                                      </p:to>
                                    </p:set>
                                    <p:animEffect transition="in" filter="strips(downRight)">
                                      <p:cBhvr>
                                        <p:cTn id="28" dur="500"/>
                                        <p:tgtEl>
                                          <p:spTgt spid="164884"/>
                                        </p:tgtEl>
                                      </p:cBhvr>
                                    </p:animEffect>
                                  </p:childTnLst>
                                  <p:subTnLst>
                                    <p:set>
                                      <p:cBhvr override="childStyle">
                                        <p:cTn dur="1" fill="hold" display="0" masterRel="nextClick" afterEffect="1"/>
                                        <p:tgtEl>
                                          <p:spTgt spid="164884"/>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18" presetClass="entr" presetSubtype="3" fill="hold" nodeType="clickEffect">
                                  <p:stCondLst>
                                    <p:cond delay="0"/>
                                  </p:stCondLst>
                                  <p:childTnLst>
                                    <p:set>
                                      <p:cBhvr>
                                        <p:cTn id="32" dur="1" fill="hold">
                                          <p:stCondLst>
                                            <p:cond delay="0"/>
                                          </p:stCondLst>
                                        </p:cTn>
                                        <p:tgtEl>
                                          <p:spTgt spid="164885"/>
                                        </p:tgtEl>
                                        <p:attrNameLst>
                                          <p:attrName>style.visibility</p:attrName>
                                        </p:attrNameLst>
                                      </p:cBhvr>
                                      <p:to>
                                        <p:strVal val="visible"/>
                                      </p:to>
                                    </p:set>
                                    <p:animEffect transition="in" filter="strips(upRight)">
                                      <p:cBhvr>
                                        <p:cTn id="33" dur="500"/>
                                        <p:tgtEl>
                                          <p:spTgt spid="164885"/>
                                        </p:tgtEl>
                                      </p:cBhvr>
                                    </p:animEffect>
                                  </p:childTnLst>
                                  <p:subTnLst>
                                    <p:set>
                                      <p:cBhvr override="childStyle">
                                        <p:cTn dur="1" fill="hold" display="0" masterRel="nextClick" afterEffect="1"/>
                                        <p:tgtEl>
                                          <p:spTgt spid="16488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75" grpId="0" animBg="1"/>
      <p:bldP spid="164879"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a:ln/>
        </p:spPr>
        <p:txBody>
          <a:bodyPr vert="horz" wrap="square" lIns="91440" tIns="45720" rIns="91440" bIns="45720" anchor="ctr" anchorCtr="0"/>
          <a:p>
            <a:pPr eaLnBrk="1" hangingPunct="1"/>
            <a:endParaRPr lang="zh-CN" altLang="zh-CN" dirty="0"/>
          </a:p>
        </p:txBody>
      </p:sp>
      <p:sp>
        <p:nvSpPr>
          <p:cNvPr id="67587" name="Rectangle 3"/>
          <p:cNvSpPr>
            <a:spLocks noGrp="1"/>
          </p:cNvSpPr>
          <p:nvPr>
            <p:ph idx="1" hasCustomPrompt="1"/>
          </p:nvPr>
        </p:nvSpPr>
        <p:spPr>
          <a:ln/>
        </p:spPr>
        <p:txBody>
          <a:bodyPr vert="horz" wrap="square" lIns="91440" tIns="45720" rIns="91440" bIns="45720" anchor="t" anchorCtr="0"/>
          <a:p>
            <a:pPr eaLnBrk="1" hangingPunct="1"/>
            <a:endParaRPr lang="zh-CN" altLang="zh-CN" dirty="0"/>
          </a:p>
        </p:txBody>
      </p:sp>
      <p:pic>
        <p:nvPicPr>
          <p:cNvPr id="67588" name="Picture 4" descr="ram"/>
          <p:cNvPicPr>
            <a:picLocks noChangeAspect="1"/>
          </p:cNvPicPr>
          <p:nvPr/>
        </p:nvPicPr>
        <p:blipFill>
          <a:blip r:embed="rId1"/>
          <a:stretch>
            <a:fillRect/>
          </a:stretch>
        </p:blipFill>
        <p:spPr>
          <a:xfrm>
            <a:off x="684213" y="404813"/>
            <a:ext cx="7488237" cy="4673600"/>
          </a:xfrm>
          <a:prstGeom prst="rect">
            <a:avLst/>
          </a:prstGeom>
          <a:noFill/>
          <a:ln w="9525">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3"/>
          <p:cNvSpPr>
            <a:spLocks noGrp="1"/>
          </p:cNvSpPr>
          <p:nvPr>
            <p:ph idx="1" hasCustomPrompt="1"/>
          </p:nvPr>
        </p:nvSpPr>
        <p:spPr>
          <a:xfrm>
            <a:off x="395288" y="620713"/>
            <a:ext cx="8280400" cy="6237287"/>
          </a:xfrm>
          <a:ln/>
        </p:spPr>
        <p:txBody>
          <a:bodyPr vert="horz" wrap="square" lIns="91440" tIns="45720" rIns="91440" bIns="45720" anchor="t" anchorCtr="0"/>
          <a:p>
            <a:pPr algn="just" eaLnBrk="1" hangingPunct="1">
              <a:lnSpc>
                <a:spcPct val="150000"/>
              </a:lnSpc>
              <a:spcBef>
                <a:spcPct val="50000"/>
              </a:spcBef>
              <a:buNone/>
            </a:pPr>
            <a:r>
              <a:rPr lang="en-US" altLang="zh-CN" sz="1000" b="1" dirty="0"/>
              <a:t>	</a:t>
            </a:r>
            <a:r>
              <a:rPr lang="en-US" altLang="zh-CN" sz="1400" b="1" dirty="0"/>
              <a:t>	</a:t>
            </a:r>
            <a:r>
              <a:rPr lang="zh-CN" altLang="en-US" sz="2000" b="1" dirty="0"/>
              <a:t>图是单管动态</a:t>
            </a:r>
            <a:r>
              <a:rPr lang="en-US" altLang="zh-CN" sz="2000" b="1" dirty="0"/>
              <a:t>MOS</a:t>
            </a:r>
            <a:r>
              <a:rPr lang="zh-CN" altLang="en-US" sz="2000" b="1" dirty="0"/>
              <a:t>存储单元，它只有一个</a:t>
            </a:r>
            <a:r>
              <a:rPr lang="en-US" altLang="zh-CN" sz="2000" b="1" dirty="0"/>
              <a:t>NMOS</a:t>
            </a:r>
            <a:r>
              <a:rPr lang="zh-CN" altLang="en-US" sz="2000" b="1" dirty="0"/>
              <a:t>管和存储电容器</a:t>
            </a:r>
            <a:r>
              <a:rPr lang="en-US" altLang="zh-CN" sz="2000" b="1" i="1" dirty="0"/>
              <a:t>C</a:t>
            </a:r>
            <a:r>
              <a:rPr lang="en-US" altLang="zh-CN" sz="2000" b="1" baseline="-25000" dirty="0"/>
              <a:t>S</a:t>
            </a:r>
            <a:r>
              <a:rPr lang="en-US" altLang="zh-CN" sz="2000" b="1" dirty="0"/>
              <a:t>, </a:t>
            </a:r>
            <a:r>
              <a:rPr lang="en-US" altLang="zh-CN" sz="2000" b="1" i="1" dirty="0"/>
              <a:t>C</a:t>
            </a:r>
            <a:r>
              <a:rPr lang="en-US" altLang="zh-CN" sz="2000" b="1" baseline="-25000" dirty="0"/>
              <a:t>O</a:t>
            </a:r>
            <a:r>
              <a:rPr lang="zh-CN" altLang="en-US" sz="2000" b="1" dirty="0"/>
              <a:t>是位线上的分布电容</a:t>
            </a:r>
            <a:r>
              <a:rPr lang="en-US" altLang="zh-CN" sz="2000" b="1" dirty="0"/>
              <a:t>(</a:t>
            </a:r>
            <a:r>
              <a:rPr lang="en-US" altLang="zh-CN" sz="2000" b="1" i="1" dirty="0"/>
              <a:t>C</a:t>
            </a:r>
            <a:r>
              <a:rPr lang="en-US" altLang="zh-CN" sz="2000" b="1" baseline="-25000" dirty="0"/>
              <a:t>O</a:t>
            </a:r>
            <a:r>
              <a:rPr lang="en-US" altLang="zh-CN" sz="2000" b="1" dirty="0"/>
              <a:t>&gt;&gt;</a:t>
            </a:r>
            <a:r>
              <a:rPr lang="en-US" altLang="zh-CN" sz="2000" b="1" i="1" dirty="0"/>
              <a:t>C</a:t>
            </a:r>
            <a:r>
              <a:rPr lang="en-US" altLang="zh-CN" sz="2000" b="1" baseline="-25000" dirty="0"/>
              <a:t>S</a:t>
            </a:r>
            <a:r>
              <a:rPr lang="en-US" altLang="zh-CN" sz="2000" b="1" dirty="0"/>
              <a:t>)</a:t>
            </a:r>
            <a:r>
              <a:rPr lang="zh-CN" altLang="en-US" sz="2000" b="1" dirty="0"/>
              <a:t>。 显然，采用单管存储单元的</a:t>
            </a:r>
            <a:r>
              <a:rPr lang="en-US" altLang="zh-CN" sz="2000" b="1" dirty="0"/>
              <a:t>DRAM</a:t>
            </a:r>
            <a:r>
              <a:rPr lang="zh-CN" altLang="en-US" sz="2000" b="1" dirty="0"/>
              <a:t>，其容量可以做得更大。写入信息时，字线为高电平，</a:t>
            </a:r>
            <a:r>
              <a:rPr lang="en-US" altLang="zh-CN" sz="2000" b="1" dirty="0"/>
              <a:t>V</a:t>
            </a:r>
            <a:r>
              <a:rPr lang="zh-CN" altLang="en-US" sz="2000" b="1" dirty="0"/>
              <a:t>导通，位线上的数据经过</a:t>
            </a:r>
            <a:r>
              <a:rPr lang="en-US" altLang="zh-CN" sz="2000" b="1" dirty="0"/>
              <a:t>V</a:t>
            </a:r>
            <a:r>
              <a:rPr lang="zh-CN" altLang="en-US" sz="2000" b="1" dirty="0"/>
              <a:t>存入</a:t>
            </a:r>
            <a:r>
              <a:rPr lang="en-US" altLang="zh-CN" sz="2000" b="1" i="1" dirty="0"/>
              <a:t>C</a:t>
            </a:r>
            <a:r>
              <a:rPr lang="en-US" altLang="zh-CN" sz="2000" b="1" baseline="-25000" dirty="0"/>
              <a:t>S</a:t>
            </a:r>
            <a:r>
              <a:rPr lang="en-US" altLang="zh-CN" sz="2000" b="1" dirty="0"/>
              <a:t></a:t>
            </a:r>
            <a:r>
              <a:rPr lang="zh-CN" altLang="en-US" sz="2000" b="1" dirty="0"/>
              <a:t>。 </a:t>
            </a:r>
            <a:endParaRPr lang="zh-CN" altLang="en-US" sz="2000" b="1" dirty="0"/>
          </a:p>
          <a:p>
            <a:pPr algn="just" eaLnBrk="1" hangingPunct="1">
              <a:lnSpc>
                <a:spcPct val="140000"/>
              </a:lnSpc>
              <a:spcBef>
                <a:spcPct val="50000"/>
              </a:spcBef>
              <a:buNone/>
            </a:pPr>
            <a:r>
              <a:rPr lang="zh-CN" altLang="en-US" sz="2000" b="1" dirty="0"/>
              <a:t>		读出信息时也使字线为高电平，</a:t>
            </a:r>
            <a:r>
              <a:rPr lang="en-US" altLang="zh-CN" sz="2000" b="1" dirty="0"/>
              <a:t>V</a:t>
            </a:r>
            <a:r>
              <a:rPr lang="zh-CN" altLang="en-US" sz="2000" b="1" dirty="0"/>
              <a:t>管导通，这时</a:t>
            </a:r>
            <a:r>
              <a:rPr lang="en-US" altLang="zh-CN" sz="2000" b="1" i="1" dirty="0"/>
              <a:t>C</a:t>
            </a:r>
            <a:r>
              <a:rPr lang="en-US" altLang="zh-CN" sz="2000" b="1" baseline="-25000" dirty="0"/>
              <a:t>S</a:t>
            </a:r>
            <a:r>
              <a:rPr lang="zh-CN" altLang="en-US" sz="2000" b="1" dirty="0"/>
              <a:t>经</a:t>
            </a:r>
            <a:r>
              <a:rPr lang="en-US" altLang="zh-CN" sz="2000" b="1" dirty="0"/>
              <a:t>V</a:t>
            </a:r>
            <a:r>
              <a:rPr lang="zh-CN" altLang="en-US" sz="2000" b="1" dirty="0"/>
              <a:t>向</a:t>
            </a:r>
            <a:r>
              <a:rPr lang="en-US" altLang="zh-CN" sz="2000" b="1" i="1" dirty="0"/>
              <a:t>C</a:t>
            </a:r>
            <a:r>
              <a:rPr lang="en-US" altLang="zh-CN" sz="2000" b="1" baseline="-25000" dirty="0"/>
              <a:t>O</a:t>
            </a:r>
            <a:r>
              <a:rPr lang="zh-CN" altLang="en-US" sz="2000" b="1" dirty="0"/>
              <a:t>充电，使位线获得读出的信息。设位线上原来的电位</a:t>
            </a:r>
            <a:r>
              <a:rPr lang="en-US" altLang="zh-CN" sz="2000" b="1" i="1" dirty="0"/>
              <a:t>U</a:t>
            </a:r>
            <a:r>
              <a:rPr lang="en-US" altLang="zh-CN" sz="2000" b="1" baseline="-25000" dirty="0"/>
              <a:t>O</a:t>
            </a:r>
            <a:r>
              <a:rPr lang="en-US" altLang="zh-CN" sz="2000" b="1" dirty="0"/>
              <a:t>=0</a:t>
            </a:r>
            <a:r>
              <a:rPr lang="zh-CN" altLang="en-US" sz="2000" b="1" dirty="0"/>
              <a:t>，</a:t>
            </a:r>
            <a:r>
              <a:rPr lang="en-US" altLang="zh-CN" sz="2000" b="1" i="1" dirty="0"/>
              <a:t>C</a:t>
            </a:r>
            <a:r>
              <a:rPr lang="en-US" altLang="zh-CN" sz="2000" b="1" baseline="-25000" dirty="0"/>
              <a:t>S</a:t>
            </a:r>
            <a:r>
              <a:rPr lang="zh-CN" altLang="en-US" sz="2000" b="1" dirty="0"/>
              <a:t>原来存有正电荷，电压</a:t>
            </a:r>
            <a:r>
              <a:rPr lang="en-US" altLang="zh-CN" sz="2000" b="1" i="1" dirty="0"/>
              <a:t>U</a:t>
            </a:r>
            <a:r>
              <a:rPr lang="en-US" altLang="zh-CN" sz="2000" b="1" baseline="-25000" dirty="0"/>
              <a:t>S</a:t>
            </a:r>
            <a:r>
              <a:rPr lang="zh-CN" altLang="en-US" sz="2000" b="1" dirty="0"/>
              <a:t>为高电平，因读出前后电荷总量相等，因此有</a:t>
            </a:r>
            <a:r>
              <a:rPr lang="en-US" altLang="zh-CN" sz="2000" b="1" i="1" dirty="0"/>
              <a:t>U</a:t>
            </a:r>
            <a:r>
              <a:rPr lang="en-US" altLang="zh-CN" sz="2000" b="1" baseline="-25000" dirty="0"/>
              <a:t>S</a:t>
            </a:r>
            <a:r>
              <a:rPr lang="en-US" altLang="zh-CN" sz="2000" b="1" i="1" dirty="0"/>
              <a:t>C</a:t>
            </a:r>
            <a:r>
              <a:rPr lang="en-US" altLang="zh-CN" sz="2000" b="1" baseline="-25000" dirty="0"/>
              <a:t>S</a:t>
            </a:r>
            <a:r>
              <a:rPr lang="en-US" altLang="zh-CN" sz="2000" b="1" dirty="0"/>
              <a:t>=</a:t>
            </a:r>
            <a:r>
              <a:rPr lang="en-US" altLang="zh-CN" sz="2000" b="1" i="1" dirty="0"/>
              <a:t>U</a:t>
            </a:r>
            <a:r>
              <a:rPr lang="en-US" altLang="zh-CN" sz="2000" b="1" baseline="-25000" dirty="0"/>
              <a:t>O</a:t>
            </a:r>
            <a:r>
              <a:rPr lang="en-US" altLang="zh-CN" sz="2000" b="1" dirty="0"/>
              <a:t>(</a:t>
            </a:r>
            <a:r>
              <a:rPr lang="en-US" altLang="zh-CN" sz="2000" b="1" i="1" dirty="0"/>
              <a:t>C</a:t>
            </a:r>
            <a:r>
              <a:rPr lang="en-US" altLang="zh-CN" sz="2000" b="1" baseline="-25000" dirty="0"/>
              <a:t>S</a:t>
            </a:r>
            <a:r>
              <a:rPr lang="en-US" altLang="zh-CN" sz="2000" b="1" dirty="0"/>
              <a:t>+</a:t>
            </a:r>
            <a:r>
              <a:rPr lang="en-US" altLang="zh-CN" sz="2000" b="1" i="1" dirty="0"/>
              <a:t>C</a:t>
            </a:r>
            <a:r>
              <a:rPr lang="en-US" altLang="zh-CN" sz="2000" b="1" baseline="-25000" dirty="0"/>
              <a:t>O</a:t>
            </a:r>
            <a:r>
              <a:rPr lang="en-US" altLang="zh-CN" sz="2000" b="1" dirty="0"/>
              <a:t>)</a:t>
            </a:r>
            <a:r>
              <a:rPr lang="zh-CN" altLang="en-US" sz="2000" b="1" dirty="0"/>
              <a:t>，因</a:t>
            </a:r>
            <a:r>
              <a:rPr lang="en-US" altLang="zh-CN" sz="2000" b="1" i="1" dirty="0"/>
              <a:t>C</a:t>
            </a:r>
            <a:r>
              <a:rPr lang="en-US" altLang="zh-CN" sz="2000" b="1" baseline="-25000" dirty="0"/>
              <a:t>O</a:t>
            </a:r>
            <a:r>
              <a:rPr lang="en-US" altLang="zh-CN" sz="2000" b="1" dirty="0"/>
              <a:t>&gt;&gt;</a:t>
            </a:r>
            <a:r>
              <a:rPr lang="en-US" altLang="zh-CN" sz="2000" b="1" i="1" dirty="0"/>
              <a:t>C</a:t>
            </a:r>
            <a:r>
              <a:rPr lang="en-US" altLang="zh-CN" sz="2000" b="1" baseline="-25000" dirty="0"/>
              <a:t>S</a:t>
            </a:r>
            <a:r>
              <a:rPr lang="zh-CN" altLang="en-US" sz="2000" b="1" dirty="0"/>
              <a:t>，所以</a:t>
            </a:r>
            <a:r>
              <a:rPr lang="en-US" altLang="zh-CN" sz="2000" b="1" i="1" dirty="0"/>
              <a:t>U</a:t>
            </a:r>
            <a:r>
              <a:rPr lang="en-US" altLang="zh-CN" sz="2000" b="1" baseline="-25000" dirty="0"/>
              <a:t>O</a:t>
            </a:r>
            <a:r>
              <a:rPr lang="en-US" altLang="zh-CN" sz="2000" b="1" dirty="0"/>
              <a:t>&lt;&lt;</a:t>
            </a:r>
            <a:r>
              <a:rPr lang="en-US" altLang="zh-CN" sz="2000" b="1" i="1" dirty="0"/>
              <a:t>U</a:t>
            </a:r>
            <a:r>
              <a:rPr lang="en-US" altLang="zh-CN" sz="2000" b="1" baseline="-25000" dirty="0"/>
              <a:t>S</a:t>
            </a:r>
            <a:r>
              <a:rPr lang="zh-CN" altLang="en-US" sz="2000" b="1" dirty="0"/>
              <a:t>。例如读出前</a:t>
            </a:r>
            <a:r>
              <a:rPr lang="en-US" altLang="zh-CN" sz="2000" b="1" i="1" dirty="0"/>
              <a:t>U</a:t>
            </a:r>
            <a:r>
              <a:rPr lang="en-US" altLang="zh-CN" sz="2000" b="1" baseline="-25000" dirty="0"/>
              <a:t>S</a:t>
            </a:r>
            <a:r>
              <a:rPr lang="en-US" altLang="zh-CN" sz="2000" b="1" dirty="0"/>
              <a:t>=5V,</a:t>
            </a:r>
            <a:r>
              <a:rPr lang="en-US" altLang="zh-CN" sz="2000" b="1" i="1" dirty="0"/>
              <a:t>C</a:t>
            </a:r>
            <a:r>
              <a:rPr lang="en-US" altLang="zh-CN" sz="2000" b="1" baseline="-25000" dirty="0"/>
              <a:t>S</a:t>
            </a:r>
            <a:r>
              <a:rPr lang="en-US" altLang="zh-CN" sz="2000" b="1" dirty="0"/>
              <a:t>/</a:t>
            </a:r>
            <a:r>
              <a:rPr lang="en-US" altLang="zh-CN" sz="2000" b="1" i="1" dirty="0"/>
              <a:t>C</a:t>
            </a:r>
            <a:r>
              <a:rPr lang="en-US" altLang="zh-CN" sz="2000" b="1" baseline="-25000" dirty="0"/>
              <a:t>O</a:t>
            </a:r>
            <a:r>
              <a:rPr lang="en-US" altLang="zh-CN" sz="2000" b="1" dirty="0"/>
              <a:t>=1/50</a:t>
            </a:r>
            <a:r>
              <a:rPr lang="zh-CN" altLang="en-US" sz="2000" b="1" dirty="0"/>
              <a:t>，则位线上读出的电压将仅有 </a:t>
            </a:r>
            <a:r>
              <a:rPr lang="en-US" altLang="zh-CN" sz="2000" b="1" dirty="0"/>
              <a:t>0.1V</a:t>
            </a:r>
            <a:r>
              <a:rPr lang="zh-CN" altLang="en-US" sz="2000" b="1" dirty="0"/>
              <a:t>， 而且读出后</a:t>
            </a:r>
            <a:r>
              <a:rPr lang="en-US" altLang="zh-CN" sz="2000" b="1" i="1" dirty="0"/>
              <a:t>C</a:t>
            </a:r>
            <a:r>
              <a:rPr lang="en-US" altLang="zh-CN" sz="2000" b="1" baseline="-25000" dirty="0"/>
              <a:t>S</a:t>
            </a:r>
            <a:r>
              <a:rPr lang="zh-CN" altLang="en-US" sz="2000" b="1" dirty="0"/>
              <a:t>上的电压也只剩下 </a:t>
            </a:r>
            <a:r>
              <a:rPr lang="en-US" altLang="zh-CN" sz="2000" b="1" dirty="0"/>
              <a:t>0.1V</a:t>
            </a:r>
            <a:r>
              <a:rPr lang="zh-CN" altLang="en-US" sz="2000" b="1" dirty="0"/>
              <a:t>，这是一种破坏性读出。因此每次读出后，要对该单元补充电荷进行刷新，同时还需要高灵敏度读出放大器对读出信号加以放大。 </a:t>
            </a:r>
            <a:endParaRPr lang="zh-CN" altLang="en-US" sz="2000" b="1"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Text Box 2"/>
          <p:cNvSpPr txBox="1"/>
          <p:nvPr/>
        </p:nvSpPr>
        <p:spPr>
          <a:xfrm>
            <a:off x="1162050" y="762000"/>
            <a:ext cx="3933825" cy="519113"/>
          </a:xfrm>
          <a:prstGeom prst="rect">
            <a:avLst/>
          </a:prstGeom>
          <a:noFill/>
          <a:ln w="9525">
            <a:noFill/>
          </a:ln>
        </p:spPr>
        <p:txBody>
          <a:bodyPr wrap="none">
            <a:spAutoFit/>
          </a:bodyPr>
          <a:p>
            <a:pPr eaLnBrk="1" hangingPunct="1"/>
            <a:r>
              <a:rPr lang="zh-CN" altLang="en-US" sz="2800" b="1" dirty="0">
                <a:latin typeface="Times New Roman" panose="02020603050405020304" pitchFamily="18" charset="0"/>
              </a:rPr>
              <a:t>三、 存储器容量的扩展 </a:t>
            </a:r>
            <a:endParaRPr lang="zh-CN" altLang="en-US" sz="2800" b="1" dirty="0">
              <a:latin typeface="Times New Roman" panose="02020603050405020304" pitchFamily="18" charset="0"/>
            </a:endParaRPr>
          </a:p>
        </p:txBody>
      </p:sp>
      <p:sp>
        <p:nvSpPr>
          <p:cNvPr id="69635" name="Text Box 3"/>
          <p:cNvSpPr txBox="1"/>
          <p:nvPr/>
        </p:nvSpPr>
        <p:spPr>
          <a:xfrm>
            <a:off x="533400" y="1447800"/>
            <a:ext cx="8229600" cy="5211763"/>
          </a:xfrm>
          <a:prstGeom prst="rect">
            <a:avLst/>
          </a:prstGeom>
          <a:noFill/>
          <a:ln w="9525">
            <a:noFill/>
          </a:ln>
        </p:spPr>
        <p:txBody>
          <a:bodyPr>
            <a:spAutoFit/>
          </a:bodyPr>
          <a:p>
            <a:pPr algn="just" eaLnBrk="1" hangingPunct="1">
              <a:lnSpc>
                <a:spcPct val="125000"/>
              </a:lnSpc>
              <a:spcBef>
                <a:spcPct val="50000"/>
              </a:spcBef>
            </a:pPr>
            <a:r>
              <a:rPr lang="en-US" altLang="zh-CN" sz="2400" b="1" dirty="0">
                <a:latin typeface="Times New Roman" panose="02020603050405020304" pitchFamily="18" charset="0"/>
              </a:rPr>
              <a:t>        1. </a:t>
            </a:r>
            <a:r>
              <a:rPr lang="zh-CN" altLang="en-US" sz="2400" b="1" dirty="0">
                <a:latin typeface="Times New Roman" panose="02020603050405020304" pitchFamily="18" charset="0"/>
              </a:rPr>
              <a:t>位数的扩展</a:t>
            </a:r>
            <a:endParaRPr lang="zh-CN" altLang="en-US" sz="2400" b="1" dirty="0">
              <a:latin typeface="Times New Roman" panose="02020603050405020304" pitchFamily="18" charset="0"/>
            </a:endParaRPr>
          </a:p>
          <a:p>
            <a:pPr algn="just" eaLnBrk="1" hangingPunct="1">
              <a:lnSpc>
                <a:spcPct val="125000"/>
              </a:lnSpc>
              <a:spcBef>
                <a:spcPct val="50000"/>
              </a:spcBef>
            </a:pPr>
            <a:r>
              <a:rPr lang="zh-CN" altLang="en-US" sz="2400" dirty="0">
                <a:latin typeface="Times New Roman" panose="02020603050405020304" pitchFamily="18" charset="0"/>
              </a:rPr>
              <a:t>        </a:t>
            </a:r>
            <a:r>
              <a:rPr lang="zh-CN" altLang="en-US" sz="2400" b="1" dirty="0">
                <a:latin typeface="Times New Roman" panose="02020603050405020304" pitchFamily="18" charset="0"/>
              </a:rPr>
              <a:t>存储器芯片的字长多数为一位、四位、八位等。当实际的存储系统的字长超过存储器芯片的字长时，需要进行位扩展。</a:t>
            </a:r>
            <a:endParaRPr lang="zh-CN" altLang="en-US" sz="2400" b="1" dirty="0">
              <a:latin typeface="Times New Roman" panose="02020603050405020304" pitchFamily="18" charset="0"/>
            </a:endParaRPr>
          </a:p>
          <a:p>
            <a:pPr algn="just" eaLnBrk="1" hangingPunct="1">
              <a:lnSpc>
                <a:spcPct val="125000"/>
              </a:lnSpc>
              <a:spcBef>
                <a:spcPct val="50000"/>
              </a:spcBef>
            </a:pPr>
            <a:r>
              <a:rPr lang="zh-CN" altLang="en-US" sz="2400" b="1" dirty="0">
                <a:latin typeface="Times New Roman" panose="02020603050405020304" pitchFamily="18" charset="0"/>
              </a:rPr>
              <a:t>        位扩展可以利用芯片的并联方式实现，图是用八片 </a:t>
            </a:r>
            <a:r>
              <a:rPr lang="en-US" altLang="zh-CN" sz="2400" b="1" dirty="0">
                <a:latin typeface="Times New Roman" panose="02020603050405020304" pitchFamily="18" charset="0"/>
              </a:rPr>
              <a:t>1024×1 </a:t>
            </a:r>
            <a:r>
              <a:rPr lang="zh-CN" altLang="en-US" sz="2400" b="1" dirty="0">
                <a:latin typeface="Times New Roman" panose="02020603050405020304" pitchFamily="18" charset="0"/>
              </a:rPr>
              <a:t>位的</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扩展为</a:t>
            </a:r>
            <a:r>
              <a:rPr lang="en-US" altLang="zh-CN" sz="2400" b="1" dirty="0">
                <a:latin typeface="Times New Roman" panose="02020603050405020304" pitchFamily="18" charset="0"/>
              </a:rPr>
              <a:t>1024×8 </a:t>
            </a:r>
            <a:r>
              <a:rPr lang="zh-CN" altLang="en-US" sz="2400" b="1" dirty="0">
                <a:latin typeface="Times New Roman" panose="02020603050405020304" pitchFamily="18" charset="0"/>
              </a:rPr>
              <a:t>位</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的存储系统框图。 图中八片</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的所有地址线、</a:t>
            </a:r>
            <a:r>
              <a:rPr lang="en-US" altLang="zh-CN" sz="2400" b="1" dirty="0">
                <a:latin typeface="Times New Roman" panose="02020603050405020304" pitchFamily="18" charset="0"/>
              </a:rPr>
              <a:t>R/W</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CS</a:t>
            </a:r>
            <a:r>
              <a:rPr lang="zh-CN" altLang="en-US" sz="2400" b="1" dirty="0">
                <a:latin typeface="Times New Roman" panose="02020603050405020304" pitchFamily="18" charset="0"/>
              </a:rPr>
              <a:t>分别对应并接在一起， 而每一片的</a:t>
            </a:r>
            <a:r>
              <a:rPr lang="en-US" altLang="zh-CN" sz="2400" b="1" dirty="0">
                <a:latin typeface="Times New Roman" panose="02020603050405020304" pitchFamily="18" charset="0"/>
              </a:rPr>
              <a:t>I/O</a:t>
            </a:r>
            <a:r>
              <a:rPr lang="zh-CN" altLang="en-US" sz="2400" b="1" dirty="0">
                <a:latin typeface="Times New Roman" panose="02020603050405020304" pitchFamily="18" charset="0"/>
              </a:rPr>
              <a:t>端作为整个</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的</a:t>
            </a:r>
            <a:r>
              <a:rPr lang="en-US" altLang="zh-CN" sz="2400" b="1" dirty="0">
                <a:latin typeface="Times New Roman" panose="02020603050405020304" pitchFamily="18" charset="0"/>
              </a:rPr>
              <a:t>I/O</a:t>
            </a:r>
            <a:r>
              <a:rPr lang="zh-CN" altLang="en-US" sz="2400" b="1" dirty="0">
                <a:latin typeface="Times New Roman" panose="02020603050405020304" pitchFamily="18" charset="0"/>
              </a:rPr>
              <a:t>端的一位。</a:t>
            </a:r>
            <a:endParaRPr lang="zh-CN" altLang="en-US" sz="2400" b="1" dirty="0">
              <a:latin typeface="Times New Roman" panose="02020603050405020304" pitchFamily="18" charset="0"/>
            </a:endParaRPr>
          </a:p>
          <a:p>
            <a:pPr eaLnBrk="1" hangingPunct="1">
              <a:lnSpc>
                <a:spcPct val="125000"/>
              </a:lnSpc>
              <a:spcBef>
                <a:spcPct val="50000"/>
              </a:spcBef>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ROM</a:t>
            </a:r>
            <a:r>
              <a:rPr lang="zh-CN" altLang="en-US" sz="2400" b="1" dirty="0">
                <a:latin typeface="Times New Roman" panose="02020603050405020304" pitchFamily="18" charset="0"/>
              </a:rPr>
              <a:t>芯片上没有读</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写控制端</a:t>
            </a:r>
            <a:r>
              <a:rPr lang="en-US" altLang="zh-CN" sz="2400" b="1" dirty="0">
                <a:latin typeface="Times New Roman" panose="02020603050405020304" pitchFamily="18" charset="0"/>
              </a:rPr>
              <a:t>R/W</a:t>
            </a:r>
            <a:r>
              <a:rPr lang="zh-CN" altLang="en-US" sz="2400" b="1" dirty="0">
                <a:latin typeface="Times New Roman" panose="02020603050405020304" pitchFamily="18" charset="0"/>
              </a:rPr>
              <a:t>，位扩展时其余引出端的连接方法与</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相同。 </a:t>
            </a:r>
            <a:endParaRPr lang="zh-CN" altLang="en-US" sz="2400" b="1" dirty="0">
              <a:latin typeface="Times New Roman" panose="02020603050405020304" pitchFamily="18" charset="0"/>
            </a:endParaRPr>
          </a:p>
        </p:txBody>
      </p:sp>
      <p:sp>
        <p:nvSpPr>
          <p:cNvPr id="69636" name="Line 4"/>
          <p:cNvSpPr/>
          <p:nvPr/>
        </p:nvSpPr>
        <p:spPr>
          <a:xfrm>
            <a:off x="5000625" y="4724400"/>
            <a:ext cx="228600" cy="0"/>
          </a:xfrm>
          <a:prstGeom prst="line">
            <a:avLst/>
          </a:prstGeom>
          <a:ln w="9525" cap="flat" cmpd="sng">
            <a:solidFill>
              <a:schemeClr val="tx1"/>
            </a:solidFill>
            <a:prstDash val="solid"/>
            <a:headEnd type="none" w="med" len="med"/>
            <a:tailEnd type="none" w="med" len="med"/>
          </a:ln>
        </p:spPr>
      </p:sp>
      <p:sp>
        <p:nvSpPr>
          <p:cNvPr id="69637" name="Line 5"/>
          <p:cNvSpPr/>
          <p:nvPr/>
        </p:nvSpPr>
        <p:spPr>
          <a:xfrm>
            <a:off x="5562600" y="4724400"/>
            <a:ext cx="304800" cy="0"/>
          </a:xfrm>
          <a:prstGeom prst="line">
            <a:avLst/>
          </a:prstGeom>
          <a:ln w="9525" cap="flat" cmpd="sng">
            <a:solidFill>
              <a:schemeClr val="tx1"/>
            </a:solidFill>
            <a:prstDash val="solid"/>
            <a:headEnd type="none" w="med" len="med"/>
            <a:tailEnd type="none" w="med" len="med"/>
          </a:ln>
        </p:spPr>
      </p:sp>
      <p:sp>
        <p:nvSpPr>
          <p:cNvPr id="69638" name="Line 6"/>
          <p:cNvSpPr/>
          <p:nvPr/>
        </p:nvSpPr>
        <p:spPr>
          <a:xfrm>
            <a:off x="5334000" y="5791200"/>
            <a:ext cx="304800" cy="0"/>
          </a:xfrm>
          <a:prstGeom prst="line">
            <a:avLst/>
          </a:prstGeom>
          <a:ln w="9525" cap="flat" cmpd="sng">
            <a:solidFill>
              <a:schemeClr val="tx1"/>
            </a:solidFill>
            <a:prstDash val="solid"/>
            <a:headEnd type="none" w="med" len="med"/>
            <a:tailEnd type="none" w="med" len="med"/>
          </a:ln>
        </p:spPr>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Text Box 2"/>
          <p:cNvSpPr txBox="1"/>
          <p:nvPr/>
        </p:nvSpPr>
        <p:spPr>
          <a:xfrm>
            <a:off x="2590800" y="5791200"/>
            <a:ext cx="3089275" cy="457200"/>
          </a:xfrm>
          <a:prstGeom prst="rect">
            <a:avLst/>
          </a:prstGeom>
          <a:noFill/>
          <a:ln w="9525">
            <a:noFill/>
          </a:ln>
        </p:spPr>
        <p:txBody>
          <a:bodyPr wrap="none">
            <a:spAutoFit/>
          </a:bodyPr>
          <a:p>
            <a:pPr eaLnBrk="1" hangingPunct="1"/>
            <a:r>
              <a:rPr lang="en-US" altLang="zh-CN" sz="2400" dirty="0">
                <a:latin typeface="Times New Roman" panose="02020603050405020304" pitchFamily="18" charset="0"/>
              </a:rPr>
              <a:t>RAM</a:t>
            </a:r>
            <a:r>
              <a:rPr lang="zh-CN" altLang="en-US" sz="2400" dirty="0">
                <a:latin typeface="Times New Roman" panose="02020603050405020304" pitchFamily="18" charset="0"/>
              </a:rPr>
              <a:t>的位扩展连接法 </a:t>
            </a:r>
            <a:endParaRPr lang="zh-CN" altLang="en-US" sz="2400" dirty="0">
              <a:latin typeface="Times New Roman" panose="02020603050405020304" pitchFamily="18" charset="0"/>
            </a:endParaRPr>
          </a:p>
        </p:txBody>
      </p:sp>
      <p:graphicFrame>
        <p:nvGraphicFramePr>
          <p:cNvPr id="70659" name="Object 3"/>
          <p:cNvGraphicFramePr>
            <a:graphicFrameLocks noChangeAspect="1"/>
          </p:cNvGraphicFramePr>
          <p:nvPr/>
        </p:nvGraphicFramePr>
        <p:xfrm>
          <a:off x="0" y="1066800"/>
          <a:ext cx="9144000" cy="4381500"/>
        </p:xfrm>
        <a:graphic>
          <a:graphicData uri="http://schemas.openxmlformats.org/presentationml/2006/ole">
            <mc:AlternateContent xmlns:mc="http://schemas.openxmlformats.org/markup-compatibility/2006">
              <mc:Choice xmlns:v="urn:schemas-microsoft-com:vml" Requires="v">
                <p:oleObj spid="_x0000_s3118" name="" r:id="rId1" imgW="3939540" imgH="1889760" progId="Visio.Drawing.4">
                  <p:embed/>
                </p:oleObj>
              </mc:Choice>
              <mc:Fallback>
                <p:oleObj name="" r:id="rId1" imgW="3939540" imgH="1889760" progId="Visio.Drawing.4">
                  <p:embed/>
                  <p:pic>
                    <p:nvPicPr>
                      <p:cNvPr id="0" name="图片 3117"/>
                      <p:cNvPicPr/>
                      <p:nvPr/>
                    </p:nvPicPr>
                    <p:blipFill>
                      <a:blip r:embed="rId2"/>
                      <a:stretch>
                        <a:fillRect/>
                      </a:stretch>
                    </p:blipFill>
                    <p:spPr>
                      <a:xfrm>
                        <a:off x="0" y="1066800"/>
                        <a:ext cx="9144000" cy="4381500"/>
                      </a:xfrm>
                      <a:prstGeom prst="rect">
                        <a:avLst/>
                      </a:prstGeom>
                      <a:noFill/>
                      <a:ln w="38100">
                        <a:noFill/>
                        <a:miter/>
                      </a:ln>
                    </p:spPr>
                  </p:pic>
                </p:oleObj>
              </mc:Fallback>
            </mc:AlternateContent>
          </a:graphicData>
        </a:graphic>
      </p:graphicFrame>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Text Box 2"/>
          <p:cNvSpPr txBox="1"/>
          <p:nvPr/>
        </p:nvSpPr>
        <p:spPr>
          <a:xfrm>
            <a:off x="457200" y="762000"/>
            <a:ext cx="8229600" cy="5486400"/>
          </a:xfrm>
          <a:prstGeom prst="rect">
            <a:avLst/>
          </a:prstGeom>
          <a:noFill/>
          <a:ln w="9525">
            <a:noFill/>
          </a:ln>
        </p:spPr>
        <p:txBody>
          <a:bodyPr>
            <a:spAutoFit/>
          </a:bodyPr>
          <a:p>
            <a:pPr algn="just" eaLnBrk="1" hangingPunct="1">
              <a:lnSpc>
                <a:spcPct val="125000"/>
              </a:lnSpc>
              <a:spcBef>
                <a:spcPct val="50000"/>
              </a:spcBef>
            </a:pPr>
            <a:r>
              <a:rPr lang="en-US" altLang="zh-CN" sz="2400" b="1" dirty="0">
                <a:latin typeface="Times New Roman" panose="02020603050405020304" pitchFamily="18" charset="0"/>
              </a:rPr>
              <a:t>         2. </a:t>
            </a:r>
            <a:r>
              <a:rPr lang="zh-CN" altLang="en-US" sz="2400" b="1" dirty="0">
                <a:latin typeface="Times New Roman" panose="02020603050405020304" pitchFamily="18" charset="0"/>
              </a:rPr>
              <a:t>字数的扩展</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algn="just" eaLnBrk="1" hangingPunct="1">
              <a:lnSpc>
                <a:spcPct val="125000"/>
              </a:lnSpc>
              <a:spcBef>
                <a:spcPct val="50000"/>
              </a:spcBef>
            </a:pPr>
            <a:r>
              <a:rPr lang="zh-CN" altLang="en-US" sz="2400" dirty="0">
                <a:latin typeface="Times New Roman" panose="02020603050405020304" pitchFamily="18" charset="0"/>
              </a:rPr>
              <a:t>        </a:t>
            </a:r>
            <a:r>
              <a:rPr lang="zh-CN" altLang="en-US" sz="2400" b="1" dirty="0">
                <a:latin typeface="Times New Roman" panose="02020603050405020304" pitchFamily="18" charset="0"/>
              </a:rPr>
              <a:t>字数的扩展可以利用外加译码器控制芯片的片选</a:t>
            </a:r>
            <a:r>
              <a:rPr lang="en-US" altLang="zh-CN" sz="2400" b="1" dirty="0">
                <a:latin typeface="Times New Roman" panose="02020603050405020304" pitchFamily="18" charset="0"/>
              </a:rPr>
              <a:t>(CS)</a:t>
            </a:r>
            <a:r>
              <a:rPr lang="zh-CN" altLang="en-US" sz="2400" b="1" dirty="0">
                <a:latin typeface="Times New Roman" panose="02020603050405020304" pitchFamily="18" charset="0"/>
              </a:rPr>
              <a:t>输入端来实现。是用字扩展方式将四片</a:t>
            </a:r>
            <a:r>
              <a:rPr lang="en-US" altLang="zh-CN" sz="2400" b="1" dirty="0">
                <a:latin typeface="Times New Roman" panose="02020603050405020304" pitchFamily="18" charset="0"/>
              </a:rPr>
              <a:t>256×8 </a:t>
            </a:r>
            <a:r>
              <a:rPr lang="zh-CN" altLang="en-US" sz="2400" b="1" dirty="0">
                <a:latin typeface="Times New Roman" panose="02020603050405020304" pitchFamily="18" charset="0"/>
              </a:rPr>
              <a:t>位的</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扩展为</a:t>
            </a:r>
            <a:r>
              <a:rPr lang="en-US" altLang="zh-CN" sz="2400" b="1" dirty="0">
                <a:latin typeface="Times New Roman" panose="02020603050405020304" pitchFamily="18" charset="0"/>
              </a:rPr>
              <a:t>1024×8 </a:t>
            </a:r>
            <a:r>
              <a:rPr lang="zh-CN" altLang="en-US" sz="2400" b="1" dirty="0">
                <a:latin typeface="Times New Roman" panose="02020603050405020304" pitchFamily="18" charset="0"/>
              </a:rPr>
              <a:t>位</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的系统框图。图中，译码器的输入是系统的高位地址</a:t>
            </a:r>
            <a:r>
              <a:rPr lang="en-US" altLang="zh-CN" sz="2400" b="1" i="1" dirty="0">
                <a:latin typeface="Times New Roman" panose="02020603050405020304" pitchFamily="18" charset="0"/>
              </a:rPr>
              <a:t>A</a:t>
            </a:r>
            <a:r>
              <a:rPr lang="en-US" altLang="zh-CN" sz="2400" b="1" baseline="-25000" dirty="0">
                <a:latin typeface="Times New Roman" panose="02020603050405020304" pitchFamily="18" charset="0"/>
              </a:rPr>
              <a:t>9</a:t>
            </a:r>
            <a:r>
              <a:rPr lang="zh-CN" altLang="en-US" sz="2400" b="1" dirty="0">
                <a:latin typeface="Times New Roman" panose="02020603050405020304" pitchFamily="18" charset="0"/>
              </a:rPr>
              <a:t>、</a:t>
            </a:r>
            <a:r>
              <a:rPr lang="en-US" altLang="zh-CN" sz="2400" b="1" i="1" dirty="0">
                <a:latin typeface="Times New Roman" panose="02020603050405020304" pitchFamily="18" charset="0"/>
              </a:rPr>
              <a:t>A</a:t>
            </a:r>
            <a:r>
              <a:rPr lang="en-US" altLang="zh-CN" sz="2400" b="1" baseline="-25000" dirty="0">
                <a:latin typeface="Times New Roman" panose="02020603050405020304" pitchFamily="18" charset="0"/>
              </a:rPr>
              <a:t>8</a:t>
            </a:r>
            <a:r>
              <a:rPr lang="zh-CN" altLang="en-US" sz="2400" b="1" dirty="0">
                <a:latin typeface="Times New Roman" panose="02020603050405020304" pitchFamily="18" charset="0"/>
              </a:rPr>
              <a:t>，其输出是各片</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的片选信号。若</a:t>
            </a:r>
            <a:r>
              <a:rPr lang="en-US" altLang="zh-CN" sz="2400" b="1" i="1" dirty="0">
                <a:latin typeface="Times New Roman" panose="02020603050405020304" pitchFamily="18" charset="0"/>
              </a:rPr>
              <a:t>A</a:t>
            </a:r>
            <a:r>
              <a:rPr lang="en-US" altLang="zh-CN" sz="2400" b="1" baseline="-25000" dirty="0">
                <a:latin typeface="Times New Roman" panose="02020603050405020304" pitchFamily="18" charset="0"/>
              </a:rPr>
              <a:t>9</a:t>
            </a:r>
            <a:r>
              <a:rPr lang="en-US" altLang="zh-CN" sz="2400" b="1" i="1" dirty="0">
                <a:latin typeface="Times New Roman" panose="02020603050405020304" pitchFamily="18" charset="0"/>
              </a:rPr>
              <a:t>A</a:t>
            </a:r>
            <a:r>
              <a:rPr lang="en-US" altLang="zh-CN" sz="2400" b="1" baseline="-25000" dirty="0">
                <a:latin typeface="Times New Roman" panose="02020603050405020304" pitchFamily="18" charset="0"/>
              </a:rPr>
              <a:t>8</a:t>
            </a:r>
            <a:r>
              <a:rPr lang="en-US" altLang="zh-CN" sz="2400" b="1" dirty="0">
                <a:latin typeface="Times New Roman" panose="02020603050405020304" pitchFamily="18" charset="0"/>
              </a:rPr>
              <a:t>=01</a:t>
            </a:r>
            <a:r>
              <a:rPr lang="zh-CN" altLang="en-US" sz="2400" b="1" dirty="0">
                <a:latin typeface="Times New Roman" panose="02020603050405020304" pitchFamily="18" charset="0"/>
              </a:rPr>
              <a:t>，则</a:t>
            </a:r>
            <a:r>
              <a:rPr lang="en-US" altLang="zh-CN" sz="2400" b="1" dirty="0">
                <a:latin typeface="Times New Roman" panose="02020603050405020304" pitchFamily="18" charset="0"/>
              </a:rPr>
              <a:t>RAM(2)</a:t>
            </a:r>
            <a:r>
              <a:rPr lang="zh-CN" altLang="en-US" sz="2400" b="1" dirty="0">
                <a:latin typeface="Times New Roman" panose="02020603050405020304" pitchFamily="18" charset="0"/>
              </a:rPr>
              <a:t>片的</a:t>
            </a:r>
            <a:r>
              <a:rPr lang="en-US" altLang="zh-CN" sz="2400" b="1" dirty="0">
                <a:latin typeface="Times New Roman" panose="02020603050405020304" pitchFamily="18" charset="0"/>
              </a:rPr>
              <a:t>CS=0</a:t>
            </a:r>
            <a:r>
              <a:rPr lang="zh-CN" altLang="en-US" sz="2400" b="1" dirty="0">
                <a:latin typeface="Times New Roman" panose="02020603050405020304" pitchFamily="18" charset="0"/>
              </a:rPr>
              <a:t>，其余各片</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的</a:t>
            </a:r>
            <a:r>
              <a:rPr lang="en-US" altLang="zh-CN" sz="2400" b="1" dirty="0">
                <a:latin typeface="Times New Roman" panose="02020603050405020304" pitchFamily="18" charset="0"/>
              </a:rPr>
              <a:t>CS</a:t>
            </a:r>
            <a:r>
              <a:rPr lang="zh-CN" altLang="en-US" sz="2400" b="1" dirty="0">
                <a:latin typeface="Times New Roman" panose="02020603050405020304" pitchFamily="18" charset="0"/>
              </a:rPr>
              <a:t>均为</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 故选中第二片。只有该片的信息可以读出，送到位线上，读出的内容则由低位地址</a:t>
            </a:r>
            <a:r>
              <a:rPr lang="en-US" altLang="zh-CN" sz="2400" b="1" i="1" dirty="0">
                <a:latin typeface="Times New Roman" panose="02020603050405020304" pitchFamily="18" charset="0"/>
              </a:rPr>
              <a:t>A</a:t>
            </a:r>
            <a:r>
              <a:rPr lang="en-US" altLang="zh-CN" sz="2400" b="1" baseline="-25000" dirty="0">
                <a:latin typeface="Times New Roman" panose="02020603050405020304" pitchFamily="18" charset="0"/>
              </a:rPr>
              <a:t>7</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A</a:t>
            </a:r>
            <a:r>
              <a:rPr lang="en-US" altLang="zh-CN" sz="2400" b="1" baseline="-25000" dirty="0">
                <a:latin typeface="Times New Roman" panose="02020603050405020304" pitchFamily="18" charset="0"/>
              </a:rPr>
              <a:t>0</a:t>
            </a:r>
            <a:r>
              <a:rPr lang="zh-CN" altLang="en-US" sz="2400" b="1" dirty="0">
                <a:latin typeface="Times New Roman" panose="02020603050405020304" pitchFamily="18" charset="0"/>
              </a:rPr>
              <a:t>决定。显然，四片</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轮流工作，任何时候，只有一片</a:t>
            </a:r>
            <a:r>
              <a:rPr lang="en-US" altLang="zh-CN" sz="2400" b="1" dirty="0">
                <a:latin typeface="Times New Roman" panose="02020603050405020304" pitchFamily="18" charset="0"/>
              </a:rPr>
              <a:t>RAM</a:t>
            </a:r>
            <a:r>
              <a:rPr lang="zh-CN" altLang="en-US" sz="2400" b="1" dirty="0">
                <a:latin typeface="Times New Roman" panose="02020603050405020304" pitchFamily="18" charset="0"/>
              </a:rPr>
              <a:t>处于工作状态，整个系统字数扩大了四倍，而字长仍为八位。</a:t>
            </a:r>
            <a:endParaRPr lang="zh-CN" altLang="en-US" sz="2400" b="1" dirty="0">
              <a:latin typeface="Times New Roman" panose="02020603050405020304" pitchFamily="18" charset="0"/>
            </a:endParaRPr>
          </a:p>
          <a:p>
            <a:pPr algn="just" eaLnBrk="1" hangingPunct="1">
              <a:lnSpc>
                <a:spcPct val="125000"/>
              </a:lnSpc>
              <a:spcBef>
                <a:spcPct val="50000"/>
              </a:spcBef>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ROM</a:t>
            </a:r>
            <a:r>
              <a:rPr lang="zh-CN" altLang="en-US" sz="2400" b="1" dirty="0">
                <a:latin typeface="Times New Roman" panose="02020603050405020304" pitchFamily="18" charset="0"/>
              </a:rPr>
              <a:t>的字扩展方法与上述方法相同。 </a:t>
            </a:r>
            <a:endParaRPr lang="zh-CN" altLang="en-US" sz="2400" b="1" dirty="0">
              <a:latin typeface="Times New Roman" panose="02020603050405020304" pitchFamily="18" charset="0"/>
            </a:endParaRPr>
          </a:p>
        </p:txBody>
      </p:sp>
      <p:sp>
        <p:nvSpPr>
          <p:cNvPr id="71683" name="Line 3"/>
          <p:cNvSpPr/>
          <p:nvPr/>
        </p:nvSpPr>
        <p:spPr>
          <a:xfrm>
            <a:off x="7848600" y="1543050"/>
            <a:ext cx="304800" cy="0"/>
          </a:xfrm>
          <a:prstGeom prst="line">
            <a:avLst/>
          </a:prstGeom>
          <a:ln w="9525" cap="flat" cmpd="sng">
            <a:solidFill>
              <a:schemeClr val="tx1"/>
            </a:solidFill>
            <a:prstDash val="solid"/>
            <a:headEnd type="none" w="med" len="med"/>
            <a:tailEnd type="none" w="med" len="med"/>
          </a:ln>
        </p:spPr>
      </p:sp>
      <p:sp>
        <p:nvSpPr>
          <p:cNvPr id="71684" name="Line 4"/>
          <p:cNvSpPr/>
          <p:nvPr/>
        </p:nvSpPr>
        <p:spPr>
          <a:xfrm>
            <a:off x="4219575" y="3381375"/>
            <a:ext cx="304800" cy="0"/>
          </a:xfrm>
          <a:prstGeom prst="line">
            <a:avLst/>
          </a:prstGeom>
          <a:ln w="9525" cap="flat" cmpd="sng">
            <a:solidFill>
              <a:schemeClr val="tx1"/>
            </a:solidFill>
            <a:prstDash val="solid"/>
            <a:headEnd type="none" w="med" len="med"/>
            <a:tailEnd type="none" w="med" len="med"/>
          </a:ln>
        </p:spPr>
      </p:sp>
      <p:sp>
        <p:nvSpPr>
          <p:cNvPr id="71685" name="Line 5"/>
          <p:cNvSpPr/>
          <p:nvPr/>
        </p:nvSpPr>
        <p:spPr>
          <a:xfrm>
            <a:off x="7467600" y="3386138"/>
            <a:ext cx="304800" cy="0"/>
          </a:xfrm>
          <a:prstGeom prst="line">
            <a:avLst/>
          </a:prstGeom>
          <a:ln w="9525" cap="flat" cmpd="sng">
            <a:solidFill>
              <a:schemeClr val="tx1"/>
            </a:solidFill>
            <a:prstDash val="solid"/>
            <a:headEnd type="none" w="med" len="med"/>
            <a:tailEnd type="none" w="med" len="med"/>
          </a:ln>
        </p:spPr>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Text Box 2"/>
          <p:cNvSpPr txBox="1"/>
          <p:nvPr/>
        </p:nvSpPr>
        <p:spPr>
          <a:xfrm>
            <a:off x="3124200" y="5943600"/>
            <a:ext cx="2174875" cy="457200"/>
          </a:xfrm>
          <a:prstGeom prst="rect">
            <a:avLst/>
          </a:prstGeom>
          <a:noFill/>
          <a:ln w="9525">
            <a:noFill/>
          </a:ln>
        </p:spPr>
        <p:txBody>
          <a:bodyPr wrap="none">
            <a:spAutoFit/>
          </a:bodyPr>
          <a:p>
            <a:pPr eaLnBrk="1" hangingPunct="1"/>
            <a:r>
              <a:rPr lang="en-US" altLang="zh-CN" sz="2400" dirty="0">
                <a:latin typeface="Times New Roman" panose="02020603050405020304" pitchFamily="18" charset="0"/>
              </a:rPr>
              <a:t>RAM</a:t>
            </a:r>
            <a:r>
              <a:rPr lang="zh-CN" altLang="en-US" sz="2400" dirty="0">
                <a:latin typeface="Times New Roman" panose="02020603050405020304" pitchFamily="18" charset="0"/>
              </a:rPr>
              <a:t>的字扩展 </a:t>
            </a:r>
            <a:endParaRPr lang="zh-CN" altLang="en-US" sz="2400" dirty="0">
              <a:latin typeface="Times New Roman" panose="02020603050405020304" pitchFamily="18" charset="0"/>
            </a:endParaRPr>
          </a:p>
        </p:txBody>
      </p:sp>
      <p:graphicFrame>
        <p:nvGraphicFramePr>
          <p:cNvPr id="72707" name="Object 3"/>
          <p:cNvGraphicFramePr>
            <a:graphicFrameLocks noChangeAspect="1"/>
          </p:cNvGraphicFramePr>
          <p:nvPr/>
        </p:nvGraphicFramePr>
        <p:xfrm>
          <a:off x="0" y="620713"/>
          <a:ext cx="9144000" cy="5248275"/>
        </p:xfrm>
        <a:graphic>
          <a:graphicData uri="http://schemas.openxmlformats.org/presentationml/2006/ole">
            <mc:AlternateContent xmlns:mc="http://schemas.openxmlformats.org/markup-compatibility/2006">
              <mc:Choice xmlns:v="urn:schemas-microsoft-com:vml" Requires="v">
                <p:oleObj spid="_x0000_s3117" name="" r:id="rId1" imgW="5196840" imgH="2987040" progId="Visio.Drawing.4">
                  <p:embed/>
                </p:oleObj>
              </mc:Choice>
              <mc:Fallback>
                <p:oleObj name="" r:id="rId1" imgW="5196840" imgH="2987040" progId="Visio.Drawing.4">
                  <p:embed/>
                  <p:pic>
                    <p:nvPicPr>
                      <p:cNvPr id="0" name="图片 3116"/>
                      <p:cNvPicPr/>
                      <p:nvPr/>
                    </p:nvPicPr>
                    <p:blipFill>
                      <a:blip r:embed="rId2"/>
                      <a:stretch>
                        <a:fillRect/>
                      </a:stretch>
                    </p:blipFill>
                    <p:spPr>
                      <a:xfrm>
                        <a:off x="0" y="620713"/>
                        <a:ext cx="9144000" cy="5248275"/>
                      </a:xfrm>
                      <a:prstGeom prst="rect">
                        <a:avLst/>
                      </a:prstGeom>
                      <a:noFill/>
                      <a:ln w="38100">
                        <a:noFill/>
                        <a:miter/>
                      </a:ln>
                    </p:spPr>
                  </p:pic>
                </p:oleObj>
              </mc:Fallback>
            </mc:AlternateContent>
          </a:graphicData>
        </a:graphic>
      </p:graphicFrame>
      <p:sp>
        <p:nvSpPr>
          <p:cNvPr id="72708" name="AutoShape 4">
            <a:hlinkClick r:id="" action="ppaction://hlinkshowjump?jump=firstslide"/>
          </p:cNvPr>
          <p:cNvSpPr/>
          <p:nvPr/>
        </p:nvSpPr>
        <p:spPr>
          <a:xfrm>
            <a:off x="8382000" y="6248400"/>
            <a:ext cx="762000" cy="4572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endParaRPr lang="zh-CN" altLang="en-US" dirty="0">
              <a:latin typeface="Times New Roman" panose="02020603050405020304" pitchFamily="18" charset="0"/>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937" name="Text Box 49"/>
          <p:cNvSpPr txBox="1"/>
          <p:nvPr/>
        </p:nvSpPr>
        <p:spPr>
          <a:xfrm>
            <a:off x="533400" y="1768475"/>
            <a:ext cx="8610600" cy="1187450"/>
          </a:xfrm>
          <a:prstGeom prst="rect">
            <a:avLst/>
          </a:prstGeom>
          <a:noFill/>
          <a:ln w="9525">
            <a:noFill/>
          </a:ln>
        </p:spPr>
        <p:txBody>
          <a:bodyPr>
            <a:spAutoFit/>
          </a:bodyPr>
          <a:p>
            <a:pPr algn="just" eaLnBrk="1" hangingPunct="1"/>
            <a:r>
              <a:rPr lang="en-US" altLang="zh-CN" sz="2400" b="1" dirty="0">
                <a:latin typeface="Times New Roman" panose="02020603050405020304" pitchFamily="18" charset="0"/>
              </a:rPr>
              <a:t>3.PROM</a:t>
            </a:r>
            <a:r>
              <a:rPr lang="zh-CN" altLang="en-US" sz="2400" b="1" dirty="0">
                <a:latin typeface="Times New Roman" panose="02020603050405020304" pitchFamily="18" charset="0"/>
              </a:rPr>
              <a:t>是编程只读存储器，可用来存储程序、固定数据，程序及数据是以二进制码的形式事先存入</a:t>
            </a:r>
            <a:r>
              <a:rPr lang="en-US" altLang="zh-CN" sz="2400" b="1" dirty="0">
                <a:latin typeface="Times New Roman" panose="02020603050405020304" pitchFamily="18" charset="0"/>
              </a:rPr>
              <a:t>PROM</a:t>
            </a:r>
            <a:r>
              <a:rPr lang="zh-CN" altLang="en-US" sz="2400" b="1" dirty="0">
                <a:latin typeface="Times New Roman" panose="02020603050405020304" pitchFamily="18" charset="0"/>
              </a:rPr>
              <a:t>中，它们不会丢失</a:t>
            </a:r>
            <a:r>
              <a:rPr lang="en-US" altLang="zh-CN" sz="2400" b="1" dirty="0">
                <a:latin typeface="Times New Roman" panose="02020603050405020304" pitchFamily="18" charset="0"/>
              </a:rPr>
              <a:t>;</a:t>
            </a:r>
            <a:endParaRPr lang="en-US" altLang="zh-CN" b="1" dirty="0">
              <a:latin typeface="Times New Roman" panose="02020603050405020304" pitchFamily="18" charset="0"/>
            </a:endParaRPr>
          </a:p>
        </p:txBody>
      </p:sp>
      <p:sp>
        <p:nvSpPr>
          <p:cNvPr id="73731" name="Text Box 50"/>
          <p:cNvSpPr txBox="1"/>
          <p:nvPr/>
        </p:nvSpPr>
        <p:spPr>
          <a:xfrm>
            <a:off x="3581400" y="228600"/>
            <a:ext cx="1752600" cy="609600"/>
          </a:xfrm>
          <a:prstGeom prst="rect">
            <a:avLst/>
          </a:prstGeom>
          <a:noFill/>
          <a:ln w="9525">
            <a:noFill/>
          </a:ln>
        </p:spPr>
        <p:txBody>
          <a:bodyPr>
            <a:spAutoFit/>
          </a:bodyPr>
          <a:p>
            <a:pPr eaLnBrk="1" hangingPunct="1">
              <a:spcAft>
                <a:spcPts val="1200"/>
              </a:spcAft>
            </a:pPr>
            <a:r>
              <a:rPr lang="zh-CN" altLang="en-US" sz="2400" b="1" dirty="0">
                <a:latin typeface="Times New Roman" panose="02020603050405020304" pitchFamily="18" charset="0"/>
                <a:ea typeface="黑体" panose="02010609060101010101" pitchFamily="2" charset="-122"/>
              </a:rPr>
              <a:t>小    结</a:t>
            </a:r>
            <a:endParaRPr lang="zh-CN" altLang="en-US" dirty="0">
              <a:latin typeface="Times New Roman" panose="02020603050405020304" pitchFamily="18" charset="0"/>
            </a:endParaRPr>
          </a:p>
        </p:txBody>
      </p:sp>
      <p:sp>
        <p:nvSpPr>
          <p:cNvPr id="165939" name="Text Box 51"/>
          <p:cNvSpPr txBox="1"/>
          <p:nvPr/>
        </p:nvSpPr>
        <p:spPr>
          <a:xfrm>
            <a:off x="533400" y="838200"/>
            <a:ext cx="7239000" cy="4572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1. </a:t>
            </a:r>
            <a:r>
              <a:rPr lang="zh-CN" altLang="en-US" sz="2400" b="1" dirty="0">
                <a:latin typeface="Times New Roman" panose="02020603050405020304" pitchFamily="18" charset="0"/>
              </a:rPr>
              <a:t>存储器分为</a:t>
            </a:r>
            <a:r>
              <a:rPr lang="en-US" altLang="zh-CN" sz="2400" b="1" dirty="0">
                <a:latin typeface="Times New Roman" panose="02020603050405020304" pitchFamily="18" charset="0"/>
              </a:rPr>
              <a:t>RAM </a:t>
            </a:r>
            <a:r>
              <a:rPr lang="zh-CN" altLang="en-US" sz="2400" b="1" dirty="0">
                <a:latin typeface="Times New Roman" panose="02020603050405020304" pitchFamily="18" charset="0"/>
              </a:rPr>
              <a:t>和</a:t>
            </a:r>
            <a:r>
              <a:rPr lang="en-US" altLang="zh-CN" sz="2400" b="1" dirty="0">
                <a:latin typeface="Times New Roman" panose="02020603050405020304" pitchFamily="18" charset="0"/>
              </a:rPr>
              <a:t>ROM </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165940" name="Text Box 52"/>
          <p:cNvSpPr txBox="1"/>
          <p:nvPr/>
        </p:nvSpPr>
        <p:spPr>
          <a:xfrm>
            <a:off x="76200" y="1295400"/>
            <a:ext cx="6553200" cy="457200"/>
          </a:xfrm>
          <a:prstGeom prst="rect">
            <a:avLst/>
          </a:prstGeom>
          <a:noFill/>
          <a:ln w="9525">
            <a:noFill/>
          </a:ln>
        </p:spPr>
        <p:txBody>
          <a:bodyPr>
            <a:spAutoFit/>
          </a:bodyPr>
          <a:p>
            <a:pPr algn="ctr" eaLnBrk="1" hangingPunct="1">
              <a:spcBef>
                <a:spcPct val="50000"/>
              </a:spcBef>
            </a:pPr>
            <a:r>
              <a:rPr lang="en-US" altLang="zh-CN" sz="2400" b="1" dirty="0">
                <a:latin typeface="Times New Roman" panose="02020603050405020304" pitchFamily="18" charset="0"/>
              </a:rPr>
              <a:t>2.RAM</a:t>
            </a:r>
            <a:r>
              <a:rPr lang="zh-CN" altLang="en-US" sz="2400" b="1" dirty="0">
                <a:latin typeface="Times New Roman" panose="02020603050405020304" pitchFamily="18" charset="0"/>
              </a:rPr>
              <a:t>是随机存取存储器分动态和静态；</a:t>
            </a:r>
            <a:endParaRPr lang="zh-CN" altLang="en-US" sz="2400" b="1" dirty="0">
              <a:latin typeface="Times New Roman" panose="02020603050405020304" pitchFamily="18" charset="0"/>
            </a:endParaRPr>
          </a:p>
        </p:txBody>
      </p:sp>
      <p:sp>
        <p:nvSpPr>
          <p:cNvPr id="165942" name="Text Box 54"/>
          <p:cNvSpPr txBox="1"/>
          <p:nvPr/>
        </p:nvSpPr>
        <p:spPr>
          <a:xfrm>
            <a:off x="0" y="2971800"/>
            <a:ext cx="7467600" cy="457200"/>
          </a:xfrm>
          <a:prstGeom prst="rect">
            <a:avLst/>
          </a:prstGeom>
          <a:noFill/>
          <a:ln w="9525">
            <a:noFill/>
          </a:ln>
        </p:spPr>
        <p:txBody>
          <a:bodyPr>
            <a:spAutoFit/>
          </a:bodyPr>
          <a:p>
            <a:pPr algn="ctr" eaLnBrk="1" hangingPunct="1">
              <a:spcBef>
                <a:spcPct val="50000"/>
              </a:spcBef>
            </a:pPr>
            <a:r>
              <a:rPr lang="en-US" altLang="zh-CN" sz="2400" b="1" dirty="0">
                <a:latin typeface="Times New Roman" panose="02020603050405020304" pitchFamily="18" charset="0"/>
              </a:rPr>
              <a:t>4.PROM</a:t>
            </a:r>
            <a:r>
              <a:rPr lang="zh-CN" altLang="en-US" sz="2400" b="1" dirty="0">
                <a:latin typeface="Times New Roman" panose="02020603050405020304" pitchFamily="18" charset="0"/>
              </a:rPr>
              <a:t>除了存储数据外，还可以编程逻辑函数</a:t>
            </a: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65943" name="Text Box 55"/>
          <p:cNvSpPr txBox="1"/>
          <p:nvPr/>
        </p:nvSpPr>
        <p:spPr>
          <a:xfrm>
            <a:off x="533400" y="3505200"/>
            <a:ext cx="8610600" cy="4572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5.</a:t>
            </a:r>
            <a:r>
              <a:rPr lang="zh-CN" altLang="en-US" sz="2400" b="1" dirty="0">
                <a:latin typeface="Times New Roman" panose="02020603050405020304" pitchFamily="18" charset="0"/>
              </a:rPr>
              <a:t>编程逻辑函数的器件还包括</a:t>
            </a:r>
            <a:r>
              <a:rPr lang="en-US" altLang="zh-CN" sz="2400" b="1" dirty="0">
                <a:latin typeface="Times New Roman" panose="02020603050405020304" pitchFamily="18" charset="0"/>
              </a:rPr>
              <a:t>EPROM</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PLA</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PAL</a:t>
            </a:r>
            <a:r>
              <a:rPr lang="zh-CN" altLang="en-US" sz="2400" b="1" dirty="0">
                <a:latin typeface="Times New Roman" panose="02020603050405020304" pitchFamily="18" charset="0"/>
              </a:rPr>
              <a:t>和</a:t>
            </a:r>
            <a:r>
              <a:rPr lang="en-US" altLang="zh-CN" sz="2400" b="1" dirty="0">
                <a:latin typeface="Times New Roman" panose="02020603050405020304" pitchFamily="18" charset="0"/>
              </a:rPr>
              <a:t>GAL</a:t>
            </a:r>
            <a:r>
              <a:rPr lang="zh-CN" altLang="en-US" sz="2400" b="1" dirty="0">
                <a:latin typeface="Times New Roman" panose="02020603050405020304" pitchFamily="18" charset="0"/>
              </a:rPr>
              <a:t>等。</a:t>
            </a:r>
            <a:endParaRPr lang="zh-CN" altLang="en-US" sz="2400" b="1" dirty="0">
              <a:latin typeface="Times New Roman" panose="02020603050405020304" pitchFamily="18" charset="0"/>
            </a:endParaRPr>
          </a:p>
        </p:txBody>
      </p:sp>
      <p:sp>
        <p:nvSpPr>
          <p:cNvPr id="165945" name="Text Box 57"/>
          <p:cNvSpPr txBox="1"/>
          <p:nvPr/>
        </p:nvSpPr>
        <p:spPr>
          <a:xfrm>
            <a:off x="533400" y="4038600"/>
            <a:ext cx="6172200" cy="4572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6.HDPLD</a:t>
            </a:r>
            <a:r>
              <a:rPr lang="zh-CN" altLang="en-US" sz="2400" b="1" dirty="0">
                <a:latin typeface="Times New Roman" panose="02020603050405020304" pitchFamily="18" charset="0"/>
              </a:rPr>
              <a:t>分为</a:t>
            </a:r>
            <a:r>
              <a:rPr lang="en-US" altLang="zh-CN" sz="2400" b="1" dirty="0">
                <a:latin typeface="Times New Roman" panose="02020603050405020304" pitchFamily="18" charset="0"/>
              </a:rPr>
              <a:t>EPLD</a:t>
            </a:r>
            <a:r>
              <a:rPr lang="zh-CN" altLang="en-US" sz="2400" b="1" dirty="0">
                <a:latin typeface="Times New Roman" panose="02020603050405020304" pitchFamily="18" charset="0"/>
              </a:rPr>
              <a:t>和</a:t>
            </a:r>
            <a:r>
              <a:rPr lang="en-US" altLang="zh-CN" sz="2400" b="1" dirty="0">
                <a:latin typeface="Times New Roman" panose="02020603050405020304" pitchFamily="18" charset="0"/>
              </a:rPr>
              <a:t>FPGA;</a:t>
            </a:r>
            <a:endParaRPr lang="en-US" altLang="zh-CN" sz="2400" b="1" dirty="0">
              <a:latin typeface="Times New Roman" panose="02020603050405020304" pitchFamily="18" charset="0"/>
            </a:endParaRPr>
          </a:p>
        </p:txBody>
      </p:sp>
      <p:sp>
        <p:nvSpPr>
          <p:cNvPr id="165946" name="Text Box 58"/>
          <p:cNvSpPr txBox="1"/>
          <p:nvPr/>
        </p:nvSpPr>
        <p:spPr>
          <a:xfrm>
            <a:off x="533400" y="4572000"/>
            <a:ext cx="8610600" cy="822325"/>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rPr>
              <a:t>7.EPLD</a:t>
            </a:r>
            <a:r>
              <a:rPr lang="zh-CN" altLang="en-US" sz="2400" b="1" dirty="0">
                <a:latin typeface="Times New Roman" panose="02020603050405020304" pitchFamily="18" charset="0"/>
              </a:rPr>
              <a:t>实现组合逻辑函数是从任何组合逻辑电路均可表示为与或表达式，加上触发器可实现时序电路的原理出发而构成</a:t>
            </a: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5939"/>
                                        </p:tgtEl>
                                        <p:attrNameLst>
                                          <p:attrName>style.visibility</p:attrName>
                                        </p:attrNameLst>
                                      </p:cBhvr>
                                      <p:to>
                                        <p:strVal val="visible"/>
                                      </p:to>
                                    </p:set>
                                    <p:anim calcmode="lin" valueType="num">
                                      <p:cBhvr additive="base">
                                        <p:cTn id="7" dur="500" fill="hold"/>
                                        <p:tgtEl>
                                          <p:spTgt spid="165939"/>
                                        </p:tgtEl>
                                        <p:attrNameLst>
                                          <p:attrName>ppt_x</p:attrName>
                                        </p:attrNameLst>
                                      </p:cBhvr>
                                      <p:tavLst>
                                        <p:tav tm="0">
                                          <p:val>
                                            <p:strVal val="1+#ppt_w/2"/>
                                          </p:val>
                                        </p:tav>
                                        <p:tav tm="100000">
                                          <p:val>
                                            <p:strVal val="#ppt_x"/>
                                          </p:val>
                                        </p:tav>
                                      </p:tavLst>
                                    </p:anim>
                                    <p:anim calcmode="lin" valueType="num">
                                      <p:cBhvr additive="base">
                                        <p:cTn id="8" dur="500" fill="hold"/>
                                        <p:tgtEl>
                                          <p:spTgt spid="16593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5940"/>
                                        </p:tgtEl>
                                        <p:attrNameLst>
                                          <p:attrName>style.visibility</p:attrName>
                                        </p:attrNameLst>
                                      </p:cBhvr>
                                      <p:to>
                                        <p:strVal val="visible"/>
                                      </p:to>
                                    </p:set>
                                    <p:anim calcmode="lin" valueType="num">
                                      <p:cBhvr additive="base">
                                        <p:cTn id="13" dur="500" fill="hold"/>
                                        <p:tgtEl>
                                          <p:spTgt spid="165940"/>
                                        </p:tgtEl>
                                        <p:attrNameLst>
                                          <p:attrName>ppt_x</p:attrName>
                                        </p:attrNameLst>
                                      </p:cBhvr>
                                      <p:tavLst>
                                        <p:tav tm="0">
                                          <p:val>
                                            <p:strVal val="1+#ppt_w/2"/>
                                          </p:val>
                                        </p:tav>
                                        <p:tav tm="100000">
                                          <p:val>
                                            <p:strVal val="#ppt_x"/>
                                          </p:val>
                                        </p:tav>
                                      </p:tavLst>
                                    </p:anim>
                                    <p:anim calcmode="lin" valueType="num">
                                      <p:cBhvr additive="base">
                                        <p:cTn id="14" dur="500" fill="hold"/>
                                        <p:tgtEl>
                                          <p:spTgt spid="16594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65937"/>
                                        </p:tgtEl>
                                        <p:attrNameLst>
                                          <p:attrName>style.visibility</p:attrName>
                                        </p:attrNameLst>
                                      </p:cBhvr>
                                      <p:to>
                                        <p:strVal val="visible"/>
                                      </p:to>
                                    </p:set>
                                    <p:anim calcmode="lin" valueType="num">
                                      <p:cBhvr additive="base">
                                        <p:cTn id="19" dur="500" fill="hold"/>
                                        <p:tgtEl>
                                          <p:spTgt spid="165937"/>
                                        </p:tgtEl>
                                        <p:attrNameLst>
                                          <p:attrName>ppt_x</p:attrName>
                                        </p:attrNameLst>
                                      </p:cBhvr>
                                      <p:tavLst>
                                        <p:tav tm="0">
                                          <p:val>
                                            <p:strVal val="1+#ppt_w/2"/>
                                          </p:val>
                                        </p:tav>
                                        <p:tav tm="100000">
                                          <p:val>
                                            <p:strVal val="#ppt_x"/>
                                          </p:val>
                                        </p:tav>
                                      </p:tavLst>
                                    </p:anim>
                                    <p:anim calcmode="lin" valueType="num">
                                      <p:cBhvr additive="base">
                                        <p:cTn id="20" dur="500" fill="hold"/>
                                        <p:tgtEl>
                                          <p:spTgt spid="16593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65942"/>
                                        </p:tgtEl>
                                        <p:attrNameLst>
                                          <p:attrName>style.visibility</p:attrName>
                                        </p:attrNameLst>
                                      </p:cBhvr>
                                      <p:to>
                                        <p:strVal val="visible"/>
                                      </p:to>
                                    </p:set>
                                    <p:anim calcmode="lin" valueType="num">
                                      <p:cBhvr additive="base">
                                        <p:cTn id="25" dur="500" fill="hold"/>
                                        <p:tgtEl>
                                          <p:spTgt spid="165942"/>
                                        </p:tgtEl>
                                        <p:attrNameLst>
                                          <p:attrName>ppt_x</p:attrName>
                                        </p:attrNameLst>
                                      </p:cBhvr>
                                      <p:tavLst>
                                        <p:tav tm="0">
                                          <p:val>
                                            <p:strVal val="1+#ppt_w/2"/>
                                          </p:val>
                                        </p:tav>
                                        <p:tav tm="100000">
                                          <p:val>
                                            <p:strVal val="#ppt_x"/>
                                          </p:val>
                                        </p:tav>
                                      </p:tavLst>
                                    </p:anim>
                                    <p:anim calcmode="lin" valueType="num">
                                      <p:cBhvr additive="base">
                                        <p:cTn id="26" dur="500" fill="hold"/>
                                        <p:tgtEl>
                                          <p:spTgt spid="16594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iterate type="wd">
                                    <p:tmPct val="100000"/>
                                  </p:iterate>
                                  <p:childTnLst>
                                    <p:set>
                                      <p:cBhvr>
                                        <p:cTn id="30" dur="1" fill="hold">
                                          <p:stCondLst>
                                            <p:cond delay="0"/>
                                          </p:stCondLst>
                                        </p:cTn>
                                        <p:tgtEl>
                                          <p:spTgt spid="165943">
                                            <p:txEl>
                                              <p:charRg st="0" end="34"/>
                                            </p:txEl>
                                          </p:spTgt>
                                        </p:tgtEl>
                                        <p:attrNameLst>
                                          <p:attrName>style.visibility</p:attrName>
                                        </p:attrNameLst>
                                      </p:cBhvr>
                                      <p:to>
                                        <p:strVal val="visible"/>
                                      </p:to>
                                    </p:set>
                                    <p:anim calcmode="lin" valueType="num">
                                      <p:cBhvr additive="base">
                                        <p:cTn id="31" dur="300" fill="hold"/>
                                        <p:tgtEl>
                                          <p:spTgt spid="165943">
                                            <p:txEl>
                                              <p:charRg st="0" end="34"/>
                                            </p:txEl>
                                          </p:spTgt>
                                        </p:tgtEl>
                                        <p:attrNameLst>
                                          <p:attrName>ppt_x</p:attrName>
                                        </p:attrNameLst>
                                      </p:cBhvr>
                                      <p:tavLst>
                                        <p:tav tm="0">
                                          <p:val>
                                            <p:strVal val="1+#ppt_w/2"/>
                                          </p:val>
                                        </p:tav>
                                        <p:tav tm="100000">
                                          <p:val>
                                            <p:strVal val="#ppt_x"/>
                                          </p:val>
                                        </p:tav>
                                      </p:tavLst>
                                    </p:anim>
                                    <p:anim calcmode="lin" valueType="num">
                                      <p:cBhvr additive="base">
                                        <p:cTn id="32" dur="300" fill="hold"/>
                                        <p:tgtEl>
                                          <p:spTgt spid="165943">
                                            <p:txEl>
                                              <p:charRg st="0" end="3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65945"/>
                                        </p:tgtEl>
                                        <p:attrNameLst>
                                          <p:attrName>style.visibility</p:attrName>
                                        </p:attrNameLst>
                                      </p:cBhvr>
                                      <p:to>
                                        <p:strVal val="visible"/>
                                      </p:to>
                                    </p:set>
                                    <p:anim calcmode="lin" valueType="num">
                                      <p:cBhvr additive="base">
                                        <p:cTn id="37" dur="500" fill="hold"/>
                                        <p:tgtEl>
                                          <p:spTgt spid="165945"/>
                                        </p:tgtEl>
                                        <p:attrNameLst>
                                          <p:attrName>ppt_x</p:attrName>
                                        </p:attrNameLst>
                                      </p:cBhvr>
                                      <p:tavLst>
                                        <p:tav tm="0">
                                          <p:val>
                                            <p:strVal val="1+#ppt_w/2"/>
                                          </p:val>
                                        </p:tav>
                                        <p:tav tm="100000">
                                          <p:val>
                                            <p:strVal val="#ppt_x"/>
                                          </p:val>
                                        </p:tav>
                                      </p:tavLst>
                                    </p:anim>
                                    <p:anim calcmode="lin" valueType="num">
                                      <p:cBhvr additive="base">
                                        <p:cTn id="38" dur="500" fill="hold"/>
                                        <p:tgtEl>
                                          <p:spTgt spid="16594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65946"/>
                                        </p:tgtEl>
                                        <p:attrNameLst>
                                          <p:attrName>style.visibility</p:attrName>
                                        </p:attrNameLst>
                                      </p:cBhvr>
                                      <p:to>
                                        <p:strVal val="visible"/>
                                      </p:to>
                                    </p:set>
                                    <p:anim calcmode="lin" valueType="num">
                                      <p:cBhvr additive="base">
                                        <p:cTn id="43" dur="500" fill="hold"/>
                                        <p:tgtEl>
                                          <p:spTgt spid="165946"/>
                                        </p:tgtEl>
                                        <p:attrNameLst>
                                          <p:attrName>ppt_x</p:attrName>
                                        </p:attrNameLst>
                                      </p:cBhvr>
                                      <p:tavLst>
                                        <p:tav tm="0">
                                          <p:val>
                                            <p:strVal val="1+#ppt_w/2"/>
                                          </p:val>
                                        </p:tav>
                                        <p:tav tm="100000">
                                          <p:val>
                                            <p:strVal val="#ppt_x"/>
                                          </p:val>
                                        </p:tav>
                                      </p:tavLst>
                                    </p:anim>
                                    <p:anim calcmode="lin" valueType="num">
                                      <p:cBhvr additive="base">
                                        <p:cTn id="44" dur="500" fill="hold"/>
                                        <p:tgtEl>
                                          <p:spTgt spid="1659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37" grpId="0"/>
      <p:bldP spid="165939" grpId="0"/>
      <p:bldP spid="165940" grpId="0"/>
      <p:bldP spid="165942" grpId="0"/>
      <p:bldP spid="165943" grpId="0" build="p"/>
      <p:bldP spid="165945" grpId="0"/>
      <p:bldP spid="165946" grpId="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11558</Words>
  <Application>WPS 演示</Application>
  <PresentationFormat>全屏显示(4:3)</PresentationFormat>
  <Paragraphs>878</Paragraphs>
  <Slides>67</Slides>
  <Notes>3</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53</vt:i4>
      </vt:variant>
      <vt:variant>
        <vt:lpstr>幻灯片标题</vt:lpstr>
      </vt:variant>
      <vt:variant>
        <vt:i4>67</vt:i4>
      </vt:variant>
    </vt:vector>
  </HeadingPairs>
  <TitlesOfParts>
    <vt:vector size="130" baseType="lpstr">
      <vt:lpstr>Arial</vt:lpstr>
      <vt:lpstr>宋体</vt:lpstr>
      <vt:lpstr>Wingdings</vt:lpstr>
      <vt:lpstr>Times New Roman</vt:lpstr>
      <vt:lpstr>隶书</vt:lpstr>
      <vt:lpstr>黑体</vt:lpstr>
      <vt:lpstr>Symbol</vt:lpstr>
      <vt:lpstr>微软雅黑</vt:lpstr>
      <vt:lpstr>Arial Unicode MS</vt:lpstr>
      <vt:lpstr>默认设计模板</vt:lpstr>
      <vt:lpstr>Paint.Picture</vt:lpstr>
      <vt:lpstr>Paint.Picture</vt:lpstr>
      <vt:lpstr>Word.Document.8</vt:lpstr>
      <vt:lpstr>Paint.Picture</vt:lpstr>
      <vt:lpstr>Word.Document.8</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Word.Document.8</vt:lpstr>
      <vt:lpstr>Paint.Picture</vt:lpstr>
      <vt:lpstr>Word.Document.8</vt:lpstr>
      <vt:lpstr>Word.Document.8</vt:lpstr>
      <vt:lpstr>Word.Document.8</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Visio.Drawing.4</vt:lpstr>
      <vt:lpstr>Paint.Picture</vt:lpstr>
      <vt:lpstr>Visio.Drawing.4</vt:lpstr>
      <vt:lpstr>Paint.Picture</vt:lpstr>
      <vt:lpstr>Paint.Picture</vt:lpstr>
      <vt:lpstr>Paint.Picture</vt:lpstr>
      <vt:lpstr>Paint.Picture</vt:lpstr>
      <vt:lpstr>Paint.Picture</vt:lpstr>
      <vt:lpstr>Paint.Picture</vt:lpstr>
      <vt:lpstr>Paint.Picture</vt:lpstr>
      <vt:lpstr>Paint.Picture</vt:lpstr>
      <vt:lpstr>Paint.Picture</vt:lpstr>
      <vt:lpstr>Equation.3</vt:lpstr>
      <vt:lpstr>Paint.Picture</vt:lpstr>
      <vt:lpstr>Paint.Picture</vt:lpstr>
      <vt:lpstr>Visio.Drawing.4</vt:lpstr>
      <vt:lpstr>Visio.Drawing.4</vt:lpstr>
      <vt:lpstr>Equation.3</vt:lpstr>
      <vt:lpstr>Equation.3</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jd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hjj</dc:creator>
  <cp:lastModifiedBy>WPS_1640354101</cp:lastModifiedBy>
  <cp:revision>124</cp:revision>
  <dcterms:created xsi:type="dcterms:W3CDTF">1998-09-08T02:19:40Z</dcterms:created>
  <dcterms:modified xsi:type="dcterms:W3CDTF">2024-06-25T08:26:17Z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00287095FF4149FB8A772FF6E96FA68F_13</vt:lpwstr>
  </property>
  <property fmtid="{D5CDD505-2E9C-101B-9397-08002B2CF9AE}" pid="3" name="KSOProductBuildVer">
    <vt:lpwstr>2052-12.1.0.17133</vt:lpwstr>
  </property>
</Properties>
</file>