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269" r:id="rId3"/>
    <p:sldId id="258" r:id="rId4"/>
    <p:sldId id="270" r:id="rId5"/>
    <p:sldId id="260" r:id="rId6"/>
    <p:sldId id="340" r:id="rId7"/>
    <p:sldId id="328" r:id="rId8"/>
    <p:sldId id="261" r:id="rId9"/>
    <p:sldId id="329" r:id="rId10"/>
    <p:sldId id="264" r:id="rId11"/>
    <p:sldId id="311" r:id="rId12"/>
    <p:sldId id="271" r:id="rId13"/>
    <p:sldId id="273" r:id="rId14"/>
    <p:sldId id="274" r:id="rId15"/>
    <p:sldId id="275" r:id="rId16"/>
    <p:sldId id="312" r:id="rId17"/>
    <p:sldId id="276" r:id="rId18"/>
    <p:sldId id="330" r:id="rId19"/>
    <p:sldId id="277" r:id="rId20"/>
    <p:sldId id="313" r:id="rId21"/>
    <p:sldId id="278" r:id="rId22"/>
    <p:sldId id="317" r:id="rId23"/>
    <p:sldId id="331" r:id="rId24"/>
    <p:sldId id="279" r:id="rId25"/>
    <p:sldId id="280" r:id="rId26"/>
    <p:sldId id="281" r:id="rId27"/>
    <p:sldId id="282" r:id="rId28"/>
    <p:sldId id="315" r:id="rId29"/>
    <p:sldId id="283" r:id="rId30"/>
    <p:sldId id="284" r:id="rId31"/>
    <p:sldId id="316" r:id="rId32"/>
    <p:sldId id="333" r:id="rId33"/>
    <p:sldId id="285" r:id="rId34"/>
    <p:sldId id="286" r:id="rId35"/>
    <p:sldId id="287" r:id="rId36"/>
    <p:sldId id="288" r:id="rId37"/>
    <p:sldId id="289" r:id="rId38"/>
    <p:sldId id="290" r:id="rId39"/>
    <p:sldId id="318" r:id="rId40"/>
    <p:sldId id="291" r:id="rId41"/>
    <p:sldId id="292" r:id="rId42"/>
    <p:sldId id="335" r:id="rId43"/>
    <p:sldId id="336" r:id="rId44"/>
    <p:sldId id="337" r:id="rId45"/>
    <p:sldId id="338" r:id="rId46"/>
    <p:sldId id="293" r:id="rId47"/>
    <p:sldId id="334" r:id="rId48"/>
    <p:sldId id="294" r:id="rId49"/>
    <p:sldId id="295" r:id="rId50"/>
    <p:sldId id="296" r:id="rId51"/>
    <p:sldId id="319" r:id="rId52"/>
    <p:sldId id="298" r:id="rId53"/>
    <p:sldId id="341" r:id="rId54"/>
    <p:sldId id="297" r:id="rId55"/>
    <p:sldId id="321" r:id="rId56"/>
    <p:sldId id="300" r:id="rId57"/>
    <p:sldId id="342" r:id="rId58"/>
    <p:sldId id="299" r:id="rId59"/>
    <p:sldId id="325" r:id="rId60"/>
    <p:sldId id="301" r:id="rId61"/>
    <p:sldId id="322" r:id="rId62"/>
    <p:sldId id="302" r:id="rId63"/>
    <p:sldId id="303" r:id="rId64"/>
    <p:sldId id="304" r:id="rId65"/>
    <p:sldId id="305" r:id="rId66"/>
    <p:sldId id="339" r:id="rId67"/>
    <p:sldId id="306" r:id="rId68"/>
    <p:sldId id="323" r:id="rId69"/>
    <p:sldId id="307" r:id="rId70"/>
    <p:sldId id="308" r:id="rId71"/>
    <p:sldId id="309" r:id="rId72"/>
    <p:sldId id="324" r:id="rId73"/>
    <p:sldId id="310" r:id="rId74"/>
    <p:sldId id="326" r:id="rId75"/>
    <p:sldId id="327" r:id="rId7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3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6600"/>
    <a:srgbClr val="000000"/>
    <a:srgbClr val="CC0000"/>
    <a:srgbClr val="FF0000"/>
    <a:srgbClr val="CC00FF"/>
    <a:srgbClr val="66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32786"/>
    <p:restoredTop sz="90929"/>
  </p:normalViewPr>
  <p:slideViewPr>
    <p:cSldViewPr showGuides="1">
      <p:cViewPr varScale="1">
        <p:scale>
          <a:sx n="61" d="100"/>
          <a:sy n="61" d="100"/>
        </p:scale>
        <p:origin x="340" y="60"/>
      </p:cViewPr>
      <p:guideLst>
        <p:guide orient="horz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6.xml"/><Relationship Id="rId79" Type="http://schemas.openxmlformats.org/officeDocument/2006/relationships/presProps" Target="presProps.xml"/><Relationship Id="rId78" Type="http://schemas.openxmlformats.org/officeDocument/2006/relationships/handoutMaster" Target="handoutMasters/handoutMaster1.xml"/><Relationship Id="rId77" Type="http://schemas.openxmlformats.org/officeDocument/2006/relationships/notesMaster" Target="notesMasters/notesMaster1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4.png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png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png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image" Target="../media/image52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png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image" Target="../media/image58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467286-4418-416D-9A1C-825EC468642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BF730D-AA9C-4C18-A4E5-C2FA2F966751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6" name="Group 3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white">
              <a:xfrm>
                <a:off x="0" y="0"/>
                <a:ext cx="5760" cy="1600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white">
              <a:xfrm>
                <a:off x="0" y="1600"/>
                <a:ext cx="5760" cy="2720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2057" name="Picture 6" descr="grap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" y="0"/>
              <a:ext cx="680" cy="3152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058" name="Group 7"/>
            <p:cNvGrpSpPr/>
            <p:nvPr/>
          </p:nvGrpSpPr>
          <p:grpSpPr>
            <a:xfrm>
              <a:off x="648" y="0"/>
              <a:ext cx="97" cy="3613"/>
              <a:chOff x="226" y="0"/>
              <a:chExt cx="80" cy="3613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ltGray">
              <a:xfrm>
                <a:off x="226" y="0"/>
                <a:ext cx="80" cy="853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ltGray">
              <a:xfrm>
                <a:off x="226" y="840"/>
                <a:ext cx="80" cy="2773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1" name="Rectangle 10"/>
            <p:cNvSpPr>
              <a:spLocks noChangeArrowheads="1"/>
            </p:cNvSpPr>
            <p:nvPr/>
          </p:nvSpPr>
          <p:spPr bwMode="ltGray">
            <a:xfrm>
              <a:off x="0" y="1536"/>
              <a:ext cx="4294" cy="160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41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371600" y="1100138"/>
            <a:ext cx="77724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660066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660066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solidFill>
                  <a:srgbClr val="660066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73118B-09AF-4646-9462-E63C33C38122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2954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257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247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2954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039" name="Rectangle 4"/>
              <p:cNvSpPr>
                <a:spLocks noChangeArrowheads="1"/>
              </p:cNvSpPr>
              <p:nvPr/>
            </p:nvSpPr>
            <p:spPr bwMode="white">
              <a:xfrm>
                <a:off x="0" y="0"/>
                <a:ext cx="5760" cy="384"/>
              </a:xfrm>
              <a:prstGeom prst="rect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5"/>
              <p:cNvSpPr>
                <a:spLocks noChangeArrowheads="1"/>
              </p:cNvSpPr>
              <p:nvPr/>
            </p:nvSpPr>
            <p:spPr bwMode="white">
              <a:xfrm>
                <a:off x="0" y="384"/>
                <a:ext cx="5760" cy="3936"/>
              </a:xfrm>
              <a:prstGeom prst="rect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33" name="Group 6"/>
            <p:cNvGrpSpPr/>
            <p:nvPr/>
          </p:nvGrpSpPr>
          <p:grpSpPr>
            <a:xfrm>
              <a:off x="0" y="0"/>
              <a:ext cx="1667" cy="3613"/>
              <a:chOff x="0" y="0"/>
              <a:chExt cx="1667" cy="3613"/>
            </a:xfrm>
          </p:grpSpPr>
          <p:pic>
            <p:nvPicPr>
              <p:cNvPr id="1034" name="Picture 7" descr="grapes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3" y="0"/>
                <a:ext cx="534" cy="3152"/>
              </a:xfrm>
              <a:prstGeom prst="rect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ln w="9525">
                <a:noFill/>
              </a:ln>
            </p:spPr>
          </p:pic>
          <p:grpSp>
            <p:nvGrpSpPr>
              <p:cNvPr id="1035" name="Group 8"/>
              <p:cNvGrpSpPr/>
              <p:nvPr/>
            </p:nvGrpSpPr>
            <p:grpSpPr>
              <a:xfrm>
                <a:off x="226" y="0"/>
                <a:ext cx="80" cy="3613"/>
                <a:chOff x="226" y="0"/>
                <a:chExt cx="80" cy="3613"/>
              </a:xfrm>
            </p:grpSpPr>
            <p:sp>
              <p:nvSpPr>
                <p:cNvPr id="1037" name="Rectangle 9"/>
                <p:cNvSpPr>
                  <a:spLocks noChangeArrowheads="1"/>
                </p:cNvSpPr>
                <p:nvPr/>
              </p:nvSpPr>
              <p:spPr bwMode="ltGray">
                <a:xfrm>
                  <a:off x="226" y="0"/>
                  <a:ext cx="80" cy="853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38" name="Rectangle 10"/>
                <p:cNvSpPr>
                  <a:spLocks noChangeArrowheads="1"/>
                </p:cNvSpPr>
                <p:nvPr/>
              </p:nvSpPr>
              <p:spPr bwMode="ltGray">
                <a:xfrm>
                  <a:off x="226" y="840"/>
                  <a:ext cx="80" cy="2773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36" name="Rectangle 11"/>
              <p:cNvSpPr>
                <a:spLocks noChangeArrowheads="1"/>
              </p:cNvSpPr>
              <p:nvPr/>
            </p:nvSpPr>
            <p:spPr bwMode="ltGray">
              <a:xfrm>
                <a:off x="0" y="347"/>
                <a:ext cx="1667" cy="80"/>
              </a:xfrm>
              <a:prstGeom prst="rect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12"/>
          <p:cNvSpPr>
            <a:spLocks noGrp="1"/>
          </p:cNvSpPr>
          <p:nvPr>
            <p:ph type="title"/>
          </p:nvPr>
        </p:nvSpPr>
        <p:spPr>
          <a:xfrm>
            <a:off x="12954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13"/>
          <p:cNvSpPr>
            <a:spLocks noGrp="1"/>
          </p:cNvSpPr>
          <p:nvPr>
            <p:ph type="body" idx="1"/>
          </p:nvPr>
        </p:nvSpPr>
        <p:spPr>
          <a:xfrm>
            <a:off x="12954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398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 b="0" smtClean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BAB44-1590-47DB-9688-1154149A882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Impact" panose="020B080603090205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hyperlink" Target="&#23553;&#39029;1.ppt" TargetMode="External"/><Relationship Id="rId4" Type="http://schemas.openxmlformats.org/officeDocument/2006/relationships/slide" Target="slide72.xml"/><Relationship Id="rId3" Type="http://schemas.openxmlformats.org/officeDocument/2006/relationships/slide" Target="slide61.xml"/><Relationship Id="rId2" Type="http://schemas.openxmlformats.org/officeDocument/2006/relationships/slide" Target="slide39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4.xml"/><Relationship Id="rId6" Type="http://schemas.openxmlformats.org/officeDocument/2006/relationships/themeOverride" Target="../theme/themeOverride1.x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png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hemeOverride" Target="../theme/themeOverride2.xml"/><Relationship Id="rId3" Type="http://schemas.openxmlformats.org/officeDocument/2006/relationships/slide" Target="slide4.xml"/><Relationship Id="rId2" Type="http://schemas.openxmlformats.org/officeDocument/2006/relationships/slide" Target="slide23.xml"/><Relationship Id="rId1" Type="http://schemas.openxmlformats.org/officeDocument/2006/relationships/slide" Target="slide3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4.png"/><Relationship Id="rId3" Type="http://schemas.openxmlformats.org/officeDocument/2006/relationships/oleObject" Target="../embeddings/oleObject6.bin"/><Relationship Id="rId2" Type="http://schemas.openxmlformats.org/officeDocument/2006/relationships/slide" Target="slide4.xml"/><Relationship Id="rId1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slide" Target="slide20.xml"/><Relationship Id="rId2" Type="http://schemas.openxmlformats.org/officeDocument/2006/relationships/slide" Target="slide16.xml"/><Relationship Id="rId1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4" Type="http://schemas.openxmlformats.org/officeDocument/2006/relationships/image" Target="../media/image8.png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png"/><Relationship Id="rId1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4" Type="http://schemas.openxmlformats.org/officeDocument/2006/relationships/hyperlink" Target="file:///C:\fndtn\Active\exe\SC.EXE" TargetMode="Externa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2.wav"/><Relationship Id="rId6" Type="http://schemas.openxmlformats.org/officeDocument/2006/relationships/image" Target="../media/image13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png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png"/><Relationship Id="rId1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slide" Target="slide20.xml"/><Relationship Id="rId2" Type="http://schemas.openxmlformats.org/officeDocument/2006/relationships/slide" Target="slide16.xml"/><Relationship Id="rId1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2.wav"/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audio" Target="../media/audio1.wav"/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oleObject" Target="../embeddings/oleObject1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2.wav"/><Relationship Id="rId6" Type="http://schemas.openxmlformats.org/officeDocument/2006/relationships/audio" Target="../media/audio1.wav"/><Relationship Id="rId5" Type="http://schemas.openxmlformats.org/officeDocument/2006/relationships/hyperlink" Target="file:///C:\fndtn\Active\exe\SC.EXE" TargetMode="External"/><Relationship Id="rId4" Type="http://schemas.openxmlformats.org/officeDocument/2006/relationships/image" Target="../media/image16.png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5.png"/><Relationship Id="rId1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slide" Target="slide20.xml"/><Relationship Id="rId2" Type="http://schemas.openxmlformats.org/officeDocument/2006/relationships/slide" Target="slide16.xml"/><Relationship Id="rId1" Type="http://schemas.openxmlformats.org/officeDocument/2006/relationships/slide" Target="slide1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17.png"/><Relationship Id="rId1" Type="http://schemas.openxmlformats.org/officeDocument/2006/relationships/oleObject" Target="../embeddings/oleObject17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hemeOverride" Target="../theme/themeOverride4.xml"/><Relationship Id="rId3" Type="http://schemas.openxmlformats.org/officeDocument/2006/relationships/slide" Target="slide4.xml"/><Relationship Id="rId2" Type="http://schemas.openxmlformats.org/officeDocument/2006/relationships/slide" Target="slide22.xml"/><Relationship Id="rId1" Type="http://schemas.openxmlformats.org/officeDocument/2006/relationships/slide" Target="slide3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4.xml"/><Relationship Id="rId7" Type="http://schemas.openxmlformats.org/officeDocument/2006/relationships/audio" Target="../media/audio1.wav"/><Relationship Id="rId6" Type="http://schemas.openxmlformats.org/officeDocument/2006/relationships/image" Target="../media/image20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slide" Target="slide28.xml"/><Relationship Id="rId1" Type="http://schemas.openxmlformats.org/officeDocument/2006/relationships/slide" Target="slide25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image" Target="../media/image21.png"/><Relationship Id="rId1" Type="http://schemas.openxmlformats.org/officeDocument/2006/relationships/oleObject" Target="../embeddings/oleObject21.bin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image" Target="../media/image22.png"/><Relationship Id="rId1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1" Type="http://schemas.openxmlformats.org/officeDocument/2006/relationships/slide" Target="slide25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image" Target="../media/image24.png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3.png"/><Relationship Id="rId1" Type="http://schemas.openxmlformats.org/officeDocument/2006/relationships/oleObject" Target="../embeddings/oleObject23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2.wav"/><Relationship Id="rId3" Type="http://schemas.openxmlformats.org/officeDocument/2006/relationships/audio" Target="../media/audio1.wav"/><Relationship Id="rId2" Type="http://schemas.openxmlformats.org/officeDocument/2006/relationships/image" Target="../media/image25.png"/><Relationship Id="rId1" Type="http://schemas.openxmlformats.org/officeDocument/2006/relationships/oleObject" Target="../embeddings/oleObject25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hemeOverride" Target="../theme/themeOverride5.xml"/><Relationship Id="rId3" Type="http://schemas.openxmlformats.org/officeDocument/2006/relationships/slide" Target="slide4.xml"/><Relationship Id="rId2" Type="http://schemas.openxmlformats.org/officeDocument/2006/relationships/slide" Target="slide23.xml"/><Relationship Id="rId1" Type="http://schemas.openxmlformats.org/officeDocument/2006/relationships/slide" Target="slide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26.png"/><Relationship Id="rId1" Type="http://schemas.openxmlformats.org/officeDocument/2006/relationships/oleObject" Target="../embeddings/oleObject26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openxmlformats.org/officeDocument/2006/relationships/image" Target="../media/image27.png"/><Relationship Id="rId1" Type="http://schemas.openxmlformats.org/officeDocument/2006/relationships/oleObject" Target="../embeddings/oleObject27.bin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openxmlformats.org/officeDocument/2006/relationships/image" Target="../media/image28.png"/><Relationship Id="rId1" Type="http://schemas.openxmlformats.org/officeDocument/2006/relationships/oleObject" Target="../embeddings/oleObject28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oleObject" Target="../embeddings/oleObject29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oleObject" Target="../embeddings/oleObject30.bin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hyperlink" Target="&#23553;&#39029;1.ppt" TargetMode="External"/><Relationship Id="rId4" Type="http://schemas.openxmlformats.org/officeDocument/2006/relationships/slide" Target="slide72.xml"/><Relationship Id="rId3" Type="http://schemas.openxmlformats.org/officeDocument/2006/relationships/slide" Target="slide61.xml"/><Relationship Id="rId2" Type="http://schemas.openxmlformats.org/officeDocument/2006/relationships/slide" Target="slide39.xml"/><Relationship Id="rId1" Type="http://schemas.openxmlformats.org/officeDocument/2006/relationships/slide" Target="slide2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slide" Target="slide47.xml"/><Relationship Id="rId7" Type="http://schemas.openxmlformats.org/officeDocument/2006/relationships/image" Target="../media/image31.wmf"/><Relationship Id="rId6" Type="http://schemas.openxmlformats.org/officeDocument/2006/relationships/oleObject" Target="../embeddings/oleObject33.bin"/><Relationship Id="rId5" Type="http://schemas.openxmlformats.org/officeDocument/2006/relationships/slide" Target="slide45.xml"/><Relationship Id="rId4" Type="http://schemas.openxmlformats.org/officeDocument/2006/relationships/oleObject" Target="../embeddings/oleObject32.bin"/><Relationship Id="rId3" Type="http://schemas.openxmlformats.org/officeDocument/2006/relationships/image" Target="../media/image4.png"/><Relationship Id="rId2" Type="http://schemas.openxmlformats.org/officeDocument/2006/relationships/oleObject" Target="../embeddings/oleObject31.bin"/><Relationship Id="rId12" Type="http://schemas.openxmlformats.org/officeDocument/2006/relationships/vmlDrawing" Target="../drawings/vmlDrawing21.vml"/><Relationship Id="rId11" Type="http://schemas.openxmlformats.org/officeDocument/2006/relationships/slideLayout" Target="../slideLayouts/slideLayout4.xml"/><Relationship Id="rId10" Type="http://schemas.openxmlformats.org/officeDocument/2006/relationships/themeOverride" Target="../theme/themeOverride6.xml"/><Relationship Id="rId1" Type="http://schemas.openxmlformats.org/officeDocument/2006/relationships/slide" Target="slide40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audio" Target="../media/audio1.wav"/><Relationship Id="rId7" Type="http://schemas.openxmlformats.org/officeDocument/2006/relationships/audio" Target="../media/audio2.wav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2.png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35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5.png"/><Relationship Id="rId12" Type="http://schemas.openxmlformats.org/officeDocument/2006/relationships/vmlDrawing" Target="../drawings/vmlDrawing2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38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oleObject" Target="../embeddings/oleObject43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oleObject" Target="../embeddings/oleObject44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2.wav"/><Relationship Id="rId2" Type="http://schemas.openxmlformats.org/officeDocument/2006/relationships/image" Target="../media/image41.png"/><Relationship Id="rId1" Type="http://schemas.openxmlformats.org/officeDocument/2006/relationships/oleObject" Target="../embeddings/oleObject45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7.vml"/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2.wav"/><Relationship Id="rId2" Type="http://schemas.openxmlformats.org/officeDocument/2006/relationships/image" Target="../media/image42.png"/><Relationship Id="rId1" Type="http://schemas.openxmlformats.org/officeDocument/2006/relationships/oleObject" Target="../embeddings/oleObject46.bin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hemeOverride" Target="../theme/themeOverride7.xml"/><Relationship Id="rId4" Type="http://schemas.openxmlformats.org/officeDocument/2006/relationships/slide" Target="slide57.xml"/><Relationship Id="rId3" Type="http://schemas.openxmlformats.org/officeDocument/2006/relationships/slide" Target="slide55.xml"/><Relationship Id="rId2" Type="http://schemas.openxmlformats.org/officeDocument/2006/relationships/slide" Target="slide49.xml"/><Relationship Id="rId1" Type="http://schemas.openxmlformats.org/officeDocument/2006/relationships/slide" Target="slide51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4.png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3.png"/><Relationship Id="rId1" Type="http://schemas.openxmlformats.org/officeDocument/2006/relationships/oleObject" Target="../embeddings/oleObject47.bin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hemeOverride" Target="../theme/themeOverride8.xml"/><Relationship Id="rId3" Type="http://schemas.openxmlformats.org/officeDocument/2006/relationships/slide" Target="slide57.xml"/><Relationship Id="rId2" Type="http://schemas.openxmlformats.org/officeDocument/2006/relationships/slide" Target="slide49.xml"/><Relationship Id="rId1" Type="http://schemas.openxmlformats.org/officeDocument/2006/relationships/slide" Target="slide34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9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45.png"/><Relationship Id="rId1" Type="http://schemas.openxmlformats.org/officeDocument/2006/relationships/oleObject" Target="../embeddings/oleObject49.bin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4.xml"/><Relationship Id="rId4" Type="http://schemas.openxmlformats.org/officeDocument/2006/relationships/themeOverride" Target="../theme/themeOverride9.xml"/><Relationship Id="rId3" Type="http://schemas.openxmlformats.org/officeDocument/2006/relationships/image" Target="../media/image47.emf"/><Relationship Id="rId2" Type="http://schemas.openxmlformats.org/officeDocument/2006/relationships/oleObject" Target="../embeddings/oleObject50.bin"/><Relationship Id="rId1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hemeOverride" Target="../theme/themeOverride10.xml"/><Relationship Id="rId4" Type="http://schemas.openxmlformats.org/officeDocument/2006/relationships/slide" Target="slide57.xml"/><Relationship Id="rId3" Type="http://schemas.openxmlformats.org/officeDocument/2006/relationships/slide" Target="slide36.xml"/><Relationship Id="rId2" Type="http://schemas.openxmlformats.org/officeDocument/2006/relationships/slide" Target="slide49.xml"/><Relationship Id="rId1" Type="http://schemas.openxmlformats.org/officeDocument/2006/relationships/slide" Target="slide53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1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image" Target="../media/image48.png"/><Relationship Id="rId1" Type="http://schemas.openxmlformats.org/officeDocument/2006/relationships/oleObject" Target="../embeddings/oleObject51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hemeOverride" Target="../theme/themeOverride11.xml"/><Relationship Id="rId4" Type="http://schemas.openxmlformats.org/officeDocument/2006/relationships/slide" Target="slide59.xml"/><Relationship Id="rId3" Type="http://schemas.openxmlformats.org/officeDocument/2006/relationships/slide" Target="slide57.xml"/><Relationship Id="rId2" Type="http://schemas.openxmlformats.org/officeDocument/2006/relationships/slide" Target="slide49.xml"/><Relationship Id="rId1" Type="http://schemas.openxmlformats.org/officeDocument/2006/relationships/slide" Target="slide53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0.png"/><Relationship Id="rId1" Type="http://schemas.openxmlformats.org/officeDocument/2006/relationships/oleObject" Target="../embeddings/oleObject52.bin"/></Relationships>
</file>

<file path=ppt/slides/_rels/slide6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hyperlink" Target="&#23553;&#39029;1.ppt" TargetMode="External"/><Relationship Id="rId4" Type="http://schemas.openxmlformats.org/officeDocument/2006/relationships/slide" Target="slide72.xml"/><Relationship Id="rId3" Type="http://schemas.openxmlformats.org/officeDocument/2006/relationships/slide" Target="slide61.xml"/><Relationship Id="rId2" Type="http://schemas.openxmlformats.org/officeDocument/2006/relationships/slide" Target="slide39.xml"/><Relationship Id="rId1" Type="http://schemas.openxmlformats.org/officeDocument/2006/relationships/slide" Target="slide2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2.wav"/><Relationship Id="rId2" Type="http://schemas.openxmlformats.org/officeDocument/2006/relationships/slide" Target="slide68.xml"/><Relationship Id="rId1" Type="http://schemas.openxmlformats.org/officeDocument/2006/relationships/slide" Target="slide6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2.wav"/><Relationship Id="rId3" Type="http://schemas.openxmlformats.org/officeDocument/2006/relationships/audio" Target="../media/audio1.wav"/><Relationship Id="rId2" Type="http://schemas.openxmlformats.org/officeDocument/2006/relationships/image" Target="../media/image51.png"/><Relationship Id="rId1" Type="http://schemas.openxmlformats.org/officeDocument/2006/relationships/oleObject" Target="../embeddings/oleObject53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4" Type="http://schemas.openxmlformats.org/officeDocument/2006/relationships/image" Target="../media/image53.png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54.bin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oleObject" Target="../embeddings/oleObject56.bin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6.v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5.png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4.png"/><Relationship Id="rId1" Type="http://schemas.openxmlformats.org/officeDocument/2006/relationships/oleObject" Target="../embeddings/oleObject57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" Target="slide68.xml"/><Relationship Id="rId1" Type="http://schemas.openxmlformats.org/officeDocument/2006/relationships/slide" Target="slide6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7.vml"/><Relationship Id="rId6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57.png"/><Relationship Id="rId3" Type="http://schemas.openxmlformats.org/officeDocument/2006/relationships/oleObject" Target="../embeddings/oleObject61.bin"/><Relationship Id="rId2" Type="http://schemas.openxmlformats.org/officeDocument/2006/relationships/image" Target="../media/image56.png"/><Relationship Id="rId1" Type="http://schemas.openxmlformats.org/officeDocument/2006/relationships/oleObject" Target="../embeddings/oleObject60.bin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9.png"/><Relationship Id="rId3" Type="http://schemas.openxmlformats.org/officeDocument/2006/relationships/oleObject" Target="../embeddings/oleObject63.bin"/><Relationship Id="rId2" Type="http://schemas.openxmlformats.org/officeDocument/2006/relationships/image" Target="../media/image58.wmf"/><Relationship Id="rId1" Type="http://schemas.openxmlformats.org/officeDocument/2006/relationships/oleObject" Target="../embeddings/oleObject62.bin"/></Relationships>
</file>

<file path=ppt/slides/_rels/slide7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hyperlink" Target="&#23553;&#39029;1.ppt" TargetMode="External"/><Relationship Id="rId4" Type="http://schemas.openxmlformats.org/officeDocument/2006/relationships/slide" Target="slide72.xml"/><Relationship Id="rId3" Type="http://schemas.openxmlformats.org/officeDocument/2006/relationships/slide" Target="slide61.xml"/><Relationship Id="rId2" Type="http://schemas.openxmlformats.org/officeDocument/2006/relationships/slide" Target="slide39.xml"/><Relationship Id="rId1" Type="http://schemas.openxmlformats.org/officeDocument/2006/relationships/slide" Target="slide2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1" Type="http://schemas.openxmlformats.org/officeDocument/2006/relationships/oleObject" Target="../embeddings/oleObject64.bin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2.wav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610600" cy="11430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392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隶书" panose="02010509060101010101" pitchFamily="49" charset="-122"/>
                <a:cs typeface="+mj-cs"/>
              </a:rPr>
              <a:t>第六章    中规模时序电路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2778" name="Text Box 10">
            <a:hlinkClick r:id="rId1" action="ppaction://hlinksldjump"/>
          </p:cNvPr>
          <p:cNvSpPr txBox="1"/>
          <p:nvPr/>
        </p:nvSpPr>
        <p:spPr>
          <a:xfrm>
            <a:off x="533400" y="19050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§6.1  </a:t>
            </a:r>
            <a:r>
              <a:rPr lang="zh-CN" altLang="en-US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计数器</a:t>
            </a:r>
            <a:endParaRPr lang="zh-CN" altLang="en-US" sz="4800" dirty="0">
              <a:solidFill>
                <a:srgbClr val="8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0" name="Text Box 22">
            <a:hlinkClick r:id="rId2" action="ppaction://hlinksldjump"/>
          </p:cNvPr>
          <p:cNvSpPr txBox="1"/>
          <p:nvPr/>
        </p:nvSpPr>
        <p:spPr>
          <a:xfrm>
            <a:off x="533400" y="28956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§6.2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寄存器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2791" name="Text Box 23">
            <a:hlinkClick r:id="rId3" action="ppaction://hlinksldjump"/>
          </p:cNvPr>
          <p:cNvSpPr txBox="1"/>
          <p:nvPr/>
        </p:nvSpPr>
        <p:spPr>
          <a:xfrm>
            <a:off x="533400" y="3810000"/>
            <a:ext cx="7924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§6.3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序列码发生器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2792" name="Text Box 24">
            <a:hlinkClick r:id="rId4" action="ppaction://hlinksldjump"/>
          </p:cNvPr>
          <p:cNvSpPr txBox="1"/>
          <p:nvPr/>
        </p:nvSpPr>
        <p:spPr>
          <a:xfrm>
            <a:off x="533400" y="46482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§6.4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数字电子钟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5127" name="Picture 35" descr="MEETI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5372100"/>
            <a:ext cx="2330450" cy="140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804" name="Text Box 36">
            <a:hlinkClick r:id="rId4" action="ppaction://hlinksldjump"/>
          </p:cNvPr>
          <p:cNvSpPr txBox="1"/>
          <p:nvPr/>
        </p:nvSpPr>
        <p:spPr>
          <a:xfrm>
            <a:off x="533400" y="54864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§6.5  </a:t>
            </a:r>
            <a:r>
              <a:rPr lang="zh-CN" altLang="en-US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小结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nimBg="1"/>
      <p:bldP spid="32778" grpId="0"/>
      <p:bldP spid="32790" grpId="0"/>
      <p:bldP spid="32791" grpId="0"/>
      <p:bldP spid="32792" grpId="0"/>
      <p:bldP spid="3280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162800" cy="838200"/>
          </a:xfr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27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§6.1.1  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计数器的分类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grpSp>
        <p:nvGrpSpPr>
          <p:cNvPr id="18466" name="Group 34"/>
          <p:cNvGrpSpPr/>
          <p:nvPr/>
        </p:nvGrpSpPr>
        <p:grpSpPr>
          <a:xfrm>
            <a:off x="381000" y="2498725"/>
            <a:ext cx="8001000" cy="579438"/>
            <a:chOff x="240" y="1574"/>
            <a:chExt cx="5040" cy="365"/>
          </a:xfrm>
        </p:grpSpPr>
        <p:sp>
          <p:nvSpPr>
            <p:cNvPr id="6158" name="Text Box 18"/>
            <p:cNvSpPr txBox="1"/>
            <p:nvPr/>
          </p:nvSpPr>
          <p:spPr>
            <a:xfrm>
              <a:off x="576" y="1574"/>
              <a:ext cx="470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按进位方式，分为同步和异步计数器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59" name="Object 30"/>
            <p:cNvGraphicFramePr>
              <a:graphicFrameLocks noChangeAspect="1"/>
            </p:cNvGraphicFramePr>
            <p:nvPr/>
          </p:nvGraphicFramePr>
          <p:xfrm>
            <a:off x="240" y="1632"/>
            <a:ext cx="26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419100" imgH="400050" progId="MS_ClipArt_Gallery.2">
                    <p:embed/>
                  </p:oleObj>
                </mc:Choice>
                <mc:Fallback>
                  <p:oleObj name="" r:id="rId1" imgW="419100" imgH="400050" progId="MS_ClipArt_Gallery.2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0" y="1632"/>
                          <a:ext cx="264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67" name="Group 35"/>
          <p:cNvGrpSpPr/>
          <p:nvPr/>
        </p:nvGrpSpPr>
        <p:grpSpPr>
          <a:xfrm>
            <a:off x="381000" y="3535363"/>
            <a:ext cx="8763000" cy="579437"/>
            <a:chOff x="240" y="2227"/>
            <a:chExt cx="5520" cy="365"/>
          </a:xfrm>
        </p:grpSpPr>
        <p:sp>
          <p:nvSpPr>
            <p:cNvPr id="6156" name="Text Box 8"/>
            <p:cNvSpPr txBox="1"/>
            <p:nvPr/>
          </p:nvSpPr>
          <p:spPr>
            <a:xfrm>
              <a:off x="576" y="2227"/>
              <a:ext cx="51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按进位制，分为模二、模十和任意模计数器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57" name="Object 31"/>
            <p:cNvGraphicFramePr>
              <a:graphicFrameLocks noChangeAspect="1"/>
            </p:cNvGraphicFramePr>
            <p:nvPr/>
          </p:nvGraphicFramePr>
          <p:xfrm>
            <a:off x="240" y="2292"/>
            <a:ext cx="26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3" imgW="419100" imgH="400050" progId="MS_ClipArt_Gallery.2">
                    <p:embed/>
                  </p:oleObj>
                </mc:Choice>
                <mc:Fallback>
                  <p:oleObj name="" r:id="rId3" imgW="419100" imgH="400050" progId="MS_ClipArt_Gallery.2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0" y="2292"/>
                          <a:ext cx="264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68" name="Group 36"/>
          <p:cNvGrpSpPr/>
          <p:nvPr/>
        </p:nvGrpSpPr>
        <p:grpSpPr>
          <a:xfrm>
            <a:off x="381000" y="4525963"/>
            <a:ext cx="8763000" cy="579437"/>
            <a:chOff x="240" y="2851"/>
            <a:chExt cx="5520" cy="365"/>
          </a:xfrm>
        </p:grpSpPr>
        <p:sp>
          <p:nvSpPr>
            <p:cNvPr id="6154" name="Text Box 9"/>
            <p:cNvSpPr txBox="1"/>
            <p:nvPr/>
          </p:nvSpPr>
          <p:spPr>
            <a:xfrm>
              <a:off x="576" y="2851"/>
              <a:ext cx="51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按逻辑功能，分为加法、减法和可逆计数器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55" name="Object 32"/>
            <p:cNvGraphicFramePr>
              <a:graphicFrameLocks noChangeAspect="1"/>
            </p:cNvGraphicFramePr>
            <p:nvPr/>
          </p:nvGraphicFramePr>
          <p:xfrm>
            <a:off x="240" y="2928"/>
            <a:ext cx="26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4" imgW="419100" imgH="400050" progId="MS_ClipArt_Gallery.2">
                    <p:embed/>
                  </p:oleObj>
                </mc:Choice>
                <mc:Fallback>
                  <p:oleObj name="" r:id="rId4" imgW="419100" imgH="400050" progId="MS_ClipArt_Gallery.2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0" y="2928"/>
                          <a:ext cx="264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69" name="Group 37"/>
          <p:cNvGrpSpPr/>
          <p:nvPr/>
        </p:nvGrpSpPr>
        <p:grpSpPr>
          <a:xfrm>
            <a:off x="381000" y="5562600"/>
            <a:ext cx="8763000" cy="579438"/>
            <a:chOff x="240" y="3504"/>
            <a:chExt cx="5520" cy="365"/>
          </a:xfrm>
        </p:grpSpPr>
        <p:sp>
          <p:nvSpPr>
            <p:cNvPr id="6152" name="Text Box 10"/>
            <p:cNvSpPr txBox="1"/>
            <p:nvPr/>
          </p:nvSpPr>
          <p:spPr>
            <a:xfrm>
              <a:off x="576" y="3504"/>
              <a:ext cx="51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按集成度，分为小规模与中规模集成计数器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53" name="Object 33"/>
            <p:cNvGraphicFramePr>
              <a:graphicFrameLocks noChangeAspect="1"/>
            </p:cNvGraphicFramePr>
            <p:nvPr/>
          </p:nvGraphicFramePr>
          <p:xfrm>
            <a:off x="240" y="3552"/>
            <a:ext cx="26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5" imgW="419100" imgH="400050" progId="MS_ClipArt_Gallery.2">
                    <p:embed/>
                  </p:oleObj>
                </mc:Choice>
                <mc:Fallback>
                  <p:oleObj name="" r:id="rId5" imgW="419100" imgH="400050" progId="MS_ClipArt_Gallery.2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0" y="3552"/>
                          <a:ext cx="264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70" name="AutoShape 38"/>
          <p:cNvSpPr/>
          <p:nvPr/>
        </p:nvSpPr>
        <p:spPr>
          <a:xfrm>
            <a:off x="4343400" y="1219200"/>
            <a:ext cx="3429000" cy="990600"/>
          </a:xfrm>
          <a:prstGeom prst="wedgeRoundRectCallout">
            <a:avLst>
              <a:gd name="adj1" fmla="val -37083"/>
              <a:gd name="adj2" fmla="val -79329"/>
              <a:gd name="adj3" fmla="val 16667"/>
            </a:avLst>
          </a:prstGeom>
          <a:solidFill>
            <a:srgbClr val="FFCC99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用来计算输入脉冲数目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7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43800" cy="10668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flatTx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§6.1.2  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中规模计数器</a:t>
            </a:r>
            <a:endParaRPr kumimoji="1" lang="zh-CN" altLang="en-US" sz="6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34823" name="Text Box 7">
            <a:hlinkClick r:id="rId1" action="ppaction://hlinksldjump"/>
          </p:cNvPr>
          <p:cNvSpPr txBox="1"/>
          <p:nvPr/>
        </p:nvSpPr>
        <p:spPr>
          <a:xfrm>
            <a:off x="838200" y="5257800"/>
            <a:ext cx="6096000" cy="695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三、中规模异步计数器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34820" name="Text Box 4">
            <a:hlinkClick r:id="rId2" action="ppaction://hlinksldjump"/>
          </p:cNvPr>
          <p:cNvSpPr txBox="1"/>
          <p:nvPr/>
        </p:nvSpPr>
        <p:spPr>
          <a:xfrm>
            <a:off x="838200" y="4191000"/>
            <a:ext cx="7086600" cy="595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75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二、四位二进制可逆计数器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4830" name="Text Box 14">
            <a:hlinkClick r:id="rId3" action="ppaction://hlinksldjump"/>
          </p:cNvPr>
          <p:cNvSpPr txBox="1"/>
          <p:nvPr/>
        </p:nvSpPr>
        <p:spPr>
          <a:xfrm>
            <a:off x="838200" y="2971800"/>
            <a:ext cx="7543800" cy="595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一、四位二进制同步计数器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34823" grpId="0"/>
      <p:bldP spid="34820" grpId="0"/>
      <p:bldP spid="348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304800" y="487363"/>
            <a:ext cx="8382000" cy="6413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3922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（一）</a:t>
            </a:r>
            <a:r>
              <a:rPr kumimoji="1" lang="zh-CN" altLang="en-US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四位二进制同步计数器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C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T74161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4" name="Text Box 16"/>
          <p:cNvSpPr txBox="1"/>
          <p:nvPr/>
        </p:nvSpPr>
        <p:spPr>
          <a:xfrm>
            <a:off x="3733800" y="1371600"/>
            <a:ext cx="5334000" cy="497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四个主从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J-K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触发器构成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A: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高位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低位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CP: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时钟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输入，上升沿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有效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R: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异步清零，低电平有效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LD: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同步预置，低电平有效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高位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低位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：使能端，多片级联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545" name="Object 17"/>
          <p:cNvGraphicFramePr>
            <a:graphicFrameLocks noChangeAspect="1"/>
          </p:cNvGraphicFramePr>
          <p:nvPr>
            <p:ph sz="half" idx="2" hasCustomPrompt="1"/>
          </p:nvPr>
        </p:nvGraphicFramePr>
        <p:xfrm>
          <a:off x="0" y="2303463"/>
          <a:ext cx="3841750" cy="432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819275" imgH="2047875" progId="Paint.Picture">
                  <p:embed/>
                </p:oleObj>
              </mc:Choice>
              <mc:Fallback>
                <p:oleObj name="" r:id="rId1" imgW="1819275" imgH="2047875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0" y="2303463"/>
                        <a:ext cx="3841750" cy="432593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8F1">
                              <a:alpha val="100000"/>
                            </a:srgbClr>
                          </a:gs>
                          <a:gs pos="100000">
                            <a:schemeClr val="bg2">
                              <a:alpha val="100000"/>
                            </a:schemeClr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Text Box 19"/>
          <p:cNvSpPr txBox="1"/>
          <p:nvPr/>
        </p:nvSpPr>
        <p:spPr>
          <a:xfrm>
            <a:off x="228600" y="1371600"/>
            <a:ext cx="3505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、逻辑符号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544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>
                                            <p:txEl>
                                              <p:charRg st="13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2544">
                                            <p:txEl>
                                              <p:charRg st="13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>
                                            <p:txEl>
                                              <p:charRg st="2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2544">
                                            <p:txEl>
                                              <p:charRg st="25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2544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>
                                            <p:txEl>
                                              <p:charRg st="5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2544">
                                            <p:txEl>
                                              <p:charRg st="58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>
                                            <p:txEl>
                                              <p:charRg st="74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2544">
                                            <p:txEl>
                                              <p:charRg st="74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>
                                            <p:txEl>
                                              <p:charRg st="89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2544">
                                            <p:txEl>
                                              <p:charRg st="89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0" grpId="0" animBg="1"/>
      <p:bldP spid="22544" grpId="0" build="p"/>
      <p:bldP spid="225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9218" name="Picture 3" descr="未命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404813"/>
            <a:ext cx="5530850" cy="6453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7288" name="Rectangle 8"/>
          <p:cNvSpPr/>
          <p:nvPr/>
        </p:nvSpPr>
        <p:spPr>
          <a:xfrm>
            <a:off x="61913" y="1219200"/>
            <a:ext cx="8763000" cy="418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40000"/>
              </a:lnSpc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输                            入	                           输      出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CP	R	LD	P(S1)	T(S2)	A  B  C  D	QA QB  QC QD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Ф	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	Ф	Ф	Ф	ФФФФ	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0     0      0     0</a:t>
            </a:r>
            <a:endParaRPr lang="en-US" altLang="zh-CN" sz="24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↑ 	1	0	</a:t>
            </a:r>
            <a:r>
              <a:rPr lang="en-US" altLang="zh-CN" sz="2400" b="1" dirty="0">
                <a:latin typeface="Times New Roman" panose="02020603050405020304" pitchFamily="18" charset="0"/>
              </a:rPr>
              <a:t>Ф	Ф	</a:t>
            </a:r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A B  C  D</a:t>
            </a:r>
            <a:r>
              <a:rPr lang="en-US" altLang="zh-CN" sz="2400" b="1" dirty="0">
                <a:latin typeface="Times New Roman" panose="02020603050405020304" pitchFamily="18" charset="0"/>
              </a:rPr>
              <a:t>	</a:t>
            </a:r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A    B     C    D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Ф	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1	1	0</a:t>
            </a:r>
            <a:r>
              <a:rPr lang="en-US" altLang="zh-CN" sz="2400" b="1" dirty="0">
                <a:latin typeface="Times New Roman" panose="02020603050405020304" pitchFamily="18" charset="0"/>
              </a:rPr>
              <a:t>	Ф	ФФФФ	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保　　持</a:t>
            </a:r>
            <a:endParaRPr lang="zh-CN" altLang="en-US" sz="24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Ф	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1	1</a:t>
            </a:r>
            <a:r>
              <a:rPr lang="en-US" altLang="zh-CN" sz="2400" b="1" dirty="0">
                <a:latin typeface="Times New Roman" panose="02020603050405020304" pitchFamily="18" charset="0"/>
              </a:rPr>
              <a:t>	Ф	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0</a:t>
            </a:r>
            <a:r>
              <a:rPr lang="en-US" altLang="zh-CN" sz="2400" b="1" dirty="0">
                <a:latin typeface="Times New Roman" panose="02020603050405020304" pitchFamily="18" charset="0"/>
              </a:rPr>
              <a:t>	ФФФФ	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保　　持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↑</a:t>
            </a:r>
            <a:r>
              <a:rPr lang="zh-CN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1	1	1	 1</a:t>
            </a:r>
            <a:r>
              <a:rPr lang="en-US" altLang="zh-CN" sz="2400" b="1" dirty="0">
                <a:latin typeface="Times New Roman" panose="02020603050405020304" pitchFamily="18" charset="0"/>
              </a:rPr>
              <a:t>	ФФФФ	</a:t>
            </a:r>
            <a:r>
              <a:rPr lang="zh-CN" altLang="en-US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计　　数</a:t>
            </a:r>
            <a:endParaRPr lang="zh-CN" altLang="en-US" sz="2400" b="1" dirty="0">
              <a:solidFill>
                <a:srgbClr val="FF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98" name="Text Box 18"/>
          <p:cNvSpPr txBox="1"/>
          <p:nvPr/>
        </p:nvSpPr>
        <p:spPr>
          <a:xfrm>
            <a:off x="2498725" y="685800"/>
            <a:ext cx="3749675" cy="579438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CT74161</a:t>
            </a:r>
            <a:r>
              <a:rPr lang="zh-CN" altLang="en-US" b="1" dirty="0">
                <a:solidFill>
                  <a:srgbClr val="990033"/>
                </a:solidFill>
                <a:latin typeface="Times New Roman" panose="02020603050405020304" pitchFamily="18" charset="0"/>
              </a:rPr>
              <a:t>功能表</a:t>
            </a:r>
            <a:endParaRPr lang="zh-CN" altLang="en-US" sz="2400" b="1" dirty="0">
              <a:solidFill>
                <a:srgbClr val="99003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7301" name="Group 21"/>
          <p:cNvGrpSpPr/>
          <p:nvPr/>
        </p:nvGrpSpPr>
        <p:grpSpPr>
          <a:xfrm>
            <a:off x="41275" y="1752600"/>
            <a:ext cx="8997950" cy="3733800"/>
            <a:chOff x="26" y="1104"/>
            <a:chExt cx="5668" cy="2352"/>
          </a:xfrm>
        </p:grpSpPr>
        <p:grpSp>
          <p:nvGrpSpPr>
            <p:cNvPr id="10245" name="Group 19"/>
            <p:cNvGrpSpPr/>
            <p:nvPr/>
          </p:nvGrpSpPr>
          <p:grpSpPr>
            <a:xfrm>
              <a:off x="26" y="1104"/>
              <a:ext cx="5668" cy="2352"/>
              <a:chOff x="26" y="1104"/>
              <a:chExt cx="5668" cy="2352"/>
            </a:xfrm>
          </p:grpSpPr>
          <p:sp>
            <p:nvSpPr>
              <p:cNvPr id="10247" name="Rectangle 12"/>
              <p:cNvSpPr/>
              <p:nvPr/>
            </p:nvSpPr>
            <p:spPr>
              <a:xfrm>
                <a:off x="26" y="1104"/>
                <a:ext cx="5668" cy="2352"/>
              </a:xfrm>
              <a:prstGeom prst="rect">
                <a:avLst/>
              </a:prstGeom>
              <a:noFill/>
              <a:ln w="57150" cap="flat" cmpd="thinThick">
                <a:solidFill>
                  <a:srgbClr val="FFCC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48" name="Line 14"/>
              <p:cNvSpPr/>
              <p:nvPr/>
            </p:nvSpPr>
            <p:spPr>
              <a:xfrm>
                <a:off x="3984" y="1126"/>
                <a:ext cx="0" cy="230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0249" name="Group 16"/>
              <p:cNvGrpSpPr/>
              <p:nvPr/>
            </p:nvGrpSpPr>
            <p:grpSpPr>
              <a:xfrm>
                <a:off x="78" y="1392"/>
                <a:ext cx="5586" cy="336"/>
                <a:chOff x="78" y="1104"/>
                <a:chExt cx="5586" cy="336"/>
              </a:xfrm>
            </p:grpSpPr>
            <p:sp>
              <p:nvSpPr>
                <p:cNvPr id="10250" name="Line 13"/>
                <p:cNvSpPr/>
                <p:nvPr/>
              </p:nvSpPr>
              <p:spPr>
                <a:xfrm>
                  <a:off x="78" y="1104"/>
                  <a:ext cx="556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51" name="Line 15"/>
                <p:cNvSpPr/>
                <p:nvPr/>
              </p:nvSpPr>
              <p:spPr>
                <a:xfrm>
                  <a:off x="96" y="1440"/>
                  <a:ext cx="556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0246" name="Line 20"/>
            <p:cNvSpPr/>
            <p:nvPr/>
          </p:nvSpPr>
          <p:spPr>
            <a:xfrm>
              <a:off x="2880" y="1392"/>
              <a:ext cx="0" cy="20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charRg st="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288">
                                            <p:txEl>
                                              <p:charRg st="1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charRg st="8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7288">
                                            <p:txEl>
                                              <p:charRg st="81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7288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charRg st="161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7288">
                                            <p:txEl>
                                              <p:charRg st="161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charRg st="200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7288">
                                            <p:txEl>
                                              <p:charRg st="200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charRg st="220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7288">
                                            <p:txEl>
                                              <p:charRg st="220" end="2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charRg st="241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7288">
                                            <p:txEl>
                                              <p:charRg st="241" end="2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8" grpId="0" build="p"/>
      <p:bldP spid="9729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8" name="Text Box 6"/>
          <p:cNvSpPr txBox="1"/>
          <p:nvPr/>
        </p:nvSpPr>
        <p:spPr>
          <a:xfrm>
            <a:off x="381000" y="2209800"/>
            <a:ext cx="85836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(1).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异步清除：当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R=0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，输出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0000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状态。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无关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3559" name="Text Box 7"/>
          <p:cNvSpPr txBox="1"/>
          <p:nvPr/>
        </p:nvSpPr>
        <p:spPr>
          <a:xfrm>
            <a:off x="381000" y="2895600"/>
            <a:ext cx="8229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(2).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同步预置：当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R=1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LD=0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上升沿时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， 输出端即反映输入数据的状态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3560" name="Text Box 8"/>
          <p:cNvSpPr txBox="1"/>
          <p:nvPr/>
        </p:nvSpPr>
        <p:spPr>
          <a:xfrm>
            <a:off x="381000" y="4114800"/>
            <a:ext cx="822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(3).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保持：当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R=LD=1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时，各触发器均处于保持状态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23561" name="Text Box 9"/>
          <p:cNvSpPr txBox="1"/>
          <p:nvPr/>
        </p:nvSpPr>
        <p:spPr>
          <a:xfrm>
            <a:off x="381000" y="4905375"/>
            <a:ext cx="83820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(4).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计数：当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LD = R = P= T = 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时，按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自然二进制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计数。若初态为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0000,15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后，输出为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1111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，进位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CC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= TQ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=1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；第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作用后，输出恢复到初始的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0000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状态，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CC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= 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23563" name="Text Box 11"/>
          <p:cNvSpPr txBox="1"/>
          <p:nvPr/>
        </p:nvSpPr>
        <p:spPr>
          <a:xfrm>
            <a:off x="381000" y="1339850"/>
            <a:ext cx="3124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、功能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304800" y="487363"/>
            <a:ext cx="8382000" cy="6413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3922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（一）</a:t>
            </a:r>
            <a:r>
              <a:rPr kumimoji="1" lang="zh-CN" altLang="en-US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四位二进制同步计数器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C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T74161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>
                                            <p:txEl>
                                              <p:charRg st="0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23561">
                                            <p:txEl>
                                              <p:charRg st="0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59" grpId="0"/>
      <p:bldP spid="23560" grpId="0"/>
      <p:bldP spid="23561" grpId="0" build="p"/>
      <p:bldP spid="235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8307" name="Text Box 3"/>
          <p:cNvSpPr txBox="1"/>
          <p:nvPr/>
        </p:nvSpPr>
        <p:spPr>
          <a:xfrm>
            <a:off x="2498725" y="1295400"/>
            <a:ext cx="3749675" cy="579438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CT74161</a:t>
            </a:r>
            <a:r>
              <a:rPr lang="zh-CN" altLang="en-US" b="1" dirty="0">
                <a:solidFill>
                  <a:srgbClr val="990033"/>
                </a:solidFill>
                <a:latin typeface="Times New Roman" panose="02020603050405020304" pitchFamily="18" charset="0"/>
              </a:rPr>
              <a:t>功能表</a:t>
            </a:r>
            <a:endParaRPr lang="zh-CN" altLang="en-US" sz="2400" b="1" dirty="0">
              <a:solidFill>
                <a:srgbClr val="99003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8318" name="Group 14"/>
          <p:cNvGrpSpPr/>
          <p:nvPr/>
        </p:nvGrpSpPr>
        <p:grpSpPr>
          <a:xfrm>
            <a:off x="41275" y="1798638"/>
            <a:ext cx="8997950" cy="4267200"/>
            <a:chOff x="26" y="768"/>
            <a:chExt cx="5668" cy="2688"/>
          </a:xfrm>
        </p:grpSpPr>
        <p:sp>
          <p:nvSpPr>
            <p:cNvPr id="12295" name="Rectangle 2"/>
            <p:cNvSpPr/>
            <p:nvPr/>
          </p:nvSpPr>
          <p:spPr>
            <a:xfrm>
              <a:off x="39" y="768"/>
              <a:ext cx="5520" cy="2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40000"/>
                </a:lnSpc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输                            入	                           输      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marL="0" lvl="0" indent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CP	R	LD	P(S1)	T(S2)	A  B  C  D	QA QB  QC QD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Ф	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	Ф	Ф	Ф	ФФФФ	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0     0      0     0</a:t>
              </a:r>
              <a:endPara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  <a:p>
              <a:pPr marL="0" lvl="0" indent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↑ 	1	0	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Ф	Ф	</a:t>
              </a:r>
              <a:r>
                <a:rPr lang="en-US" altLang="zh-CN" sz="2400" b="1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A B  C  D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	</a:t>
              </a:r>
              <a:r>
                <a:rPr lang="en-US" altLang="zh-CN" sz="2400" b="1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A    B     C    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Ф	</a:t>
              </a:r>
              <a:r>
                <a:rPr lang="en-US" altLang="zh-CN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1	1	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	Ф	ФФФФ	</a:t>
              </a:r>
              <a:r>
                <a:rPr lang="zh-CN" altLang="en-US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保　　持</a:t>
              </a:r>
              <a:endPara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  <a:p>
              <a:pPr marL="0" lvl="0" indent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Ф	</a:t>
              </a:r>
              <a:r>
                <a:rPr lang="en-US" altLang="zh-CN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1	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	Ф	</a:t>
              </a:r>
              <a:r>
                <a:rPr lang="en-US" altLang="zh-CN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 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	ФФФФ	</a:t>
              </a:r>
              <a:r>
                <a:rPr lang="zh-CN" altLang="en-US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保　　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marL="0" lvl="0" indent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↑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	</a:t>
              </a:r>
              <a:r>
                <a:rPr lang="en-US" altLang="zh-CN" sz="2400" b="1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1	1	1	 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	ФФФФ	</a:t>
              </a:r>
              <a:r>
                <a:rPr lang="zh-CN" altLang="en-US" sz="2400" b="1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计　　数</a:t>
              </a:r>
              <a:endParaRPr lang="zh-CN" altLang="en-US" sz="2400" b="1" dirty="0">
                <a:solidFill>
                  <a:srgbClr val="FF3399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2296" name="Group 4"/>
            <p:cNvGrpSpPr/>
            <p:nvPr/>
          </p:nvGrpSpPr>
          <p:grpSpPr>
            <a:xfrm>
              <a:off x="26" y="1104"/>
              <a:ext cx="5668" cy="2352"/>
              <a:chOff x="26" y="1104"/>
              <a:chExt cx="5668" cy="2352"/>
            </a:xfrm>
          </p:grpSpPr>
          <p:grpSp>
            <p:nvGrpSpPr>
              <p:cNvPr id="12297" name="Group 5"/>
              <p:cNvGrpSpPr/>
              <p:nvPr/>
            </p:nvGrpSpPr>
            <p:grpSpPr>
              <a:xfrm>
                <a:off x="26" y="1104"/>
                <a:ext cx="5668" cy="2352"/>
                <a:chOff x="26" y="1104"/>
                <a:chExt cx="5668" cy="2352"/>
              </a:xfrm>
            </p:grpSpPr>
            <p:sp>
              <p:nvSpPr>
                <p:cNvPr id="12299" name="Rectangle 6"/>
                <p:cNvSpPr/>
                <p:nvPr/>
              </p:nvSpPr>
              <p:spPr>
                <a:xfrm>
                  <a:off x="26" y="1104"/>
                  <a:ext cx="5668" cy="2352"/>
                </a:xfrm>
                <a:prstGeom prst="rect">
                  <a:avLst/>
                </a:prstGeom>
                <a:noFill/>
                <a:ln w="57150" cap="flat" cmpd="thinThick">
                  <a:solidFill>
                    <a:srgbClr val="FF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00" name="Line 7"/>
                <p:cNvSpPr/>
                <p:nvPr/>
              </p:nvSpPr>
              <p:spPr>
                <a:xfrm>
                  <a:off x="3984" y="1126"/>
                  <a:ext cx="0" cy="230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12301" name="Group 8"/>
                <p:cNvGrpSpPr/>
                <p:nvPr/>
              </p:nvGrpSpPr>
              <p:grpSpPr>
                <a:xfrm>
                  <a:off x="78" y="1392"/>
                  <a:ext cx="5586" cy="336"/>
                  <a:chOff x="78" y="1104"/>
                  <a:chExt cx="5586" cy="336"/>
                </a:xfrm>
              </p:grpSpPr>
              <p:sp>
                <p:nvSpPr>
                  <p:cNvPr id="12302" name="Line 9"/>
                  <p:cNvSpPr/>
                  <p:nvPr/>
                </p:nvSpPr>
                <p:spPr>
                  <a:xfrm>
                    <a:off x="78" y="1104"/>
                    <a:ext cx="5568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03" name="Line 10"/>
                  <p:cNvSpPr/>
                  <p:nvPr/>
                </p:nvSpPr>
                <p:spPr>
                  <a:xfrm>
                    <a:off x="96" y="1440"/>
                    <a:ext cx="5568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12298" name="Line 11"/>
              <p:cNvSpPr/>
              <p:nvPr/>
            </p:nvSpPr>
            <p:spPr>
              <a:xfrm>
                <a:off x="2880" y="1392"/>
                <a:ext cx="0" cy="20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98316" name="Text Box 12"/>
          <p:cNvSpPr txBox="1"/>
          <p:nvPr/>
        </p:nvSpPr>
        <p:spPr>
          <a:xfrm>
            <a:off x="76200" y="3429000"/>
            <a:ext cx="492125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↑</a:t>
            </a:r>
            <a:endParaRPr lang="en-US" altLang="zh-CN" sz="24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17" name="Text Box 13"/>
          <p:cNvSpPr txBox="1"/>
          <p:nvPr/>
        </p:nvSpPr>
        <p:spPr>
          <a:xfrm>
            <a:off x="2514600" y="1295400"/>
            <a:ext cx="3749675" cy="579438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CT74163</a:t>
            </a:r>
            <a:r>
              <a:rPr lang="zh-CN" altLang="en-US" b="1" dirty="0">
                <a:solidFill>
                  <a:srgbClr val="990033"/>
                </a:solidFill>
                <a:latin typeface="Times New Roman" panose="02020603050405020304" pitchFamily="18" charset="0"/>
              </a:rPr>
              <a:t>功能表</a:t>
            </a:r>
            <a:endParaRPr lang="zh-CN" altLang="en-US" sz="2400" b="1" dirty="0">
              <a:solidFill>
                <a:srgbClr val="9900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19" name="Text Box 15"/>
          <p:cNvSpPr txBox="1">
            <a:spLocks noChangeArrowheads="1"/>
          </p:cNvSpPr>
          <p:nvPr/>
        </p:nvSpPr>
        <p:spPr bwMode="auto">
          <a:xfrm>
            <a:off x="304800" y="457200"/>
            <a:ext cx="8382000" cy="6413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5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5F5F5F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（二）四位二进制同步计数器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C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T74163 </a:t>
            </a:r>
            <a:endParaRPr kumimoji="1" lang="en-US" altLang="zh-CN" sz="36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8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8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nimBg="1"/>
      <p:bldP spid="98316" grpId="0" animBg="1"/>
      <p:bldP spid="98317" grpId="0" animBg="1"/>
      <p:bldP spid="983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04800" y="457200"/>
            <a:ext cx="8382000" cy="6413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5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5F5F5F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（二）四位二进制同步计数器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C</a:t>
            </a:r>
            <a:r>
              <a:rPr kumimoji="1" lang="en-US" altLang="zh-CN" sz="36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T74163 </a:t>
            </a:r>
            <a:endParaRPr kumimoji="1" lang="en-US" altLang="zh-CN" sz="36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4" name="Text Box 10"/>
          <p:cNvSpPr txBox="1"/>
          <p:nvPr/>
        </p:nvSpPr>
        <p:spPr>
          <a:xfrm>
            <a:off x="1524000" y="4572000"/>
            <a:ext cx="7162800" cy="175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采用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同步清零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方式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当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R=0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时，只有当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CP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上升沿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来到时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,     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输出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A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才被全部清零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6630" name="Text Box 6"/>
          <p:cNvSpPr txBox="1"/>
          <p:nvPr/>
        </p:nvSpPr>
        <p:spPr>
          <a:xfrm>
            <a:off x="838200" y="1981200"/>
            <a:ext cx="7315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、外引线排列和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CT74161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相同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6631" name="Text Box 7"/>
          <p:cNvSpPr txBox="1"/>
          <p:nvPr/>
        </p:nvSpPr>
        <p:spPr>
          <a:xfrm>
            <a:off x="838200" y="2895600"/>
            <a:ext cx="8305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、置数，计数，保持等功能与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CT74161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相同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26632" name="Text Box 8"/>
          <p:cNvSpPr txBox="1"/>
          <p:nvPr/>
        </p:nvSpPr>
        <p:spPr>
          <a:xfrm>
            <a:off x="838200" y="3886200"/>
            <a:ext cx="6781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、清零功能与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CT74161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不同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/>
      <p:bldP spid="26634" grpId="0"/>
      <p:bldP spid="26630" grpId="0"/>
      <p:bldP spid="26631" grpId="0"/>
      <p:bldP spid="266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8850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152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lnSpc>
                <a:spcPct val="65000"/>
              </a:lnSpc>
            </a:pP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比较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四位二进制同步计数器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8851" name="Text Box 3">
            <a:hlinkClick r:id="rId1" action="ppaction://hlinksldjump"/>
          </p:cNvPr>
          <p:cNvSpPr txBox="1"/>
          <p:nvPr/>
        </p:nvSpPr>
        <p:spPr>
          <a:xfrm>
            <a:off x="5029200" y="1524000"/>
            <a:ext cx="24384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4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T74163</a:t>
            </a:r>
            <a:endParaRPr lang="en-US" altLang="zh-CN" sz="4000" b="1" dirty="0">
              <a:latin typeface="Times New Roman" panose="02020603050405020304" pitchFamily="18" charset="0"/>
            </a:endParaRPr>
          </a:p>
        </p:txBody>
      </p:sp>
      <p:sp>
        <p:nvSpPr>
          <p:cNvPr id="78852" name="Text Box 4"/>
          <p:cNvSpPr txBox="1"/>
          <p:nvPr/>
        </p:nvSpPr>
        <p:spPr>
          <a:xfrm>
            <a:off x="1371600" y="2460625"/>
            <a:ext cx="2438400" cy="357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CC0000"/>
                </a:solidFill>
                <a:latin typeface="宋体" panose="02010600030101010101" pitchFamily="2" charset="-122"/>
              </a:rPr>
              <a:t>异步清零</a:t>
            </a:r>
            <a:endParaRPr lang="zh-CN" altLang="en-US" sz="4400" b="1" dirty="0">
              <a:solidFill>
                <a:srgbClr val="D60093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000000"/>
                </a:solidFill>
                <a:latin typeface="宋体" panose="02010600030101010101" pitchFamily="2" charset="-122"/>
              </a:rPr>
              <a:t>同步预置</a:t>
            </a:r>
            <a:endParaRPr lang="zh-CN" altLang="en-US" sz="4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000000"/>
                </a:solidFill>
                <a:latin typeface="宋体" panose="02010600030101010101" pitchFamily="2" charset="-122"/>
              </a:rPr>
              <a:t>保持</a:t>
            </a:r>
            <a:endParaRPr lang="zh-CN" altLang="en-US" sz="4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000000"/>
                </a:solidFill>
                <a:latin typeface="宋体" panose="02010600030101010101" pitchFamily="2" charset="-122"/>
              </a:rPr>
              <a:t>计数</a:t>
            </a:r>
            <a:endParaRPr lang="zh-CN" altLang="en-US" sz="4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8853" name="Text Box 5">
            <a:hlinkClick r:id="rId2" action="ppaction://hlinksldjump"/>
          </p:cNvPr>
          <p:cNvSpPr txBox="1"/>
          <p:nvPr/>
        </p:nvSpPr>
        <p:spPr>
          <a:xfrm>
            <a:off x="1371600" y="1524000"/>
            <a:ext cx="24384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4400" dirty="0">
                <a:solidFill>
                  <a:srgbClr val="000000"/>
                </a:solidFill>
                <a:latin typeface="Times New Roman" panose="02020603050405020304" pitchFamily="18" charset="0"/>
              </a:rPr>
              <a:t>T74161</a:t>
            </a:r>
            <a:endParaRPr lang="en-US" altLang="zh-CN" sz="4400" dirty="0">
              <a:latin typeface="Times New Roman" panose="02020603050405020304" pitchFamily="18" charset="0"/>
            </a:endParaRPr>
          </a:p>
        </p:txBody>
      </p:sp>
      <p:sp>
        <p:nvSpPr>
          <p:cNvPr id="78854" name="Text Box 6"/>
          <p:cNvSpPr txBox="1"/>
          <p:nvPr/>
        </p:nvSpPr>
        <p:spPr>
          <a:xfrm>
            <a:off x="5029200" y="2438400"/>
            <a:ext cx="2438400" cy="357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CC0000"/>
                </a:solidFill>
                <a:latin typeface="宋体" panose="02010600030101010101" pitchFamily="2" charset="-122"/>
              </a:rPr>
              <a:t>同步清零</a:t>
            </a:r>
            <a:endParaRPr lang="zh-CN" altLang="en-US" sz="4400" b="1" dirty="0">
              <a:solidFill>
                <a:srgbClr val="D60093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000000"/>
                </a:solidFill>
                <a:latin typeface="宋体" panose="02010600030101010101" pitchFamily="2" charset="-122"/>
              </a:rPr>
              <a:t>同步预置</a:t>
            </a:r>
            <a:endParaRPr lang="zh-CN" altLang="en-US" sz="4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000000"/>
                </a:solidFill>
                <a:latin typeface="宋体" panose="02010600030101010101" pitchFamily="2" charset="-122"/>
              </a:rPr>
              <a:t>保持</a:t>
            </a:r>
            <a:endParaRPr lang="zh-CN" altLang="en-US" sz="4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000000"/>
                </a:solidFill>
                <a:latin typeface="宋体" panose="02010600030101010101" pitchFamily="2" charset="-122"/>
              </a:rPr>
              <a:t>计数</a:t>
            </a:r>
            <a:endParaRPr lang="zh-CN" altLang="en-US" sz="4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381000" y="533400"/>
          <a:ext cx="419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419100" imgH="400050" progId="MS_ClipArt_Gallery.2">
                  <p:embed/>
                </p:oleObj>
              </mc:Choice>
              <mc:Fallback>
                <p:oleObj name="" r:id="rId3" imgW="419100" imgH="400050" progId="MS_ClipArt_Gallery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533400"/>
                        <a:ext cx="4191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52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1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52">
                                            <p:txEl>
                                              <p:charRg st="1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13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852">
                                            <p:txEl>
                                              <p:charRg st="13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885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8854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charRg st="1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854">
                                            <p:txEl>
                                              <p:charRg st="1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charRg st="13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8854">
                                            <p:txEl>
                                              <p:charRg st="13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/>
      <p:bldP spid="78851" grpId="0"/>
      <p:bldP spid="78852" grpId="0" build="p"/>
      <p:bldP spid="78853" grpId="0"/>
      <p:bldP spid="7885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33400" y="457200"/>
            <a:ext cx="81534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5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（三）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CT74161/CT74163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功能扩展</a:t>
            </a:r>
            <a:endParaRPr kumimoji="1" lang="zh-CN" altLang="en-US" sz="40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1219200" y="1524000"/>
            <a:ext cx="7467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   </a:t>
            </a:r>
            <a:r>
              <a:rPr lang="en-US" altLang="zh-CN" sz="3600" dirty="0">
                <a:latin typeface="Times New Roman" panose="02020603050405020304" pitchFamily="18" charset="0"/>
              </a:rPr>
              <a:t>——</a:t>
            </a:r>
            <a:r>
              <a:rPr lang="en-US" altLang="zh-CN" sz="3600" dirty="0">
                <a:latin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连接成任意模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的计数器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35850" name="Text Box 10">
            <a:hlinkClick r:id="rId1" action="ppaction://hlinksldjump"/>
          </p:cNvPr>
          <p:cNvSpPr txBox="1"/>
          <p:nvPr/>
        </p:nvSpPr>
        <p:spPr>
          <a:xfrm>
            <a:off x="1524000" y="2971800"/>
            <a:ext cx="6096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、同步预置法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  <p:sp>
        <p:nvSpPr>
          <p:cNvPr id="35851" name="Text Box 11">
            <a:hlinkClick r:id="rId2" action="ppaction://hlinksldjump"/>
          </p:cNvPr>
          <p:cNvSpPr txBox="1"/>
          <p:nvPr/>
        </p:nvSpPr>
        <p:spPr>
          <a:xfrm>
            <a:off x="1524000" y="4114800"/>
            <a:ext cx="6096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、反馈清零法</a:t>
            </a:r>
            <a:endParaRPr lang="zh-CN" altLang="en-US" sz="4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5852" name="Text Box 12">
            <a:hlinkClick r:id="rId3" action="ppaction://hlinksldjump"/>
          </p:cNvPr>
          <p:cNvSpPr txBox="1"/>
          <p:nvPr/>
        </p:nvSpPr>
        <p:spPr>
          <a:xfrm>
            <a:off x="1524000" y="5181600"/>
            <a:ext cx="67056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3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、多次预置法</a:t>
            </a:r>
            <a:endParaRPr lang="zh-CN" altLang="en-US" sz="4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nimBg="1"/>
      <p:bldP spid="35843" grpId="0" build="p"/>
      <p:bldP spid="35850" grpId="0"/>
      <p:bldP spid="35851" grpId="0"/>
      <p:bldP spid="358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896" name="Rectangle 8"/>
          <p:cNvSpPr/>
          <p:nvPr/>
        </p:nvSpPr>
        <p:spPr>
          <a:xfrm>
            <a:off x="6019800" y="1577975"/>
            <a:ext cx="2819400" cy="5203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	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     输   出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	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1          0    1    1    1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2          1    0    0    0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3          1    0    0    1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4          1    0    1    0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5          1    0    1    1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6          1    1    0    0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7          1    1    0    1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8          1    1    1    0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9          1    1    1    1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381000" y="2362200"/>
          <a:ext cx="4419600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676525" imgH="2724150" progId="Paint.Picture">
                  <p:embed/>
                </p:oleObj>
              </mc:Choice>
              <mc:Fallback>
                <p:oleObj name="" r:id="rId1" imgW="2676525" imgH="272415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2362200"/>
                        <a:ext cx="4419600" cy="427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Rectangle 10"/>
          <p:cNvSpPr/>
          <p:nvPr/>
        </p:nvSpPr>
        <p:spPr>
          <a:xfrm>
            <a:off x="4876800" y="685800"/>
            <a:ext cx="42672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1: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M=10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228600" y="304800"/>
            <a:ext cx="4343400" cy="9144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5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1.</a:t>
            </a: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同步预置法</a:t>
            </a:r>
            <a:endParaRPr kumimoji="1" lang="zh-CN" altLang="en-US" sz="36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01" name="Text Box 13"/>
          <p:cNvSpPr txBox="1"/>
          <p:nvPr/>
        </p:nvSpPr>
        <p:spPr>
          <a:xfrm>
            <a:off x="609600" y="1568450"/>
            <a:ext cx="502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方法一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采用后十种状态</a:t>
            </a:r>
            <a:endParaRPr lang="zh-CN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37907" name="Line 19"/>
          <p:cNvSpPr/>
          <p:nvPr/>
        </p:nvSpPr>
        <p:spPr>
          <a:xfrm>
            <a:off x="3657600" y="3505200"/>
            <a:ext cx="381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3889375" y="3124200"/>
          <a:ext cx="7270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371475" imgH="390525" progId="Paint.Picture">
                  <p:embed/>
                </p:oleObj>
              </mc:Choice>
              <mc:Fallback>
                <p:oleObj name="" r:id="rId3" imgW="371475" imgH="390525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9375" y="3124200"/>
                        <a:ext cx="727075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Text Box 21"/>
          <p:cNvSpPr txBox="1"/>
          <p:nvPr/>
        </p:nvSpPr>
        <p:spPr>
          <a:xfrm>
            <a:off x="685800" y="5105400"/>
            <a:ext cx="3048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7913" name="Line 25"/>
          <p:cNvSpPr/>
          <p:nvPr/>
        </p:nvSpPr>
        <p:spPr>
          <a:xfrm flipH="1">
            <a:off x="1066800" y="3352800"/>
            <a:ext cx="4876800" cy="182880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cxnSp>
        <p:nvCxnSpPr>
          <p:cNvPr id="37915" name="AutoShape 27"/>
          <p:cNvCxnSpPr/>
          <p:nvPr/>
        </p:nvCxnSpPr>
        <p:spPr>
          <a:xfrm flipV="1">
            <a:off x="1371600" y="2576513"/>
            <a:ext cx="0" cy="638175"/>
          </a:xfrm>
          <a:prstGeom prst="straightConnector1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7923" name="Line 35"/>
          <p:cNvSpPr/>
          <p:nvPr/>
        </p:nvSpPr>
        <p:spPr>
          <a:xfrm>
            <a:off x="4572000" y="3505200"/>
            <a:ext cx="381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24" name="Line 36"/>
          <p:cNvSpPr/>
          <p:nvPr/>
        </p:nvSpPr>
        <p:spPr>
          <a:xfrm flipV="1">
            <a:off x="4953000" y="2590800"/>
            <a:ext cx="0" cy="914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25" name="Line 37"/>
          <p:cNvSpPr/>
          <p:nvPr/>
        </p:nvSpPr>
        <p:spPr>
          <a:xfrm>
            <a:off x="1371600" y="2590800"/>
            <a:ext cx="3581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7928" name="Group 40"/>
          <p:cNvGrpSpPr/>
          <p:nvPr/>
        </p:nvGrpSpPr>
        <p:grpSpPr>
          <a:xfrm>
            <a:off x="4572000" y="5410200"/>
            <a:ext cx="1219200" cy="762000"/>
            <a:chOff x="2976" y="3408"/>
            <a:chExt cx="768" cy="480"/>
          </a:xfrm>
        </p:grpSpPr>
        <p:sp>
          <p:nvSpPr>
            <p:cNvPr id="16405" name="AutoShape 38"/>
            <p:cNvSpPr/>
            <p:nvPr/>
          </p:nvSpPr>
          <p:spPr>
            <a:xfrm>
              <a:off x="2976" y="3408"/>
              <a:ext cx="720" cy="480"/>
            </a:xfrm>
            <a:prstGeom prst="wedgeRoundRectCallout">
              <a:avLst>
                <a:gd name="adj1" fmla="val 77917"/>
                <a:gd name="adj2" fmla="val 105833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6" name="Text Box 39"/>
            <p:cNvSpPr txBox="1"/>
            <p:nvPr/>
          </p:nvSpPr>
          <p:spPr>
            <a:xfrm>
              <a:off x="3024" y="3504"/>
              <a:ext cx="72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CC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=1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929" name="Line 41"/>
          <p:cNvSpPr/>
          <p:nvPr/>
        </p:nvSpPr>
        <p:spPr>
          <a:xfrm>
            <a:off x="8610600" y="6477000"/>
            <a:ext cx="3810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30" name="Line 42"/>
          <p:cNvSpPr/>
          <p:nvPr/>
        </p:nvSpPr>
        <p:spPr>
          <a:xfrm flipH="1" flipV="1">
            <a:off x="8991600" y="3276600"/>
            <a:ext cx="0" cy="32004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31" name="Line 43"/>
          <p:cNvSpPr/>
          <p:nvPr/>
        </p:nvSpPr>
        <p:spPr>
          <a:xfrm flipH="1" flipV="1">
            <a:off x="8610600" y="3276600"/>
            <a:ext cx="3810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932" name="Text Box 44"/>
          <p:cNvSpPr txBox="1"/>
          <p:nvPr/>
        </p:nvSpPr>
        <p:spPr>
          <a:xfrm>
            <a:off x="3886200" y="4953000"/>
            <a:ext cx="304800" cy="1371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7934" name="Text Box 46"/>
          <p:cNvSpPr txBox="1"/>
          <p:nvPr/>
        </p:nvSpPr>
        <p:spPr>
          <a:xfrm>
            <a:off x="4419600" y="29718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89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896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896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46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896">
                                            <p:txEl>
                                              <p:charRg st="46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6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896">
                                            <p:txEl>
                                              <p:charRg st="67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95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896">
                                            <p:txEl>
                                              <p:charRg st="95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123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896">
                                            <p:txEl>
                                              <p:charRg st="123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151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896">
                                            <p:txEl>
                                              <p:charRg st="151" end="1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179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896">
                                            <p:txEl>
                                              <p:charRg st="179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207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896">
                                            <p:txEl>
                                              <p:charRg st="207" end="2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235" end="2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896">
                                            <p:txEl>
                                              <p:charRg st="235" end="2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263" end="2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896">
                                            <p:txEl>
                                              <p:charRg st="263" end="2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291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7896">
                                            <p:txEl>
                                              <p:charRg st="291" end="3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7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7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7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1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6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6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1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7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7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7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7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500"/>
                            </p:stCondLst>
                            <p:childTnLst>
                              <p:par>
                                <p:cTn id="15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7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7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7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7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500"/>
                            </p:stCondLst>
                            <p:childTnLst>
                              <p:par>
                                <p:cTn id="17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75" fill="hold"/>
                                        <p:tgtEl>
                                          <p:spTgt spid="37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75" fill="hold"/>
                                        <p:tgtEl>
                                          <p:spTgt spid="37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6" grpId="0" build="p"/>
      <p:bldP spid="37898" grpId="0"/>
      <p:bldP spid="37899" grpId="0" animBg="1"/>
      <p:bldP spid="37901" grpId="0"/>
      <p:bldP spid="37909" grpId="0"/>
      <p:bldP spid="37932" grpId="0"/>
      <p:bldP spid="379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8914" name="Rectangle 2"/>
          <p:cNvSpPr/>
          <p:nvPr/>
        </p:nvSpPr>
        <p:spPr>
          <a:xfrm>
            <a:off x="5943600" y="838200"/>
            <a:ext cx="2819400" cy="5203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	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     输   出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1          0    0    0    1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2          0    0    1    0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3          0    0    1    1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4          0    1    0    0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5          0    1    0    1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6          0    1    1    0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7          0    1    1    1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8          1    0    0    0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9          1    0    0    1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7" name="Rectangle 5"/>
          <p:cNvSpPr/>
          <p:nvPr/>
        </p:nvSpPr>
        <p:spPr>
          <a:xfrm>
            <a:off x="4876800" y="228600"/>
            <a:ext cx="42672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1: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M=10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8919" name="Text Box 7"/>
          <p:cNvSpPr txBox="1"/>
          <p:nvPr/>
        </p:nvSpPr>
        <p:spPr>
          <a:xfrm>
            <a:off x="152400" y="1219200"/>
            <a:ext cx="5410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方法二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采用前十 种状态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533400" y="2252663"/>
          <a:ext cx="4141788" cy="437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514600" imgH="2657475" progId="Paint.Picture">
                  <p:embed/>
                </p:oleObj>
              </mc:Choice>
              <mc:Fallback>
                <p:oleObj name="" r:id="rId1" imgW="2514600" imgH="265747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2252663"/>
                        <a:ext cx="4141788" cy="437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Line 11"/>
          <p:cNvSpPr/>
          <p:nvPr/>
        </p:nvSpPr>
        <p:spPr>
          <a:xfrm>
            <a:off x="8610600" y="5791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4" name="Line 12"/>
          <p:cNvSpPr/>
          <p:nvPr/>
        </p:nvSpPr>
        <p:spPr>
          <a:xfrm flipH="1" flipV="1">
            <a:off x="8991600" y="2590800"/>
            <a:ext cx="0" cy="32004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5" name="Line 13"/>
          <p:cNvSpPr/>
          <p:nvPr/>
        </p:nvSpPr>
        <p:spPr>
          <a:xfrm flipH="1" flipV="1">
            <a:off x="8610600" y="25908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26" name="Text Box 14"/>
          <p:cNvSpPr txBox="1"/>
          <p:nvPr/>
        </p:nvSpPr>
        <p:spPr>
          <a:xfrm>
            <a:off x="1219200" y="5105400"/>
            <a:ext cx="3048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8927" name="Line 15"/>
          <p:cNvSpPr/>
          <p:nvPr/>
        </p:nvSpPr>
        <p:spPr>
          <a:xfrm flipH="1">
            <a:off x="1600200" y="2590800"/>
            <a:ext cx="4343400" cy="259080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28" name="Text Box 16"/>
          <p:cNvSpPr txBox="1"/>
          <p:nvPr/>
        </p:nvSpPr>
        <p:spPr>
          <a:xfrm>
            <a:off x="3886200" y="4953000"/>
            <a:ext cx="381000" cy="1371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8929" name="Line 17"/>
          <p:cNvSpPr/>
          <p:nvPr/>
        </p:nvSpPr>
        <p:spPr>
          <a:xfrm flipV="1">
            <a:off x="4267200" y="2590800"/>
            <a:ext cx="0" cy="2667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0" name="Line 18"/>
          <p:cNvSpPr/>
          <p:nvPr/>
        </p:nvSpPr>
        <p:spPr>
          <a:xfrm flipV="1">
            <a:off x="4495800" y="2362200"/>
            <a:ext cx="0" cy="3962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1" name="Line 19"/>
          <p:cNvSpPr/>
          <p:nvPr/>
        </p:nvSpPr>
        <p:spPr>
          <a:xfrm flipH="1">
            <a:off x="3124200" y="2362200"/>
            <a:ext cx="1371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2" name="Line 20"/>
          <p:cNvSpPr/>
          <p:nvPr/>
        </p:nvSpPr>
        <p:spPr>
          <a:xfrm flipH="1">
            <a:off x="3124200" y="2590800"/>
            <a:ext cx="1143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3" name="Line 21"/>
          <p:cNvSpPr/>
          <p:nvPr/>
        </p:nvSpPr>
        <p:spPr>
          <a:xfrm flipH="1">
            <a:off x="1524000" y="2438400"/>
            <a:ext cx="990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4" name="Line 22"/>
          <p:cNvSpPr/>
          <p:nvPr/>
        </p:nvSpPr>
        <p:spPr>
          <a:xfrm>
            <a:off x="1524000" y="2438400"/>
            <a:ext cx="0" cy="685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8939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133600"/>
            <a:ext cx="990600" cy="682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40" name="Text Box 28"/>
          <p:cNvSpPr txBox="1"/>
          <p:nvPr/>
        </p:nvSpPr>
        <p:spPr>
          <a:xfrm>
            <a:off x="2362200" y="19812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8941" name="Text Box 29"/>
          <p:cNvSpPr txBox="1"/>
          <p:nvPr/>
        </p:nvSpPr>
        <p:spPr>
          <a:xfrm>
            <a:off x="3886200" y="4953000"/>
            <a:ext cx="381000" cy="1371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8943" name="Text Box 31"/>
          <p:cNvSpPr txBox="1">
            <a:spLocks noChangeArrowheads="1"/>
          </p:cNvSpPr>
          <p:nvPr/>
        </p:nvSpPr>
        <p:spPr bwMode="auto">
          <a:xfrm>
            <a:off x="228600" y="304800"/>
            <a:ext cx="4343400" cy="9144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5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1.</a:t>
            </a: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同步预置法</a:t>
            </a:r>
            <a:endParaRPr kumimoji="1" lang="zh-CN" altLang="en-US" sz="36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46" name="Text Box 34">
            <a:hlinkClick r:id="rId4" action="ppaction://hlinkfile"/>
          </p:cNvPr>
          <p:cNvSpPr txBox="1"/>
          <p:nvPr/>
        </p:nvSpPr>
        <p:spPr>
          <a:xfrm>
            <a:off x="6800850" y="6096000"/>
            <a:ext cx="1581150" cy="641350"/>
          </a:xfrm>
          <a:prstGeom prst="rect">
            <a:avLst/>
          </a:prstGeom>
          <a:solidFill>
            <a:srgbClr val="CCECFF"/>
          </a:solidFill>
          <a:ln w="9525">
            <a:noFill/>
          </a:ln>
          <a:effectLst>
            <a:outerShdw dist="107763" dir="2699999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仿 真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7" grpId="0"/>
      <p:bldP spid="38919" grpId="0"/>
      <p:bldP spid="38926" grpId="0"/>
      <p:bldP spid="38928" grpId="0"/>
      <p:bldP spid="38940" grpId="0"/>
      <p:bldP spid="38941" grpId="0"/>
      <p:bldP spid="389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9940" name="Rectangle 4"/>
          <p:cNvSpPr/>
          <p:nvPr/>
        </p:nvSpPr>
        <p:spPr>
          <a:xfrm>
            <a:off x="381000" y="228600"/>
            <a:ext cx="74676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2: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同步预置法设计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M=24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685800" y="2216150"/>
          <a:ext cx="7239000" cy="448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734050" imgH="3181350" progId="Paint.Picture">
                  <p:embed/>
                </p:oleObj>
              </mc:Choice>
              <mc:Fallback>
                <p:oleObj name="" r:id="rId1" imgW="5734050" imgH="318135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2216150"/>
                        <a:ext cx="7239000" cy="448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7" name="Line 11"/>
          <p:cNvSpPr/>
          <p:nvPr/>
        </p:nvSpPr>
        <p:spPr>
          <a:xfrm flipV="1">
            <a:off x="3810000" y="2438400"/>
            <a:ext cx="0" cy="3505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8" name="Line 12"/>
          <p:cNvSpPr/>
          <p:nvPr/>
        </p:nvSpPr>
        <p:spPr>
          <a:xfrm flipV="1">
            <a:off x="6858000" y="2971800"/>
            <a:ext cx="0" cy="2057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9" name="Line 13"/>
          <p:cNvSpPr/>
          <p:nvPr/>
        </p:nvSpPr>
        <p:spPr>
          <a:xfrm>
            <a:off x="5867400" y="2971800"/>
            <a:ext cx="990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0" name="Line 14"/>
          <p:cNvSpPr/>
          <p:nvPr/>
        </p:nvSpPr>
        <p:spPr>
          <a:xfrm flipH="1" flipV="1">
            <a:off x="5867400" y="2667000"/>
            <a:ext cx="0" cy="304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1" name="Line 15"/>
          <p:cNvSpPr/>
          <p:nvPr/>
        </p:nvSpPr>
        <p:spPr>
          <a:xfrm>
            <a:off x="5867400" y="26670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2" name="Line 16"/>
          <p:cNvSpPr/>
          <p:nvPr/>
        </p:nvSpPr>
        <p:spPr>
          <a:xfrm>
            <a:off x="3810000" y="2438400"/>
            <a:ext cx="2667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3" name="Line 17"/>
          <p:cNvSpPr/>
          <p:nvPr/>
        </p:nvSpPr>
        <p:spPr>
          <a:xfrm flipH="1">
            <a:off x="1371600" y="2133600"/>
            <a:ext cx="5867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4" name="Line 18"/>
          <p:cNvSpPr/>
          <p:nvPr/>
        </p:nvSpPr>
        <p:spPr>
          <a:xfrm flipV="1">
            <a:off x="7239000" y="2112963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5" name="Line 19"/>
          <p:cNvSpPr/>
          <p:nvPr/>
        </p:nvSpPr>
        <p:spPr>
          <a:xfrm>
            <a:off x="1371600" y="2133600"/>
            <a:ext cx="0" cy="1066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6" name="Line 20"/>
          <p:cNvSpPr/>
          <p:nvPr/>
        </p:nvSpPr>
        <p:spPr>
          <a:xfrm>
            <a:off x="1371600" y="32004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39957" name="Object 21"/>
          <p:cNvGraphicFramePr>
            <a:graphicFrameLocks noChangeAspect="1"/>
          </p:cNvGraphicFramePr>
          <p:nvPr/>
        </p:nvGraphicFramePr>
        <p:xfrm>
          <a:off x="6248400" y="2209800"/>
          <a:ext cx="7620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390525" imgH="352425" progId="Paint.Picture">
                  <p:embed/>
                </p:oleObj>
              </mc:Choice>
              <mc:Fallback>
                <p:oleObj name="" r:id="rId3" imgW="390525" imgH="35242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8400" y="2209800"/>
                        <a:ext cx="762000" cy="687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8" name="Line 22"/>
          <p:cNvSpPr/>
          <p:nvPr/>
        </p:nvSpPr>
        <p:spPr>
          <a:xfrm>
            <a:off x="4419600" y="2133600"/>
            <a:ext cx="0" cy="1066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9" name="Line 23"/>
          <p:cNvSpPr/>
          <p:nvPr/>
        </p:nvSpPr>
        <p:spPr>
          <a:xfrm flipV="1">
            <a:off x="4419600" y="3200400"/>
            <a:ext cx="381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0" name="Text Box 24"/>
          <p:cNvSpPr txBox="1"/>
          <p:nvPr/>
        </p:nvSpPr>
        <p:spPr>
          <a:xfrm>
            <a:off x="3505200" y="4860925"/>
            <a:ext cx="381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9962" name="Text Box 26"/>
          <p:cNvSpPr txBox="1"/>
          <p:nvPr/>
        </p:nvSpPr>
        <p:spPr>
          <a:xfrm>
            <a:off x="6400800" y="4860925"/>
            <a:ext cx="381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9963" name="Text Box 27"/>
          <p:cNvSpPr txBox="1"/>
          <p:nvPr/>
        </p:nvSpPr>
        <p:spPr>
          <a:xfrm>
            <a:off x="7315200" y="19050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964" name="Line 28"/>
          <p:cNvSpPr/>
          <p:nvPr/>
        </p:nvSpPr>
        <p:spPr>
          <a:xfrm>
            <a:off x="6919913" y="2535238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5" name="Text Box 29"/>
          <p:cNvSpPr txBox="1"/>
          <p:nvPr/>
        </p:nvSpPr>
        <p:spPr>
          <a:xfrm>
            <a:off x="3505200" y="4860925"/>
            <a:ext cx="304800" cy="1311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6" name="Text Box 30"/>
          <p:cNvSpPr txBox="1"/>
          <p:nvPr/>
        </p:nvSpPr>
        <p:spPr>
          <a:xfrm>
            <a:off x="6400800" y="4860925"/>
            <a:ext cx="304800" cy="1311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9" name="Line 33"/>
          <p:cNvSpPr/>
          <p:nvPr/>
        </p:nvSpPr>
        <p:spPr>
          <a:xfrm>
            <a:off x="6324600" y="50292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39970" name="Object 34"/>
          <p:cNvGraphicFramePr>
            <a:graphicFrameLocks noChangeAspect="1"/>
          </p:cNvGraphicFramePr>
          <p:nvPr/>
        </p:nvGraphicFramePr>
        <p:xfrm>
          <a:off x="7315200" y="2320925"/>
          <a:ext cx="11572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485775" imgH="209550" progId="Paint.Picture">
                  <p:embed/>
                </p:oleObj>
              </mc:Choice>
              <mc:Fallback>
                <p:oleObj name="" r:id="rId5" imgW="485775" imgH="209550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15200" y="2320925"/>
                        <a:ext cx="1157288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2" name="Line 36"/>
          <p:cNvSpPr/>
          <p:nvPr/>
        </p:nvSpPr>
        <p:spPr>
          <a:xfrm flipH="1">
            <a:off x="3429000" y="5943600"/>
            <a:ext cx="381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3" name="Text Box 37"/>
          <p:cNvSpPr txBox="1"/>
          <p:nvPr/>
        </p:nvSpPr>
        <p:spPr>
          <a:xfrm>
            <a:off x="1219200" y="762000"/>
            <a:ext cx="30416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24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11000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4" name="Line 38"/>
          <p:cNvSpPr/>
          <p:nvPr/>
        </p:nvSpPr>
        <p:spPr>
          <a:xfrm>
            <a:off x="4419600" y="1066800"/>
            <a:ext cx="3810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75" name="Text Box 39"/>
          <p:cNvSpPr txBox="1"/>
          <p:nvPr/>
        </p:nvSpPr>
        <p:spPr>
          <a:xfrm>
            <a:off x="5029200" y="838200"/>
            <a:ext cx="1260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需 两 片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6" name="Text Box 40"/>
          <p:cNvSpPr txBox="1"/>
          <p:nvPr/>
        </p:nvSpPr>
        <p:spPr>
          <a:xfrm>
            <a:off x="1431925" y="1371600"/>
            <a:ext cx="2711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初态为：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0000 0001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7" name="Line 41"/>
          <p:cNvSpPr/>
          <p:nvPr/>
        </p:nvSpPr>
        <p:spPr>
          <a:xfrm>
            <a:off x="2701925" y="1752600"/>
            <a:ext cx="685800" cy="0"/>
          </a:xfrm>
          <a:prstGeom prst="line">
            <a:avLst/>
          </a:prstGeom>
          <a:ln w="38100" cap="flat" cmpd="sng">
            <a:solidFill>
              <a:srgbClr val="3399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8" name="Line 42"/>
          <p:cNvSpPr/>
          <p:nvPr/>
        </p:nvSpPr>
        <p:spPr>
          <a:xfrm>
            <a:off x="3429000" y="1752600"/>
            <a:ext cx="5334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9" name="Line 43"/>
          <p:cNvSpPr/>
          <p:nvPr/>
        </p:nvSpPr>
        <p:spPr>
          <a:xfrm flipH="1">
            <a:off x="1981200" y="1752600"/>
            <a:ext cx="1752600" cy="37338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80" name="Line 44"/>
          <p:cNvSpPr/>
          <p:nvPr/>
        </p:nvSpPr>
        <p:spPr>
          <a:xfrm>
            <a:off x="3048000" y="1752600"/>
            <a:ext cx="1447800" cy="3733800"/>
          </a:xfrm>
          <a:prstGeom prst="line">
            <a:avLst/>
          </a:prstGeom>
          <a:ln w="57150" cap="flat" cmpd="sng">
            <a:solidFill>
              <a:srgbClr val="3399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81" name="Text Box 45"/>
          <p:cNvSpPr txBox="1"/>
          <p:nvPr/>
        </p:nvSpPr>
        <p:spPr>
          <a:xfrm>
            <a:off x="4606925" y="1371600"/>
            <a:ext cx="2327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终态：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00011000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82" name="Line 46"/>
          <p:cNvSpPr/>
          <p:nvPr/>
        </p:nvSpPr>
        <p:spPr>
          <a:xfrm>
            <a:off x="5943600" y="1752600"/>
            <a:ext cx="457200" cy="3810000"/>
          </a:xfrm>
          <a:prstGeom prst="line">
            <a:avLst/>
          </a:prstGeom>
          <a:ln w="57150" cap="flat" cmpd="sng">
            <a:solidFill>
              <a:srgbClr val="3399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83" name="Line 47"/>
          <p:cNvSpPr/>
          <p:nvPr/>
        </p:nvSpPr>
        <p:spPr>
          <a:xfrm>
            <a:off x="5486400" y="1752600"/>
            <a:ext cx="685800" cy="0"/>
          </a:xfrm>
          <a:prstGeom prst="line">
            <a:avLst/>
          </a:prstGeom>
          <a:ln w="38100" cap="flat" cmpd="sng">
            <a:solidFill>
              <a:srgbClr val="3399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84" name="Line 48"/>
          <p:cNvSpPr/>
          <p:nvPr/>
        </p:nvSpPr>
        <p:spPr>
          <a:xfrm>
            <a:off x="6324600" y="1752600"/>
            <a:ext cx="5334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85" name="Line 49"/>
          <p:cNvSpPr/>
          <p:nvPr/>
        </p:nvSpPr>
        <p:spPr>
          <a:xfrm flipH="1">
            <a:off x="3657600" y="1752600"/>
            <a:ext cx="2819400" cy="36576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9991" name="Group 55"/>
          <p:cNvGrpSpPr/>
          <p:nvPr/>
        </p:nvGrpSpPr>
        <p:grpSpPr>
          <a:xfrm>
            <a:off x="914400" y="3962400"/>
            <a:ext cx="3886200" cy="2286000"/>
            <a:chOff x="576" y="2496"/>
            <a:chExt cx="2448" cy="1440"/>
          </a:xfrm>
        </p:grpSpPr>
        <p:sp>
          <p:nvSpPr>
            <p:cNvPr id="18472" name="Line 50"/>
            <p:cNvSpPr/>
            <p:nvPr/>
          </p:nvSpPr>
          <p:spPr>
            <a:xfrm>
              <a:off x="576" y="2496"/>
              <a:ext cx="576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3" name="Line 51"/>
            <p:cNvSpPr/>
            <p:nvPr/>
          </p:nvSpPr>
          <p:spPr>
            <a:xfrm>
              <a:off x="692" y="2496"/>
              <a:ext cx="0" cy="14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4" name="Line 52"/>
            <p:cNvSpPr/>
            <p:nvPr/>
          </p:nvSpPr>
          <p:spPr>
            <a:xfrm>
              <a:off x="672" y="3936"/>
              <a:ext cx="187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5" name="Line 53"/>
            <p:cNvSpPr/>
            <p:nvPr/>
          </p:nvSpPr>
          <p:spPr>
            <a:xfrm flipV="1">
              <a:off x="2544" y="2496"/>
              <a:ext cx="0" cy="14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6" name="Line 54"/>
            <p:cNvSpPr/>
            <p:nvPr/>
          </p:nvSpPr>
          <p:spPr>
            <a:xfrm>
              <a:off x="2544" y="2496"/>
              <a:ext cx="480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399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7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9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9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9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9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9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9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9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9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75" fill="hold"/>
                                        <p:tgtEl>
                                          <p:spTgt spid="39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75" fill="hold"/>
                                        <p:tgtEl>
                                          <p:spTgt spid="39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9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9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9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9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000"/>
                            </p:stCondLst>
                            <p:childTnLst>
                              <p:par>
                                <p:cTn id="20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6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39960" grpId="0" rev="1"/>
      <p:bldP spid="39962" grpId="0" rev="1"/>
      <p:bldP spid="39963" grpId="0"/>
      <p:bldP spid="39965" grpId="0" animBg="1" rev="1"/>
      <p:bldP spid="39966" grpId="0" animBg="1" rev="1"/>
      <p:bldP spid="39973" grpId="0"/>
      <p:bldP spid="39975" grpId="0"/>
      <p:bldP spid="39976" grpId="0"/>
      <p:bldP spid="399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9874" name="Text Box 3074"/>
          <p:cNvSpPr txBox="1">
            <a:spLocks noChangeArrowheads="1"/>
          </p:cNvSpPr>
          <p:nvPr/>
        </p:nvSpPr>
        <p:spPr bwMode="auto">
          <a:xfrm>
            <a:off x="533400" y="457200"/>
            <a:ext cx="81534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5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（三）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CT74161/CT74163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功能扩展</a:t>
            </a:r>
            <a:endParaRPr kumimoji="1" lang="zh-CN" altLang="en-US" sz="40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Text Box 3075"/>
          <p:cNvSpPr txBox="1"/>
          <p:nvPr/>
        </p:nvSpPr>
        <p:spPr>
          <a:xfrm>
            <a:off x="1219200" y="1524000"/>
            <a:ext cx="7467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   </a:t>
            </a:r>
            <a:r>
              <a:rPr lang="en-US" altLang="zh-CN" sz="3600" dirty="0">
                <a:latin typeface="Times New Roman" panose="02020603050405020304" pitchFamily="18" charset="0"/>
              </a:rPr>
              <a:t>——</a:t>
            </a:r>
            <a:r>
              <a:rPr lang="en-US" altLang="zh-CN" sz="3600" dirty="0">
                <a:latin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连接成任意模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的计数器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9460" name="Text Box 3076">
            <a:hlinkClick r:id="rId1" action="ppaction://hlinksldjump"/>
          </p:cNvPr>
          <p:cNvSpPr txBox="1"/>
          <p:nvPr/>
        </p:nvSpPr>
        <p:spPr>
          <a:xfrm>
            <a:off x="1524000" y="2971800"/>
            <a:ext cx="6096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、同步预置法</a:t>
            </a:r>
            <a:endParaRPr lang="zh-CN" altLang="en-US" sz="4400" dirty="0">
              <a:solidFill>
                <a:srgbClr val="8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1" name="Text Box 3077">
            <a:hlinkClick r:id="rId2" action="ppaction://hlinksldjump"/>
          </p:cNvPr>
          <p:cNvSpPr txBox="1"/>
          <p:nvPr/>
        </p:nvSpPr>
        <p:spPr>
          <a:xfrm>
            <a:off x="1524000" y="4114800"/>
            <a:ext cx="6096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、反馈清零法</a:t>
            </a:r>
            <a:endParaRPr lang="zh-CN" altLang="en-US" sz="4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62" name="Text Box 3078">
            <a:hlinkClick r:id="rId3" action="ppaction://hlinksldjump"/>
          </p:cNvPr>
          <p:cNvSpPr txBox="1"/>
          <p:nvPr/>
        </p:nvSpPr>
        <p:spPr>
          <a:xfrm>
            <a:off x="1524000" y="5181600"/>
            <a:ext cx="67056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3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、多次预置法</a:t>
            </a:r>
            <a:endParaRPr lang="zh-CN" altLang="en-US" sz="4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68" name="Rectangle 8"/>
          <p:cNvSpPr/>
          <p:nvPr/>
        </p:nvSpPr>
        <p:spPr>
          <a:xfrm>
            <a:off x="5791200" y="838200"/>
            <a:ext cx="3048000" cy="593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	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1          0    0    0    1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2          0    0    1    0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3          0    0    1    1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4          0    1    0    0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5          0    1    0    1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6          0    1    1    0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7          0    1    1    1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8          1    0    0    0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9          1    0    0    1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10        1    0    1    0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11        1    0    1    1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12        1    1    0    0</a:t>
            </a:r>
            <a:r>
              <a:rPr lang="en-US" altLang="zh-CN" sz="2400" b="1" dirty="0">
                <a:solidFill>
                  <a:srgbClr val="5F5F5F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5F5F5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0" name="Text Box 10"/>
          <p:cNvSpPr txBox="1"/>
          <p:nvPr/>
        </p:nvSpPr>
        <p:spPr>
          <a:xfrm>
            <a:off x="5562600" y="76200"/>
            <a:ext cx="32004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CT74161</a:t>
            </a:r>
            <a:endParaRPr lang="en-US" altLang="zh-CN" sz="4000" dirty="0">
              <a:latin typeface="Times New Roman" panose="02020603050405020304" pitchFamily="18" charset="0"/>
            </a:endParaRPr>
          </a:p>
        </p:txBody>
      </p:sp>
      <p:grpSp>
        <p:nvGrpSpPr>
          <p:cNvPr id="40991" name="Group 31"/>
          <p:cNvGrpSpPr/>
          <p:nvPr/>
        </p:nvGrpSpPr>
        <p:grpSpPr>
          <a:xfrm>
            <a:off x="152400" y="152400"/>
            <a:ext cx="4419600" cy="735013"/>
            <a:chOff x="96" y="192"/>
            <a:chExt cx="3456" cy="838"/>
          </a:xfrm>
        </p:grpSpPr>
        <p:sp>
          <p:nvSpPr>
            <p:cNvPr id="20509" name="Oval 14"/>
            <p:cNvSpPr/>
            <p:nvPr/>
          </p:nvSpPr>
          <p:spPr>
            <a:xfrm>
              <a:off x="96" y="192"/>
              <a:ext cx="3456" cy="816"/>
            </a:xfrm>
            <a:prstGeom prst="ellipse">
              <a:avLst/>
            </a:prstGeom>
            <a:gradFill rotWithShape="0">
              <a:gsLst>
                <a:gs pos="0">
                  <a:srgbClr val="FFCC99"/>
                </a:gs>
                <a:gs pos="100000">
                  <a:srgbClr val="FFF5EB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107763" dir="134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0" name="Text Box 15"/>
            <p:cNvSpPr txBox="1"/>
            <p:nvPr/>
          </p:nvSpPr>
          <p:spPr>
            <a:xfrm>
              <a:off x="336" y="230"/>
              <a:ext cx="3024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2.</a:t>
              </a:r>
              <a:r>
                <a:rPr lang="zh-CN" altLang="en-US" sz="4000" b="1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反馈清零法</a:t>
              </a:r>
              <a:endParaRPr lang="zh-CN" altLang="en-US" sz="4000" b="1" dirty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0977" name="Line 17"/>
          <p:cNvSpPr/>
          <p:nvPr/>
        </p:nvSpPr>
        <p:spPr>
          <a:xfrm>
            <a:off x="8610600" y="6553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78" name="Line 18"/>
          <p:cNvSpPr/>
          <p:nvPr/>
        </p:nvSpPr>
        <p:spPr>
          <a:xfrm flipH="1" flipV="1">
            <a:off x="8991600" y="2209800"/>
            <a:ext cx="0" cy="43434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79" name="Line 19"/>
          <p:cNvSpPr/>
          <p:nvPr/>
        </p:nvSpPr>
        <p:spPr>
          <a:xfrm flipH="1" flipV="1">
            <a:off x="8610600" y="22098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0996" name="Group 36"/>
          <p:cNvGrpSpPr/>
          <p:nvPr/>
        </p:nvGrpSpPr>
        <p:grpSpPr>
          <a:xfrm>
            <a:off x="152400" y="990600"/>
            <a:ext cx="5334000" cy="5105400"/>
            <a:chOff x="96" y="624"/>
            <a:chExt cx="3360" cy="3216"/>
          </a:xfrm>
        </p:grpSpPr>
        <p:sp>
          <p:nvSpPr>
            <p:cNvPr id="20496" name="Rectangle 5"/>
            <p:cNvSpPr/>
            <p:nvPr/>
          </p:nvSpPr>
          <p:spPr>
            <a:xfrm>
              <a:off x="96" y="624"/>
              <a:ext cx="33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just" eaLnBrk="1" hangingPunct="1"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例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1: 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分析图示电路的功能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342900" lvl="0" indent="-342900" algn="just" eaLnBrk="1" hangingPunct="1">
                <a:buNone/>
              </a:pP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342900" lvl="0" indent="-342900" algn="just" eaLnBrk="1" hangingPunct="1">
                <a:buNone/>
              </a:pPr>
              <a:endParaRPr lang="en-US" altLang="zh-CN" sz="2400" dirty="0">
                <a:solidFill>
                  <a:srgbClr val="5F5F5F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20497" name="Group 35"/>
            <p:cNvGrpSpPr/>
            <p:nvPr/>
          </p:nvGrpSpPr>
          <p:grpSpPr>
            <a:xfrm>
              <a:off x="432" y="1152"/>
              <a:ext cx="2334" cy="2688"/>
              <a:chOff x="432" y="1536"/>
              <a:chExt cx="2334" cy="2688"/>
            </a:xfrm>
          </p:grpSpPr>
          <p:graphicFrame>
            <p:nvGraphicFramePr>
              <p:cNvPr id="20498" name="Object 9"/>
              <p:cNvGraphicFramePr>
                <a:graphicFrameLocks noChangeAspect="1"/>
              </p:cNvGraphicFramePr>
              <p:nvPr/>
            </p:nvGraphicFramePr>
            <p:xfrm>
              <a:off x="432" y="1554"/>
              <a:ext cx="2334" cy="26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" r:id="rId1" imgW="2238375" imgH="2686050" progId="Paint.Picture">
                      <p:embed/>
                    </p:oleObj>
                  </mc:Choice>
                  <mc:Fallback>
                    <p:oleObj name="" r:id="rId1" imgW="2238375" imgH="2686050" progId="Paint.Picture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32" y="1554"/>
                            <a:ext cx="2334" cy="267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99" name="Line 20"/>
              <p:cNvSpPr/>
              <p:nvPr/>
            </p:nvSpPr>
            <p:spPr>
              <a:xfrm flipV="1">
                <a:off x="2544" y="1824"/>
                <a:ext cx="0" cy="1968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0" name="Line 21"/>
              <p:cNvSpPr/>
              <p:nvPr/>
            </p:nvSpPr>
            <p:spPr>
              <a:xfrm flipV="1">
                <a:off x="2688" y="1680"/>
                <a:ext cx="0" cy="2304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1" name="Line 22"/>
              <p:cNvSpPr/>
              <p:nvPr/>
            </p:nvSpPr>
            <p:spPr>
              <a:xfrm flipH="1">
                <a:off x="1824" y="1680"/>
                <a:ext cx="864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2" name="Line 23"/>
              <p:cNvSpPr/>
              <p:nvPr/>
            </p:nvSpPr>
            <p:spPr>
              <a:xfrm flipH="1">
                <a:off x="1824" y="1824"/>
                <a:ext cx="720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3" name="Line 24"/>
              <p:cNvSpPr/>
              <p:nvPr/>
            </p:nvSpPr>
            <p:spPr>
              <a:xfrm flipH="1">
                <a:off x="528" y="1728"/>
                <a:ext cx="912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4" name="Line 25"/>
              <p:cNvSpPr/>
              <p:nvPr/>
            </p:nvSpPr>
            <p:spPr>
              <a:xfrm>
                <a:off x="528" y="1728"/>
                <a:ext cx="0" cy="1248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pic>
            <p:nvPicPr>
              <p:cNvPr id="20505" name="Picture 2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4" y="1536"/>
                <a:ext cx="624" cy="43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506" name="Line 28"/>
              <p:cNvSpPr/>
              <p:nvPr/>
            </p:nvSpPr>
            <p:spPr>
              <a:xfrm>
                <a:off x="2256" y="3984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7" name="Line 29"/>
              <p:cNvSpPr/>
              <p:nvPr/>
            </p:nvSpPr>
            <p:spPr>
              <a:xfrm>
                <a:off x="2256" y="3792"/>
                <a:ext cx="288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8" name="Line 30"/>
              <p:cNvSpPr/>
              <p:nvPr/>
            </p:nvSpPr>
            <p:spPr>
              <a:xfrm>
                <a:off x="528" y="2976"/>
                <a:ext cx="480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0993" name="Rectangle 33"/>
          <p:cNvSpPr/>
          <p:nvPr/>
        </p:nvSpPr>
        <p:spPr>
          <a:xfrm>
            <a:off x="6629400" y="6324600"/>
            <a:ext cx="1828800" cy="4572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9" name="Text Box 39"/>
          <p:cNvSpPr txBox="1"/>
          <p:nvPr/>
        </p:nvSpPr>
        <p:spPr>
          <a:xfrm>
            <a:off x="1981200" y="1676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1000" name="Text Box 40"/>
          <p:cNvSpPr txBox="1"/>
          <p:nvPr/>
        </p:nvSpPr>
        <p:spPr>
          <a:xfrm>
            <a:off x="3581400" y="4632325"/>
            <a:ext cx="381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1002" name="Group 42"/>
          <p:cNvGrpSpPr/>
          <p:nvPr/>
        </p:nvGrpSpPr>
        <p:grpSpPr>
          <a:xfrm>
            <a:off x="3092450" y="1524000"/>
            <a:ext cx="3536950" cy="4876800"/>
            <a:chOff x="1948" y="960"/>
            <a:chExt cx="2228" cy="3072"/>
          </a:xfrm>
        </p:grpSpPr>
        <p:sp>
          <p:nvSpPr>
            <p:cNvPr id="20493" name="Text Box 37"/>
            <p:cNvSpPr txBox="1"/>
            <p:nvPr/>
          </p:nvSpPr>
          <p:spPr>
            <a:xfrm>
              <a:off x="1948" y="139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4" name="Text Box 38"/>
            <p:cNvSpPr txBox="1"/>
            <p:nvPr/>
          </p:nvSpPr>
          <p:spPr>
            <a:xfrm>
              <a:off x="1948" y="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5" name="Line 41"/>
            <p:cNvSpPr/>
            <p:nvPr/>
          </p:nvSpPr>
          <p:spPr>
            <a:xfrm flipH="1" flipV="1">
              <a:off x="2160" y="1440"/>
              <a:ext cx="2016" cy="2592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6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968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33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968">
                                            <p:txEl>
                                              <p:charRg st="33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54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0968">
                                            <p:txEl>
                                              <p:charRg st="54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82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0968">
                                            <p:txEl>
                                              <p:charRg st="82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11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0968">
                                            <p:txEl>
                                              <p:charRg st="110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138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968">
                                            <p:txEl>
                                              <p:charRg st="138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968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194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968">
                                            <p:txEl>
                                              <p:charRg st="194" end="2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222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0968">
                                            <p:txEl>
                                              <p:charRg st="222" end="2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250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0968">
                                            <p:txEl>
                                              <p:charRg st="250" end="2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278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0968">
                                            <p:txEl>
                                              <p:charRg st="278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306" end="3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0968">
                                            <p:txEl>
                                              <p:charRg st="306" end="3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333" end="3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0968">
                                            <p:txEl>
                                              <p:charRg st="333" end="3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charRg st="360" end="3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0968">
                                            <p:txEl>
                                              <p:charRg st="360" end="3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8" dur="500"/>
                                        <p:tgtEl>
                                          <p:spTgt spid="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75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8" grpId="0" build="p"/>
      <p:bldP spid="40970" grpId="0"/>
      <p:bldP spid="40999" grpId="0"/>
      <p:bldP spid="4100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9331" name="Rectangle 2051"/>
          <p:cNvSpPr/>
          <p:nvPr/>
        </p:nvSpPr>
        <p:spPr>
          <a:xfrm>
            <a:off x="5791200" y="838200"/>
            <a:ext cx="3048000" cy="5203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	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1          0    0    0    1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2          0    0    1    0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3          0    0    1    1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4          0    1    0    0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5          0    1    0    1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6          0    1    1    0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7          0    1    1    1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8          1    0    0    0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9          1    0    0    1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5F5F5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9332" name="Object 2052"/>
          <p:cNvGraphicFramePr>
            <a:graphicFrameLocks noChangeAspect="1"/>
          </p:cNvGraphicFramePr>
          <p:nvPr/>
        </p:nvGraphicFramePr>
        <p:xfrm>
          <a:off x="685800" y="1857375"/>
          <a:ext cx="3705225" cy="423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238375" imgH="2686050" progId="Paint.Picture">
                  <p:embed/>
                </p:oleObj>
              </mc:Choice>
              <mc:Fallback>
                <p:oleObj name="" r:id="rId1" imgW="2238375" imgH="2686050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1857375"/>
                        <a:ext cx="3705225" cy="423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3" name="Text Box 2053"/>
          <p:cNvSpPr txBox="1"/>
          <p:nvPr/>
        </p:nvSpPr>
        <p:spPr>
          <a:xfrm>
            <a:off x="5562600" y="76200"/>
            <a:ext cx="32004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CT74161</a:t>
            </a:r>
            <a:endParaRPr lang="en-US" altLang="zh-CN" sz="4000" dirty="0">
              <a:latin typeface="Times New Roman" panose="02020603050405020304" pitchFamily="18" charset="0"/>
            </a:endParaRPr>
          </a:p>
        </p:txBody>
      </p:sp>
      <p:sp>
        <p:nvSpPr>
          <p:cNvPr id="99334" name="Rectangle 2054"/>
          <p:cNvSpPr/>
          <p:nvPr/>
        </p:nvSpPr>
        <p:spPr>
          <a:xfrm>
            <a:off x="152400" y="990600"/>
            <a:ext cx="53340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2: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组成模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buNone/>
            </a:pP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buNone/>
            </a:pPr>
            <a:endParaRPr lang="en-US" altLang="zh-CN" sz="2400" dirty="0">
              <a:solidFill>
                <a:srgbClr val="5F5F5F"/>
              </a:solidFill>
              <a:latin typeface="宋体" panose="02010600030101010101" pitchFamily="2" charset="-122"/>
            </a:endParaRPr>
          </a:p>
        </p:txBody>
      </p:sp>
      <p:grpSp>
        <p:nvGrpSpPr>
          <p:cNvPr id="99335" name="Group 2055"/>
          <p:cNvGrpSpPr/>
          <p:nvPr/>
        </p:nvGrpSpPr>
        <p:grpSpPr>
          <a:xfrm>
            <a:off x="152400" y="152400"/>
            <a:ext cx="4419600" cy="735013"/>
            <a:chOff x="96" y="192"/>
            <a:chExt cx="3456" cy="838"/>
          </a:xfrm>
        </p:grpSpPr>
        <p:sp>
          <p:nvSpPr>
            <p:cNvPr id="21527" name="Oval 2056"/>
            <p:cNvSpPr/>
            <p:nvPr/>
          </p:nvSpPr>
          <p:spPr>
            <a:xfrm>
              <a:off x="96" y="192"/>
              <a:ext cx="3456" cy="816"/>
            </a:xfrm>
            <a:prstGeom prst="ellipse">
              <a:avLst/>
            </a:prstGeom>
            <a:gradFill rotWithShape="0">
              <a:gsLst>
                <a:gs pos="0">
                  <a:srgbClr val="FFCC99"/>
                </a:gs>
                <a:gs pos="100000">
                  <a:srgbClr val="FFF5EB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107763" dir="134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28" name="Text Box 2057"/>
            <p:cNvSpPr txBox="1"/>
            <p:nvPr/>
          </p:nvSpPr>
          <p:spPr>
            <a:xfrm>
              <a:off x="336" y="230"/>
              <a:ext cx="3024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2.</a:t>
              </a:r>
              <a:r>
                <a:rPr lang="zh-CN" altLang="en-US" sz="4000" b="1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反馈清零法</a:t>
              </a:r>
              <a:endParaRPr lang="zh-CN" altLang="en-US" sz="4000" b="1" dirty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99338" name="Line 2058"/>
          <p:cNvSpPr/>
          <p:nvPr/>
        </p:nvSpPr>
        <p:spPr>
          <a:xfrm>
            <a:off x="8534400" y="5410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40" name="Line 2060"/>
          <p:cNvSpPr/>
          <p:nvPr/>
        </p:nvSpPr>
        <p:spPr>
          <a:xfrm flipH="1" flipV="1">
            <a:off x="8534400" y="22098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41" name="Line 2061"/>
          <p:cNvSpPr/>
          <p:nvPr/>
        </p:nvSpPr>
        <p:spPr>
          <a:xfrm flipV="1">
            <a:off x="4038600" y="2286000"/>
            <a:ext cx="0" cy="2514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42" name="Line 2062"/>
          <p:cNvSpPr/>
          <p:nvPr/>
        </p:nvSpPr>
        <p:spPr>
          <a:xfrm flipV="1">
            <a:off x="4267200" y="2057400"/>
            <a:ext cx="0" cy="3657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43" name="Line 2063"/>
          <p:cNvSpPr/>
          <p:nvPr/>
        </p:nvSpPr>
        <p:spPr>
          <a:xfrm flipH="1">
            <a:off x="2895600" y="2057400"/>
            <a:ext cx="1371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44" name="Line 2064"/>
          <p:cNvSpPr/>
          <p:nvPr/>
        </p:nvSpPr>
        <p:spPr>
          <a:xfrm flipH="1">
            <a:off x="2895600" y="2286000"/>
            <a:ext cx="1143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45" name="Line 2065"/>
          <p:cNvSpPr/>
          <p:nvPr/>
        </p:nvSpPr>
        <p:spPr>
          <a:xfrm flipH="1">
            <a:off x="838200" y="2133600"/>
            <a:ext cx="1447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46" name="Line 2066"/>
          <p:cNvSpPr/>
          <p:nvPr/>
        </p:nvSpPr>
        <p:spPr>
          <a:xfrm>
            <a:off x="838200" y="2133600"/>
            <a:ext cx="0" cy="1981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99347" name="Picture 20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828800"/>
            <a:ext cx="990600" cy="682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9348" name="Text Box 2068"/>
          <p:cNvSpPr txBox="1"/>
          <p:nvPr/>
        </p:nvSpPr>
        <p:spPr>
          <a:xfrm>
            <a:off x="2133600" y="17526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99349" name="Line 2069"/>
          <p:cNvSpPr/>
          <p:nvPr/>
        </p:nvSpPr>
        <p:spPr>
          <a:xfrm>
            <a:off x="3581400" y="5715000"/>
            <a:ext cx="685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50" name="Line 2070"/>
          <p:cNvSpPr/>
          <p:nvPr/>
        </p:nvSpPr>
        <p:spPr>
          <a:xfrm>
            <a:off x="3581400" y="48006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51" name="Line 2071"/>
          <p:cNvSpPr/>
          <p:nvPr/>
        </p:nvSpPr>
        <p:spPr>
          <a:xfrm>
            <a:off x="838200" y="4114800"/>
            <a:ext cx="762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52" name="Text Box 2072"/>
          <p:cNvSpPr txBox="1"/>
          <p:nvPr/>
        </p:nvSpPr>
        <p:spPr>
          <a:xfrm>
            <a:off x="3581400" y="4479925"/>
            <a:ext cx="381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99353" name="Rectangle 2073"/>
          <p:cNvSpPr/>
          <p:nvPr/>
        </p:nvSpPr>
        <p:spPr>
          <a:xfrm>
            <a:off x="6553200" y="5181600"/>
            <a:ext cx="1828800" cy="4572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54" name="Line 2074"/>
          <p:cNvSpPr/>
          <p:nvPr/>
        </p:nvSpPr>
        <p:spPr>
          <a:xfrm>
            <a:off x="8915400" y="2209800"/>
            <a:ext cx="0" cy="3200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3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9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9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9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9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9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9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9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9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000"/>
                            </p:stCondLst>
                            <p:childTnLst>
                              <p:par>
                                <p:cTn id="10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" fill="hold"/>
                                        <p:tgtEl>
                                          <p:spTgt spid="99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" fill="hold"/>
                                        <p:tgtEl>
                                          <p:spTgt spid="99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74"/>
                            </p:stCondLst>
                            <p:childTnLst>
                              <p:par>
                                <p:cTn id="10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574"/>
                            </p:stCondLst>
                            <p:childTnLst>
                              <p:par>
                                <p:cTn id="11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99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99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99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9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74"/>
                            </p:stCondLst>
                            <p:childTnLst>
                              <p:par>
                                <p:cTn id="12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574"/>
                            </p:stCondLst>
                            <p:childTnLst>
                              <p:par>
                                <p:cTn id="1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/>
      <p:bldP spid="99333" grpId="0"/>
      <p:bldP spid="99334" grpId="0"/>
      <p:bldP spid="99348" grpId="0"/>
      <p:bldP spid="993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987" name="Rectangle 3"/>
          <p:cNvSpPr/>
          <p:nvPr/>
        </p:nvSpPr>
        <p:spPr>
          <a:xfrm>
            <a:off x="5486400" y="304800"/>
            <a:ext cx="36576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2: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M=13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sz="2400" dirty="0">
              <a:solidFill>
                <a:srgbClr val="006666"/>
              </a:solidFill>
              <a:latin typeface="宋体" panose="02010600030101010101" pitchFamily="2" charset="-122"/>
            </a:endParaRPr>
          </a:p>
        </p:txBody>
      </p:sp>
      <p:sp>
        <p:nvSpPr>
          <p:cNvPr id="41989" name="Rectangle 5"/>
          <p:cNvSpPr/>
          <p:nvPr/>
        </p:nvSpPr>
        <p:spPr>
          <a:xfrm>
            <a:off x="5410200" y="838200"/>
            <a:ext cx="3048000" cy="593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	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1          0    0    0    1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2          0    0    1    0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3          0    0    1    1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4          0    1    0    0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5          0    1    0    1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6          0    1    1    0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7          0    1    1    1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8          1    0    0    0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9          1    0    0    1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10        1    0    1    0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11        1    0    1    1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12        1    1    0    0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1" name="Text Box 7"/>
          <p:cNvSpPr txBox="1"/>
          <p:nvPr/>
        </p:nvSpPr>
        <p:spPr>
          <a:xfrm>
            <a:off x="381000" y="1431925"/>
            <a:ext cx="32004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</a:t>
            </a:r>
            <a:r>
              <a:rPr lang="en-US" altLang="zh-CN" sz="4000" b="1" dirty="0">
                <a:solidFill>
                  <a:srgbClr val="FF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CT74163</a:t>
            </a:r>
            <a:endParaRPr lang="en-US" altLang="zh-CN" sz="4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457200" y="2286000"/>
          <a:ext cx="3629025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162175" imgH="2724150" progId="Paint.Picture">
                  <p:embed/>
                </p:oleObj>
              </mc:Choice>
              <mc:Fallback>
                <p:oleObj name="" r:id="rId1" imgW="2162175" imgH="2724150" progId="Paint.Picture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2286000"/>
                        <a:ext cx="3629025" cy="457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0" name="Line 26"/>
          <p:cNvSpPr/>
          <p:nvPr/>
        </p:nvSpPr>
        <p:spPr>
          <a:xfrm>
            <a:off x="8153400" y="6553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1" name="Line 27"/>
          <p:cNvSpPr/>
          <p:nvPr/>
        </p:nvSpPr>
        <p:spPr>
          <a:xfrm flipH="1" flipV="1">
            <a:off x="8534400" y="2209800"/>
            <a:ext cx="0" cy="43434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2" name="Line 28"/>
          <p:cNvSpPr/>
          <p:nvPr/>
        </p:nvSpPr>
        <p:spPr>
          <a:xfrm flipH="1" flipV="1">
            <a:off x="8153400" y="22098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13" name="Line 29"/>
          <p:cNvSpPr/>
          <p:nvPr/>
        </p:nvSpPr>
        <p:spPr>
          <a:xfrm flipV="1">
            <a:off x="3810000" y="2743200"/>
            <a:ext cx="0" cy="3352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4" name="Line 30"/>
          <p:cNvSpPr/>
          <p:nvPr/>
        </p:nvSpPr>
        <p:spPr>
          <a:xfrm flipV="1">
            <a:off x="4038600" y="2514600"/>
            <a:ext cx="0" cy="3962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5" name="Line 31"/>
          <p:cNvSpPr/>
          <p:nvPr/>
        </p:nvSpPr>
        <p:spPr>
          <a:xfrm flipH="1">
            <a:off x="2743200" y="2514600"/>
            <a:ext cx="1295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6" name="Line 32"/>
          <p:cNvSpPr/>
          <p:nvPr/>
        </p:nvSpPr>
        <p:spPr>
          <a:xfrm flipH="1">
            <a:off x="2819400" y="2743200"/>
            <a:ext cx="990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7" name="Line 33"/>
          <p:cNvSpPr/>
          <p:nvPr/>
        </p:nvSpPr>
        <p:spPr>
          <a:xfrm flipH="1">
            <a:off x="609600" y="2590800"/>
            <a:ext cx="1752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8" name="Line 34"/>
          <p:cNvSpPr/>
          <p:nvPr/>
        </p:nvSpPr>
        <p:spPr>
          <a:xfrm>
            <a:off x="609600" y="2590800"/>
            <a:ext cx="0" cy="2133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20" name="Text Box 36"/>
          <p:cNvSpPr txBox="1"/>
          <p:nvPr/>
        </p:nvSpPr>
        <p:spPr>
          <a:xfrm>
            <a:off x="1981200" y="22098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2021" name="Line 37"/>
          <p:cNvSpPr/>
          <p:nvPr/>
        </p:nvSpPr>
        <p:spPr>
          <a:xfrm>
            <a:off x="3352800" y="6477000"/>
            <a:ext cx="685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22" name="Line 38"/>
          <p:cNvSpPr/>
          <p:nvPr/>
        </p:nvSpPr>
        <p:spPr>
          <a:xfrm>
            <a:off x="3352800" y="60960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23" name="Line 39"/>
          <p:cNvSpPr/>
          <p:nvPr/>
        </p:nvSpPr>
        <p:spPr>
          <a:xfrm>
            <a:off x="609600" y="4724400"/>
            <a:ext cx="685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26" name="Text Box 42"/>
          <p:cNvSpPr txBox="1"/>
          <p:nvPr/>
        </p:nvSpPr>
        <p:spPr>
          <a:xfrm>
            <a:off x="3352800" y="5181600"/>
            <a:ext cx="381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2031" name="Object 47"/>
          <p:cNvGraphicFramePr>
            <a:graphicFrameLocks noChangeAspect="1"/>
          </p:cNvGraphicFramePr>
          <p:nvPr/>
        </p:nvGraphicFramePr>
        <p:xfrm>
          <a:off x="2286000" y="2262188"/>
          <a:ext cx="5746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85750" imgH="352425" progId="Paint.Picture">
                  <p:embed/>
                </p:oleObj>
              </mc:Choice>
              <mc:Fallback>
                <p:oleObj name="" r:id="rId3" imgW="285750" imgH="352425" progId="Paint.Picture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2262188"/>
                        <a:ext cx="574675" cy="709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9" name="Group 48"/>
          <p:cNvGrpSpPr/>
          <p:nvPr/>
        </p:nvGrpSpPr>
        <p:grpSpPr>
          <a:xfrm>
            <a:off x="152400" y="228600"/>
            <a:ext cx="5334000" cy="1295400"/>
            <a:chOff x="96" y="192"/>
            <a:chExt cx="3456" cy="816"/>
          </a:xfrm>
        </p:grpSpPr>
        <p:sp>
          <p:nvSpPr>
            <p:cNvPr id="22551" name="Oval 49"/>
            <p:cNvSpPr/>
            <p:nvPr/>
          </p:nvSpPr>
          <p:spPr>
            <a:xfrm>
              <a:off x="96" y="192"/>
              <a:ext cx="3456" cy="816"/>
            </a:xfrm>
            <a:prstGeom prst="ellipse">
              <a:avLst/>
            </a:prstGeom>
            <a:gradFill rotWithShape="0">
              <a:gsLst>
                <a:gs pos="0">
                  <a:srgbClr val="FFCC99"/>
                </a:gs>
                <a:gs pos="100000">
                  <a:srgbClr val="FFF5EB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107763" dir="134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2" name="Text Box 50"/>
            <p:cNvSpPr txBox="1"/>
            <p:nvPr/>
          </p:nvSpPr>
          <p:spPr>
            <a:xfrm>
              <a:off x="336" y="230"/>
              <a:ext cx="3024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5400" b="1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2.</a:t>
              </a:r>
              <a:r>
                <a:rPr lang="zh-CN" altLang="en-US" sz="5400" b="1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反馈清零法</a:t>
              </a:r>
              <a:endParaRPr lang="zh-CN" altLang="en-US" sz="5400" b="1" dirty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2035" name="Text Box 51">
            <a:hlinkClick r:id="rId5" action="ppaction://hlinkfile"/>
          </p:cNvPr>
          <p:cNvSpPr txBox="1"/>
          <p:nvPr/>
        </p:nvSpPr>
        <p:spPr>
          <a:xfrm>
            <a:off x="76200" y="6262688"/>
            <a:ext cx="1143000" cy="519112"/>
          </a:xfrm>
          <a:prstGeom prst="rect">
            <a:avLst/>
          </a:prstGeom>
          <a:solidFill>
            <a:srgbClr val="CCECFF"/>
          </a:solidFill>
          <a:ln w="9525">
            <a:noFill/>
          </a:ln>
          <a:effectLst>
            <a:outerShdw dist="107763" dir="2699999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仿 真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2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2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2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2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2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42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42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2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2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2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2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75" fill="hold"/>
                                        <p:tgtEl>
                                          <p:spTgt spid="42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" fill="hold"/>
                                        <p:tgtEl>
                                          <p:spTgt spid="42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2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2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  <p:bldP spid="41989" grpId="0"/>
      <p:bldP spid="41991" grpId="0"/>
      <p:bldP spid="42020" grpId="0"/>
      <p:bldP spid="42026" grpId="0"/>
      <p:bldP spid="420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0898" name="Text Box 1026"/>
          <p:cNvSpPr txBox="1">
            <a:spLocks noChangeArrowheads="1"/>
          </p:cNvSpPr>
          <p:nvPr/>
        </p:nvSpPr>
        <p:spPr bwMode="auto">
          <a:xfrm>
            <a:off x="533400" y="457200"/>
            <a:ext cx="81534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5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（三）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CT74161/CT74163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功能扩展</a:t>
            </a:r>
            <a:endParaRPr kumimoji="1" lang="zh-CN" altLang="en-US" sz="40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Text Box 1027"/>
          <p:cNvSpPr txBox="1"/>
          <p:nvPr/>
        </p:nvSpPr>
        <p:spPr>
          <a:xfrm>
            <a:off x="1219200" y="1524000"/>
            <a:ext cx="7467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   </a:t>
            </a:r>
            <a:r>
              <a:rPr lang="en-US" altLang="zh-CN" sz="3600" dirty="0">
                <a:latin typeface="Times New Roman" panose="02020603050405020304" pitchFamily="18" charset="0"/>
              </a:rPr>
              <a:t>——</a:t>
            </a:r>
            <a:r>
              <a:rPr lang="en-US" altLang="zh-CN" sz="3600" dirty="0">
                <a:latin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连接成任意模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的计数器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23556" name="Text Box 1028">
            <a:hlinkClick r:id="rId1" action="ppaction://hlinksldjump"/>
          </p:cNvPr>
          <p:cNvSpPr txBox="1"/>
          <p:nvPr/>
        </p:nvSpPr>
        <p:spPr>
          <a:xfrm>
            <a:off x="1524000" y="2971800"/>
            <a:ext cx="6096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、同步预置法</a:t>
            </a:r>
            <a:endParaRPr lang="zh-CN" altLang="en-US" sz="4400" dirty="0">
              <a:solidFill>
                <a:srgbClr val="8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7" name="Text Box 1029">
            <a:hlinkClick r:id="rId2" action="ppaction://hlinksldjump"/>
          </p:cNvPr>
          <p:cNvSpPr txBox="1"/>
          <p:nvPr/>
        </p:nvSpPr>
        <p:spPr>
          <a:xfrm>
            <a:off x="1524000" y="4114800"/>
            <a:ext cx="6096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、反馈清零法</a:t>
            </a:r>
            <a:endParaRPr lang="zh-CN" altLang="en-US" sz="4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3558" name="Text Box 1030">
            <a:hlinkClick r:id="rId3" action="ppaction://hlinksldjump"/>
          </p:cNvPr>
          <p:cNvSpPr txBox="1"/>
          <p:nvPr/>
        </p:nvSpPr>
        <p:spPr>
          <a:xfrm>
            <a:off x="1524000" y="5181600"/>
            <a:ext cx="67056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3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、多次预置法</a:t>
            </a:r>
            <a:endParaRPr lang="zh-CN" altLang="en-US" sz="4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3010" name="Rectangle 2"/>
          <p:cNvSpPr/>
          <p:nvPr/>
        </p:nvSpPr>
        <p:spPr>
          <a:xfrm>
            <a:off x="4800600" y="6172200"/>
            <a:ext cx="2819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M=10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3012" name="Rectangle 4"/>
          <p:cNvSpPr/>
          <p:nvPr/>
        </p:nvSpPr>
        <p:spPr>
          <a:xfrm>
            <a:off x="304800" y="1866900"/>
            <a:ext cx="30480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	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4495800" y="1828800"/>
          <a:ext cx="3649663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247900" imgH="2419350" progId="Paint.Picture">
                  <p:embed/>
                </p:oleObj>
              </mc:Choice>
              <mc:Fallback>
                <p:oleObj name="" r:id="rId1" imgW="2247900" imgH="2419350" progId="Paint.Picture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95800" y="1828800"/>
                        <a:ext cx="3649663" cy="411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24" name="Group 16"/>
          <p:cNvGrpSpPr/>
          <p:nvPr/>
        </p:nvGrpSpPr>
        <p:grpSpPr>
          <a:xfrm>
            <a:off x="152400" y="228600"/>
            <a:ext cx="5795963" cy="1524000"/>
            <a:chOff x="2013" y="192"/>
            <a:chExt cx="3651" cy="960"/>
          </a:xfrm>
        </p:grpSpPr>
        <p:sp>
          <p:nvSpPr>
            <p:cNvPr id="24592" name="AutoShape 8"/>
            <p:cNvSpPr/>
            <p:nvPr/>
          </p:nvSpPr>
          <p:spPr>
            <a:xfrm>
              <a:off x="2013" y="192"/>
              <a:ext cx="3651" cy="960"/>
            </a:xfrm>
            <a:prstGeom prst="diamond">
              <a:avLst/>
            </a:prstGeom>
            <a:gradFill rotWithShape="0">
              <a:gsLst>
                <a:gs pos="0">
                  <a:srgbClr val="FFCC99"/>
                </a:gs>
                <a:gs pos="50000">
                  <a:srgbClr val="FFE4C8"/>
                </a:gs>
                <a:gs pos="100000">
                  <a:srgbClr val="FFCC99"/>
                </a:gs>
              </a:gsLst>
              <a:lin ang="5400000" scaled="1"/>
              <a:tileRect/>
            </a:gra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Left">
                <a:rot lat="21300000" lon="0" rev="0"/>
              </a:camera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20" name="Text Box 12"/>
            <p:cNvSpPr txBox="1">
              <a:spLocks noChangeArrowheads="1"/>
            </p:cNvSpPr>
            <p:nvPr/>
          </p:nvSpPr>
          <p:spPr bwMode="auto">
            <a:xfrm>
              <a:off x="2496" y="336"/>
              <a:ext cx="28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bg2"/>
                      </a:gs>
                      <a:gs pos="50000">
                        <a:schemeClr val="bg2">
                          <a:gamma/>
                          <a:tint val="53725"/>
                          <a:invGamma/>
                        </a:schemeClr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135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  <a:flatTx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5400" kern="1200" cap="none" spc="0" normalizeH="0" baseline="0" noProof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3.</a:t>
              </a:r>
              <a:r>
                <a:rPr kumimoji="1" lang="zh-CN" altLang="en-US" sz="5400" kern="1200" cap="none" spc="0" normalizeH="0" baseline="0" noProof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多次预置法</a:t>
              </a:r>
              <a:endParaRPr kumimoji="1" lang="zh-CN" altLang="en-US" sz="3600" kern="1200" cap="none" spc="0" normalizeH="0" baseline="0" noProof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025" name="Text Box 17"/>
          <p:cNvSpPr txBox="1"/>
          <p:nvPr/>
        </p:nvSpPr>
        <p:spPr>
          <a:xfrm>
            <a:off x="5105400" y="1219200"/>
            <a:ext cx="3657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1: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分析电路功能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7" name="AutoShape 19"/>
          <p:cNvSpPr/>
          <p:nvPr/>
        </p:nvSpPr>
        <p:spPr>
          <a:xfrm>
            <a:off x="1905000" y="3048000"/>
            <a:ext cx="228600" cy="609600"/>
          </a:xfrm>
          <a:prstGeom prst="curvedLeftArrow">
            <a:avLst>
              <a:gd name="adj1" fmla="val 3162"/>
              <a:gd name="adj2" fmla="val 106938"/>
              <a:gd name="adj3" fmla="val 25523"/>
            </a:avLst>
          </a:prstGeom>
          <a:solidFill>
            <a:srgbClr val="FF0000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9" name="AutoShape 21"/>
          <p:cNvSpPr/>
          <p:nvPr/>
        </p:nvSpPr>
        <p:spPr>
          <a:xfrm>
            <a:off x="1905000" y="4953000"/>
            <a:ext cx="228600" cy="609600"/>
          </a:xfrm>
          <a:prstGeom prst="curvedLeftArrow">
            <a:avLst>
              <a:gd name="adj1" fmla="val 3162"/>
              <a:gd name="adj2" fmla="val 106938"/>
              <a:gd name="adj3" fmla="val 25523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0" name="Text Box 22"/>
          <p:cNvSpPr txBox="1"/>
          <p:nvPr/>
        </p:nvSpPr>
        <p:spPr>
          <a:xfrm>
            <a:off x="304800" y="3705225"/>
            <a:ext cx="28194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2          0    1    0    1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3          0    1    1    0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4          0    1    1    1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5          1    0    0    0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3031" name="Text Box 23"/>
          <p:cNvSpPr txBox="1"/>
          <p:nvPr/>
        </p:nvSpPr>
        <p:spPr>
          <a:xfrm>
            <a:off x="304800" y="5518150"/>
            <a:ext cx="3048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7          1    1    0    1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8          1    1    1    0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9          1    1    1    1</a:t>
            </a:r>
            <a:r>
              <a:rPr lang="en-US" altLang="zh-CN" sz="24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33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2" name="Text Box 24"/>
          <p:cNvSpPr txBox="1"/>
          <p:nvPr/>
        </p:nvSpPr>
        <p:spPr>
          <a:xfrm>
            <a:off x="304800" y="3352800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1          0    1    0    0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3033" name="Text Box 25"/>
          <p:cNvSpPr txBox="1"/>
          <p:nvPr/>
        </p:nvSpPr>
        <p:spPr>
          <a:xfrm>
            <a:off x="304800" y="51816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6          1    1    0    0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3034" name="Line 26"/>
          <p:cNvSpPr/>
          <p:nvPr/>
        </p:nvSpPr>
        <p:spPr>
          <a:xfrm>
            <a:off x="2971800" y="6553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35" name="Line 27"/>
          <p:cNvSpPr/>
          <p:nvPr/>
        </p:nvSpPr>
        <p:spPr>
          <a:xfrm flipH="1" flipV="1">
            <a:off x="3352800" y="3200400"/>
            <a:ext cx="0" cy="33528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36" name="Line 28"/>
          <p:cNvSpPr/>
          <p:nvPr/>
        </p:nvSpPr>
        <p:spPr>
          <a:xfrm flipH="1" flipV="1">
            <a:off x="2971800" y="32004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01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3012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33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012">
                                            <p:txEl>
                                              <p:charRg st="33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03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030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030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030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>
                                            <p:txEl>
                                              <p:charRg st="84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030">
                                            <p:txEl>
                                              <p:charRg st="84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033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303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3031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>
                                            <p:txEl>
                                              <p:charRg st="56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3031">
                                            <p:txEl>
                                              <p:charRg st="56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2" grpId="0" build="p"/>
      <p:bldP spid="43025" grpId="0"/>
      <p:bldP spid="43030" grpId="0" build="p"/>
      <p:bldP spid="43031" grpId="0" build="p"/>
      <p:bldP spid="43032" grpId="0" build="p"/>
      <p:bldP spid="4303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43800" cy="9906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flatTx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§6.1.2  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中规模计数器</a:t>
            </a:r>
            <a:endParaRPr kumimoji="1" lang="zh-CN" altLang="en-US" sz="6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25603" name="Text Box 3">
            <a:hlinkClick r:id="rId1" action="ppaction://hlinksldjump"/>
          </p:cNvPr>
          <p:cNvSpPr txBox="1"/>
          <p:nvPr/>
        </p:nvSpPr>
        <p:spPr>
          <a:xfrm>
            <a:off x="838200" y="5257800"/>
            <a:ext cx="7162800" cy="750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4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三、中规模异步计数器</a:t>
            </a:r>
            <a:endParaRPr lang="zh-CN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25604" name="Text Box 4">
            <a:hlinkClick r:id="rId2" action="ppaction://hlinksldjump"/>
          </p:cNvPr>
          <p:cNvSpPr txBox="1"/>
          <p:nvPr/>
        </p:nvSpPr>
        <p:spPr>
          <a:xfrm>
            <a:off x="838200" y="4191000"/>
            <a:ext cx="7772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75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二、四位二进制可逆计数器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5605" name="Text Box 5">
            <a:hlinkClick r:id="rId3" action="ppaction://hlinksldjump"/>
          </p:cNvPr>
          <p:cNvSpPr txBox="1"/>
          <p:nvPr/>
        </p:nvSpPr>
        <p:spPr>
          <a:xfrm>
            <a:off x="838200" y="2971800"/>
            <a:ext cx="7848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一、四位二进制同步计数器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0362" name="Text Box 1034"/>
          <p:cNvSpPr txBox="1">
            <a:spLocks noChangeArrowheads="1"/>
          </p:cNvSpPr>
          <p:nvPr/>
        </p:nvSpPr>
        <p:spPr bwMode="auto">
          <a:xfrm>
            <a:off x="457200" y="441325"/>
            <a:ext cx="83058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二、四位二进制可逆计数器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CT74193</a:t>
            </a:r>
            <a:endParaRPr kumimoji="1" lang="en-US" altLang="zh-CN" sz="40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366" name="Rectangle 1038"/>
          <p:cNvSpPr/>
          <p:nvPr/>
        </p:nvSpPr>
        <p:spPr>
          <a:xfrm>
            <a:off x="577850" y="1371600"/>
            <a:ext cx="8413750" cy="5222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                  入	                    输          出	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CP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	LD   A    B   C   D	  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 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φ  φ 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φ  φ φ φ φ 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0	 0	0	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φ  φ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0    0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A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B  C  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	B	C	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↑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0    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  φ φ φ 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加	法	计	数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</a:t>
            </a:r>
            <a:r>
              <a:rPr lang="en-US" altLang="zh-CN" sz="2800" b="1" dirty="0">
                <a:solidFill>
                  <a:srgbClr val="0033CC"/>
                </a:solidFill>
                <a:latin typeface="宋体" panose="02010600030101010101" pitchFamily="2" charset="-122"/>
              </a:rPr>
              <a:t>↑  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0    </a:t>
            </a:r>
            <a:r>
              <a:rPr lang="en-US" altLang="zh-CN" sz="2800" b="1" dirty="0">
                <a:solidFill>
                  <a:srgbClr val="0033CC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  φ φ φ 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减	法	计	数	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CC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CC00"/>
                </a:solidFill>
                <a:latin typeface="Times New Roman" panose="02020603050405020304" pitchFamily="18" charset="0"/>
              </a:rPr>
              <a:t>1     1      0    1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φ φ φ 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rgbClr val="FFCC00"/>
                </a:solidFill>
                <a:latin typeface="Times New Roman" panose="02020603050405020304" pitchFamily="18" charset="0"/>
              </a:rPr>
              <a:t>保	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3" name="Text Box 1045"/>
          <p:cNvSpPr txBox="1"/>
          <p:nvPr/>
        </p:nvSpPr>
        <p:spPr>
          <a:xfrm>
            <a:off x="2362200" y="1325563"/>
            <a:ext cx="3902075" cy="579437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</a:rPr>
              <a:t>CT74193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功能表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0377" name="Group 1049"/>
          <p:cNvGrpSpPr/>
          <p:nvPr/>
        </p:nvGrpSpPr>
        <p:grpSpPr>
          <a:xfrm>
            <a:off x="457200" y="2057400"/>
            <a:ext cx="8382000" cy="4572000"/>
            <a:chOff x="288" y="1296"/>
            <a:chExt cx="5280" cy="2880"/>
          </a:xfrm>
        </p:grpSpPr>
        <p:sp>
          <p:nvSpPr>
            <p:cNvPr id="26630" name="Rectangle 1039"/>
            <p:cNvSpPr/>
            <p:nvPr/>
          </p:nvSpPr>
          <p:spPr>
            <a:xfrm>
              <a:off x="288" y="1296"/>
              <a:ext cx="5280" cy="2880"/>
            </a:xfrm>
            <a:prstGeom prst="rect">
              <a:avLst/>
            </a:prstGeom>
            <a:noFill/>
            <a:ln w="57150" cap="flat" cmpd="thinThick">
              <a:solidFill>
                <a:srgbClr val="FFCC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31" name="Line 1040"/>
            <p:cNvSpPr/>
            <p:nvPr/>
          </p:nvSpPr>
          <p:spPr>
            <a:xfrm>
              <a:off x="336" y="1728"/>
              <a:ext cx="51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2" name="Line 1046"/>
            <p:cNvSpPr/>
            <p:nvPr/>
          </p:nvSpPr>
          <p:spPr>
            <a:xfrm>
              <a:off x="1967" y="1727"/>
              <a:ext cx="0" cy="240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3" name="Line 1047"/>
            <p:cNvSpPr/>
            <p:nvPr/>
          </p:nvSpPr>
          <p:spPr>
            <a:xfrm>
              <a:off x="3312" y="1344"/>
              <a:ext cx="0" cy="27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4" name="Line 1048"/>
            <p:cNvSpPr/>
            <p:nvPr/>
          </p:nvSpPr>
          <p:spPr>
            <a:xfrm>
              <a:off x="336" y="2112"/>
              <a:ext cx="51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>
                                            <p:txEl>
                                              <p:charRg st="1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0366">
                                            <p:txEl>
                                              <p:charRg st="1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>
                                            <p:txEl>
                                              <p:charRg st="69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0366">
                                            <p:txEl>
                                              <p:charRg st="69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>
                                            <p:txEl>
                                              <p:charRg st="125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0366">
                                            <p:txEl>
                                              <p:charRg st="125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>
                                            <p:txEl>
                                              <p:charRg st="155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0366">
                                            <p:txEl>
                                              <p:charRg st="155" end="1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>
                                            <p:txEl>
                                              <p:charRg st="196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0366">
                                            <p:txEl>
                                              <p:charRg st="196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>
                                            <p:txEl>
                                              <p:charRg st="233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0366">
                                            <p:txEl>
                                              <p:charRg st="233" end="2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>
                                            <p:txEl>
                                              <p:charRg st="269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0366">
                                            <p:txEl>
                                              <p:charRg st="269" end="3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2" grpId="0" animBg="1"/>
      <p:bldP spid="100366" grpId="0" build="p"/>
      <p:bldP spid="1003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457200" y="441325"/>
            <a:ext cx="83058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二、四位二进制可逆计数器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CT74193</a:t>
            </a:r>
            <a:endParaRPr kumimoji="1" lang="en-US" altLang="zh-CN" sz="40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3962400" y="1524000"/>
            <a:ext cx="5181600" cy="3506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高位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低位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: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双时钟输入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  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异步清除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高电平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有效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LD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异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步预置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低电平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有效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高位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低位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3657600" y="5029200"/>
          <a:ext cx="51054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688465" imgH="266700" progId="Equation.3">
                  <p:embed/>
                </p:oleObj>
              </mc:Choice>
              <mc:Fallback>
                <p:oleObj name="" r:id="rId1" imgW="1688465" imgH="2667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7600" y="5029200"/>
                        <a:ext cx="5105400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3581400" y="5791200"/>
          <a:ext cx="5562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624965" imgH="266700" progId="Equation.3">
                  <p:embed/>
                </p:oleObj>
              </mc:Choice>
              <mc:Fallback>
                <p:oleObj name="" r:id="rId3" imgW="1624965" imgH="2667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1400" y="5791200"/>
                        <a:ext cx="55626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141288" y="2447925"/>
          <a:ext cx="3287712" cy="433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1857375" imgH="2447925" progId="Paint.Picture">
                  <p:embed/>
                </p:oleObj>
              </mc:Choice>
              <mc:Fallback>
                <p:oleObj name="" r:id="rId5" imgW="1857375" imgH="2447925" progId="Paint.Picture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288" y="2447925"/>
                        <a:ext cx="3287712" cy="433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Text Box 9"/>
          <p:cNvSpPr txBox="1"/>
          <p:nvPr/>
        </p:nvSpPr>
        <p:spPr>
          <a:xfrm>
            <a:off x="76200" y="1600200"/>
            <a:ext cx="3733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（一）、逻辑符号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4042" name="AutoShape 10"/>
          <p:cNvSpPr/>
          <p:nvPr/>
        </p:nvSpPr>
        <p:spPr>
          <a:xfrm>
            <a:off x="6629400" y="3429000"/>
            <a:ext cx="2133600" cy="1371600"/>
          </a:xfrm>
          <a:prstGeom prst="wedgeRoundRectCallout">
            <a:avLst>
              <a:gd name="adj1" fmla="val -43750"/>
              <a:gd name="adj2" fmla="val 73380"/>
              <a:gd name="adj3" fmla="val 16667"/>
            </a:avLst>
          </a:prstGeom>
          <a:solidFill>
            <a:srgbClr val="FFCC9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加到最大值时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产生进位信号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CC</a:t>
            </a:r>
            <a:r>
              <a:rPr lang="en-US" altLang="zh-CN" sz="2800" b="1" dirty="0">
                <a:latin typeface="Times New Roman" panose="02020603050405020304" pitchFamily="18" charset="0"/>
              </a:rPr>
              <a:t>=0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4044" name="AutoShape 12"/>
          <p:cNvSpPr/>
          <p:nvPr/>
        </p:nvSpPr>
        <p:spPr>
          <a:xfrm>
            <a:off x="6629400" y="4191000"/>
            <a:ext cx="2133600" cy="1371600"/>
          </a:xfrm>
          <a:prstGeom prst="wedgeRoundRectCallout">
            <a:avLst>
              <a:gd name="adj1" fmla="val -43750"/>
              <a:gd name="adj2" fmla="val 73380"/>
              <a:gd name="adj3" fmla="val 16667"/>
            </a:avLst>
          </a:prstGeom>
          <a:solidFill>
            <a:srgbClr val="FFCC9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减到最大值时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产生借位信号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CB</a:t>
            </a:r>
            <a:r>
              <a:rPr lang="en-US" altLang="zh-CN" sz="2800" b="1" dirty="0">
                <a:latin typeface="Times New Roman" panose="02020603050405020304" pitchFamily="18" charset="0"/>
              </a:rPr>
              <a:t>=0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03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35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035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45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035">
                                            <p:txEl>
                                              <p:charRg st="45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6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035">
                                            <p:txEl>
                                              <p:charRg st="61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uiExpand="1" build="p"/>
      <p:bldP spid="44041" grpId="0"/>
      <p:bldP spid="44042" grpId="0" animBg="1"/>
      <p:bldP spid="440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5059" name="Text Box 3"/>
          <p:cNvSpPr txBox="1"/>
          <p:nvPr/>
        </p:nvSpPr>
        <p:spPr>
          <a:xfrm>
            <a:off x="1371600" y="2254250"/>
            <a:ext cx="7467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   </a:t>
            </a: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sz="36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连接成任意模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的计数器</a:t>
            </a:r>
            <a:endParaRPr lang="zh-CN" altLang="en-US" sz="1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5062" name="Text Box 6">
            <a:hlinkClick r:id="rId1" action="ppaction://hlinksldjump"/>
          </p:cNvPr>
          <p:cNvSpPr txBox="1"/>
          <p:nvPr/>
        </p:nvSpPr>
        <p:spPr>
          <a:xfrm>
            <a:off x="685800" y="3413125"/>
            <a:ext cx="8001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、接成</a:t>
            </a: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M&lt;16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的计数器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  <p:sp>
        <p:nvSpPr>
          <p:cNvPr id="45065" name="Text Box 9">
            <a:hlinkClick r:id="rId2" action="ppaction://hlinksldjump"/>
          </p:cNvPr>
          <p:cNvSpPr txBox="1"/>
          <p:nvPr/>
        </p:nvSpPr>
        <p:spPr>
          <a:xfrm>
            <a:off x="685800" y="4708525"/>
            <a:ext cx="80772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、接成</a:t>
            </a: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M&gt;16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的计数器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76200" y="1477963"/>
            <a:ext cx="693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50000">
                      <a:schemeClr val="bg2">
                        <a:gamma/>
                        <a:tint val="33725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（二）、 </a:t>
            </a:r>
            <a:r>
              <a:rPr kumimoji="1" lang="en-US" altLang="zh-CN" sz="3200" kern="1200" cap="none" spc="0" normalizeH="0" baseline="0" noProof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CT74193</a:t>
            </a:r>
            <a:r>
              <a:rPr kumimoji="1" lang="zh-CN" altLang="en-US" sz="3200" kern="1200" cap="none" spc="0" normalizeH="0" baseline="0" noProof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功能扩展</a:t>
            </a:r>
            <a:endParaRPr kumimoji="1" lang="zh-CN" altLang="en-US" sz="4400" kern="1200" cap="none" spc="0" normalizeH="0" baseline="0" noProof="0">
              <a:solidFill>
                <a:srgbClr val="000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5072" name="Text Box 16"/>
          <p:cNvSpPr txBox="1">
            <a:spLocks noChangeArrowheads="1"/>
          </p:cNvSpPr>
          <p:nvPr/>
        </p:nvSpPr>
        <p:spPr bwMode="auto">
          <a:xfrm>
            <a:off x="457200" y="441325"/>
            <a:ext cx="83058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二、四位二进制可逆计数器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CT74193</a:t>
            </a:r>
            <a:endParaRPr kumimoji="1" lang="en-US" altLang="zh-CN" sz="40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505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  <p:bldP spid="45062" grpId="0"/>
      <p:bldP spid="45065" grpId="0"/>
      <p:bldP spid="4507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6082" name="Rectangle 2"/>
          <p:cNvSpPr/>
          <p:nvPr/>
        </p:nvSpPr>
        <p:spPr>
          <a:xfrm>
            <a:off x="381000" y="1905000"/>
            <a:ext cx="30480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	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	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1          0    1    1    1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2          1    0    0    0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3          1    0    0    1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4          1    0    1    0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5          1    0    1    1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6          1    1    0    0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7          1    1    0    1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8          1    1    1    0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9          1    1    1    1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6" name="Text Box 6"/>
          <p:cNvSpPr txBox="1"/>
          <p:nvPr/>
        </p:nvSpPr>
        <p:spPr>
          <a:xfrm>
            <a:off x="0" y="1371600"/>
            <a:ext cx="6248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：用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CT74193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M=9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6087" name="Text Box 7"/>
          <p:cNvSpPr txBox="1"/>
          <p:nvPr/>
        </p:nvSpPr>
        <p:spPr>
          <a:xfrm>
            <a:off x="6400800" y="457200"/>
            <a:ext cx="2895600" cy="173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方法一</a:t>
            </a:r>
            <a:r>
              <a:rPr lang="en-US" altLang="zh-CN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</a:t>
            </a:r>
            <a:r>
              <a:rPr lang="zh-CN" altLang="en-US" sz="3600" b="1" dirty="0">
                <a:solidFill>
                  <a:srgbClr val="5F5F5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异步预置、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加法计数</a:t>
            </a:r>
            <a:endParaRPr lang="zh-CN" altLang="en-US" sz="3600" b="1" dirty="0">
              <a:solidFill>
                <a:srgbClr val="5F5F5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5014913" y="2438400"/>
          <a:ext cx="3624262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2247900" imgH="2676525" progId="Paint.Picture">
                  <p:embed/>
                </p:oleObj>
              </mc:Choice>
              <mc:Fallback>
                <p:oleObj name="" r:id="rId1" imgW="2247900" imgH="2676525" progId="Paint.Picture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4913" y="2438400"/>
                        <a:ext cx="3624262" cy="426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304800" y="381000"/>
            <a:ext cx="54102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00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、接成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M&lt;16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的计数器</a:t>
            </a:r>
            <a:endParaRPr kumimoji="1" lang="zh-CN" altLang="en-US" sz="4400" b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6103" name="Group 23"/>
          <p:cNvGrpSpPr/>
          <p:nvPr/>
        </p:nvGrpSpPr>
        <p:grpSpPr>
          <a:xfrm>
            <a:off x="3657600" y="5715000"/>
            <a:ext cx="1143000" cy="762000"/>
            <a:chOff x="2304" y="3600"/>
            <a:chExt cx="720" cy="480"/>
          </a:xfrm>
        </p:grpSpPr>
        <p:sp>
          <p:nvSpPr>
            <p:cNvPr id="29716" name="AutoShape 11"/>
            <p:cNvSpPr/>
            <p:nvPr/>
          </p:nvSpPr>
          <p:spPr>
            <a:xfrm>
              <a:off x="2304" y="3600"/>
              <a:ext cx="720" cy="480"/>
            </a:xfrm>
            <a:prstGeom prst="wedgeRoundRectCallout">
              <a:avLst>
                <a:gd name="adj1" fmla="val -108611"/>
                <a:gd name="adj2" fmla="val 72292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7" name="Text Box 12"/>
            <p:cNvSpPr txBox="1"/>
            <p:nvPr/>
          </p:nvSpPr>
          <p:spPr>
            <a:xfrm>
              <a:off x="2304" y="3696"/>
              <a:ext cx="72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CC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6093" name="Line 13"/>
          <p:cNvSpPr/>
          <p:nvPr/>
        </p:nvSpPr>
        <p:spPr>
          <a:xfrm>
            <a:off x="7848600" y="32766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4" name="Line 14"/>
          <p:cNvSpPr/>
          <p:nvPr/>
        </p:nvSpPr>
        <p:spPr>
          <a:xfrm flipV="1">
            <a:off x="8153400" y="2590800"/>
            <a:ext cx="0" cy="685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5" name="Line 15"/>
          <p:cNvSpPr/>
          <p:nvPr/>
        </p:nvSpPr>
        <p:spPr>
          <a:xfrm flipH="1">
            <a:off x="5562600" y="2590800"/>
            <a:ext cx="2590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6" name="Line 16"/>
          <p:cNvSpPr/>
          <p:nvPr/>
        </p:nvSpPr>
        <p:spPr>
          <a:xfrm>
            <a:off x="5562600" y="2590800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7" name="Line 17"/>
          <p:cNvSpPr/>
          <p:nvPr/>
        </p:nvSpPr>
        <p:spPr>
          <a:xfrm>
            <a:off x="5562600" y="30480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8" name="Line 18"/>
          <p:cNvSpPr/>
          <p:nvPr/>
        </p:nvSpPr>
        <p:spPr>
          <a:xfrm>
            <a:off x="2971800" y="3276600"/>
            <a:ext cx="2514600" cy="167640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99" name="Text Box 19"/>
          <p:cNvSpPr txBox="1"/>
          <p:nvPr/>
        </p:nvSpPr>
        <p:spPr>
          <a:xfrm>
            <a:off x="5486400" y="4800600"/>
            <a:ext cx="3048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6100" name="Line 20"/>
          <p:cNvSpPr/>
          <p:nvPr/>
        </p:nvSpPr>
        <p:spPr>
          <a:xfrm>
            <a:off x="914400" y="6553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101" name="Line 21"/>
          <p:cNvSpPr/>
          <p:nvPr/>
        </p:nvSpPr>
        <p:spPr>
          <a:xfrm flipH="1" flipV="1">
            <a:off x="914400" y="3200400"/>
            <a:ext cx="0" cy="33528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102" name="Line 22"/>
          <p:cNvSpPr/>
          <p:nvPr/>
        </p:nvSpPr>
        <p:spPr>
          <a:xfrm flipH="1" flipV="1">
            <a:off x="914400" y="32004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46104" name="Text Box 24"/>
          <p:cNvSpPr txBox="1"/>
          <p:nvPr/>
        </p:nvSpPr>
        <p:spPr>
          <a:xfrm>
            <a:off x="7924800" y="4724400"/>
            <a:ext cx="381000" cy="140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6105" name="Rectangle 25"/>
          <p:cNvSpPr/>
          <p:nvPr/>
        </p:nvSpPr>
        <p:spPr>
          <a:xfrm>
            <a:off x="1371600" y="6324600"/>
            <a:ext cx="1600200" cy="4572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8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082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33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082">
                                            <p:txEl>
                                              <p:charRg st="33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54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082">
                                            <p:txEl>
                                              <p:charRg st="54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82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082">
                                            <p:txEl>
                                              <p:charRg st="82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11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082">
                                            <p:txEl>
                                              <p:charRg st="110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138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6082">
                                            <p:txEl>
                                              <p:charRg st="138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082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194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082">
                                            <p:txEl>
                                              <p:charRg st="194" end="2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222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082">
                                            <p:txEl>
                                              <p:charRg st="222" end="2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250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082">
                                            <p:txEl>
                                              <p:charRg st="250" end="2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278" end="3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6082">
                                            <p:txEl>
                                              <p:charRg st="278" end="3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6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6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6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6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6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6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6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00"/>
                            </p:stCondLst>
                            <p:childTnLst>
                              <p:par>
                                <p:cTn id="16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75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75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uiExpand="1" build="p"/>
      <p:bldP spid="46086" grpId="0"/>
      <p:bldP spid="46087" grpId="0"/>
      <p:bldP spid="46089" grpId="0" animBg="1"/>
      <p:bldP spid="46099" grpId="0"/>
      <p:bldP spid="4610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7108" name="Text Box 4"/>
          <p:cNvSpPr txBox="1"/>
          <p:nvPr/>
        </p:nvSpPr>
        <p:spPr>
          <a:xfrm>
            <a:off x="6400800" y="228600"/>
            <a:ext cx="2743200" cy="173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方法二</a:t>
            </a:r>
            <a:r>
              <a:rPr lang="en-US" altLang="zh-CN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</a:t>
            </a:r>
            <a:r>
              <a:rPr lang="zh-CN" altLang="en-US" sz="3600" b="1" dirty="0">
                <a:solidFill>
                  <a:srgbClr val="5F5F5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异步预置、减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法计数</a:t>
            </a:r>
            <a:endParaRPr lang="zh-CN" altLang="en-US" sz="3600" b="1" dirty="0">
              <a:solidFill>
                <a:srgbClr val="5F5F5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4437063" y="1981200"/>
          <a:ext cx="4138612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2286000" imgH="2943225" progId="Paint.Picture">
                  <p:embed/>
                </p:oleObj>
              </mc:Choice>
              <mc:Fallback>
                <p:oleObj name="" r:id="rId1" imgW="2286000" imgH="2943225" progId="Paint.Picture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37063" y="1981200"/>
                        <a:ext cx="4138612" cy="487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Rectangle 8"/>
          <p:cNvSpPr/>
          <p:nvPr/>
        </p:nvSpPr>
        <p:spPr>
          <a:xfrm>
            <a:off x="457200" y="1943100"/>
            <a:ext cx="2927350" cy="4838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	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	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	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	0    1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	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	0    1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	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	0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	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	0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5F5F5F"/>
                </a:solidFill>
                <a:latin typeface="Times New Roman" panose="02020603050405020304" pitchFamily="18" charset="0"/>
              </a:rPr>
              <a:t>9	0    0    0    0</a:t>
            </a:r>
            <a:r>
              <a:rPr lang="en-US" altLang="zh-CN" sz="2400" b="1" dirty="0"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7114" name="Group 10"/>
          <p:cNvGrpSpPr/>
          <p:nvPr/>
        </p:nvGrpSpPr>
        <p:grpSpPr>
          <a:xfrm>
            <a:off x="3657600" y="5715000"/>
            <a:ext cx="1143000" cy="762000"/>
            <a:chOff x="2304" y="3600"/>
            <a:chExt cx="720" cy="480"/>
          </a:xfrm>
        </p:grpSpPr>
        <p:sp>
          <p:nvSpPr>
            <p:cNvPr id="30740" name="AutoShape 11"/>
            <p:cNvSpPr/>
            <p:nvPr/>
          </p:nvSpPr>
          <p:spPr>
            <a:xfrm>
              <a:off x="2304" y="3600"/>
              <a:ext cx="720" cy="480"/>
            </a:xfrm>
            <a:prstGeom prst="wedgeRoundRectCallout">
              <a:avLst>
                <a:gd name="adj1" fmla="val -108611"/>
                <a:gd name="adj2" fmla="val 72292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0741" name="Text Box 12"/>
            <p:cNvSpPr txBox="1"/>
            <p:nvPr/>
          </p:nvSpPr>
          <p:spPr>
            <a:xfrm>
              <a:off x="2304" y="3696"/>
              <a:ext cx="72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CB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117" name="Line 13"/>
          <p:cNvSpPr/>
          <p:nvPr/>
        </p:nvSpPr>
        <p:spPr>
          <a:xfrm>
            <a:off x="914400" y="6553200"/>
            <a:ext cx="3810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8" name="Line 14"/>
          <p:cNvSpPr/>
          <p:nvPr/>
        </p:nvSpPr>
        <p:spPr>
          <a:xfrm flipH="1" flipV="1">
            <a:off x="914400" y="3200400"/>
            <a:ext cx="0" cy="33528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9" name="Line 15"/>
          <p:cNvSpPr/>
          <p:nvPr/>
        </p:nvSpPr>
        <p:spPr>
          <a:xfrm flipH="1" flipV="1">
            <a:off x="914400" y="3200400"/>
            <a:ext cx="3810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47120" name="Rectangle 16"/>
          <p:cNvSpPr/>
          <p:nvPr/>
        </p:nvSpPr>
        <p:spPr>
          <a:xfrm>
            <a:off x="1371600" y="6324600"/>
            <a:ext cx="1600200" cy="4572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1" name="Line 17"/>
          <p:cNvSpPr/>
          <p:nvPr/>
        </p:nvSpPr>
        <p:spPr>
          <a:xfrm>
            <a:off x="8001000" y="32766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22" name="Line 18"/>
          <p:cNvSpPr/>
          <p:nvPr/>
        </p:nvSpPr>
        <p:spPr>
          <a:xfrm flipV="1">
            <a:off x="8534400" y="2209800"/>
            <a:ext cx="0" cy="1082675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23" name="Line 19"/>
          <p:cNvSpPr/>
          <p:nvPr/>
        </p:nvSpPr>
        <p:spPr>
          <a:xfrm flipH="1" flipV="1">
            <a:off x="5181600" y="2209800"/>
            <a:ext cx="3352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24" name="Line 20"/>
          <p:cNvSpPr/>
          <p:nvPr/>
        </p:nvSpPr>
        <p:spPr>
          <a:xfrm>
            <a:off x="5181600" y="2209800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25" name="Line 21"/>
          <p:cNvSpPr/>
          <p:nvPr/>
        </p:nvSpPr>
        <p:spPr>
          <a:xfrm>
            <a:off x="5181600" y="26670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26" name="Line 22"/>
          <p:cNvSpPr/>
          <p:nvPr/>
        </p:nvSpPr>
        <p:spPr>
          <a:xfrm>
            <a:off x="3048000" y="3276600"/>
            <a:ext cx="2133600" cy="160020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7127" name="Text Box 23"/>
          <p:cNvSpPr txBox="1"/>
          <p:nvPr/>
        </p:nvSpPr>
        <p:spPr>
          <a:xfrm>
            <a:off x="5181600" y="4724400"/>
            <a:ext cx="3048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7128" name="Text Box 24"/>
          <p:cNvSpPr txBox="1"/>
          <p:nvPr/>
        </p:nvSpPr>
        <p:spPr>
          <a:xfrm>
            <a:off x="8001000" y="4648200"/>
            <a:ext cx="304800" cy="140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0738" name="Text Box 26"/>
          <p:cNvSpPr txBox="1"/>
          <p:nvPr/>
        </p:nvSpPr>
        <p:spPr>
          <a:xfrm>
            <a:off x="0" y="1371600"/>
            <a:ext cx="6248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：用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CT74193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M=9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304800" y="381000"/>
            <a:ext cx="54102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00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、接成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M&lt;16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的计数器</a:t>
            </a:r>
            <a:endParaRPr kumimoji="1" lang="zh-CN" altLang="en-US" sz="4400" b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11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4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112">
                                            <p:txEl>
                                              <p:charRg st="4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15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112">
                                            <p:txEl>
                                              <p:charRg st="15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112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12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5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112">
                                            <p:txEl>
                                              <p:charRg st="55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74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112">
                                            <p:txEl>
                                              <p:charRg st="74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93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112">
                                            <p:txEl>
                                              <p:charRg st="93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112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112">
                                            <p:txEl>
                                              <p:charRg st="112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131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112">
                                            <p:txEl>
                                              <p:charRg st="131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150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112">
                                            <p:txEl>
                                              <p:charRg st="150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169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112">
                                            <p:txEl>
                                              <p:charRg st="169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>
                                            <p:txEl>
                                              <p:charRg st="188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7112">
                                            <p:txEl>
                                              <p:charRg st="188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7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0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500"/>
                            </p:stCondLst>
                            <p:childTnLst>
                              <p:par>
                                <p:cTn id="16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75" fill="hold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75" fill="hold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  <p:bldP spid="47112" grpId="0" build="p"/>
      <p:bldP spid="47127" grpId="0"/>
      <p:bldP spid="471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1746" name="Text Box 1026"/>
          <p:cNvSpPr txBox="1"/>
          <p:nvPr/>
        </p:nvSpPr>
        <p:spPr>
          <a:xfrm>
            <a:off x="1371600" y="2254250"/>
            <a:ext cx="7467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   </a:t>
            </a: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sz="36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连接成任意模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的计数器</a:t>
            </a:r>
            <a:endParaRPr lang="zh-CN" altLang="en-US" sz="1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1747" name="Text Box 1027">
            <a:hlinkClick r:id="rId1" action="ppaction://hlinksldjump"/>
          </p:cNvPr>
          <p:cNvSpPr txBox="1"/>
          <p:nvPr/>
        </p:nvSpPr>
        <p:spPr>
          <a:xfrm>
            <a:off x="685800" y="3413125"/>
            <a:ext cx="8001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、接成</a:t>
            </a:r>
            <a:r>
              <a:rPr lang="en-US" altLang="zh-CN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M&lt;16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的计数器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  <p:sp>
        <p:nvSpPr>
          <p:cNvPr id="31748" name="Text Box 1028">
            <a:hlinkClick r:id="rId2" action="ppaction://hlinksldjump"/>
          </p:cNvPr>
          <p:cNvSpPr txBox="1"/>
          <p:nvPr/>
        </p:nvSpPr>
        <p:spPr>
          <a:xfrm>
            <a:off x="685800" y="4708525"/>
            <a:ext cx="80772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、接成</a:t>
            </a: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M&gt;16</a:t>
            </a:r>
            <a:r>
              <a:rPr lang="zh-CN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的计数器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2949" name="Text Box 1029"/>
          <p:cNvSpPr txBox="1">
            <a:spLocks noChangeArrowheads="1"/>
          </p:cNvSpPr>
          <p:nvPr/>
        </p:nvSpPr>
        <p:spPr bwMode="auto">
          <a:xfrm>
            <a:off x="76200" y="1477963"/>
            <a:ext cx="693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50000">
                      <a:schemeClr val="bg2">
                        <a:gamma/>
                        <a:tint val="33725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（二）、 </a:t>
            </a:r>
            <a:r>
              <a:rPr kumimoji="1" lang="en-US" altLang="zh-CN" sz="3200" kern="1200" cap="none" spc="0" normalizeH="0" baseline="0" noProof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CT74193</a:t>
            </a:r>
            <a:r>
              <a:rPr kumimoji="1" lang="zh-CN" altLang="en-US" sz="3200" kern="1200" cap="none" spc="0" normalizeH="0" baseline="0" noProof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功能扩展</a:t>
            </a:r>
            <a:endParaRPr kumimoji="1" lang="zh-CN" altLang="en-US" sz="4400" kern="1200" cap="none" spc="0" normalizeH="0" baseline="0" noProof="0">
              <a:solidFill>
                <a:srgbClr val="000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82950" name="Text Box 1030"/>
          <p:cNvSpPr txBox="1">
            <a:spLocks noChangeArrowheads="1"/>
          </p:cNvSpPr>
          <p:nvPr/>
        </p:nvSpPr>
        <p:spPr bwMode="auto">
          <a:xfrm>
            <a:off x="457200" y="441325"/>
            <a:ext cx="83058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3725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二、四位二进制可逆计数器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CT74193</a:t>
            </a:r>
            <a:endParaRPr kumimoji="1" lang="en-US" altLang="zh-CN" sz="40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8133" name="Text Box 5"/>
          <p:cNvSpPr txBox="1"/>
          <p:nvPr/>
        </p:nvSpPr>
        <p:spPr>
          <a:xfrm>
            <a:off x="1447800" y="1371600"/>
            <a:ext cx="6781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1: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CT74193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M=147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8134" name="Text Box 6"/>
          <p:cNvSpPr txBox="1"/>
          <p:nvPr/>
        </p:nvSpPr>
        <p:spPr>
          <a:xfrm>
            <a:off x="304800" y="2146300"/>
            <a:ext cx="2743200" cy="173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方法一</a:t>
            </a:r>
            <a:r>
              <a:rPr lang="en-US" altLang="zh-CN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</a:t>
            </a:r>
            <a:r>
              <a:rPr lang="zh-CN" altLang="en-US" sz="3600" b="1" dirty="0">
                <a:solidFill>
                  <a:srgbClr val="5F5F5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异步清零、加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法计数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3048000" y="2212975"/>
          <a:ext cx="5715000" cy="334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3924300" imgH="2257425" progId="Paint.Picture">
                  <p:embed/>
                </p:oleObj>
              </mc:Choice>
              <mc:Fallback>
                <p:oleObj name="" r:id="rId1" imgW="3924300" imgH="2257425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2212975"/>
                        <a:ext cx="5715000" cy="334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Text Box 8"/>
          <p:cNvSpPr txBox="1"/>
          <p:nvPr/>
        </p:nvSpPr>
        <p:spPr>
          <a:xfrm>
            <a:off x="152400" y="4203700"/>
            <a:ext cx="3505200" cy="2197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 = (147)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=(10010011)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3600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需要两片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CT74193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304800" y="381000"/>
            <a:ext cx="54102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00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、接成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M&gt;16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的计数器</a:t>
            </a:r>
            <a:endParaRPr kumimoji="1" lang="zh-CN" altLang="en-US" sz="4400" b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8" name="Text Box 10"/>
          <p:cNvSpPr txBox="1"/>
          <p:nvPr/>
        </p:nvSpPr>
        <p:spPr>
          <a:xfrm>
            <a:off x="8229600" y="3886200"/>
            <a:ext cx="304800" cy="140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9" name="Text Box 11"/>
          <p:cNvSpPr txBox="1"/>
          <p:nvPr/>
        </p:nvSpPr>
        <p:spPr>
          <a:xfrm>
            <a:off x="5486400" y="3886200"/>
            <a:ext cx="304800" cy="140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8140" name="Line 12"/>
          <p:cNvSpPr/>
          <p:nvPr/>
        </p:nvSpPr>
        <p:spPr>
          <a:xfrm>
            <a:off x="5410200" y="4191000"/>
            <a:ext cx="0" cy="2209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1" name="Line 13"/>
          <p:cNvSpPr/>
          <p:nvPr/>
        </p:nvSpPr>
        <p:spPr>
          <a:xfrm>
            <a:off x="5410200" y="6400800"/>
            <a:ext cx="2209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2" name="Line 14"/>
          <p:cNvSpPr/>
          <p:nvPr/>
        </p:nvSpPr>
        <p:spPr>
          <a:xfrm flipV="1">
            <a:off x="7620000" y="5867400"/>
            <a:ext cx="0" cy="533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3" name="Line 15"/>
          <p:cNvSpPr/>
          <p:nvPr/>
        </p:nvSpPr>
        <p:spPr>
          <a:xfrm flipH="1" flipV="1">
            <a:off x="7162800" y="58674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4" name="Line 16"/>
          <p:cNvSpPr/>
          <p:nvPr/>
        </p:nvSpPr>
        <p:spPr>
          <a:xfrm>
            <a:off x="5562600" y="4572000"/>
            <a:ext cx="0" cy="1676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5" name="Line 17"/>
          <p:cNvSpPr/>
          <p:nvPr/>
        </p:nvSpPr>
        <p:spPr>
          <a:xfrm>
            <a:off x="5562600" y="6248400"/>
            <a:ext cx="1905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6" name="Line 18"/>
          <p:cNvSpPr/>
          <p:nvPr/>
        </p:nvSpPr>
        <p:spPr>
          <a:xfrm flipV="1">
            <a:off x="7467600" y="6019800"/>
            <a:ext cx="0" cy="228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7" name="Line 19"/>
          <p:cNvSpPr/>
          <p:nvPr/>
        </p:nvSpPr>
        <p:spPr>
          <a:xfrm flipH="1">
            <a:off x="7162800" y="60198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8" name="Line 20"/>
          <p:cNvSpPr/>
          <p:nvPr/>
        </p:nvSpPr>
        <p:spPr>
          <a:xfrm>
            <a:off x="8153400" y="4191000"/>
            <a:ext cx="0" cy="13716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9" name="Line 21"/>
          <p:cNvSpPr/>
          <p:nvPr/>
        </p:nvSpPr>
        <p:spPr>
          <a:xfrm flipH="1">
            <a:off x="7162800" y="5562600"/>
            <a:ext cx="990600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0" name="Line 22"/>
          <p:cNvSpPr/>
          <p:nvPr/>
        </p:nvSpPr>
        <p:spPr>
          <a:xfrm flipH="1">
            <a:off x="8305800" y="5181600"/>
            <a:ext cx="0" cy="5334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1" name="Line 23"/>
          <p:cNvSpPr/>
          <p:nvPr/>
        </p:nvSpPr>
        <p:spPr>
          <a:xfrm flipH="1">
            <a:off x="7162800" y="5715000"/>
            <a:ext cx="1143000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2" name="Line 24"/>
          <p:cNvSpPr/>
          <p:nvPr/>
        </p:nvSpPr>
        <p:spPr>
          <a:xfrm flipH="1">
            <a:off x="3429000" y="5791200"/>
            <a:ext cx="3352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3" name="Line 25"/>
          <p:cNvSpPr/>
          <p:nvPr/>
        </p:nvSpPr>
        <p:spPr>
          <a:xfrm>
            <a:off x="3429000" y="3581400"/>
            <a:ext cx="0" cy="2209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4" name="Line 26"/>
          <p:cNvSpPr/>
          <p:nvPr/>
        </p:nvSpPr>
        <p:spPr>
          <a:xfrm flipH="1">
            <a:off x="3429000" y="3581400"/>
            <a:ext cx="152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5" name="Line 27"/>
          <p:cNvSpPr/>
          <p:nvPr/>
        </p:nvSpPr>
        <p:spPr>
          <a:xfrm flipH="1">
            <a:off x="6096000" y="35814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6" name="Line 28"/>
          <p:cNvSpPr/>
          <p:nvPr/>
        </p:nvSpPr>
        <p:spPr>
          <a:xfrm>
            <a:off x="6096000" y="3581400"/>
            <a:ext cx="0" cy="2209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0" name="Line 32"/>
          <p:cNvSpPr/>
          <p:nvPr/>
        </p:nvSpPr>
        <p:spPr>
          <a:xfrm flipV="1">
            <a:off x="1981200" y="4191000"/>
            <a:ext cx="3429000" cy="990600"/>
          </a:xfrm>
          <a:prstGeom prst="line">
            <a:avLst/>
          </a:prstGeom>
          <a:ln w="5715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61" name="Line 33"/>
          <p:cNvSpPr/>
          <p:nvPr/>
        </p:nvSpPr>
        <p:spPr>
          <a:xfrm flipV="1">
            <a:off x="1219200" y="4800600"/>
            <a:ext cx="6934200" cy="3048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8163" name="Object 35"/>
          <p:cNvGraphicFramePr>
            <a:graphicFrameLocks noChangeAspect="1"/>
          </p:cNvGraphicFramePr>
          <p:nvPr/>
        </p:nvGraphicFramePr>
        <p:xfrm>
          <a:off x="6781800" y="5410200"/>
          <a:ext cx="4318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209550" imgH="390525" progId="Paint.Picture">
                  <p:embed/>
                </p:oleObj>
              </mc:Choice>
              <mc:Fallback>
                <p:oleObj name="" r:id="rId3" imgW="209550" imgH="390525" progId="Paint.Picture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81800" y="5410200"/>
                        <a:ext cx="431800" cy="804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64" name="Line 36"/>
          <p:cNvSpPr/>
          <p:nvPr/>
        </p:nvSpPr>
        <p:spPr>
          <a:xfrm>
            <a:off x="685800" y="5562600"/>
            <a:ext cx="838200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6" name="Line 38"/>
          <p:cNvSpPr/>
          <p:nvPr/>
        </p:nvSpPr>
        <p:spPr>
          <a:xfrm>
            <a:off x="1600200" y="5562600"/>
            <a:ext cx="8382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7" name="Text Box 39"/>
          <p:cNvSpPr txBox="1"/>
          <p:nvPr/>
        </p:nvSpPr>
        <p:spPr>
          <a:xfrm>
            <a:off x="5486400" y="3886200"/>
            <a:ext cx="304800" cy="14017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8168" name="Text Box 40"/>
          <p:cNvSpPr txBox="1"/>
          <p:nvPr/>
        </p:nvSpPr>
        <p:spPr>
          <a:xfrm>
            <a:off x="8229600" y="3962400"/>
            <a:ext cx="304800" cy="14017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13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8136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136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8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481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8139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8139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8139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813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48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8138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8138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8138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81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8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8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8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8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8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8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8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8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8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8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8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8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8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000"/>
                            </p:stCondLst>
                            <p:childTnLst>
                              <p:par>
                                <p:cTn id="14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8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8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8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8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00"/>
                            </p:stCondLst>
                            <p:childTnLst>
                              <p:par>
                                <p:cTn id="15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500"/>
                            </p:stCondLst>
                            <p:childTnLst>
                              <p:par>
                                <p:cTn id="16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0"/>
                            </p:stCondLst>
                            <p:childTnLst>
                              <p:par>
                                <p:cTn id="168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8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8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8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8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500"/>
                            </p:stCondLst>
                            <p:childTnLst>
                              <p:par>
                                <p:cTn id="17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8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8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8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8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6000"/>
                            </p:stCondLst>
                            <p:childTnLst>
                              <p:par>
                                <p:cTn id="18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8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8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8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8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6500"/>
                            </p:stCondLst>
                            <p:childTnLst>
                              <p:par>
                                <p:cTn id="18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8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8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8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8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7000"/>
                            </p:stCondLst>
                            <p:childTnLst>
                              <p:par>
                                <p:cTn id="19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8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8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8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8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7500"/>
                            </p:stCondLst>
                            <p:childTnLst>
                              <p:par>
                                <p:cTn id="20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8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8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8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48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000"/>
                            </p:stCondLst>
                            <p:childTnLst>
                              <p:par>
                                <p:cTn id="21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8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8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8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8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8500"/>
                            </p:stCondLst>
                            <p:childTnLst>
                              <p:par>
                                <p:cTn id="2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48167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9500"/>
                            </p:stCondLst>
                            <p:childTnLst>
                              <p:par>
                                <p:cTn id="2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48167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48167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2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4816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2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1500"/>
                            </p:stCondLst>
                            <p:childTnLst>
                              <p:par>
                                <p:cTn id="2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48168">
                                            <p:txEl>
                                              <p:charRg st="6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48168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2500"/>
                            </p:stCondLst>
                            <p:childTnLst>
                              <p:par>
                                <p:cTn id="2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48168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3000"/>
                            </p:stCondLst>
                            <p:childTnLst>
                              <p:par>
                                <p:cTn id="2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4816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  <p:bldP spid="48134" grpId="0"/>
      <p:bldP spid="48136" grpId="0" uiExpand="1" build="p"/>
      <p:bldP spid="48137" grpId="0" animBg="1"/>
      <p:bldP spid="48138" grpId="0" advAuto="1000" rev="1" build="p"/>
      <p:bldP spid="48139" grpId="0" advAuto="1000" rev="1" build="p"/>
      <p:bldP spid="48167" grpId="0" animBg="1" advAuto="1000" rev="1" uiExpand="1" build="p"/>
      <p:bldP spid="48168" grpId="0" animBg="1" advAuto="1000" rev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9155" name="Text Box 3"/>
          <p:cNvSpPr txBox="1"/>
          <p:nvPr/>
        </p:nvSpPr>
        <p:spPr>
          <a:xfrm>
            <a:off x="152400" y="2286000"/>
            <a:ext cx="2667000" cy="185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方法二</a:t>
            </a:r>
            <a:r>
              <a:rPr lang="en-US" altLang="zh-CN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采用</a:t>
            </a:r>
            <a:r>
              <a:rPr lang="zh-CN" altLang="en-US" sz="3600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减</a:t>
            </a:r>
            <a:r>
              <a:rPr lang="zh-CN" altLang="en-US" sz="36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法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计数</a:t>
            </a:r>
            <a:b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</a:br>
            <a:r>
              <a:rPr lang="zh-CN" altLang="en-US" sz="3600" b="1" dirty="0">
                <a:solidFill>
                  <a:srgbClr val="5F5F5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异步预置</a:t>
            </a:r>
            <a:br>
              <a:rPr lang="zh-CN" altLang="en-US" sz="3600" b="1" dirty="0">
                <a:solidFill>
                  <a:srgbClr val="5F5F5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利用</a:t>
            </a:r>
            <a:r>
              <a:rPr lang="en-US" altLang="zh-CN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sz="3600" b="1" baseline="-25000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CB</a:t>
            </a:r>
            <a:r>
              <a:rPr lang="zh-CN" altLang="en-US" sz="3600" b="1" dirty="0">
                <a:solidFill>
                  <a:srgbClr val="5F5F5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端</a:t>
            </a:r>
            <a:endParaRPr lang="zh-CN" altLang="en-US" sz="3600" b="1" dirty="0">
              <a:solidFill>
                <a:srgbClr val="5F5F5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9157" name="Text Box 5"/>
          <p:cNvSpPr txBox="1"/>
          <p:nvPr/>
        </p:nvSpPr>
        <p:spPr>
          <a:xfrm>
            <a:off x="0" y="4876800"/>
            <a:ext cx="2743200" cy="1465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 = (147)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=(10010011)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2895600" y="2971800"/>
          <a:ext cx="62484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4591050" imgH="2409825" progId="Paint.Picture">
                  <p:embed/>
                </p:oleObj>
              </mc:Choice>
              <mc:Fallback>
                <p:oleObj name="" r:id="rId1" imgW="4591050" imgH="2409825" progId="Paint.Picture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0" y="2971800"/>
                        <a:ext cx="6248400" cy="335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Text Box 8"/>
          <p:cNvSpPr txBox="1"/>
          <p:nvPr/>
        </p:nvSpPr>
        <p:spPr>
          <a:xfrm>
            <a:off x="8305800" y="4770438"/>
            <a:ext cx="304800" cy="1401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9161" name="Text Box 9"/>
          <p:cNvSpPr txBox="1"/>
          <p:nvPr/>
        </p:nvSpPr>
        <p:spPr>
          <a:xfrm>
            <a:off x="5486400" y="4800600"/>
            <a:ext cx="304800" cy="140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9162" name="Line 10"/>
          <p:cNvSpPr/>
          <p:nvPr/>
        </p:nvSpPr>
        <p:spPr>
          <a:xfrm flipV="1">
            <a:off x="2514600" y="5181600"/>
            <a:ext cx="685800" cy="53340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63" name="Line 11"/>
          <p:cNvSpPr/>
          <p:nvPr/>
        </p:nvSpPr>
        <p:spPr>
          <a:xfrm flipV="1">
            <a:off x="2438400" y="5638800"/>
            <a:ext cx="3581400" cy="7620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64" name="Line 12"/>
          <p:cNvSpPr/>
          <p:nvPr/>
        </p:nvSpPr>
        <p:spPr>
          <a:xfrm>
            <a:off x="8382000" y="42672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5" name="Line 13"/>
          <p:cNvSpPr/>
          <p:nvPr/>
        </p:nvSpPr>
        <p:spPr>
          <a:xfrm flipV="1">
            <a:off x="8839200" y="3048000"/>
            <a:ext cx="0" cy="1219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6" name="Line 14"/>
          <p:cNvSpPr/>
          <p:nvPr/>
        </p:nvSpPr>
        <p:spPr>
          <a:xfrm flipH="1">
            <a:off x="3429000" y="3048000"/>
            <a:ext cx="5410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7" name="Line 15"/>
          <p:cNvSpPr/>
          <p:nvPr/>
        </p:nvSpPr>
        <p:spPr>
          <a:xfrm>
            <a:off x="6248400" y="3048000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8" name="Line 16"/>
          <p:cNvSpPr/>
          <p:nvPr/>
        </p:nvSpPr>
        <p:spPr>
          <a:xfrm>
            <a:off x="6248400" y="35052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9" name="Line 17"/>
          <p:cNvSpPr/>
          <p:nvPr/>
        </p:nvSpPr>
        <p:spPr>
          <a:xfrm>
            <a:off x="3429000" y="3048000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0" name="Line 18"/>
          <p:cNvSpPr/>
          <p:nvPr/>
        </p:nvSpPr>
        <p:spPr>
          <a:xfrm>
            <a:off x="3429000" y="35052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1" name="Text Box 19"/>
          <p:cNvSpPr txBox="1"/>
          <p:nvPr/>
        </p:nvSpPr>
        <p:spPr>
          <a:xfrm>
            <a:off x="3124200" y="4922838"/>
            <a:ext cx="304800" cy="1401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9172" name="Text Box 20"/>
          <p:cNvSpPr txBox="1"/>
          <p:nvPr/>
        </p:nvSpPr>
        <p:spPr>
          <a:xfrm>
            <a:off x="6019800" y="4999038"/>
            <a:ext cx="3048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3810" name="Text Box 22"/>
          <p:cNvSpPr txBox="1"/>
          <p:nvPr/>
        </p:nvSpPr>
        <p:spPr>
          <a:xfrm>
            <a:off x="1447800" y="1371600"/>
            <a:ext cx="6781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1: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CT74193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M=147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304800" y="381000"/>
            <a:ext cx="54102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00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、接成</a:t>
            </a:r>
            <a:r>
              <a:rPr kumimoji="1" lang="en-US" altLang="zh-CN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M&gt;16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的计数器</a:t>
            </a:r>
            <a:endParaRPr kumimoji="1" lang="zh-CN" altLang="en-US" sz="4400" b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7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"/>
                            </p:stCondLst>
                            <p:childTnLst>
                              <p:par>
                                <p:cTn id="4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9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500"/>
                            </p:stCondLst>
                            <p:childTnLst>
                              <p:par>
                                <p:cTn id="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799"/>
                            </p:stCondLst>
                            <p:childTnLst>
                              <p:par>
                                <p:cTn id="10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49157" grpId="0" build="p"/>
      <p:bldP spid="49160" grpId="0"/>
      <p:bldP spid="49161" grpId="0"/>
      <p:bldP spid="49171" grpId="0"/>
      <p:bldP spid="4917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43800" cy="9906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flatTx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§6.1.2  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中规模计数器</a:t>
            </a:r>
            <a:endParaRPr kumimoji="1" lang="zh-CN" altLang="en-US" sz="6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34819" name="Text Box 3">
            <a:hlinkClick r:id="rId1" action="ppaction://hlinksldjump"/>
          </p:cNvPr>
          <p:cNvSpPr txBox="1"/>
          <p:nvPr/>
        </p:nvSpPr>
        <p:spPr>
          <a:xfrm>
            <a:off x="838200" y="5257800"/>
            <a:ext cx="7162800" cy="750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4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三、中规模异步计数器</a:t>
            </a:r>
            <a:endParaRPr lang="zh-CN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34820" name="Text Box 4">
            <a:hlinkClick r:id="rId2" action="ppaction://hlinksldjump"/>
          </p:cNvPr>
          <p:cNvSpPr txBox="1"/>
          <p:nvPr/>
        </p:nvSpPr>
        <p:spPr>
          <a:xfrm>
            <a:off x="838200" y="4191000"/>
            <a:ext cx="7772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75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二、四位二进制可逆计数器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4821" name="Text Box 5">
            <a:hlinkClick r:id="rId3" action="ppaction://hlinksldjump"/>
          </p:cNvPr>
          <p:cNvSpPr txBox="1"/>
          <p:nvPr/>
        </p:nvSpPr>
        <p:spPr>
          <a:xfrm>
            <a:off x="838200" y="2971800"/>
            <a:ext cx="7848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一、四位二进制同步计数器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04" name="Rectangle 1028"/>
          <p:cNvSpPr/>
          <p:nvPr/>
        </p:nvSpPr>
        <p:spPr>
          <a:xfrm>
            <a:off x="1111250" y="1447800"/>
            <a:ext cx="8413750" cy="4473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         入	                      输       出	</a:t>
            </a:r>
            <a:b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CP  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R0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R0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Sg</a:t>
            </a:r>
            <a:r>
              <a:rPr lang="zh-CN" altLang="en-US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Sg</a:t>
            </a:r>
            <a:r>
              <a:rPr lang="zh-CN" altLang="en-US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b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1	1	    0	  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	      0 	   0     0        0	</a:t>
            </a:r>
            <a:endParaRPr lang="en-US" altLang="zh-CN" sz="24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	1	1             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Φ    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0	      0	   0     0        0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Φ    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    </a:t>
            </a:r>
            <a:r>
              <a:rPr lang="en-US" altLang="zh-CN" sz="2400" b="1" dirty="0">
                <a:solidFill>
                  <a:srgbClr val="00CC00"/>
                </a:solidFill>
                <a:latin typeface="Times New Roman" panose="02020603050405020304" pitchFamily="18" charset="0"/>
              </a:rPr>
              <a:t>1	   1	      1	   0     0        1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↓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0	  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    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0	        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计            数	</a:t>
            </a:r>
            <a:endParaRPr lang="zh-CN" altLang="en-US" sz="24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    0       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	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  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   0		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0	    0        </a:t>
            </a:r>
            <a:r>
              <a:rPr lang="en-US" altLang="zh-CN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		  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2415" name="Group 1039"/>
          <p:cNvGrpSpPr/>
          <p:nvPr/>
        </p:nvGrpSpPr>
        <p:grpSpPr>
          <a:xfrm>
            <a:off x="838200" y="1295400"/>
            <a:ext cx="7772400" cy="4648200"/>
            <a:chOff x="528" y="816"/>
            <a:chExt cx="4896" cy="3024"/>
          </a:xfrm>
        </p:grpSpPr>
        <p:sp>
          <p:nvSpPr>
            <p:cNvPr id="35845" name="Rectangle 1029"/>
            <p:cNvSpPr/>
            <p:nvPr/>
          </p:nvSpPr>
          <p:spPr>
            <a:xfrm>
              <a:off x="528" y="816"/>
              <a:ext cx="4896" cy="3024"/>
            </a:xfrm>
            <a:prstGeom prst="rect">
              <a:avLst/>
            </a:prstGeom>
            <a:noFill/>
            <a:ln w="57150" cap="flat" cmpd="thinThick">
              <a:solidFill>
                <a:srgbClr val="FFCC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46" name="Line 1030"/>
            <p:cNvSpPr/>
            <p:nvPr/>
          </p:nvSpPr>
          <p:spPr>
            <a:xfrm>
              <a:off x="576" y="1200"/>
              <a:ext cx="48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47" name="Line 1031"/>
            <p:cNvSpPr/>
            <p:nvPr/>
          </p:nvSpPr>
          <p:spPr>
            <a:xfrm>
              <a:off x="3840" y="864"/>
              <a:ext cx="0" cy="29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48" name="Line 1032"/>
            <p:cNvSpPr/>
            <p:nvPr/>
          </p:nvSpPr>
          <p:spPr>
            <a:xfrm>
              <a:off x="576" y="1680"/>
              <a:ext cx="48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49" name="Line 1033"/>
            <p:cNvSpPr/>
            <p:nvPr/>
          </p:nvSpPr>
          <p:spPr>
            <a:xfrm>
              <a:off x="576" y="2592"/>
              <a:ext cx="48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0" name="Line 1035"/>
            <p:cNvSpPr/>
            <p:nvPr/>
          </p:nvSpPr>
          <p:spPr>
            <a:xfrm>
              <a:off x="1056" y="1200"/>
              <a:ext cx="0" cy="26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1" name="Line 1036"/>
            <p:cNvSpPr/>
            <p:nvPr/>
          </p:nvSpPr>
          <p:spPr>
            <a:xfrm>
              <a:off x="2496" y="1200"/>
              <a:ext cx="0" cy="26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2414" name="Text Box 1038"/>
          <p:cNvSpPr txBox="1">
            <a:spLocks noChangeArrowheads="1"/>
          </p:cNvSpPr>
          <p:nvPr/>
        </p:nvSpPr>
        <p:spPr bwMode="auto">
          <a:xfrm>
            <a:off x="1219200" y="381000"/>
            <a:ext cx="6553200" cy="762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3725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三、异步计数器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CT74290</a:t>
            </a:r>
            <a:endParaRPr kumimoji="1" lang="en-US" altLang="zh-CN" sz="28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04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6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04">
                                            <p:txEl>
                                              <p:charRg st="66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11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04">
                                            <p:txEl>
                                              <p:charRg st="115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162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04">
                                            <p:txEl>
                                              <p:charRg st="162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215" end="2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04">
                                            <p:txEl>
                                              <p:charRg st="215" end="2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274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404">
                                            <p:txEl>
                                              <p:charRg st="274" end="3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314" end="3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404">
                                            <p:txEl>
                                              <p:charRg st="314" end="3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344" end="3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404">
                                            <p:txEl>
                                              <p:charRg st="344" end="3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369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404">
                                            <p:txEl>
                                              <p:charRg st="369" end="3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/>
      <p:bldP spid="1024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1219200" y="381000"/>
            <a:ext cx="6553200" cy="762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3725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三、异步计数器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CT74290</a:t>
            </a:r>
            <a:endParaRPr kumimoji="1" lang="en-US" altLang="zh-CN" sz="28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Text Box 3"/>
          <p:cNvSpPr txBox="1"/>
          <p:nvPr/>
        </p:nvSpPr>
        <p:spPr>
          <a:xfrm>
            <a:off x="3962400" y="1600200"/>
            <a:ext cx="5181600" cy="4943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：模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 </a:t>
            </a:r>
            <a:r>
              <a:rPr lang="en-US" altLang="zh-CN" b="1" dirty="0">
                <a:latin typeface="宋体" panose="02010600030101010101" pitchFamily="2" charset="-122"/>
              </a:rPr>
              <a:t>CP</a:t>
            </a:r>
            <a:r>
              <a:rPr lang="en-US" altLang="zh-CN" b="1" baseline="-25000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入</a:t>
            </a:r>
            <a:r>
              <a:rPr lang="en-US" altLang="zh-CN" b="1" dirty="0">
                <a:latin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出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：模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异步计数器         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CP</a:t>
            </a:r>
            <a:r>
              <a:rPr lang="en-US" altLang="zh-CN" b="1" baseline="-25000" dirty="0">
                <a:solidFill>
                  <a:srgbClr val="FF3300"/>
                </a:solidFill>
                <a:latin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入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 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出</a:t>
            </a:r>
            <a:endParaRPr lang="zh-CN" altLang="en-US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时钟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输入端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01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02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  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直接清零端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g1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g2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: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置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端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高位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低位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228600" y="2362200"/>
          <a:ext cx="3762375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1847850" imgH="2171700" progId="Paint.Picture">
                  <p:embed/>
                </p:oleObj>
              </mc:Choice>
              <mc:Fallback>
                <p:oleObj name="" r:id="rId1" imgW="1847850" imgH="2171700" progId="Paint.Picture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2362200"/>
                        <a:ext cx="3762375" cy="441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7"/>
          <p:cNvSpPr txBox="1"/>
          <p:nvPr/>
        </p:nvSpPr>
        <p:spPr>
          <a:xfrm>
            <a:off x="457200" y="1447800"/>
            <a:ext cx="3810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（一）、  逻辑符号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17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21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179">
                                            <p:txEl>
                                              <p:charRg st="21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179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81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179">
                                            <p:txEl>
                                              <p:charRg st="81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99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600"/>
                                        <p:tgtEl>
                                          <p:spTgt spid="50179">
                                            <p:txEl>
                                              <p:charRg st="99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114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179">
                                            <p:txEl>
                                              <p:charRg st="114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uiExpand="1" build="p"/>
      <p:bldP spid="5018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03" name="Text Box 3"/>
          <p:cNvSpPr txBox="1"/>
          <p:nvPr/>
        </p:nvSpPr>
        <p:spPr>
          <a:xfrm>
            <a:off x="381000" y="2133600"/>
            <a:ext cx="8382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直接清零：当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R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=R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02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=0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g1</a:t>
            </a:r>
            <a:r>
              <a:rPr lang="zh-CN" altLang="en-US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、 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g2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有低电平时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输出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0000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状态。与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CP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无关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51204" name="Text Box 4"/>
          <p:cNvSpPr txBox="1"/>
          <p:nvPr/>
        </p:nvSpPr>
        <p:spPr>
          <a:xfrm>
            <a:off x="381000" y="3763963"/>
            <a:ext cx="8229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置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：当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g1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g2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= 1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时，</a:t>
            </a:r>
            <a:r>
              <a:rPr lang="zh-CN" altLang="en-US" b="1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输出 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1001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状态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1206" name="Text Box 6"/>
          <p:cNvSpPr txBox="1"/>
          <p:nvPr/>
        </p:nvSpPr>
        <p:spPr>
          <a:xfrm>
            <a:off x="381000" y="4632325"/>
            <a:ext cx="8382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计数：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R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01</a:t>
            </a:r>
            <a:r>
              <a:rPr lang="zh-CN" altLang="en-US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R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02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及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g1</a:t>
            </a:r>
            <a:r>
              <a:rPr lang="zh-CN" altLang="en-US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b="1" baseline="-25000" dirty="0">
                <a:solidFill>
                  <a:srgbClr val="CC0000"/>
                </a:solidFill>
                <a:latin typeface="宋体" panose="02010600030101010101" pitchFamily="2" charset="-122"/>
              </a:rPr>
              <a:t>g2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有低电平时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，且当有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CP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下降沿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时，即可以实现计数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3" name="Text Box 8"/>
          <p:cNvSpPr txBox="1"/>
          <p:nvPr/>
        </p:nvSpPr>
        <p:spPr>
          <a:xfrm>
            <a:off x="457200" y="1447800"/>
            <a:ext cx="3048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（二）、功能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1219200" y="381000"/>
            <a:ext cx="6553200" cy="762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3725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三、异步计数器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CT74290</a:t>
            </a:r>
            <a:endParaRPr kumimoji="1" lang="en-US" altLang="zh-CN" sz="28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11" name="AutoShape 11"/>
          <p:cNvSpPr/>
          <p:nvPr/>
        </p:nvSpPr>
        <p:spPr>
          <a:xfrm>
            <a:off x="1905000" y="3352800"/>
            <a:ext cx="4419600" cy="1676400"/>
          </a:xfrm>
          <a:prstGeom prst="wedgeRoundRectCallout">
            <a:avLst>
              <a:gd name="adj1" fmla="val -57542"/>
              <a:gd name="adj2" fmla="val 48199"/>
              <a:gd name="adj3" fmla="val 16667"/>
            </a:avLst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在外部将</a:t>
            </a:r>
            <a:r>
              <a:rPr lang="en-US" altLang="zh-CN" b="1" dirty="0">
                <a:latin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</a:rPr>
              <a:t>CP</a:t>
            </a:r>
            <a:r>
              <a:rPr lang="en-US" altLang="zh-CN" b="1" baseline="-25000" dirty="0">
                <a:latin typeface="宋体" panose="02010600030101010101" pitchFamily="2" charset="-122"/>
              </a:rPr>
              <a:t>B</a:t>
            </a:r>
            <a:r>
              <a:rPr lang="zh-CN" altLang="en-US" b="1" dirty="0">
                <a:latin typeface="宋体" panose="02010600030101010101" pitchFamily="2" charset="-122"/>
              </a:rPr>
              <a:t>连接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构成</a:t>
            </a:r>
            <a:r>
              <a:rPr lang="en-US" altLang="zh-CN" b="1" dirty="0">
                <a:latin typeface="宋体" panose="02010600030101010101" pitchFamily="2" charset="-122"/>
              </a:rPr>
              <a:t>8421BCD</a:t>
            </a:r>
            <a:r>
              <a:rPr lang="zh-CN" altLang="en-US" b="1" dirty="0">
                <a:latin typeface="宋体" panose="02010600030101010101" pitchFamily="2" charset="-122"/>
              </a:rPr>
              <a:t>码计数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CP</a:t>
            </a:r>
            <a:r>
              <a:rPr lang="en-US" altLang="zh-CN" b="1" baseline="-25000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入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出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1212" name="AutoShape 12"/>
          <p:cNvSpPr/>
          <p:nvPr/>
        </p:nvSpPr>
        <p:spPr>
          <a:xfrm>
            <a:off x="1828800" y="5181600"/>
            <a:ext cx="4419600" cy="1676400"/>
          </a:xfrm>
          <a:prstGeom prst="wedgeRoundRectCallout">
            <a:avLst>
              <a:gd name="adj1" fmla="val -55745"/>
              <a:gd name="adj2" fmla="val -4725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在外部将</a:t>
            </a:r>
            <a:r>
              <a:rPr lang="en-US" altLang="zh-CN" b="1" dirty="0">
                <a:latin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宋体" panose="02010600030101010101" pitchFamily="2" charset="-122"/>
              </a:rPr>
              <a:t>D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</a:rPr>
              <a:t>CP</a:t>
            </a:r>
            <a:r>
              <a:rPr lang="en-US" altLang="zh-CN" b="1" baseline="-25000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连接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构成</a:t>
            </a:r>
            <a:r>
              <a:rPr lang="en-US" altLang="zh-CN" b="1" dirty="0">
                <a:latin typeface="宋体" panose="02010600030101010101" pitchFamily="2" charset="-122"/>
              </a:rPr>
              <a:t>5421BCD</a:t>
            </a:r>
            <a:r>
              <a:rPr lang="zh-CN" altLang="en-US" b="1" dirty="0">
                <a:latin typeface="宋体" panose="02010600030101010101" pitchFamily="2" charset="-122"/>
              </a:rPr>
              <a:t>码计数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CP</a:t>
            </a:r>
            <a:r>
              <a:rPr lang="en-US" altLang="zh-CN" b="1" baseline="-25000" dirty="0">
                <a:latin typeface="宋体" panose="02010600030101010101" pitchFamily="2" charset="-122"/>
              </a:rPr>
              <a:t>B</a:t>
            </a:r>
            <a:r>
              <a:rPr lang="zh-CN" altLang="en-US" b="1" dirty="0">
                <a:latin typeface="宋体" panose="02010600030101010101" pitchFamily="2" charset="-122"/>
              </a:rPr>
              <a:t>入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 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</a:t>
            </a:r>
            <a:r>
              <a:rPr lang="en-US" altLang="zh-CN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出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/>
      <p:bldP spid="51204" grpId="0"/>
      <p:bldP spid="51206" grpId="0"/>
      <p:bldP spid="51211" grpId="0" animBg="1"/>
      <p:bldP spid="512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2229" name="Text Box 5"/>
          <p:cNvSpPr txBox="1"/>
          <p:nvPr/>
        </p:nvSpPr>
        <p:spPr>
          <a:xfrm>
            <a:off x="685800" y="304800"/>
            <a:ext cx="6934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：采用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T74290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M=6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2230" name="Text Box 6"/>
          <p:cNvSpPr txBox="1"/>
          <p:nvPr/>
        </p:nvSpPr>
        <p:spPr>
          <a:xfrm>
            <a:off x="533400" y="1143000"/>
            <a:ext cx="4114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方法一：利用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端</a:t>
            </a:r>
            <a:endParaRPr lang="zh-CN" altLang="en-US" sz="2400" b="1" dirty="0">
              <a:solidFill>
                <a:srgbClr val="0066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1" name="Rectangle 7"/>
          <p:cNvSpPr/>
          <p:nvPr/>
        </p:nvSpPr>
        <p:spPr>
          <a:xfrm>
            <a:off x="304800" y="2209800"/>
            <a:ext cx="2927350" cy="3743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M=6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	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	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	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	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	1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	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	1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5F5F5F"/>
                </a:solidFill>
                <a:latin typeface="Times New Roman" panose="02020603050405020304" pitchFamily="18" charset="0"/>
              </a:rPr>
              <a:t>6	0    1    1    0</a:t>
            </a:r>
            <a:r>
              <a:rPr lang="en-US" altLang="zh-CN" sz="2400" b="1" dirty="0"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4191000" y="2039938"/>
          <a:ext cx="4724400" cy="466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2114550" imgH="1905000" progId="Paint.Picture">
                  <p:embed/>
                </p:oleObj>
              </mc:Choice>
              <mc:Fallback>
                <p:oleObj name="" r:id="rId1" imgW="2114550" imgH="1905000" progId="Paint.Picture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91000" y="2039938"/>
                        <a:ext cx="4724400" cy="466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3" name="Rectangle 9"/>
          <p:cNvSpPr/>
          <p:nvPr/>
        </p:nvSpPr>
        <p:spPr>
          <a:xfrm>
            <a:off x="1143000" y="5486400"/>
            <a:ext cx="1828800" cy="4572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4" name="Line 10"/>
          <p:cNvSpPr/>
          <p:nvPr/>
        </p:nvSpPr>
        <p:spPr>
          <a:xfrm>
            <a:off x="762000" y="57150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35" name="Line 11"/>
          <p:cNvSpPr/>
          <p:nvPr/>
        </p:nvSpPr>
        <p:spPr>
          <a:xfrm flipH="1" flipV="1">
            <a:off x="762000" y="3505200"/>
            <a:ext cx="0" cy="22098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36" name="Line 12"/>
          <p:cNvSpPr/>
          <p:nvPr/>
        </p:nvSpPr>
        <p:spPr>
          <a:xfrm flipH="1" flipV="1">
            <a:off x="762000" y="3505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52237" name="Line 13"/>
          <p:cNvSpPr/>
          <p:nvPr/>
        </p:nvSpPr>
        <p:spPr>
          <a:xfrm flipV="1">
            <a:off x="3124200" y="5410200"/>
            <a:ext cx="5029200" cy="45720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8" name="Text Box 14"/>
          <p:cNvSpPr txBox="1"/>
          <p:nvPr/>
        </p:nvSpPr>
        <p:spPr>
          <a:xfrm>
            <a:off x="8763000" y="4572000"/>
            <a:ext cx="381000" cy="184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0110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239" name="Text Box 15"/>
          <p:cNvSpPr txBox="1"/>
          <p:nvPr/>
        </p:nvSpPr>
        <p:spPr>
          <a:xfrm>
            <a:off x="8534400" y="4656138"/>
            <a:ext cx="381000" cy="1592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6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52240" name="Line 16"/>
          <p:cNvSpPr/>
          <p:nvPr/>
        </p:nvSpPr>
        <p:spPr>
          <a:xfrm>
            <a:off x="7848600" y="52578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1" name="Line 17"/>
          <p:cNvSpPr/>
          <p:nvPr/>
        </p:nvSpPr>
        <p:spPr>
          <a:xfrm>
            <a:off x="7772400" y="5638800"/>
            <a:ext cx="762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2" name="Line 18"/>
          <p:cNvSpPr/>
          <p:nvPr/>
        </p:nvSpPr>
        <p:spPr>
          <a:xfrm flipV="1">
            <a:off x="8382000" y="2057400"/>
            <a:ext cx="0" cy="3200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3" name="Line 19"/>
          <p:cNvSpPr/>
          <p:nvPr/>
        </p:nvSpPr>
        <p:spPr>
          <a:xfrm flipV="1">
            <a:off x="8534400" y="1828800"/>
            <a:ext cx="0" cy="3810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4" name="Line 20"/>
          <p:cNvSpPr/>
          <p:nvPr/>
        </p:nvSpPr>
        <p:spPr>
          <a:xfrm flipH="1">
            <a:off x="5105400" y="2057400"/>
            <a:ext cx="3276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5" name="Line 21"/>
          <p:cNvSpPr/>
          <p:nvPr/>
        </p:nvSpPr>
        <p:spPr>
          <a:xfrm flipH="1">
            <a:off x="4724400" y="1828800"/>
            <a:ext cx="3810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6" name="Line 22"/>
          <p:cNvSpPr/>
          <p:nvPr/>
        </p:nvSpPr>
        <p:spPr>
          <a:xfrm flipH="1">
            <a:off x="5105400" y="2057400"/>
            <a:ext cx="0" cy="533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7" name="Line 23"/>
          <p:cNvSpPr/>
          <p:nvPr/>
        </p:nvSpPr>
        <p:spPr>
          <a:xfrm>
            <a:off x="4724400" y="1828800"/>
            <a:ext cx="0" cy="1143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8" name="Line 24"/>
          <p:cNvSpPr/>
          <p:nvPr/>
        </p:nvSpPr>
        <p:spPr>
          <a:xfrm>
            <a:off x="5105400" y="25908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9" name="Line 25"/>
          <p:cNvSpPr/>
          <p:nvPr/>
        </p:nvSpPr>
        <p:spPr>
          <a:xfrm flipH="1">
            <a:off x="4724400" y="2971800"/>
            <a:ext cx="838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2255" name="Group 31"/>
          <p:cNvGrpSpPr/>
          <p:nvPr/>
        </p:nvGrpSpPr>
        <p:grpSpPr>
          <a:xfrm>
            <a:off x="5029200" y="4724400"/>
            <a:ext cx="3200400" cy="1676400"/>
            <a:chOff x="3168" y="2976"/>
            <a:chExt cx="2016" cy="1056"/>
          </a:xfrm>
        </p:grpSpPr>
        <p:sp>
          <p:nvSpPr>
            <p:cNvPr id="38936" name="Line 26"/>
            <p:cNvSpPr/>
            <p:nvPr/>
          </p:nvSpPr>
          <p:spPr>
            <a:xfrm>
              <a:off x="4944" y="2976"/>
              <a:ext cx="240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7" name="Line 27"/>
            <p:cNvSpPr/>
            <p:nvPr/>
          </p:nvSpPr>
          <p:spPr>
            <a:xfrm>
              <a:off x="5184" y="2976"/>
              <a:ext cx="0" cy="1056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8" name="Line 28"/>
            <p:cNvSpPr/>
            <p:nvPr/>
          </p:nvSpPr>
          <p:spPr>
            <a:xfrm flipH="1">
              <a:off x="3216" y="4032"/>
              <a:ext cx="1968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9" name="Line 29"/>
            <p:cNvSpPr/>
            <p:nvPr/>
          </p:nvSpPr>
          <p:spPr>
            <a:xfrm flipV="1">
              <a:off x="3168" y="3312"/>
              <a:ext cx="0" cy="72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0" name="Line 30"/>
            <p:cNvSpPr/>
            <p:nvPr/>
          </p:nvSpPr>
          <p:spPr>
            <a:xfrm>
              <a:off x="3168" y="3312"/>
              <a:ext cx="336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1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31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31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5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31">
                                            <p:txEl>
                                              <p:charRg st="50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6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31">
                                            <p:txEl>
                                              <p:charRg st="69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88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231">
                                            <p:txEl>
                                              <p:charRg st="88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107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231">
                                            <p:txEl>
                                              <p:charRg st="107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231">
                                            <p:txEl>
                                              <p:charRg st="126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231">
                                            <p:txEl>
                                              <p:charRg st="145" end="1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4" dur="5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9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00"/>
                            </p:stCondLst>
                            <p:childTnLst>
                              <p:par>
                                <p:cTn id="17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75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75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30" grpId="0"/>
      <p:bldP spid="52231" grpId="0" build="p"/>
      <p:bldP spid="52238" grpId="0"/>
      <p:bldP spid="5223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3250" name="Text Box 2"/>
          <p:cNvSpPr txBox="1"/>
          <p:nvPr/>
        </p:nvSpPr>
        <p:spPr>
          <a:xfrm>
            <a:off x="685800" y="304800"/>
            <a:ext cx="6934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：采用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T74290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M=7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3251" name="Text Box 3"/>
          <p:cNvSpPr txBox="1"/>
          <p:nvPr/>
        </p:nvSpPr>
        <p:spPr>
          <a:xfrm>
            <a:off x="457200" y="2362200"/>
            <a:ext cx="2895600" cy="410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M=7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	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	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	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	1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	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	1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5F5F5F"/>
                </a:solidFill>
                <a:latin typeface="Times New Roman" panose="02020603050405020304" pitchFamily="18" charset="0"/>
              </a:rPr>
              <a:t>6	0    1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	1    0    0    1</a:t>
            </a:r>
            <a:endParaRPr lang="en-US" altLang="zh-CN" sz="2800" b="1" dirty="0">
              <a:solidFill>
                <a:srgbClr val="0066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4" name="Text Box 6"/>
          <p:cNvSpPr txBox="1"/>
          <p:nvPr/>
        </p:nvSpPr>
        <p:spPr>
          <a:xfrm>
            <a:off x="533400" y="1219200"/>
            <a:ext cx="3048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方法二：利用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端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4070350" y="1828800"/>
          <a:ext cx="4768850" cy="493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2343150" imgH="2705100" progId="Paint.Picture">
                  <p:embed/>
                </p:oleObj>
              </mc:Choice>
              <mc:Fallback>
                <p:oleObj name="" r:id="rId1" imgW="2343150" imgH="2705100" progId="Paint.Picture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0350" y="1828800"/>
                        <a:ext cx="4768850" cy="493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Rectangle 8"/>
          <p:cNvSpPr/>
          <p:nvPr/>
        </p:nvSpPr>
        <p:spPr>
          <a:xfrm>
            <a:off x="1295400" y="5638800"/>
            <a:ext cx="1752600" cy="3810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7" name="Line 9"/>
          <p:cNvSpPr/>
          <p:nvPr/>
        </p:nvSpPr>
        <p:spPr>
          <a:xfrm>
            <a:off x="838200" y="6172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8" name="Line 10"/>
          <p:cNvSpPr/>
          <p:nvPr/>
        </p:nvSpPr>
        <p:spPr>
          <a:xfrm flipH="1" flipV="1">
            <a:off x="838200" y="3657600"/>
            <a:ext cx="0" cy="25146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9" name="Line 11"/>
          <p:cNvSpPr/>
          <p:nvPr/>
        </p:nvSpPr>
        <p:spPr>
          <a:xfrm flipH="1" flipV="1">
            <a:off x="838200" y="36576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53260" name="Line 12"/>
          <p:cNvSpPr/>
          <p:nvPr/>
        </p:nvSpPr>
        <p:spPr>
          <a:xfrm flipV="1">
            <a:off x="3124200" y="5410200"/>
            <a:ext cx="4876800" cy="457200"/>
          </a:xfrm>
          <a:prstGeom prst="line">
            <a:avLst/>
          </a:prstGeom>
          <a:ln w="2032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61" name="Text Box 13"/>
          <p:cNvSpPr txBox="1"/>
          <p:nvPr/>
        </p:nvSpPr>
        <p:spPr>
          <a:xfrm>
            <a:off x="8153400" y="4724400"/>
            <a:ext cx="381000" cy="160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53262" name="Line 14"/>
          <p:cNvSpPr/>
          <p:nvPr/>
        </p:nvSpPr>
        <p:spPr>
          <a:xfrm>
            <a:off x="7848600" y="52578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3" name="Line 15"/>
          <p:cNvSpPr/>
          <p:nvPr/>
        </p:nvSpPr>
        <p:spPr>
          <a:xfrm>
            <a:off x="7848600" y="5638800"/>
            <a:ext cx="609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4" name="Line 16"/>
          <p:cNvSpPr/>
          <p:nvPr/>
        </p:nvSpPr>
        <p:spPr>
          <a:xfrm flipV="1">
            <a:off x="8305800" y="2057400"/>
            <a:ext cx="0" cy="3200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5" name="Line 17"/>
          <p:cNvSpPr/>
          <p:nvPr/>
        </p:nvSpPr>
        <p:spPr>
          <a:xfrm flipV="1">
            <a:off x="8458200" y="1828800"/>
            <a:ext cx="0" cy="3810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6" name="Line 18"/>
          <p:cNvSpPr/>
          <p:nvPr/>
        </p:nvSpPr>
        <p:spPr>
          <a:xfrm flipH="1">
            <a:off x="4495800" y="2057400"/>
            <a:ext cx="3810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7" name="Line 19"/>
          <p:cNvSpPr/>
          <p:nvPr/>
        </p:nvSpPr>
        <p:spPr>
          <a:xfrm flipH="1">
            <a:off x="4343400" y="1828800"/>
            <a:ext cx="411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8" name="Line 20"/>
          <p:cNvSpPr/>
          <p:nvPr/>
        </p:nvSpPr>
        <p:spPr>
          <a:xfrm flipH="1">
            <a:off x="4495800" y="2057400"/>
            <a:ext cx="0" cy="1524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9" name="Line 21"/>
          <p:cNvSpPr/>
          <p:nvPr/>
        </p:nvSpPr>
        <p:spPr>
          <a:xfrm flipH="1">
            <a:off x="4343400" y="1828800"/>
            <a:ext cx="0" cy="2209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0" name="Line 22"/>
          <p:cNvSpPr/>
          <p:nvPr/>
        </p:nvSpPr>
        <p:spPr>
          <a:xfrm>
            <a:off x="4495800" y="3581400"/>
            <a:ext cx="838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1" name="Line 23"/>
          <p:cNvSpPr/>
          <p:nvPr/>
        </p:nvSpPr>
        <p:spPr>
          <a:xfrm flipH="1">
            <a:off x="4343400" y="4038600"/>
            <a:ext cx="990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2" name="Text Box 24"/>
          <p:cNvSpPr txBox="1"/>
          <p:nvPr/>
        </p:nvSpPr>
        <p:spPr>
          <a:xfrm>
            <a:off x="8153400" y="4724400"/>
            <a:ext cx="381000" cy="160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53275" name="AutoShape 27"/>
          <p:cNvSpPr/>
          <p:nvPr/>
        </p:nvSpPr>
        <p:spPr>
          <a:xfrm>
            <a:off x="3124200" y="5410200"/>
            <a:ext cx="457200" cy="1066800"/>
          </a:xfrm>
          <a:prstGeom prst="curvedLeftArrow">
            <a:avLst>
              <a:gd name="adj1" fmla="val 36297"/>
              <a:gd name="adj2" fmla="val 93333"/>
              <a:gd name="adj3" fmla="val 33333"/>
            </a:avLst>
          </a:prstGeom>
          <a:solidFill>
            <a:srgbClr val="96969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9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251">
                                            <p:txEl>
                                              <p:charRg st="9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22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251">
                                            <p:txEl>
                                              <p:charRg st="22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41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251">
                                            <p:txEl>
                                              <p:charRg st="41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3251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3251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98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251">
                                            <p:txEl>
                                              <p:charRg st="98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117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251">
                                            <p:txEl>
                                              <p:charRg st="117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136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3251">
                                            <p:txEl>
                                              <p:charRg st="136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155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3251">
                                            <p:txEl>
                                              <p:charRg st="155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5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75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3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3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3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3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500"/>
                            </p:stCondLst>
                            <p:childTnLst>
                              <p:par>
                                <p:cTn id="1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500"/>
                            </p:stCondLst>
                            <p:childTnLst>
                              <p:par>
                                <p:cTn id="16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000"/>
                            </p:stCondLst>
                            <p:childTnLst>
                              <p:par>
                                <p:cTn id="16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500"/>
                            </p:stCondLst>
                            <p:childTnLst>
                              <p:par>
                                <p:cTn id="17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75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75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  <p:bldP spid="53251" grpId="0" build="p"/>
      <p:bldP spid="53254" grpId="0"/>
      <p:bldP spid="53261" grpId="0"/>
      <p:bldP spid="5327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4274" name="Text Box 2"/>
          <p:cNvSpPr txBox="1"/>
          <p:nvPr/>
        </p:nvSpPr>
        <p:spPr>
          <a:xfrm>
            <a:off x="381000" y="304800"/>
            <a:ext cx="6858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T74290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M=10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4275" name="Text Box 3"/>
          <p:cNvSpPr txBox="1"/>
          <p:nvPr/>
        </p:nvSpPr>
        <p:spPr>
          <a:xfrm>
            <a:off x="457200" y="1828800"/>
            <a:ext cx="28956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M=10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	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	0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	0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	0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	0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	0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	1    0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	1    0    0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	1    0    1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	1    0    1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9	1    1    0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6" name="Text Box 4"/>
          <p:cNvSpPr txBox="1"/>
          <p:nvPr/>
        </p:nvSpPr>
        <p:spPr>
          <a:xfrm>
            <a:off x="533400" y="1219200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要求：采用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5421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码计数</a:t>
            </a:r>
            <a:endParaRPr lang="zh-CN" altLang="en-US" sz="2800" b="1" dirty="0">
              <a:solidFill>
                <a:srgbClr val="0066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4800600" y="1766888"/>
          <a:ext cx="4022725" cy="486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2371725" imgH="2867025" progId="Paint.Picture">
                  <p:embed/>
                </p:oleObj>
              </mc:Choice>
              <mc:Fallback>
                <p:oleObj name="" r:id="rId1" imgW="2371725" imgH="2867025" progId="Paint.Picture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0600" y="1766888"/>
                        <a:ext cx="4022725" cy="486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Line 8"/>
          <p:cNvSpPr/>
          <p:nvPr/>
        </p:nvSpPr>
        <p:spPr>
          <a:xfrm>
            <a:off x="8229600" y="5486400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1" name="Line 9"/>
          <p:cNvSpPr/>
          <p:nvPr/>
        </p:nvSpPr>
        <p:spPr>
          <a:xfrm flipH="1">
            <a:off x="5410200" y="5943600"/>
            <a:ext cx="2819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2" name="Line 10"/>
          <p:cNvSpPr/>
          <p:nvPr/>
        </p:nvSpPr>
        <p:spPr>
          <a:xfrm flipV="1">
            <a:off x="5410200" y="4495800"/>
            <a:ext cx="0" cy="1447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3" name="Line 11"/>
          <p:cNvSpPr/>
          <p:nvPr/>
        </p:nvSpPr>
        <p:spPr>
          <a:xfrm>
            <a:off x="5410200" y="44958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4" name="Line 12"/>
          <p:cNvSpPr/>
          <p:nvPr/>
        </p:nvSpPr>
        <p:spPr>
          <a:xfrm>
            <a:off x="914400" y="64770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5" name="Line 13"/>
          <p:cNvSpPr/>
          <p:nvPr/>
        </p:nvSpPr>
        <p:spPr>
          <a:xfrm flipH="1" flipV="1">
            <a:off x="914400" y="3124200"/>
            <a:ext cx="0" cy="33528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6" name="Line 14"/>
          <p:cNvSpPr/>
          <p:nvPr/>
        </p:nvSpPr>
        <p:spPr>
          <a:xfrm flipH="1" flipV="1">
            <a:off x="914400" y="3124200"/>
            <a:ext cx="3810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54287" name="Line 15"/>
          <p:cNvSpPr/>
          <p:nvPr/>
        </p:nvSpPr>
        <p:spPr>
          <a:xfrm flipH="1">
            <a:off x="7924800" y="54864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8" name="Rectangle 16"/>
          <p:cNvSpPr/>
          <p:nvPr/>
        </p:nvSpPr>
        <p:spPr>
          <a:xfrm>
            <a:off x="1828800" y="2940050"/>
            <a:ext cx="1219200" cy="1828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9" name="Rectangle 17"/>
          <p:cNvSpPr/>
          <p:nvPr/>
        </p:nvSpPr>
        <p:spPr>
          <a:xfrm>
            <a:off x="1828800" y="4724400"/>
            <a:ext cx="1219200" cy="1828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427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4275">
                                            <p:txEl>
                                              <p:charRg st="1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4275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4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4275">
                                            <p:txEl>
                                              <p:charRg st="42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6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4275">
                                            <p:txEl>
                                              <p:charRg st="61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80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4275">
                                            <p:txEl>
                                              <p:charRg st="80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99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4275">
                                            <p:txEl>
                                              <p:charRg st="99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4275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37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4275">
                                            <p:txEl>
                                              <p:charRg st="137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56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4275">
                                            <p:txEl>
                                              <p:charRg st="156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75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4275">
                                            <p:txEl>
                                              <p:charRg st="175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94" end="2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4275">
                                            <p:txEl>
                                              <p:charRg st="194" end="2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4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4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54275" grpId="0" uiExpand="1" build="p"/>
      <p:bldP spid="5427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5298" name="Text Box 2"/>
          <p:cNvSpPr txBox="1"/>
          <p:nvPr/>
        </p:nvSpPr>
        <p:spPr>
          <a:xfrm>
            <a:off x="381000" y="487363"/>
            <a:ext cx="6705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T74290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M=88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5300" name="Text Box 4"/>
          <p:cNvSpPr txBox="1"/>
          <p:nvPr/>
        </p:nvSpPr>
        <p:spPr>
          <a:xfrm>
            <a:off x="533400" y="1538288"/>
            <a:ext cx="556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方法三：采用两片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CT74290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级联</a:t>
            </a:r>
            <a:endParaRPr lang="zh-CN" altLang="en-US" sz="2800" dirty="0">
              <a:solidFill>
                <a:srgbClr val="0066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609600" y="2384425"/>
          <a:ext cx="8001000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5857875" imgH="3181350" progId="Paint.Picture">
                  <p:embed/>
                </p:oleObj>
              </mc:Choice>
              <mc:Fallback>
                <p:oleObj name="" r:id="rId1" imgW="5857875" imgH="3181350" progId="Paint.Picture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384425"/>
                        <a:ext cx="8001000" cy="424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Line 7"/>
          <p:cNvSpPr/>
          <p:nvPr/>
        </p:nvSpPr>
        <p:spPr>
          <a:xfrm>
            <a:off x="3124200" y="5410200"/>
            <a:ext cx="838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4" name="Line 8"/>
          <p:cNvSpPr/>
          <p:nvPr/>
        </p:nvSpPr>
        <p:spPr>
          <a:xfrm flipV="1">
            <a:off x="3962400" y="4648200"/>
            <a:ext cx="0" cy="762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5" name="Line 9"/>
          <p:cNvSpPr/>
          <p:nvPr/>
        </p:nvSpPr>
        <p:spPr>
          <a:xfrm>
            <a:off x="3962400" y="46482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7" name="Line 11"/>
          <p:cNvSpPr/>
          <p:nvPr/>
        </p:nvSpPr>
        <p:spPr>
          <a:xfrm flipV="1">
            <a:off x="7543800" y="2133600"/>
            <a:ext cx="0" cy="609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8" name="Line 12"/>
          <p:cNvSpPr/>
          <p:nvPr/>
        </p:nvSpPr>
        <p:spPr>
          <a:xfrm flipH="1">
            <a:off x="1219200" y="2133600"/>
            <a:ext cx="6324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9" name="Line 13"/>
          <p:cNvSpPr/>
          <p:nvPr/>
        </p:nvSpPr>
        <p:spPr>
          <a:xfrm>
            <a:off x="1219200" y="2133600"/>
            <a:ext cx="0" cy="1143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1" name="Line 15"/>
          <p:cNvSpPr/>
          <p:nvPr/>
        </p:nvSpPr>
        <p:spPr>
          <a:xfrm>
            <a:off x="1219200" y="2971800"/>
            <a:ext cx="228600" cy="0"/>
          </a:xfrm>
          <a:prstGeom prst="line">
            <a:avLst/>
          </a:prstGeom>
          <a:ln w="5715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2" name="Line 16"/>
          <p:cNvSpPr/>
          <p:nvPr/>
        </p:nvSpPr>
        <p:spPr>
          <a:xfrm flipV="1">
            <a:off x="1219200" y="3276600"/>
            <a:ext cx="228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3" name="Line 17"/>
          <p:cNvSpPr/>
          <p:nvPr/>
        </p:nvSpPr>
        <p:spPr>
          <a:xfrm>
            <a:off x="4038600" y="2133600"/>
            <a:ext cx="0" cy="1219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4" name="Line 18"/>
          <p:cNvSpPr/>
          <p:nvPr/>
        </p:nvSpPr>
        <p:spPr>
          <a:xfrm flipV="1">
            <a:off x="4038600" y="3048000"/>
            <a:ext cx="228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5" name="Line 19"/>
          <p:cNvSpPr/>
          <p:nvPr/>
        </p:nvSpPr>
        <p:spPr>
          <a:xfrm flipV="1">
            <a:off x="4038600" y="3352800"/>
            <a:ext cx="228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6" name="Line 20"/>
          <p:cNvSpPr/>
          <p:nvPr/>
        </p:nvSpPr>
        <p:spPr>
          <a:xfrm>
            <a:off x="3962400" y="5410200"/>
            <a:ext cx="0" cy="304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7" name="Line 21"/>
          <p:cNvSpPr/>
          <p:nvPr/>
        </p:nvSpPr>
        <p:spPr>
          <a:xfrm>
            <a:off x="3962400" y="5715000"/>
            <a:ext cx="2819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8" name="Line 22"/>
          <p:cNvSpPr/>
          <p:nvPr/>
        </p:nvSpPr>
        <p:spPr>
          <a:xfrm flipV="1">
            <a:off x="6781800" y="3124200"/>
            <a:ext cx="0" cy="2590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9" name="Line 23"/>
          <p:cNvSpPr/>
          <p:nvPr/>
        </p:nvSpPr>
        <p:spPr>
          <a:xfrm>
            <a:off x="6553200" y="3124200"/>
            <a:ext cx="0" cy="2362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0" name="Line 24"/>
          <p:cNvSpPr/>
          <p:nvPr/>
        </p:nvSpPr>
        <p:spPr>
          <a:xfrm flipH="1">
            <a:off x="5943600" y="5486400"/>
            <a:ext cx="609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2" name="Text Box 26"/>
          <p:cNvSpPr txBox="1"/>
          <p:nvPr/>
        </p:nvSpPr>
        <p:spPr>
          <a:xfrm>
            <a:off x="6477000" y="22098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55323" name="Text Box 27"/>
          <p:cNvSpPr txBox="1"/>
          <p:nvPr/>
        </p:nvSpPr>
        <p:spPr>
          <a:xfrm>
            <a:off x="7620000" y="22098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5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5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5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5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0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75"/>
                                        <p:tgtEl>
                                          <p:spTgt spid="5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75"/>
                                        <p:tgtEl>
                                          <p:spTgt spid="5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5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5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5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5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500"/>
                            </p:stCondLst>
                            <p:childTnLst>
                              <p:par>
                                <p:cTn id="12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000"/>
                            </p:stCondLst>
                            <p:childTnLst>
                              <p:par>
                                <p:cTn id="13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5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5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5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5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3500"/>
                            </p:stCondLst>
                            <p:childTnLst>
                              <p:par>
                                <p:cTn id="1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  <p:bldP spid="55300" grpId="0"/>
      <p:bldP spid="55322" grpId="0"/>
      <p:bldP spid="553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57200"/>
            <a:ext cx="6324600" cy="11430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392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隶书" panose="02010509060101010101" pitchFamily="49" charset="-122"/>
                <a:cs typeface="+mj-cs"/>
              </a:rPr>
              <a:t>第六章    主要内容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011" name="Text Box 3">
            <a:hlinkClick r:id="rId1" action="ppaction://hlinksldjump"/>
          </p:cNvPr>
          <p:cNvSpPr txBox="1"/>
          <p:nvPr/>
        </p:nvSpPr>
        <p:spPr>
          <a:xfrm>
            <a:off x="533400" y="19050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§6.1  </a:t>
            </a:r>
            <a:r>
              <a:rPr lang="zh-CN" altLang="en-US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计数器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43012" name="Text Box 4">
            <a:hlinkClick r:id="rId2" action="ppaction://hlinksldjump"/>
          </p:cNvPr>
          <p:cNvSpPr txBox="1"/>
          <p:nvPr/>
        </p:nvSpPr>
        <p:spPr>
          <a:xfrm>
            <a:off x="533400" y="28956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§6.2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寄存器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013" name="Text Box 5">
            <a:hlinkClick r:id="rId3" action="ppaction://hlinksldjump"/>
          </p:cNvPr>
          <p:cNvSpPr txBox="1"/>
          <p:nvPr/>
        </p:nvSpPr>
        <p:spPr>
          <a:xfrm>
            <a:off x="533400" y="3810000"/>
            <a:ext cx="7924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§6.3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序列码发生器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014" name="Text Box 6">
            <a:hlinkClick r:id="rId4" action="ppaction://hlinksldjump"/>
          </p:cNvPr>
          <p:cNvSpPr txBox="1"/>
          <p:nvPr/>
        </p:nvSpPr>
        <p:spPr>
          <a:xfrm>
            <a:off x="533400" y="46482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§6.4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数字电子钟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43015" name="Picture 7" descr="MEETI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5372100"/>
            <a:ext cx="2330450" cy="140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6" name="Text Box 8">
            <a:hlinkClick r:id="rId4" action="ppaction://hlinksldjump"/>
          </p:cNvPr>
          <p:cNvSpPr txBox="1"/>
          <p:nvPr/>
        </p:nvSpPr>
        <p:spPr>
          <a:xfrm>
            <a:off x="533400" y="54864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§6.5  </a:t>
            </a:r>
            <a:r>
              <a:rPr lang="zh-CN" altLang="en-US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小结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6934200" cy="8382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§6.2.1  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寄存器的分类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6324" name="Text Box 4"/>
          <p:cNvSpPr txBox="1"/>
          <p:nvPr/>
        </p:nvSpPr>
        <p:spPr>
          <a:xfrm>
            <a:off x="1219200" y="2590800"/>
            <a:ext cx="4495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移位寄存器</a:t>
            </a:r>
            <a:endParaRPr lang="zh-CN" altLang="en-US" sz="6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6334" name="Text Box 14">
            <a:hlinkClick r:id="rId1" action="ppaction://hlinksldjump"/>
          </p:cNvPr>
          <p:cNvSpPr txBox="1"/>
          <p:nvPr/>
        </p:nvSpPr>
        <p:spPr>
          <a:xfrm>
            <a:off x="1219200" y="1630363"/>
            <a:ext cx="32004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寄存器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6349" name="Object 29"/>
          <p:cNvGraphicFramePr>
            <a:graphicFrameLocks noChangeAspect="1"/>
          </p:cNvGraphicFramePr>
          <p:nvPr/>
        </p:nvGraphicFramePr>
        <p:xfrm>
          <a:off x="457200" y="1981200"/>
          <a:ext cx="419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2" imgW="419100" imgH="400050" progId="MS_ClipArt_Gallery.2">
                  <p:embed/>
                </p:oleObj>
              </mc:Choice>
              <mc:Fallback>
                <p:oleObj name="" r:id="rId2" imgW="419100" imgH="400050" progId="MS_ClipArt_Gallery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1981200"/>
                        <a:ext cx="4191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0" name="Object 30"/>
          <p:cNvGraphicFramePr>
            <a:graphicFrameLocks noChangeAspect="1"/>
          </p:cNvGraphicFramePr>
          <p:nvPr/>
        </p:nvGraphicFramePr>
        <p:xfrm>
          <a:off x="457200" y="2971800"/>
          <a:ext cx="419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4" imgW="419100" imgH="400050" progId="MS_ClipArt_Gallery.2">
                  <p:embed/>
                </p:oleObj>
              </mc:Choice>
              <mc:Fallback>
                <p:oleObj name="" r:id="rId4" imgW="419100" imgH="400050" progId="MS_ClipArt_Gallery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2971800"/>
                        <a:ext cx="4191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56" name="Group 36"/>
          <p:cNvGrpSpPr/>
          <p:nvPr/>
        </p:nvGrpSpPr>
        <p:grpSpPr>
          <a:xfrm>
            <a:off x="1690688" y="3810000"/>
            <a:ext cx="5624512" cy="838200"/>
            <a:chOff x="1065" y="2400"/>
            <a:chExt cx="3543" cy="528"/>
          </a:xfrm>
        </p:grpSpPr>
        <p:sp>
          <p:nvSpPr>
            <p:cNvPr id="44043" name="Text Box 7">
              <a:hlinkClick r:id="rId5" action="ppaction://hlinksldjump"/>
            </p:cNvPr>
            <p:cNvSpPr txBox="1"/>
            <p:nvPr/>
          </p:nvSpPr>
          <p:spPr>
            <a:xfrm>
              <a:off x="1632" y="2400"/>
              <a:ext cx="2976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48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单向移位寄存器</a:t>
              </a:r>
              <a:endParaRPr lang="zh-CN" altLang="en-US" sz="4800" b="1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aphicFrame>
          <p:nvGraphicFramePr>
            <p:cNvPr id="44044" name="Object 33"/>
            <p:cNvGraphicFramePr>
              <a:graphicFrameLocks noChangeAspect="1"/>
            </p:cNvGraphicFramePr>
            <p:nvPr/>
          </p:nvGraphicFramePr>
          <p:xfrm>
            <a:off x="1065" y="2544"/>
            <a:ext cx="27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6" imgW="2310130" imgH="3176905" progId="MS_ClipArt_Gallery.2">
                    <p:embed/>
                  </p:oleObj>
                </mc:Choice>
                <mc:Fallback>
                  <p:oleObj name="" r:id="rId6" imgW="2310130" imgH="3176905" progId="MS_ClipArt_Gallery.2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65" y="2544"/>
                          <a:ext cx="27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357" name="Group 37"/>
          <p:cNvGrpSpPr/>
          <p:nvPr/>
        </p:nvGrpSpPr>
        <p:grpSpPr>
          <a:xfrm>
            <a:off x="1752600" y="4876800"/>
            <a:ext cx="5334000" cy="823913"/>
            <a:chOff x="1104" y="3072"/>
            <a:chExt cx="3360" cy="519"/>
          </a:xfrm>
        </p:grpSpPr>
        <p:sp>
          <p:nvSpPr>
            <p:cNvPr id="44041" name="Text Box 10">
              <a:hlinkClick r:id="rId8" action="ppaction://hlinksldjump"/>
            </p:cNvPr>
            <p:cNvSpPr txBox="1"/>
            <p:nvPr/>
          </p:nvSpPr>
          <p:spPr>
            <a:xfrm>
              <a:off x="1632" y="3072"/>
              <a:ext cx="283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4800" b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双向移位寄存器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042" name="Object 34"/>
            <p:cNvGraphicFramePr>
              <a:graphicFrameLocks noChangeAspect="1"/>
            </p:cNvGraphicFramePr>
            <p:nvPr/>
          </p:nvGraphicFramePr>
          <p:xfrm>
            <a:off x="1104" y="3168"/>
            <a:ext cx="27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9" imgW="2310130" imgH="3176905" progId="MS_ClipArt_Gallery.2">
                    <p:embed/>
                  </p:oleObj>
                </mc:Choice>
                <mc:Fallback>
                  <p:oleObj name="" r:id="rId9" imgW="2310130" imgH="3176905" progId="MS_ClipArt_Gallery.2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04" y="3168"/>
                          <a:ext cx="27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nimBg="1"/>
      <p:bldP spid="56324" grpId="0"/>
      <p:bldP spid="563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1143000" y="361950"/>
            <a:ext cx="6781800" cy="628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107763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一、中规模寄存器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CT74175</a:t>
            </a:r>
            <a:endParaRPr kumimoji="1" lang="en-US" altLang="zh-CN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57347" name="Text Box 3"/>
          <p:cNvSpPr txBox="1"/>
          <p:nvPr/>
        </p:nvSpPr>
        <p:spPr>
          <a:xfrm>
            <a:off x="4495800" y="2057400"/>
            <a:ext cx="3657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四个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触发器构成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228600" y="1600200"/>
          <a:ext cx="3516313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247900" imgH="3171825" progId="Paint.Picture">
                  <p:embed/>
                </p:oleObj>
              </mc:Choice>
              <mc:Fallback>
                <p:oleObj name="" r:id="rId1" imgW="2247900" imgH="3171825" progId="Paint.Picture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600200"/>
                        <a:ext cx="3516313" cy="502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Rectangle 7"/>
          <p:cNvSpPr/>
          <p:nvPr/>
        </p:nvSpPr>
        <p:spPr>
          <a:xfrm>
            <a:off x="3962400" y="2693988"/>
            <a:ext cx="4724400" cy="4113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40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功能</a:t>
            </a:r>
            <a:r>
              <a:rPr lang="en-US" altLang="zh-CN" sz="40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CT74175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真值表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输入        输出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R   CP    D	             Q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　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０　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φ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     0     1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１　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↑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１	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1     0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１　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↑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０ 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0     1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１　０　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φ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	    Q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7352" name="Object 8"/>
          <p:cNvGraphicFramePr>
            <a:graphicFrameLocks noChangeAspect="1"/>
          </p:cNvGraphicFramePr>
          <p:nvPr/>
        </p:nvGraphicFramePr>
        <p:xfrm>
          <a:off x="7831138" y="3676650"/>
          <a:ext cx="4603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52400" imgH="241300" progId="Equation.3">
                  <p:embed/>
                </p:oleObj>
              </mc:Choice>
              <mc:Fallback>
                <p:oleObj name="" r:id="rId3" imgW="152400" imgH="2413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31138" y="3676650"/>
                        <a:ext cx="460375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7924800" y="6172200"/>
          <a:ext cx="609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190500" imgH="215900" progId="Equation.3">
                  <p:embed/>
                </p:oleObj>
              </mc:Choice>
              <mc:Fallback>
                <p:oleObj name="" r:id="rId5" imgW="190500" imgH="215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24800" y="6172200"/>
                        <a:ext cx="6096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4" name="Text Box 10"/>
          <p:cNvSpPr txBox="1"/>
          <p:nvPr/>
        </p:nvSpPr>
        <p:spPr>
          <a:xfrm>
            <a:off x="3962400" y="1325563"/>
            <a:ext cx="3276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lang="zh-CN" altLang="en-US" sz="40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逻辑符号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734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nimBg="1"/>
      <p:bldP spid="57347" grpId="0" build="p"/>
      <p:bldP spid="57351" grpId="0"/>
      <p:bldP spid="5735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1066800" y="4495800"/>
          <a:ext cx="71628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4143375" imgH="1866900" progId="Paint.Picture">
                  <p:embed/>
                </p:oleObj>
              </mc:Choice>
              <mc:Fallback>
                <p:oleObj name="" r:id="rId1" imgW="4143375" imgH="1866900" progId="Paint.Picture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4495800"/>
                        <a:ext cx="7162800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5" name="Text Box 5"/>
          <p:cNvSpPr txBox="1"/>
          <p:nvPr/>
        </p:nvSpPr>
        <p:spPr>
          <a:xfrm>
            <a:off x="6054725" y="152400"/>
            <a:ext cx="2784475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移位寄存器</a:t>
            </a:r>
            <a:endParaRPr lang="zh-CN" altLang="en-US" sz="2800" b="1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50" name="Text Box 30"/>
          <p:cNvSpPr txBox="1"/>
          <p:nvPr/>
        </p:nvSpPr>
        <p:spPr>
          <a:xfrm>
            <a:off x="609600" y="533400"/>
            <a:ext cx="5095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假设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是低位寄存器，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是高位寄存器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51" name="Line 31"/>
          <p:cNvSpPr/>
          <p:nvPr/>
        </p:nvSpPr>
        <p:spPr>
          <a:xfrm>
            <a:off x="1447800" y="5562600"/>
            <a:ext cx="6858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7552" name="Line 32"/>
          <p:cNvSpPr/>
          <p:nvPr/>
        </p:nvSpPr>
        <p:spPr>
          <a:xfrm>
            <a:off x="2971800" y="5562600"/>
            <a:ext cx="7620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7553" name="Line 33"/>
          <p:cNvSpPr/>
          <p:nvPr/>
        </p:nvSpPr>
        <p:spPr>
          <a:xfrm>
            <a:off x="4572000" y="5616575"/>
            <a:ext cx="7620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7554" name="Line 34"/>
          <p:cNvSpPr/>
          <p:nvPr/>
        </p:nvSpPr>
        <p:spPr>
          <a:xfrm>
            <a:off x="6172200" y="5638800"/>
            <a:ext cx="7620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7555" name="Text Box 35"/>
          <p:cNvSpPr txBox="1"/>
          <p:nvPr/>
        </p:nvSpPr>
        <p:spPr>
          <a:xfrm>
            <a:off x="609600" y="1066800"/>
            <a:ext cx="4087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触发器的特性方程可知：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7556" name="Object 36"/>
          <p:cNvGraphicFramePr>
            <a:graphicFrameLocks noChangeAspect="1"/>
          </p:cNvGraphicFramePr>
          <p:nvPr/>
        </p:nvGraphicFramePr>
        <p:xfrm>
          <a:off x="4800600" y="990600"/>
          <a:ext cx="2286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520065" imgH="177800" progId="Equation.3">
                  <p:embed/>
                </p:oleObj>
              </mc:Choice>
              <mc:Fallback>
                <p:oleObj name="" r:id="rId3" imgW="520065" imgH="177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00600" y="990600"/>
                        <a:ext cx="2286000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7" name="Object 37"/>
          <p:cNvGraphicFramePr>
            <a:graphicFrameLocks noChangeAspect="1"/>
          </p:cNvGraphicFramePr>
          <p:nvPr/>
        </p:nvGraphicFramePr>
        <p:xfrm>
          <a:off x="4800600" y="1524000"/>
          <a:ext cx="26670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5" imgW="596900" imgH="177800" progId="Equation.3">
                  <p:embed/>
                </p:oleObj>
              </mc:Choice>
              <mc:Fallback>
                <p:oleObj name="" r:id="rId5" imgW="596900" imgH="1778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00600" y="1524000"/>
                        <a:ext cx="2667000" cy="785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8" name="Object 38"/>
          <p:cNvGraphicFramePr>
            <a:graphicFrameLocks noChangeAspect="1"/>
          </p:cNvGraphicFramePr>
          <p:nvPr/>
        </p:nvGraphicFramePr>
        <p:xfrm>
          <a:off x="4800600" y="2133600"/>
          <a:ext cx="2590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621665" imgH="177800" progId="Equation.3">
                  <p:embed/>
                </p:oleObj>
              </mc:Choice>
              <mc:Fallback>
                <p:oleObj name="" r:id="rId7" imgW="621665" imgH="1778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00600" y="2133600"/>
                        <a:ext cx="25908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9" name="Object 39"/>
          <p:cNvGraphicFramePr>
            <a:graphicFrameLocks noChangeAspect="1"/>
          </p:cNvGraphicFramePr>
          <p:nvPr/>
        </p:nvGraphicFramePr>
        <p:xfrm>
          <a:off x="4800600" y="2667000"/>
          <a:ext cx="27432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9" imgW="609600" imgH="177800" progId="Equation.3">
                  <p:embed/>
                </p:oleObj>
              </mc:Choice>
              <mc:Fallback>
                <p:oleObj name="" r:id="rId9" imgW="609600" imgH="1778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00600" y="2667000"/>
                        <a:ext cx="2743200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564" name="Group 44"/>
          <p:cNvGrpSpPr/>
          <p:nvPr/>
        </p:nvGrpSpPr>
        <p:grpSpPr>
          <a:xfrm>
            <a:off x="609600" y="3429000"/>
            <a:ext cx="5029200" cy="1143000"/>
            <a:chOff x="384" y="2208"/>
            <a:chExt cx="3168" cy="720"/>
          </a:xfrm>
        </p:grpSpPr>
        <p:sp>
          <p:nvSpPr>
            <p:cNvPr id="46097" name="Text Box 40"/>
            <p:cNvSpPr txBox="1"/>
            <p:nvPr/>
          </p:nvSpPr>
          <p:spPr>
            <a:xfrm>
              <a:off x="432" y="2208"/>
              <a:ext cx="3120" cy="6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在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CP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脉冲的作用下，低位触发器的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状态送给高位，做高位的次态输出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098" name="Rectangle 41"/>
            <p:cNvSpPr/>
            <p:nvPr/>
          </p:nvSpPr>
          <p:spPr>
            <a:xfrm>
              <a:off x="384" y="2208"/>
              <a:ext cx="3168" cy="720"/>
            </a:xfrm>
            <a:prstGeom prst="rect">
              <a:avLst/>
            </a:prstGeom>
            <a:noFill/>
            <a:ln w="57150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7562" name="Line 42"/>
          <p:cNvSpPr/>
          <p:nvPr/>
        </p:nvSpPr>
        <p:spPr>
          <a:xfrm>
            <a:off x="5791200" y="4038600"/>
            <a:ext cx="609600" cy="0"/>
          </a:xfrm>
          <a:prstGeom prst="line">
            <a:avLst/>
          </a:prstGeom>
          <a:ln w="127000" cap="flat" cmpd="sng">
            <a:solidFill>
              <a:srgbClr val="A5002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563" name="Text Box 43"/>
          <p:cNvSpPr txBox="1"/>
          <p:nvPr/>
        </p:nvSpPr>
        <p:spPr>
          <a:xfrm>
            <a:off x="6477000" y="3757613"/>
            <a:ext cx="19700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左移寄存器</a:t>
            </a:r>
            <a:endParaRPr lang="zh-CN" altLang="en-US" sz="2800" b="1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 animBg="1"/>
      <p:bldP spid="107550" grpId="0"/>
      <p:bldP spid="107555" grpId="0"/>
      <p:bldP spid="10756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08547" name="Object 3"/>
          <p:cNvGraphicFramePr>
            <a:graphicFrameLocks noChangeAspect="1"/>
          </p:cNvGraphicFramePr>
          <p:nvPr/>
        </p:nvGraphicFramePr>
        <p:xfrm>
          <a:off x="762000" y="838200"/>
          <a:ext cx="7620000" cy="304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4143375" imgH="1866900" progId="Paint.Picture">
                  <p:embed/>
                </p:oleObj>
              </mc:Choice>
              <mc:Fallback>
                <p:oleObj name="" r:id="rId1" imgW="4143375" imgH="1866900" progId="Paint.Picture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838200"/>
                        <a:ext cx="7620000" cy="304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8" name="Text Box 4"/>
          <p:cNvSpPr txBox="1"/>
          <p:nvPr/>
        </p:nvSpPr>
        <p:spPr>
          <a:xfrm>
            <a:off x="762000" y="304800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欲存入数码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1011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8553" name="Group 9"/>
          <p:cNvGrpSpPr/>
          <p:nvPr/>
        </p:nvGrpSpPr>
        <p:grpSpPr>
          <a:xfrm>
            <a:off x="2895600" y="1676400"/>
            <a:ext cx="5518150" cy="533400"/>
            <a:chOff x="1776" y="1152"/>
            <a:chExt cx="3476" cy="336"/>
          </a:xfrm>
        </p:grpSpPr>
        <p:sp>
          <p:nvSpPr>
            <p:cNvPr id="47126" name="Text Box 5"/>
            <p:cNvSpPr txBox="1"/>
            <p:nvPr/>
          </p:nvSpPr>
          <p:spPr>
            <a:xfrm>
              <a:off x="5040" y="11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7" name="Text Box 6"/>
            <p:cNvSpPr txBox="1"/>
            <p:nvPr/>
          </p:nvSpPr>
          <p:spPr>
            <a:xfrm>
              <a:off x="3888" y="12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8" name="Text Box 7"/>
            <p:cNvSpPr txBox="1"/>
            <p:nvPr/>
          </p:nvSpPr>
          <p:spPr>
            <a:xfrm>
              <a:off x="2860" y="12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9" name="Text Box 8"/>
            <p:cNvSpPr txBox="1"/>
            <p:nvPr/>
          </p:nvSpPr>
          <p:spPr>
            <a:xfrm>
              <a:off x="1776" y="12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8554" name="Text Box 10"/>
          <p:cNvSpPr txBox="1"/>
          <p:nvPr/>
        </p:nvSpPr>
        <p:spPr>
          <a:xfrm>
            <a:off x="3200400" y="30480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采用串行输入，只有一个数据输入端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55" name="Text Box 11"/>
          <p:cNvSpPr txBox="1"/>
          <p:nvPr/>
        </p:nvSpPr>
        <p:spPr>
          <a:xfrm>
            <a:off x="8191500" y="0"/>
            <a:ext cx="952500" cy="1006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6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？</a:t>
            </a:r>
            <a:endParaRPr lang="zh-CN" altLang="en-US" sz="60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56" name="Text Box 12"/>
          <p:cNvSpPr txBox="1"/>
          <p:nvPr/>
        </p:nvSpPr>
        <p:spPr>
          <a:xfrm>
            <a:off x="898525" y="4059238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解决的办法：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57" name="Text Box 13"/>
          <p:cNvSpPr txBox="1"/>
          <p:nvPr/>
        </p:nvSpPr>
        <p:spPr>
          <a:xfrm>
            <a:off x="2940050" y="4079875"/>
            <a:ext cx="50419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脉冲的作用下 ，依次送入数码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59" name="Text Box 15"/>
          <p:cNvSpPr txBox="1"/>
          <p:nvPr/>
        </p:nvSpPr>
        <p:spPr>
          <a:xfrm>
            <a:off x="2940050" y="45720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左移寄存器：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60" name="Text Box 16"/>
          <p:cNvSpPr txBox="1"/>
          <p:nvPr/>
        </p:nvSpPr>
        <p:spPr>
          <a:xfrm>
            <a:off x="4860925" y="4572000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先送高位，后送低位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61" name="Text Box 17"/>
          <p:cNvSpPr txBox="1"/>
          <p:nvPr/>
        </p:nvSpPr>
        <p:spPr>
          <a:xfrm>
            <a:off x="2911475" y="50292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右移寄存器：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62" name="Text Box 18"/>
          <p:cNvSpPr txBox="1"/>
          <p:nvPr/>
        </p:nvSpPr>
        <p:spPr>
          <a:xfrm>
            <a:off x="4876800" y="5029200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先送低位，后送高位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63" name="Line 19"/>
          <p:cNvSpPr/>
          <p:nvPr/>
        </p:nvSpPr>
        <p:spPr>
          <a:xfrm>
            <a:off x="1219200" y="2209800"/>
            <a:ext cx="685800" cy="0"/>
          </a:xfrm>
          <a:prstGeom prst="line">
            <a:avLst/>
          </a:prstGeom>
          <a:ln w="5715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8564" name="Text Box 20"/>
          <p:cNvSpPr txBox="1"/>
          <p:nvPr/>
        </p:nvSpPr>
        <p:spPr>
          <a:xfrm>
            <a:off x="822325" y="5507038"/>
            <a:ext cx="6638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由于该电路为一左移寄存器，数码输入顺序为：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65" name="Text Box 21"/>
          <p:cNvSpPr txBox="1"/>
          <p:nvPr/>
        </p:nvSpPr>
        <p:spPr>
          <a:xfrm>
            <a:off x="1981200" y="598805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36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66" name="Line 22"/>
          <p:cNvSpPr/>
          <p:nvPr/>
        </p:nvSpPr>
        <p:spPr>
          <a:xfrm>
            <a:off x="2667000" y="6324600"/>
            <a:ext cx="838200" cy="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8567" name="Text Box 23"/>
          <p:cNvSpPr txBox="1"/>
          <p:nvPr/>
        </p:nvSpPr>
        <p:spPr>
          <a:xfrm>
            <a:off x="3657600" y="598805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36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68" name="Line 24"/>
          <p:cNvSpPr/>
          <p:nvPr/>
        </p:nvSpPr>
        <p:spPr>
          <a:xfrm>
            <a:off x="4235450" y="6324600"/>
            <a:ext cx="838200" cy="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8569" name="Text Box 25"/>
          <p:cNvSpPr txBox="1"/>
          <p:nvPr/>
        </p:nvSpPr>
        <p:spPr>
          <a:xfrm>
            <a:off x="5226050" y="598805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36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70" name="Line 26"/>
          <p:cNvSpPr/>
          <p:nvPr/>
        </p:nvSpPr>
        <p:spPr>
          <a:xfrm>
            <a:off x="5835650" y="6356350"/>
            <a:ext cx="838200" cy="0"/>
          </a:xfrm>
          <a:prstGeom prst="line">
            <a:avLst/>
          </a:prstGeom>
          <a:ln w="127000" cap="flat" cmpd="sng">
            <a:solidFill>
              <a:srgbClr val="CC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8571" name="Text Box 27"/>
          <p:cNvSpPr txBox="1"/>
          <p:nvPr/>
        </p:nvSpPr>
        <p:spPr>
          <a:xfrm>
            <a:off x="6826250" y="601980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36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8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/>
      <p:bldP spid="108554" grpId="0"/>
      <p:bldP spid="108555" grpId="0"/>
      <p:bldP spid="108556" grpId="0"/>
      <p:bldP spid="108557" grpId="0"/>
      <p:bldP spid="108559" grpId="0"/>
      <p:bldP spid="108560" grpId="0"/>
      <p:bldP spid="108561" grpId="0"/>
      <p:bldP spid="108562" grpId="0"/>
      <p:bldP spid="108564" grpId="0"/>
      <p:bldP spid="108565" grpId="0"/>
      <p:bldP spid="108567" grpId="0"/>
      <p:bldP spid="108569" grpId="0"/>
      <p:bldP spid="10857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109595" name="Group 27"/>
          <p:cNvGrpSpPr/>
          <p:nvPr/>
        </p:nvGrpSpPr>
        <p:grpSpPr>
          <a:xfrm>
            <a:off x="1600200" y="762000"/>
            <a:ext cx="6477000" cy="2667000"/>
            <a:chOff x="1008" y="480"/>
            <a:chExt cx="4080" cy="1680"/>
          </a:xfrm>
        </p:grpSpPr>
        <p:sp>
          <p:nvSpPr>
            <p:cNvPr id="48158" name="Rectangle 3"/>
            <p:cNvSpPr/>
            <p:nvPr/>
          </p:nvSpPr>
          <p:spPr>
            <a:xfrm>
              <a:off x="1008" y="480"/>
              <a:ext cx="4080" cy="168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9" name="Line 4"/>
            <p:cNvSpPr/>
            <p:nvPr/>
          </p:nvSpPr>
          <p:spPr>
            <a:xfrm>
              <a:off x="1008" y="816"/>
              <a:ext cx="40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0" name="Line 6"/>
            <p:cNvSpPr/>
            <p:nvPr/>
          </p:nvSpPr>
          <p:spPr>
            <a:xfrm>
              <a:off x="1824" y="480"/>
              <a:ext cx="0" cy="16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9575" name="Text Box 7"/>
          <p:cNvSpPr txBox="1"/>
          <p:nvPr/>
        </p:nvSpPr>
        <p:spPr>
          <a:xfrm>
            <a:off x="1981200" y="838200"/>
            <a:ext cx="59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6" name="Text Box 8"/>
          <p:cNvSpPr txBox="1"/>
          <p:nvPr/>
        </p:nvSpPr>
        <p:spPr>
          <a:xfrm>
            <a:off x="3441700" y="803275"/>
            <a:ext cx="41783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7" name="Text Box 9"/>
          <p:cNvSpPr txBox="1"/>
          <p:nvPr/>
        </p:nvSpPr>
        <p:spPr>
          <a:xfrm>
            <a:off x="2476500" y="152400"/>
            <a:ext cx="47831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欲存入数码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1011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即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= 1011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8" name="Text Box 10"/>
          <p:cNvSpPr txBox="1"/>
          <p:nvPr/>
        </p:nvSpPr>
        <p:spPr>
          <a:xfrm>
            <a:off x="2079625" y="1524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9" name="Text Box 11"/>
          <p:cNvSpPr txBox="1"/>
          <p:nvPr/>
        </p:nvSpPr>
        <p:spPr>
          <a:xfrm>
            <a:off x="3406775" y="1524000"/>
            <a:ext cx="41481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 ×             ×           ×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80" name="Text Box 12"/>
          <p:cNvSpPr txBox="1"/>
          <p:nvPr/>
        </p:nvSpPr>
        <p:spPr>
          <a:xfrm>
            <a:off x="2089150" y="2057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81" name="Text Box 13"/>
          <p:cNvSpPr txBox="1"/>
          <p:nvPr/>
        </p:nvSpPr>
        <p:spPr>
          <a:xfrm>
            <a:off x="3416300" y="2057400"/>
            <a:ext cx="4137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1(D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   ×           ×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82" name="Text Box 14"/>
          <p:cNvSpPr txBox="1"/>
          <p:nvPr/>
        </p:nvSpPr>
        <p:spPr>
          <a:xfrm>
            <a:off x="2079625" y="2514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83" name="Text Box 15"/>
          <p:cNvSpPr txBox="1"/>
          <p:nvPr/>
        </p:nvSpPr>
        <p:spPr>
          <a:xfrm>
            <a:off x="3406775" y="2514600"/>
            <a:ext cx="41259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0(D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  1(D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 ×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84" name="Text Box 16"/>
          <p:cNvSpPr txBox="1"/>
          <p:nvPr/>
        </p:nvSpPr>
        <p:spPr>
          <a:xfrm>
            <a:off x="2090738" y="2971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85" name="Text Box 17"/>
          <p:cNvSpPr txBox="1"/>
          <p:nvPr/>
        </p:nvSpPr>
        <p:spPr>
          <a:xfrm>
            <a:off x="3417888" y="2971800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1(D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  0(D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 1(D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89" name="Line 21"/>
          <p:cNvSpPr/>
          <p:nvPr/>
        </p:nvSpPr>
        <p:spPr>
          <a:xfrm>
            <a:off x="4114800" y="1828800"/>
            <a:ext cx="762000" cy="381000"/>
          </a:xfrm>
          <a:prstGeom prst="line">
            <a:avLst/>
          </a:prstGeom>
          <a:ln w="5715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0" name="Line 22"/>
          <p:cNvSpPr/>
          <p:nvPr/>
        </p:nvSpPr>
        <p:spPr>
          <a:xfrm>
            <a:off x="5334000" y="2286000"/>
            <a:ext cx="762000" cy="381000"/>
          </a:xfrm>
          <a:prstGeom prst="line">
            <a:avLst/>
          </a:prstGeom>
          <a:ln w="5715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1" name="Line 23"/>
          <p:cNvSpPr/>
          <p:nvPr/>
        </p:nvSpPr>
        <p:spPr>
          <a:xfrm>
            <a:off x="6553200" y="2743200"/>
            <a:ext cx="762000" cy="381000"/>
          </a:xfrm>
          <a:prstGeom prst="line">
            <a:avLst/>
          </a:prstGeom>
          <a:ln w="5715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2" name="Line 24"/>
          <p:cNvSpPr/>
          <p:nvPr/>
        </p:nvSpPr>
        <p:spPr>
          <a:xfrm>
            <a:off x="4114800" y="2286000"/>
            <a:ext cx="762000" cy="3810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3" name="Line 25"/>
          <p:cNvSpPr/>
          <p:nvPr/>
        </p:nvSpPr>
        <p:spPr>
          <a:xfrm>
            <a:off x="5334000" y="2743200"/>
            <a:ext cx="762000" cy="3810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4" name="Line 26"/>
          <p:cNvSpPr/>
          <p:nvPr/>
        </p:nvSpPr>
        <p:spPr>
          <a:xfrm>
            <a:off x="4114800" y="2743200"/>
            <a:ext cx="762000" cy="381000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109620" name="Object 52"/>
          <p:cNvGraphicFramePr>
            <a:graphicFrameLocks noChangeAspect="1"/>
          </p:cNvGraphicFramePr>
          <p:nvPr/>
        </p:nvGraphicFramePr>
        <p:xfrm>
          <a:off x="609600" y="4038600"/>
          <a:ext cx="80010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2238375" imgH="1933575" progId="Paint.Picture">
                  <p:embed/>
                </p:oleObj>
              </mc:Choice>
              <mc:Fallback>
                <p:oleObj name="" r:id="rId1" imgW="2238375" imgH="1933575" progId="Paint.Picture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4038600"/>
                        <a:ext cx="8001000" cy="259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45" name="Line 77"/>
          <p:cNvSpPr/>
          <p:nvPr/>
        </p:nvSpPr>
        <p:spPr>
          <a:xfrm>
            <a:off x="4114800" y="3733800"/>
            <a:ext cx="0" cy="3132138"/>
          </a:xfrm>
          <a:prstGeom prst="line">
            <a:avLst/>
          </a:prstGeom>
          <a:ln w="762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649" name="Line 81"/>
          <p:cNvSpPr/>
          <p:nvPr/>
        </p:nvSpPr>
        <p:spPr>
          <a:xfrm>
            <a:off x="3124200" y="3733800"/>
            <a:ext cx="0" cy="3132138"/>
          </a:xfrm>
          <a:prstGeom prst="line">
            <a:avLst/>
          </a:prstGeom>
          <a:ln w="762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650" name="Line 82"/>
          <p:cNvSpPr/>
          <p:nvPr/>
        </p:nvSpPr>
        <p:spPr>
          <a:xfrm>
            <a:off x="4953000" y="3733800"/>
            <a:ext cx="0" cy="3132138"/>
          </a:xfrm>
          <a:prstGeom prst="line">
            <a:avLst/>
          </a:prstGeom>
          <a:ln w="762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651" name="Line 83"/>
          <p:cNvSpPr/>
          <p:nvPr/>
        </p:nvSpPr>
        <p:spPr>
          <a:xfrm>
            <a:off x="6172200" y="3733800"/>
            <a:ext cx="0" cy="3132138"/>
          </a:xfrm>
          <a:prstGeom prst="line">
            <a:avLst/>
          </a:prstGeom>
          <a:ln w="76200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09657" name="Group 89"/>
          <p:cNvGrpSpPr/>
          <p:nvPr/>
        </p:nvGrpSpPr>
        <p:grpSpPr>
          <a:xfrm>
            <a:off x="6248400" y="4876800"/>
            <a:ext cx="336550" cy="1676400"/>
            <a:chOff x="3936" y="3072"/>
            <a:chExt cx="212" cy="1056"/>
          </a:xfrm>
        </p:grpSpPr>
        <p:sp>
          <p:nvSpPr>
            <p:cNvPr id="48154" name="Text Box 85"/>
            <p:cNvSpPr txBox="1"/>
            <p:nvPr/>
          </p:nvSpPr>
          <p:spPr>
            <a:xfrm>
              <a:off x="3936" y="33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5" name="Text Box 86"/>
            <p:cNvSpPr txBox="1"/>
            <p:nvPr/>
          </p:nvSpPr>
          <p:spPr>
            <a:xfrm>
              <a:off x="3936" y="35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6" name="Text Box 87"/>
            <p:cNvSpPr txBox="1"/>
            <p:nvPr/>
          </p:nvSpPr>
          <p:spPr>
            <a:xfrm>
              <a:off x="3936" y="38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7" name="Text Box 88"/>
            <p:cNvSpPr txBox="1"/>
            <p:nvPr/>
          </p:nvSpPr>
          <p:spPr>
            <a:xfrm>
              <a:off x="3936" y="30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10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0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9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09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5" grpId="0"/>
      <p:bldP spid="109576" grpId="0"/>
      <p:bldP spid="109577" grpId="0"/>
      <p:bldP spid="109578" grpId="0"/>
      <p:bldP spid="109579" grpId="0"/>
      <p:bldP spid="109580" grpId="0"/>
      <p:bldP spid="109581" grpId="0"/>
      <p:bldP spid="109582" grpId="0"/>
      <p:bldP spid="109583" grpId="0"/>
      <p:bldP spid="109584" grpId="0"/>
      <p:bldP spid="10958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0600" name="Rectangle 1032"/>
          <p:cNvSpPr/>
          <p:nvPr/>
        </p:nvSpPr>
        <p:spPr>
          <a:xfrm>
            <a:off x="2819400" y="1143000"/>
            <a:ext cx="3865563" cy="427038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CT74195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功能表</a:t>
            </a:r>
            <a:endParaRPr lang="zh-CN" altLang="en-US" sz="2800" b="1" dirty="0">
              <a:solidFill>
                <a:srgbClr val="A5002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10840" name="Group 1272"/>
          <p:cNvGrpSpPr/>
          <p:nvPr/>
        </p:nvGrpSpPr>
        <p:grpSpPr>
          <a:xfrm>
            <a:off x="3081338" y="2174875"/>
            <a:ext cx="925512" cy="288925"/>
            <a:chOff x="1941" y="1370"/>
            <a:chExt cx="583" cy="182"/>
          </a:xfrm>
        </p:grpSpPr>
        <p:sp>
          <p:nvSpPr>
            <p:cNvPr id="49361" name="Rectangle 1033"/>
            <p:cNvSpPr/>
            <p:nvPr/>
          </p:nvSpPr>
          <p:spPr>
            <a:xfrm>
              <a:off x="1941" y="137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62" name="Rectangle 1035"/>
            <p:cNvSpPr/>
            <p:nvPr/>
          </p:nvSpPr>
          <p:spPr>
            <a:xfrm>
              <a:off x="2371" y="137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入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0841" name="Group 1273"/>
          <p:cNvGrpSpPr/>
          <p:nvPr/>
        </p:nvGrpSpPr>
        <p:grpSpPr>
          <a:xfrm>
            <a:off x="6308725" y="2174875"/>
            <a:ext cx="925513" cy="288925"/>
            <a:chOff x="3974" y="1370"/>
            <a:chExt cx="583" cy="182"/>
          </a:xfrm>
        </p:grpSpPr>
        <p:sp>
          <p:nvSpPr>
            <p:cNvPr id="49359" name="Rectangle 1036"/>
            <p:cNvSpPr/>
            <p:nvPr/>
          </p:nvSpPr>
          <p:spPr>
            <a:xfrm>
              <a:off x="3974" y="137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60" name="Rectangle 1038"/>
            <p:cNvSpPr/>
            <p:nvPr/>
          </p:nvSpPr>
          <p:spPr>
            <a:xfrm>
              <a:off x="4404" y="137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出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0819" name="Group 1251"/>
          <p:cNvGrpSpPr/>
          <p:nvPr/>
        </p:nvGrpSpPr>
        <p:grpSpPr>
          <a:xfrm>
            <a:off x="5710238" y="2592388"/>
            <a:ext cx="2054225" cy="339725"/>
            <a:chOff x="3597" y="1633"/>
            <a:chExt cx="1294" cy="214"/>
          </a:xfrm>
        </p:grpSpPr>
        <p:sp>
          <p:nvSpPr>
            <p:cNvPr id="49346" name="Rectangle 1069"/>
            <p:cNvSpPr/>
            <p:nvPr/>
          </p:nvSpPr>
          <p:spPr>
            <a:xfrm>
              <a:off x="3597" y="1634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7" name="Rectangle 1070"/>
            <p:cNvSpPr/>
            <p:nvPr/>
          </p:nvSpPr>
          <p:spPr>
            <a:xfrm>
              <a:off x="3699" y="1710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8" name="Rectangle 1071"/>
            <p:cNvSpPr/>
            <p:nvPr/>
          </p:nvSpPr>
          <p:spPr>
            <a:xfrm>
              <a:off x="3742" y="1634"/>
              <a:ext cx="19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Q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9" name="Rectangle 1072"/>
            <p:cNvSpPr/>
            <p:nvPr/>
          </p:nvSpPr>
          <p:spPr>
            <a:xfrm>
              <a:off x="3984" y="1710"/>
              <a:ext cx="7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50" name="Rectangle 1073"/>
            <p:cNvSpPr/>
            <p:nvPr/>
          </p:nvSpPr>
          <p:spPr>
            <a:xfrm>
              <a:off x="4076" y="1634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51" name="Rectangle 1074"/>
            <p:cNvSpPr/>
            <p:nvPr/>
          </p:nvSpPr>
          <p:spPr>
            <a:xfrm>
              <a:off x="4253" y="1710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52" name="Rectangle 1075"/>
            <p:cNvSpPr/>
            <p:nvPr/>
          </p:nvSpPr>
          <p:spPr>
            <a:xfrm>
              <a:off x="4291" y="1634"/>
              <a:ext cx="19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Q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53" name="Rectangle 1076"/>
            <p:cNvSpPr/>
            <p:nvPr/>
          </p:nvSpPr>
          <p:spPr>
            <a:xfrm>
              <a:off x="4538" y="1710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54" name="Rectangle 1077"/>
            <p:cNvSpPr/>
            <p:nvPr/>
          </p:nvSpPr>
          <p:spPr>
            <a:xfrm>
              <a:off x="4581" y="1634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355" name="Group 1081"/>
            <p:cNvGrpSpPr/>
            <p:nvPr/>
          </p:nvGrpSpPr>
          <p:grpSpPr>
            <a:xfrm>
              <a:off x="4729" y="1633"/>
              <a:ext cx="162" cy="214"/>
              <a:chOff x="4729" y="1633"/>
              <a:chExt cx="162" cy="214"/>
            </a:xfrm>
          </p:grpSpPr>
          <p:sp>
            <p:nvSpPr>
              <p:cNvPr id="49356" name="Line 1078"/>
              <p:cNvSpPr/>
              <p:nvPr/>
            </p:nvSpPr>
            <p:spPr>
              <a:xfrm>
                <a:off x="4734" y="1633"/>
                <a:ext cx="89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357" name="Rectangle 1079"/>
              <p:cNvSpPr/>
              <p:nvPr/>
            </p:nvSpPr>
            <p:spPr>
              <a:xfrm>
                <a:off x="4839" y="1722"/>
                <a:ext cx="5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358" name="Rectangle 1080"/>
              <p:cNvSpPr/>
              <p:nvPr/>
            </p:nvSpPr>
            <p:spPr>
              <a:xfrm>
                <a:off x="4729" y="1643"/>
                <a:ext cx="118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0826" name="Group 1258"/>
          <p:cNvGrpSpPr/>
          <p:nvPr/>
        </p:nvGrpSpPr>
        <p:grpSpPr>
          <a:xfrm>
            <a:off x="1570038" y="3629025"/>
            <a:ext cx="3708400" cy="303213"/>
            <a:chOff x="989" y="2286"/>
            <a:chExt cx="2336" cy="191"/>
          </a:xfrm>
        </p:grpSpPr>
        <p:sp>
          <p:nvSpPr>
            <p:cNvPr id="49336" name="Rectangle 1103"/>
            <p:cNvSpPr/>
            <p:nvPr/>
          </p:nvSpPr>
          <p:spPr>
            <a:xfrm>
              <a:off x="989" y="2286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1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37" name="Rectangle 1104"/>
            <p:cNvSpPr/>
            <p:nvPr/>
          </p:nvSpPr>
          <p:spPr>
            <a:xfrm>
              <a:off x="1279" y="2286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↑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38" name="Rectangle 1105"/>
            <p:cNvSpPr/>
            <p:nvPr/>
          </p:nvSpPr>
          <p:spPr>
            <a:xfrm>
              <a:off x="1419" y="2286"/>
              <a:ext cx="900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9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r>
                <a:rPr lang="en-US" altLang="zh-CN" sz="19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900" b="1" baseline="-25000" dirty="0">
                  <a:solidFill>
                    <a:srgbClr val="CC000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39" name="Rectangle 1107"/>
            <p:cNvSpPr/>
            <p:nvPr/>
          </p:nvSpPr>
          <p:spPr>
            <a:xfrm>
              <a:off x="2285" y="2286"/>
              <a:ext cx="30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……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0" name="Rectangle 1108"/>
            <p:cNvSpPr/>
            <p:nvPr/>
          </p:nvSpPr>
          <p:spPr>
            <a:xfrm>
              <a:off x="2565" y="2286"/>
              <a:ext cx="15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9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1" name="Rectangle 1109"/>
            <p:cNvSpPr/>
            <p:nvPr/>
          </p:nvSpPr>
          <p:spPr>
            <a:xfrm>
              <a:off x="2704" y="2362"/>
              <a:ext cx="4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2" name="Rectangle 1110"/>
            <p:cNvSpPr/>
            <p:nvPr/>
          </p:nvSpPr>
          <p:spPr>
            <a:xfrm>
              <a:off x="2747" y="2286"/>
              <a:ext cx="15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3" name="Rectangle 1111"/>
            <p:cNvSpPr/>
            <p:nvPr/>
          </p:nvSpPr>
          <p:spPr>
            <a:xfrm>
              <a:off x="2893" y="2286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4" name="Rectangle 1112"/>
            <p:cNvSpPr/>
            <p:nvPr/>
          </p:nvSpPr>
          <p:spPr>
            <a:xfrm>
              <a:off x="3032" y="2286"/>
              <a:ext cx="15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45" name="Rectangle 1113"/>
            <p:cNvSpPr/>
            <p:nvPr/>
          </p:nvSpPr>
          <p:spPr>
            <a:xfrm>
              <a:off x="3172" y="2286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0720" name="Rectangle 1152"/>
          <p:cNvSpPr/>
          <p:nvPr/>
        </p:nvSpPr>
        <p:spPr>
          <a:xfrm>
            <a:off x="5616575" y="3162300"/>
            <a:ext cx="2051050" cy="288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9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0     0     0     0</a:t>
            </a: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0827" name="Group 1259"/>
          <p:cNvGrpSpPr/>
          <p:nvPr/>
        </p:nvGrpSpPr>
        <p:grpSpPr>
          <a:xfrm>
            <a:off x="5616575" y="3563938"/>
            <a:ext cx="2114550" cy="339725"/>
            <a:chOff x="3538" y="2245"/>
            <a:chExt cx="1332" cy="214"/>
          </a:xfrm>
        </p:grpSpPr>
        <p:sp>
          <p:nvSpPr>
            <p:cNvPr id="49324" name="Rectangle 1153"/>
            <p:cNvSpPr/>
            <p:nvPr/>
          </p:nvSpPr>
          <p:spPr>
            <a:xfrm>
              <a:off x="3538" y="2245"/>
              <a:ext cx="12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25" name="Rectangle 1154"/>
            <p:cNvSpPr/>
            <p:nvPr/>
          </p:nvSpPr>
          <p:spPr>
            <a:xfrm>
              <a:off x="3678" y="2321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26" name="Rectangle 1155"/>
            <p:cNvSpPr/>
            <p:nvPr/>
          </p:nvSpPr>
          <p:spPr>
            <a:xfrm>
              <a:off x="3721" y="2245"/>
              <a:ext cx="161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27" name="Rectangle 1156"/>
            <p:cNvSpPr/>
            <p:nvPr/>
          </p:nvSpPr>
          <p:spPr>
            <a:xfrm>
              <a:off x="3941" y="2321"/>
              <a:ext cx="7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28" name="Rectangle 1157"/>
            <p:cNvSpPr/>
            <p:nvPr/>
          </p:nvSpPr>
          <p:spPr>
            <a:xfrm>
              <a:off x="4027" y="2245"/>
              <a:ext cx="161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29" name="Rectangle 1158"/>
            <p:cNvSpPr/>
            <p:nvPr/>
          </p:nvSpPr>
          <p:spPr>
            <a:xfrm>
              <a:off x="4237" y="2321"/>
              <a:ext cx="96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30" name="Rectangle 1159"/>
            <p:cNvSpPr/>
            <p:nvPr/>
          </p:nvSpPr>
          <p:spPr>
            <a:xfrm>
              <a:off x="4366" y="2245"/>
              <a:ext cx="12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31" name="Rectangle 1160"/>
            <p:cNvSpPr/>
            <p:nvPr/>
          </p:nvSpPr>
          <p:spPr>
            <a:xfrm>
              <a:off x="4511" y="2321"/>
              <a:ext cx="14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  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332" name="Group 1164"/>
            <p:cNvGrpSpPr/>
            <p:nvPr/>
          </p:nvGrpSpPr>
          <p:grpSpPr>
            <a:xfrm>
              <a:off x="4736" y="2265"/>
              <a:ext cx="134" cy="194"/>
              <a:chOff x="4736" y="2265"/>
              <a:chExt cx="134" cy="194"/>
            </a:xfrm>
          </p:grpSpPr>
          <p:sp>
            <p:nvSpPr>
              <p:cNvPr id="49333" name="Line 1161"/>
              <p:cNvSpPr/>
              <p:nvPr/>
            </p:nvSpPr>
            <p:spPr>
              <a:xfrm>
                <a:off x="4740" y="2265"/>
                <a:ext cx="62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334" name="Rectangle 1162"/>
              <p:cNvSpPr/>
              <p:nvPr/>
            </p:nvSpPr>
            <p:spPr>
              <a:xfrm>
                <a:off x="4818" y="2329"/>
                <a:ext cx="5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335" name="Rectangle 1163"/>
              <p:cNvSpPr/>
              <p:nvPr/>
            </p:nvSpPr>
            <p:spPr>
              <a:xfrm>
                <a:off x="4736" y="2277"/>
                <a:ext cx="85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0828" name="Group 1260"/>
          <p:cNvGrpSpPr/>
          <p:nvPr/>
        </p:nvGrpSpPr>
        <p:grpSpPr>
          <a:xfrm>
            <a:off x="1570038" y="3983038"/>
            <a:ext cx="6286500" cy="377825"/>
            <a:chOff x="989" y="2509"/>
            <a:chExt cx="3960" cy="238"/>
          </a:xfrm>
        </p:grpSpPr>
        <p:sp>
          <p:nvSpPr>
            <p:cNvPr id="49301" name="Rectangle 1114"/>
            <p:cNvSpPr/>
            <p:nvPr/>
          </p:nvSpPr>
          <p:spPr>
            <a:xfrm>
              <a:off x="989" y="2556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1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2" name="Rectangle 1115"/>
            <p:cNvSpPr/>
            <p:nvPr/>
          </p:nvSpPr>
          <p:spPr>
            <a:xfrm>
              <a:off x="1279" y="2632"/>
              <a:ext cx="4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3" name="Rectangle 1116"/>
            <p:cNvSpPr/>
            <p:nvPr/>
          </p:nvSpPr>
          <p:spPr>
            <a:xfrm>
              <a:off x="1322" y="2556"/>
              <a:ext cx="847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0     1  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4" name="Rectangle 1117"/>
            <p:cNvSpPr/>
            <p:nvPr/>
          </p:nvSpPr>
          <p:spPr>
            <a:xfrm>
              <a:off x="2097" y="2556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5" name="Rectangle 1118"/>
            <p:cNvSpPr/>
            <p:nvPr/>
          </p:nvSpPr>
          <p:spPr>
            <a:xfrm>
              <a:off x="2237" y="2556"/>
              <a:ext cx="3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  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6" name="Rectangle 1119"/>
            <p:cNvSpPr/>
            <p:nvPr/>
          </p:nvSpPr>
          <p:spPr>
            <a:xfrm>
              <a:off x="2592" y="2556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7" name="Rectangle 1120"/>
            <p:cNvSpPr/>
            <p:nvPr/>
          </p:nvSpPr>
          <p:spPr>
            <a:xfrm>
              <a:off x="2731" y="2556"/>
              <a:ext cx="15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8" name="Rectangle 1121"/>
            <p:cNvSpPr/>
            <p:nvPr/>
          </p:nvSpPr>
          <p:spPr>
            <a:xfrm>
              <a:off x="2877" y="2556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09" name="Rectangle 1122"/>
            <p:cNvSpPr/>
            <p:nvPr/>
          </p:nvSpPr>
          <p:spPr>
            <a:xfrm>
              <a:off x="3016" y="2556"/>
              <a:ext cx="15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0" name="Rectangle 1123"/>
            <p:cNvSpPr/>
            <p:nvPr/>
          </p:nvSpPr>
          <p:spPr>
            <a:xfrm>
              <a:off x="3156" y="2556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1" name="Rectangle 1165"/>
            <p:cNvSpPr/>
            <p:nvPr/>
          </p:nvSpPr>
          <p:spPr>
            <a:xfrm>
              <a:off x="3538" y="2585"/>
              <a:ext cx="2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2" name="Rectangle 1166"/>
            <p:cNvSpPr/>
            <p:nvPr/>
          </p:nvSpPr>
          <p:spPr>
            <a:xfrm>
              <a:off x="3581" y="2509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3" name="Rectangle 1167"/>
            <p:cNvSpPr/>
            <p:nvPr/>
          </p:nvSpPr>
          <p:spPr>
            <a:xfrm>
              <a:off x="3683" y="2585"/>
              <a:ext cx="120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00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4" name="Rectangle 1168"/>
            <p:cNvSpPr/>
            <p:nvPr/>
          </p:nvSpPr>
          <p:spPr>
            <a:xfrm>
              <a:off x="3812" y="2509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5" name="Rectangle 1169"/>
            <p:cNvSpPr/>
            <p:nvPr/>
          </p:nvSpPr>
          <p:spPr>
            <a:xfrm>
              <a:off x="3990" y="2585"/>
              <a:ext cx="14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10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6" name="Rectangle 1170"/>
            <p:cNvSpPr/>
            <p:nvPr/>
          </p:nvSpPr>
          <p:spPr>
            <a:xfrm>
              <a:off x="4162" y="2509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7" name="Rectangle 1171"/>
            <p:cNvSpPr/>
            <p:nvPr/>
          </p:nvSpPr>
          <p:spPr>
            <a:xfrm>
              <a:off x="4264" y="2585"/>
              <a:ext cx="14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8" name="Rectangle 1172"/>
            <p:cNvSpPr/>
            <p:nvPr/>
          </p:nvSpPr>
          <p:spPr>
            <a:xfrm>
              <a:off x="4436" y="2509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319" name="Rectangle 1173"/>
            <p:cNvSpPr/>
            <p:nvPr/>
          </p:nvSpPr>
          <p:spPr>
            <a:xfrm>
              <a:off x="4538" y="2585"/>
              <a:ext cx="14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30 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320" name="Group 1177"/>
            <p:cNvGrpSpPr/>
            <p:nvPr/>
          </p:nvGrpSpPr>
          <p:grpSpPr>
            <a:xfrm>
              <a:off x="4736" y="2509"/>
              <a:ext cx="213" cy="215"/>
              <a:chOff x="4736" y="2509"/>
              <a:chExt cx="213" cy="215"/>
            </a:xfrm>
          </p:grpSpPr>
          <p:sp>
            <p:nvSpPr>
              <p:cNvPr id="49321" name="Line 1174"/>
              <p:cNvSpPr/>
              <p:nvPr/>
            </p:nvSpPr>
            <p:spPr>
              <a:xfrm>
                <a:off x="4740" y="2509"/>
                <a:ext cx="89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322" name="Rectangle 1175"/>
              <p:cNvSpPr/>
              <p:nvPr/>
            </p:nvSpPr>
            <p:spPr>
              <a:xfrm>
                <a:off x="4845" y="2599"/>
                <a:ext cx="104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30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323" name="Rectangle 1176"/>
              <p:cNvSpPr/>
              <p:nvPr/>
            </p:nvSpPr>
            <p:spPr>
              <a:xfrm>
                <a:off x="4736" y="2520"/>
                <a:ext cx="118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0829" name="Group 1261"/>
          <p:cNvGrpSpPr/>
          <p:nvPr/>
        </p:nvGrpSpPr>
        <p:grpSpPr>
          <a:xfrm>
            <a:off x="1570038" y="4449763"/>
            <a:ext cx="6324600" cy="341312"/>
            <a:chOff x="989" y="2803"/>
            <a:chExt cx="3984" cy="215"/>
          </a:xfrm>
        </p:grpSpPr>
        <p:sp>
          <p:nvSpPr>
            <p:cNvPr id="49280" name="Rectangle 1124"/>
            <p:cNvSpPr/>
            <p:nvPr/>
          </p:nvSpPr>
          <p:spPr>
            <a:xfrm>
              <a:off x="989" y="2832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 1 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1" name="Rectangle 1125"/>
            <p:cNvSpPr/>
            <p:nvPr/>
          </p:nvSpPr>
          <p:spPr>
            <a:xfrm>
              <a:off x="1279" y="2832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↑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2" name="Rectangle 1126"/>
            <p:cNvSpPr/>
            <p:nvPr/>
          </p:nvSpPr>
          <p:spPr>
            <a:xfrm>
              <a:off x="1419" y="2832"/>
              <a:ext cx="770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     1   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3" name="Rectangle 1127"/>
            <p:cNvSpPr/>
            <p:nvPr/>
          </p:nvSpPr>
          <p:spPr>
            <a:xfrm>
              <a:off x="2124" y="2832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4" name="Rectangle 1128"/>
            <p:cNvSpPr/>
            <p:nvPr/>
          </p:nvSpPr>
          <p:spPr>
            <a:xfrm>
              <a:off x="2263" y="2832"/>
              <a:ext cx="3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    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5" name="Rectangle 1129"/>
            <p:cNvSpPr/>
            <p:nvPr/>
          </p:nvSpPr>
          <p:spPr>
            <a:xfrm>
              <a:off x="2618" y="2832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6" name="Rectangle 1130"/>
            <p:cNvSpPr/>
            <p:nvPr/>
          </p:nvSpPr>
          <p:spPr>
            <a:xfrm>
              <a:off x="2758" y="2832"/>
              <a:ext cx="539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  0   1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7" name="Rectangle 1178"/>
            <p:cNvSpPr/>
            <p:nvPr/>
          </p:nvSpPr>
          <p:spPr>
            <a:xfrm>
              <a:off x="3538" y="2803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8" name="Rectangle 1179"/>
            <p:cNvSpPr/>
            <p:nvPr/>
          </p:nvSpPr>
          <p:spPr>
            <a:xfrm>
              <a:off x="3710" y="2879"/>
              <a:ext cx="14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0n 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9" name="Rectangle 1180"/>
            <p:cNvSpPr/>
            <p:nvPr/>
          </p:nvSpPr>
          <p:spPr>
            <a:xfrm>
              <a:off x="3882" y="2803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90" name="Rectangle 1181"/>
            <p:cNvSpPr/>
            <p:nvPr/>
          </p:nvSpPr>
          <p:spPr>
            <a:xfrm>
              <a:off x="3984" y="2879"/>
              <a:ext cx="125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0n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91" name="Rectangle 1182"/>
            <p:cNvSpPr/>
            <p:nvPr/>
          </p:nvSpPr>
          <p:spPr>
            <a:xfrm>
              <a:off x="4113" y="2803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92" name="Rectangle 1183"/>
            <p:cNvSpPr/>
            <p:nvPr/>
          </p:nvSpPr>
          <p:spPr>
            <a:xfrm>
              <a:off x="4291" y="2879"/>
              <a:ext cx="14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1n 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93" name="Rectangle 1184"/>
            <p:cNvSpPr/>
            <p:nvPr/>
          </p:nvSpPr>
          <p:spPr>
            <a:xfrm>
              <a:off x="4458" y="2803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94" name="Rectangle 1185"/>
            <p:cNvSpPr/>
            <p:nvPr/>
          </p:nvSpPr>
          <p:spPr>
            <a:xfrm>
              <a:off x="4565" y="2879"/>
              <a:ext cx="101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2n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95" name="Rectangle 1186"/>
            <p:cNvSpPr/>
            <p:nvPr/>
          </p:nvSpPr>
          <p:spPr>
            <a:xfrm>
              <a:off x="4651" y="2803"/>
              <a:ext cx="3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296" name="Group 1191"/>
            <p:cNvGrpSpPr/>
            <p:nvPr/>
          </p:nvGrpSpPr>
          <p:grpSpPr>
            <a:xfrm>
              <a:off x="4751" y="2803"/>
              <a:ext cx="222" cy="215"/>
              <a:chOff x="4751" y="2803"/>
              <a:chExt cx="222" cy="215"/>
            </a:xfrm>
          </p:grpSpPr>
          <p:sp>
            <p:nvSpPr>
              <p:cNvPr id="49297" name="Line 1187"/>
              <p:cNvSpPr/>
              <p:nvPr/>
            </p:nvSpPr>
            <p:spPr>
              <a:xfrm>
                <a:off x="4756" y="2803"/>
                <a:ext cx="88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98" name="Rectangle 1188"/>
              <p:cNvSpPr/>
              <p:nvPr/>
            </p:nvSpPr>
            <p:spPr>
              <a:xfrm>
                <a:off x="4915" y="2893"/>
                <a:ext cx="58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i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99" name="Rectangle 1189"/>
              <p:cNvSpPr/>
              <p:nvPr/>
            </p:nvSpPr>
            <p:spPr>
              <a:xfrm>
                <a:off x="4863" y="2893"/>
                <a:ext cx="5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300" name="Rectangle 1190"/>
              <p:cNvSpPr/>
              <p:nvPr/>
            </p:nvSpPr>
            <p:spPr>
              <a:xfrm>
                <a:off x="4751" y="2814"/>
                <a:ext cx="118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0830" name="Group 1262"/>
          <p:cNvGrpSpPr/>
          <p:nvPr/>
        </p:nvGrpSpPr>
        <p:grpSpPr>
          <a:xfrm>
            <a:off x="1570038" y="4914900"/>
            <a:ext cx="6332537" cy="342900"/>
            <a:chOff x="989" y="3096"/>
            <a:chExt cx="3989" cy="216"/>
          </a:xfrm>
        </p:grpSpPr>
        <p:sp>
          <p:nvSpPr>
            <p:cNvPr id="49261" name="Rectangle 1131"/>
            <p:cNvSpPr/>
            <p:nvPr/>
          </p:nvSpPr>
          <p:spPr>
            <a:xfrm>
              <a:off x="989" y="3102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 1 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2" name="Rectangle 1132"/>
            <p:cNvSpPr/>
            <p:nvPr/>
          </p:nvSpPr>
          <p:spPr>
            <a:xfrm>
              <a:off x="1279" y="3102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↑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3" name="Rectangle 1133"/>
            <p:cNvSpPr/>
            <p:nvPr/>
          </p:nvSpPr>
          <p:spPr>
            <a:xfrm>
              <a:off x="1419" y="3102"/>
              <a:ext cx="770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     1   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4" name="Rectangle 1134"/>
            <p:cNvSpPr/>
            <p:nvPr/>
          </p:nvSpPr>
          <p:spPr>
            <a:xfrm>
              <a:off x="2124" y="3102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5" name="Rectangle 1135"/>
            <p:cNvSpPr/>
            <p:nvPr/>
          </p:nvSpPr>
          <p:spPr>
            <a:xfrm>
              <a:off x="2263" y="3102"/>
              <a:ext cx="3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    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6" name="Rectangle 1136"/>
            <p:cNvSpPr/>
            <p:nvPr/>
          </p:nvSpPr>
          <p:spPr>
            <a:xfrm>
              <a:off x="2618" y="3102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7" name="Rectangle 1137"/>
            <p:cNvSpPr/>
            <p:nvPr/>
          </p:nvSpPr>
          <p:spPr>
            <a:xfrm>
              <a:off x="2758" y="3102"/>
              <a:ext cx="539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  0   0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8" name="Rectangle 1192"/>
            <p:cNvSpPr/>
            <p:nvPr/>
          </p:nvSpPr>
          <p:spPr>
            <a:xfrm>
              <a:off x="3538" y="3096"/>
              <a:ext cx="34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0   Q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69" name="Rectangle 1193"/>
            <p:cNvSpPr/>
            <p:nvPr/>
          </p:nvSpPr>
          <p:spPr>
            <a:xfrm>
              <a:off x="4000" y="3173"/>
              <a:ext cx="125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0n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70" name="Rectangle 1194"/>
            <p:cNvSpPr/>
            <p:nvPr/>
          </p:nvSpPr>
          <p:spPr>
            <a:xfrm>
              <a:off x="4124" y="3096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71" name="Rectangle 1195"/>
            <p:cNvSpPr/>
            <p:nvPr/>
          </p:nvSpPr>
          <p:spPr>
            <a:xfrm>
              <a:off x="4296" y="3173"/>
              <a:ext cx="14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1n 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72" name="Rectangle 1196"/>
            <p:cNvSpPr/>
            <p:nvPr/>
          </p:nvSpPr>
          <p:spPr>
            <a:xfrm>
              <a:off x="4468" y="3096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73" name="Rectangle 1197"/>
            <p:cNvSpPr/>
            <p:nvPr/>
          </p:nvSpPr>
          <p:spPr>
            <a:xfrm>
              <a:off x="4571" y="3173"/>
              <a:ext cx="101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2n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74" name="Rectangle 1198"/>
            <p:cNvSpPr/>
            <p:nvPr/>
          </p:nvSpPr>
          <p:spPr>
            <a:xfrm>
              <a:off x="4657" y="3096"/>
              <a:ext cx="3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275" name="Group 1203"/>
            <p:cNvGrpSpPr/>
            <p:nvPr/>
          </p:nvGrpSpPr>
          <p:grpSpPr>
            <a:xfrm>
              <a:off x="4757" y="3098"/>
              <a:ext cx="221" cy="214"/>
              <a:chOff x="4757" y="3098"/>
              <a:chExt cx="221" cy="214"/>
            </a:xfrm>
          </p:grpSpPr>
          <p:sp>
            <p:nvSpPr>
              <p:cNvPr id="49276" name="Line 1199"/>
              <p:cNvSpPr/>
              <p:nvPr/>
            </p:nvSpPr>
            <p:spPr>
              <a:xfrm>
                <a:off x="4761" y="3098"/>
                <a:ext cx="88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77" name="Rectangle 1200"/>
              <p:cNvSpPr/>
              <p:nvPr/>
            </p:nvSpPr>
            <p:spPr>
              <a:xfrm>
                <a:off x="4920" y="3187"/>
                <a:ext cx="58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78" name="Rectangle 1201"/>
              <p:cNvSpPr/>
              <p:nvPr/>
            </p:nvSpPr>
            <p:spPr>
              <a:xfrm>
                <a:off x="4868" y="3187"/>
                <a:ext cx="5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79" name="Rectangle 1202"/>
              <p:cNvSpPr/>
              <p:nvPr/>
            </p:nvSpPr>
            <p:spPr>
              <a:xfrm>
                <a:off x="4757" y="3108"/>
                <a:ext cx="118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0831" name="Group 1263"/>
          <p:cNvGrpSpPr/>
          <p:nvPr/>
        </p:nvGrpSpPr>
        <p:grpSpPr>
          <a:xfrm>
            <a:off x="1570038" y="5362575"/>
            <a:ext cx="6332537" cy="361950"/>
            <a:chOff x="989" y="3378"/>
            <a:chExt cx="3989" cy="228"/>
          </a:xfrm>
        </p:grpSpPr>
        <p:sp>
          <p:nvSpPr>
            <p:cNvPr id="49242" name="Rectangle 1138"/>
            <p:cNvSpPr/>
            <p:nvPr/>
          </p:nvSpPr>
          <p:spPr>
            <a:xfrm>
              <a:off x="989" y="3378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1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3" name="Rectangle 1139"/>
            <p:cNvSpPr/>
            <p:nvPr/>
          </p:nvSpPr>
          <p:spPr>
            <a:xfrm>
              <a:off x="1279" y="3378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↑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4" name="Rectangle 1140"/>
            <p:cNvSpPr/>
            <p:nvPr/>
          </p:nvSpPr>
          <p:spPr>
            <a:xfrm>
              <a:off x="1419" y="3378"/>
              <a:ext cx="770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 1  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5" name="Rectangle 1141"/>
            <p:cNvSpPr/>
            <p:nvPr/>
          </p:nvSpPr>
          <p:spPr>
            <a:xfrm>
              <a:off x="2124" y="3378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6" name="Rectangle 1142"/>
            <p:cNvSpPr/>
            <p:nvPr/>
          </p:nvSpPr>
          <p:spPr>
            <a:xfrm>
              <a:off x="2263" y="3378"/>
              <a:ext cx="3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7" name="Rectangle 1143"/>
            <p:cNvSpPr/>
            <p:nvPr/>
          </p:nvSpPr>
          <p:spPr>
            <a:xfrm>
              <a:off x="2618" y="3378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8" name="Rectangle 1144"/>
            <p:cNvSpPr/>
            <p:nvPr/>
          </p:nvSpPr>
          <p:spPr>
            <a:xfrm>
              <a:off x="2758" y="3378"/>
              <a:ext cx="539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1   1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9" name="Rectangle 1204"/>
            <p:cNvSpPr/>
            <p:nvPr/>
          </p:nvSpPr>
          <p:spPr>
            <a:xfrm>
              <a:off x="3538" y="3390"/>
              <a:ext cx="34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1   Q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50" name="Rectangle 1205"/>
            <p:cNvSpPr/>
            <p:nvPr/>
          </p:nvSpPr>
          <p:spPr>
            <a:xfrm>
              <a:off x="4000" y="3466"/>
              <a:ext cx="125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0n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51" name="Rectangle 1206"/>
            <p:cNvSpPr/>
            <p:nvPr/>
          </p:nvSpPr>
          <p:spPr>
            <a:xfrm>
              <a:off x="4124" y="3390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52" name="Rectangle 1207"/>
            <p:cNvSpPr/>
            <p:nvPr/>
          </p:nvSpPr>
          <p:spPr>
            <a:xfrm>
              <a:off x="4296" y="3466"/>
              <a:ext cx="14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1n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53" name="Rectangle 1208"/>
            <p:cNvSpPr/>
            <p:nvPr/>
          </p:nvSpPr>
          <p:spPr>
            <a:xfrm>
              <a:off x="4468" y="3390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54" name="Rectangle 1209"/>
            <p:cNvSpPr/>
            <p:nvPr/>
          </p:nvSpPr>
          <p:spPr>
            <a:xfrm>
              <a:off x="4571" y="3466"/>
              <a:ext cx="101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2n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55" name="Rectangle 1210"/>
            <p:cNvSpPr/>
            <p:nvPr/>
          </p:nvSpPr>
          <p:spPr>
            <a:xfrm>
              <a:off x="4657" y="3390"/>
              <a:ext cx="3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256" name="Group 1215"/>
            <p:cNvGrpSpPr/>
            <p:nvPr/>
          </p:nvGrpSpPr>
          <p:grpSpPr>
            <a:xfrm>
              <a:off x="4757" y="3391"/>
              <a:ext cx="221" cy="215"/>
              <a:chOff x="4757" y="3391"/>
              <a:chExt cx="221" cy="215"/>
            </a:xfrm>
          </p:grpSpPr>
          <p:sp>
            <p:nvSpPr>
              <p:cNvPr id="49257" name="Line 1211"/>
              <p:cNvSpPr/>
              <p:nvPr/>
            </p:nvSpPr>
            <p:spPr>
              <a:xfrm>
                <a:off x="4761" y="3391"/>
                <a:ext cx="88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58" name="Rectangle 1212"/>
              <p:cNvSpPr/>
              <p:nvPr/>
            </p:nvSpPr>
            <p:spPr>
              <a:xfrm>
                <a:off x="4920" y="3481"/>
                <a:ext cx="58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59" name="Rectangle 1213"/>
              <p:cNvSpPr/>
              <p:nvPr/>
            </p:nvSpPr>
            <p:spPr>
              <a:xfrm>
                <a:off x="4868" y="3481"/>
                <a:ext cx="5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60" name="Rectangle 1214"/>
              <p:cNvSpPr/>
              <p:nvPr/>
            </p:nvSpPr>
            <p:spPr>
              <a:xfrm>
                <a:off x="4757" y="3402"/>
                <a:ext cx="118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0825" name="Group 1257"/>
          <p:cNvGrpSpPr/>
          <p:nvPr/>
        </p:nvGrpSpPr>
        <p:grpSpPr>
          <a:xfrm>
            <a:off x="1600200" y="3190875"/>
            <a:ext cx="3687763" cy="298450"/>
            <a:chOff x="1008" y="2010"/>
            <a:chExt cx="2323" cy="188"/>
          </a:xfrm>
        </p:grpSpPr>
        <p:sp>
          <p:nvSpPr>
            <p:cNvPr id="49230" name="Rectangle 1091"/>
            <p:cNvSpPr/>
            <p:nvPr/>
          </p:nvSpPr>
          <p:spPr>
            <a:xfrm>
              <a:off x="1008" y="2016"/>
              <a:ext cx="190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0</a:t>
              </a: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1" name="Rectangle 1092"/>
            <p:cNvSpPr/>
            <p:nvPr/>
          </p:nvSpPr>
          <p:spPr>
            <a:xfrm>
              <a:off x="1274" y="201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2" name="Rectangle 1093"/>
            <p:cNvSpPr/>
            <p:nvPr/>
          </p:nvSpPr>
          <p:spPr>
            <a:xfrm>
              <a:off x="1414" y="2010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3" name="Rectangle 1094"/>
            <p:cNvSpPr/>
            <p:nvPr/>
          </p:nvSpPr>
          <p:spPr>
            <a:xfrm>
              <a:off x="1699" y="201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4" name="Rectangle 1095"/>
            <p:cNvSpPr/>
            <p:nvPr/>
          </p:nvSpPr>
          <p:spPr>
            <a:xfrm>
              <a:off x="1839" y="2010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5" name="Rectangle 1096"/>
            <p:cNvSpPr/>
            <p:nvPr/>
          </p:nvSpPr>
          <p:spPr>
            <a:xfrm>
              <a:off x="2118" y="201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6" name="Rectangle 1097"/>
            <p:cNvSpPr/>
            <p:nvPr/>
          </p:nvSpPr>
          <p:spPr>
            <a:xfrm>
              <a:off x="2258" y="2010"/>
              <a:ext cx="3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 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7" name="Rectangle 1098"/>
            <p:cNvSpPr/>
            <p:nvPr/>
          </p:nvSpPr>
          <p:spPr>
            <a:xfrm>
              <a:off x="2613" y="201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8" name="Rectangle 1099"/>
            <p:cNvSpPr/>
            <p:nvPr/>
          </p:nvSpPr>
          <p:spPr>
            <a:xfrm>
              <a:off x="2753" y="2010"/>
              <a:ext cx="15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39" name="Rectangle 1100"/>
            <p:cNvSpPr/>
            <p:nvPr/>
          </p:nvSpPr>
          <p:spPr>
            <a:xfrm>
              <a:off x="2898" y="201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0" name="Rectangle 1101"/>
            <p:cNvSpPr/>
            <p:nvPr/>
          </p:nvSpPr>
          <p:spPr>
            <a:xfrm>
              <a:off x="3038" y="2010"/>
              <a:ext cx="15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41" name="Rectangle 1102"/>
            <p:cNvSpPr/>
            <p:nvPr/>
          </p:nvSpPr>
          <p:spPr>
            <a:xfrm>
              <a:off x="3178" y="2010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0824" name="Group 1256"/>
          <p:cNvGrpSpPr/>
          <p:nvPr/>
        </p:nvGrpSpPr>
        <p:grpSpPr>
          <a:xfrm>
            <a:off x="1681163" y="2484438"/>
            <a:ext cx="3816350" cy="673100"/>
            <a:chOff x="1059" y="1565"/>
            <a:chExt cx="2404" cy="424"/>
          </a:xfrm>
        </p:grpSpPr>
        <p:sp>
          <p:nvSpPr>
            <p:cNvPr id="49209" name="Rectangle 1059"/>
            <p:cNvSpPr/>
            <p:nvPr/>
          </p:nvSpPr>
          <p:spPr>
            <a:xfrm>
              <a:off x="2247" y="1775"/>
              <a:ext cx="12" cy="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6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10" name="Rectangle 1060"/>
            <p:cNvSpPr/>
            <p:nvPr/>
          </p:nvSpPr>
          <p:spPr>
            <a:xfrm>
              <a:off x="2269" y="1675"/>
              <a:ext cx="30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……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11" name="Rectangle 1061"/>
            <p:cNvSpPr/>
            <p:nvPr/>
          </p:nvSpPr>
          <p:spPr>
            <a:xfrm>
              <a:off x="2548" y="1734"/>
              <a:ext cx="20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12" name="Rectangle 1063"/>
            <p:cNvSpPr/>
            <p:nvPr/>
          </p:nvSpPr>
          <p:spPr>
            <a:xfrm>
              <a:off x="2683" y="1746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213" name="Group 1250"/>
            <p:cNvGrpSpPr/>
            <p:nvPr/>
          </p:nvGrpSpPr>
          <p:grpSpPr>
            <a:xfrm>
              <a:off x="1059" y="1565"/>
              <a:ext cx="2317" cy="424"/>
              <a:chOff x="1059" y="1565"/>
              <a:chExt cx="2317" cy="424"/>
            </a:xfrm>
          </p:grpSpPr>
          <p:sp>
            <p:nvSpPr>
              <p:cNvPr id="49216" name="Rectangle 1051"/>
              <p:cNvSpPr/>
              <p:nvPr/>
            </p:nvSpPr>
            <p:spPr>
              <a:xfrm>
                <a:off x="1059" y="1669"/>
                <a:ext cx="541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R   CP   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217" name="Group 1056"/>
              <p:cNvGrpSpPr/>
              <p:nvPr/>
            </p:nvGrpSpPr>
            <p:grpSpPr>
              <a:xfrm>
                <a:off x="1704" y="1565"/>
                <a:ext cx="242" cy="424"/>
                <a:chOff x="1704" y="1565"/>
                <a:chExt cx="242" cy="424"/>
              </a:xfrm>
            </p:grpSpPr>
            <p:sp>
              <p:nvSpPr>
                <p:cNvPr id="49226" name="Line 1052"/>
                <p:cNvSpPr/>
                <p:nvPr/>
              </p:nvSpPr>
              <p:spPr>
                <a:xfrm>
                  <a:off x="1704" y="1768"/>
                  <a:ext cx="225" cy="1"/>
                </a:xfrm>
                <a:prstGeom prst="line">
                  <a:avLst/>
                </a:prstGeom>
                <a:ln w="11113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9227" name="Rectangle 1053"/>
                <p:cNvSpPr/>
                <p:nvPr/>
              </p:nvSpPr>
              <p:spPr>
                <a:xfrm>
                  <a:off x="1729" y="1807"/>
                  <a:ext cx="211" cy="1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9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LD</a:t>
                  </a:r>
                  <a:endPara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9228" name="Rectangle 1054"/>
                <p:cNvSpPr/>
                <p:nvPr/>
              </p:nvSpPr>
              <p:spPr>
                <a:xfrm>
                  <a:off x="1743" y="1565"/>
                  <a:ext cx="203" cy="1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9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SH</a:t>
                  </a:r>
                  <a:endPara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9229" name="Rectangle 1055"/>
                <p:cNvSpPr/>
                <p:nvPr/>
              </p:nvSpPr>
              <p:spPr>
                <a:xfrm>
                  <a:off x="1718" y="1565"/>
                  <a:ext cx="38" cy="1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9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</a:t>
                  </a:r>
                  <a:endPara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218" name="Rectangle 1057"/>
              <p:cNvSpPr/>
              <p:nvPr/>
            </p:nvSpPr>
            <p:spPr>
              <a:xfrm>
                <a:off x="1962" y="1669"/>
                <a:ext cx="186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D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19" name="Rectangle 1058"/>
              <p:cNvSpPr/>
              <p:nvPr/>
            </p:nvSpPr>
            <p:spPr>
              <a:xfrm>
                <a:off x="2204" y="1746"/>
                <a:ext cx="48" cy="1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0" name="Rectangle 1062"/>
              <p:cNvSpPr/>
              <p:nvPr/>
            </p:nvSpPr>
            <p:spPr>
              <a:xfrm>
                <a:off x="2581" y="1669"/>
                <a:ext cx="110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1" name="Rectangle 1064"/>
              <p:cNvSpPr/>
              <p:nvPr/>
            </p:nvSpPr>
            <p:spPr>
              <a:xfrm>
                <a:off x="2726" y="1669"/>
                <a:ext cx="304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J   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222" name="Group 1068"/>
              <p:cNvGrpSpPr/>
              <p:nvPr/>
            </p:nvGrpSpPr>
            <p:grpSpPr>
              <a:xfrm>
                <a:off x="3227" y="1643"/>
                <a:ext cx="149" cy="209"/>
                <a:chOff x="3227" y="1643"/>
                <a:chExt cx="149" cy="209"/>
              </a:xfrm>
            </p:grpSpPr>
            <p:sp>
              <p:nvSpPr>
                <p:cNvPr id="49223" name="Line 1065"/>
                <p:cNvSpPr/>
                <p:nvPr/>
              </p:nvSpPr>
              <p:spPr>
                <a:xfrm>
                  <a:off x="3260" y="1643"/>
                  <a:ext cx="94" cy="1"/>
                </a:xfrm>
                <a:prstGeom prst="line">
                  <a:avLst/>
                </a:prstGeom>
                <a:ln w="11113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9224" name="Rectangle 1066"/>
                <p:cNvSpPr/>
                <p:nvPr/>
              </p:nvSpPr>
              <p:spPr>
                <a:xfrm>
                  <a:off x="3258" y="1670"/>
                  <a:ext cx="118" cy="1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9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K</a:t>
                  </a:r>
                  <a:endPara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9225" name="Rectangle 1067"/>
                <p:cNvSpPr/>
                <p:nvPr/>
              </p:nvSpPr>
              <p:spPr>
                <a:xfrm>
                  <a:off x="3227" y="1670"/>
                  <a:ext cx="38" cy="1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9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</a:t>
                  </a:r>
                  <a:endPara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9214" name="Line 1237"/>
            <p:cNvSpPr/>
            <p:nvPr/>
          </p:nvSpPr>
          <p:spPr>
            <a:xfrm>
              <a:off x="3457" y="1981"/>
              <a:ext cx="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15" name="Line 1238"/>
            <p:cNvSpPr/>
            <p:nvPr/>
          </p:nvSpPr>
          <p:spPr>
            <a:xfrm>
              <a:off x="3457" y="1981"/>
              <a:ext cx="1" cy="5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0832" name="Group 1264"/>
          <p:cNvGrpSpPr/>
          <p:nvPr/>
        </p:nvGrpSpPr>
        <p:grpSpPr>
          <a:xfrm>
            <a:off x="1562100" y="5794375"/>
            <a:ext cx="6462713" cy="398463"/>
            <a:chOff x="984" y="3650"/>
            <a:chExt cx="4071" cy="251"/>
          </a:xfrm>
        </p:grpSpPr>
        <p:sp>
          <p:nvSpPr>
            <p:cNvPr id="49179" name="Rectangle 1145"/>
            <p:cNvSpPr/>
            <p:nvPr/>
          </p:nvSpPr>
          <p:spPr>
            <a:xfrm>
              <a:off x="989" y="3654"/>
              <a:ext cx="30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宋体" panose="02010600030101010101" pitchFamily="2" charset="-122"/>
                </a:rPr>
                <a:t> 1  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0" name="Rectangle 1146"/>
            <p:cNvSpPr/>
            <p:nvPr/>
          </p:nvSpPr>
          <p:spPr>
            <a:xfrm>
              <a:off x="1279" y="3654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宋体" panose="02010600030101010101" pitchFamily="2" charset="-122"/>
                </a:rPr>
                <a:t>↑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1" name="Rectangle 1147"/>
            <p:cNvSpPr/>
            <p:nvPr/>
          </p:nvSpPr>
          <p:spPr>
            <a:xfrm>
              <a:off x="1419" y="3654"/>
              <a:ext cx="770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宋体" panose="02010600030101010101" pitchFamily="2" charset="-122"/>
                </a:rPr>
                <a:t>     1    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2" name="Rectangle 1148"/>
            <p:cNvSpPr/>
            <p:nvPr/>
          </p:nvSpPr>
          <p:spPr>
            <a:xfrm>
              <a:off x="2124" y="3654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3" name="Rectangle 1149"/>
            <p:cNvSpPr/>
            <p:nvPr/>
          </p:nvSpPr>
          <p:spPr>
            <a:xfrm>
              <a:off x="2263" y="3654"/>
              <a:ext cx="385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宋体" panose="02010600030101010101" pitchFamily="2" charset="-122"/>
                </a:rPr>
                <a:t>     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4" name="Rectangle 1150"/>
            <p:cNvSpPr/>
            <p:nvPr/>
          </p:nvSpPr>
          <p:spPr>
            <a:xfrm>
              <a:off x="2618" y="3654"/>
              <a:ext cx="15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5" name="Rectangle 1151"/>
            <p:cNvSpPr/>
            <p:nvPr/>
          </p:nvSpPr>
          <p:spPr>
            <a:xfrm>
              <a:off x="2758" y="3654"/>
              <a:ext cx="539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宋体" panose="02010600030101010101" pitchFamily="2" charset="-122"/>
                </a:rPr>
                <a:t>  1   0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6" name="Rectangle 1216"/>
            <p:cNvSpPr/>
            <p:nvPr/>
          </p:nvSpPr>
          <p:spPr>
            <a:xfrm>
              <a:off x="3538" y="3672"/>
              <a:ext cx="3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187" name="Group 1221"/>
            <p:cNvGrpSpPr/>
            <p:nvPr/>
          </p:nvGrpSpPr>
          <p:grpSpPr>
            <a:xfrm>
              <a:off x="3629" y="3674"/>
              <a:ext cx="221" cy="215"/>
              <a:chOff x="3629" y="3674"/>
              <a:chExt cx="221" cy="215"/>
            </a:xfrm>
          </p:grpSpPr>
          <p:sp>
            <p:nvSpPr>
              <p:cNvPr id="49205" name="Line 1217"/>
              <p:cNvSpPr/>
              <p:nvPr/>
            </p:nvSpPr>
            <p:spPr>
              <a:xfrm>
                <a:off x="3633" y="3674"/>
                <a:ext cx="89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6" name="Rectangle 1218"/>
              <p:cNvSpPr/>
              <p:nvPr/>
            </p:nvSpPr>
            <p:spPr>
              <a:xfrm>
                <a:off x="3792" y="3764"/>
                <a:ext cx="58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i="1" dirty="0">
                    <a:solidFill>
                      <a:srgbClr val="CC00FF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solidFill>
                    <a:srgbClr val="CC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07" name="Rectangle 1219"/>
              <p:cNvSpPr/>
              <p:nvPr/>
            </p:nvSpPr>
            <p:spPr>
              <a:xfrm>
                <a:off x="3740" y="3764"/>
                <a:ext cx="5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CC00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rgbClr val="CC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08" name="Rectangle 1220"/>
              <p:cNvSpPr/>
              <p:nvPr/>
            </p:nvSpPr>
            <p:spPr>
              <a:xfrm>
                <a:off x="3629" y="3685"/>
                <a:ext cx="118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CC00FF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rgbClr val="CC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9188" name="Rectangle 1222"/>
            <p:cNvSpPr/>
            <p:nvPr/>
          </p:nvSpPr>
          <p:spPr>
            <a:xfrm>
              <a:off x="3866" y="3672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9" name="Rectangle 1223"/>
            <p:cNvSpPr/>
            <p:nvPr/>
          </p:nvSpPr>
          <p:spPr>
            <a:xfrm>
              <a:off x="4006" y="3748"/>
              <a:ext cx="125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0n 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0" name="Rectangle 1224"/>
            <p:cNvSpPr/>
            <p:nvPr/>
          </p:nvSpPr>
          <p:spPr>
            <a:xfrm>
              <a:off x="4130" y="3672"/>
              <a:ext cx="1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1" name="Rectangle 1225"/>
            <p:cNvSpPr/>
            <p:nvPr/>
          </p:nvSpPr>
          <p:spPr>
            <a:xfrm>
              <a:off x="4302" y="3748"/>
              <a:ext cx="14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1n  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2" name="Rectangle 1226"/>
            <p:cNvSpPr/>
            <p:nvPr/>
          </p:nvSpPr>
          <p:spPr>
            <a:xfrm>
              <a:off x="4479" y="3672"/>
              <a:ext cx="11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3" name="Rectangle 1227"/>
            <p:cNvSpPr/>
            <p:nvPr/>
          </p:nvSpPr>
          <p:spPr>
            <a:xfrm>
              <a:off x="4581" y="3748"/>
              <a:ext cx="101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2n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4" name="Rectangle 1228"/>
            <p:cNvSpPr/>
            <p:nvPr/>
          </p:nvSpPr>
          <p:spPr>
            <a:xfrm>
              <a:off x="4667" y="3672"/>
              <a:ext cx="38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900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9195" name="Group 1233"/>
            <p:cNvGrpSpPr/>
            <p:nvPr/>
          </p:nvGrpSpPr>
          <p:grpSpPr>
            <a:xfrm>
              <a:off x="4762" y="3650"/>
              <a:ext cx="227" cy="232"/>
              <a:chOff x="4762" y="3650"/>
              <a:chExt cx="227" cy="232"/>
            </a:xfrm>
          </p:grpSpPr>
          <p:sp>
            <p:nvSpPr>
              <p:cNvPr id="49201" name="Line 1229"/>
              <p:cNvSpPr/>
              <p:nvPr/>
            </p:nvSpPr>
            <p:spPr>
              <a:xfrm>
                <a:off x="4766" y="3650"/>
                <a:ext cx="88" cy="1"/>
              </a:xfrm>
              <a:prstGeom prst="line">
                <a:avLst/>
              </a:prstGeom>
              <a:ln w="11113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2" name="Rectangle 1230"/>
              <p:cNvSpPr/>
              <p:nvPr/>
            </p:nvSpPr>
            <p:spPr>
              <a:xfrm>
                <a:off x="4931" y="3757"/>
                <a:ext cx="58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i="1" dirty="0">
                    <a:solidFill>
                      <a:srgbClr val="CC00FF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solidFill>
                    <a:srgbClr val="CC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03" name="Rectangle 1231"/>
              <p:cNvSpPr/>
              <p:nvPr/>
            </p:nvSpPr>
            <p:spPr>
              <a:xfrm>
                <a:off x="4879" y="3757"/>
                <a:ext cx="5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CC00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solidFill>
                    <a:srgbClr val="CC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04" name="Rectangle 1232"/>
              <p:cNvSpPr/>
              <p:nvPr/>
            </p:nvSpPr>
            <p:spPr>
              <a:xfrm>
                <a:off x="4762" y="3679"/>
                <a:ext cx="118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900" b="1" dirty="0">
                    <a:solidFill>
                      <a:srgbClr val="CC00FF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rgbClr val="CC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9196" name="Rectangle 1241"/>
            <p:cNvSpPr/>
            <p:nvPr/>
          </p:nvSpPr>
          <p:spPr>
            <a:xfrm>
              <a:off x="984" y="3884"/>
              <a:ext cx="2473" cy="17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7" name="Rectangle 1245"/>
            <p:cNvSpPr/>
            <p:nvPr/>
          </p:nvSpPr>
          <p:spPr>
            <a:xfrm>
              <a:off x="3457" y="3884"/>
              <a:ext cx="16" cy="17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8" name="Line 1246"/>
            <p:cNvSpPr/>
            <p:nvPr/>
          </p:nvSpPr>
          <p:spPr>
            <a:xfrm>
              <a:off x="3457" y="3884"/>
              <a:ext cx="16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9" name="Line 1247"/>
            <p:cNvSpPr/>
            <p:nvPr/>
          </p:nvSpPr>
          <p:spPr>
            <a:xfrm>
              <a:off x="3457" y="3884"/>
              <a:ext cx="1" cy="1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0" name="Rectangle 1248"/>
            <p:cNvSpPr/>
            <p:nvPr/>
          </p:nvSpPr>
          <p:spPr>
            <a:xfrm>
              <a:off x="3473" y="3884"/>
              <a:ext cx="1582" cy="17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0595" name="Text Box 1027"/>
          <p:cNvSpPr txBox="1">
            <a:spLocks noChangeArrowheads="1"/>
          </p:cNvSpPr>
          <p:nvPr/>
        </p:nvSpPr>
        <p:spPr bwMode="auto">
          <a:xfrm>
            <a:off x="533400" y="228600"/>
            <a:ext cx="8382000" cy="6286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18900000" scaled="1"/>
          </a:gradFill>
          <a:ln>
            <a:noFill/>
          </a:ln>
          <a:effectLst>
            <a:outerShdw dist="107763" dir="81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二、四位单向移位寄存器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CT74195</a:t>
            </a:r>
            <a:endParaRPr kumimoji="1" lang="en-US" altLang="zh-CN" sz="44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grpSp>
        <p:nvGrpSpPr>
          <p:cNvPr id="110842" name="Group 1274"/>
          <p:cNvGrpSpPr/>
          <p:nvPr/>
        </p:nvGrpSpPr>
        <p:grpSpPr>
          <a:xfrm>
            <a:off x="1600200" y="2133600"/>
            <a:ext cx="6400800" cy="4038600"/>
            <a:chOff x="1008" y="1344"/>
            <a:chExt cx="4032" cy="2544"/>
          </a:xfrm>
        </p:grpSpPr>
        <p:grpSp>
          <p:nvGrpSpPr>
            <p:cNvPr id="49172" name="Group 1271"/>
            <p:cNvGrpSpPr/>
            <p:nvPr/>
          </p:nvGrpSpPr>
          <p:grpSpPr>
            <a:xfrm>
              <a:off x="1008" y="1344"/>
              <a:ext cx="4032" cy="2544"/>
              <a:chOff x="1008" y="1344"/>
              <a:chExt cx="4032" cy="2544"/>
            </a:xfrm>
          </p:grpSpPr>
          <p:sp>
            <p:nvSpPr>
              <p:cNvPr id="49174" name="Rectangle 1265"/>
              <p:cNvSpPr/>
              <p:nvPr/>
            </p:nvSpPr>
            <p:spPr>
              <a:xfrm>
                <a:off x="1008" y="1344"/>
                <a:ext cx="4032" cy="2544"/>
              </a:xfrm>
              <a:prstGeom prst="rect">
                <a:avLst/>
              </a:prstGeom>
              <a:noFill/>
              <a:ln w="57150" cap="flat" cmpd="thinThick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5" name="Line 1266"/>
              <p:cNvSpPr/>
              <p:nvPr/>
            </p:nvSpPr>
            <p:spPr>
              <a:xfrm>
                <a:off x="1022" y="1564"/>
                <a:ext cx="3984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6" name="Line 1267"/>
              <p:cNvSpPr/>
              <p:nvPr/>
            </p:nvSpPr>
            <p:spPr>
              <a:xfrm>
                <a:off x="2016" y="1584"/>
                <a:ext cx="0" cy="230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7" name="Line 1268"/>
              <p:cNvSpPr/>
              <p:nvPr/>
            </p:nvSpPr>
            <p:spPr>
              <a:xfrm>
                <a:off x="2784" y="1584"/>
                <a:ext cx="0" cy="230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8" name="Line 1269"/>
              <p:cNvSpPr/>
              <p:nvPr/>
            </p:nvSpPr>
            <p:spPr>
              <a:xfrm>
                <a:off x="3456" y="1392"/>
                <a:ext cx="0" cy="249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9173" name="Line 1270"/>
            <p:cNvSpPr/>
            <p:nvPr/>
          </p:nvSpPr>
          <p:spPr>
            <a:xfrm>
              <a:off x="1022" y="1968"/>
              <a:ext cx="39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0843" name="Rectangle 1275"/>
          <p:cNvSpPr/>
          <p:nvPr/>
        </p:nvSpPr>
        <p:spPr>
          <a:xfrm>
            <a:off x="4572000" y="4343400"/>
            <a:ext cx="838200" cy="1752600"/>
          </a:xfrm>
          <a:prstGeom prst="rect">
            <a:avLst/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845" name="Rectangle 1277"/>
          <p:cNvSpPr/>
          <p:nvPr/>
        </p:nvSpPr>
        <p:spPr>
          <a:xfrm>
            <a:off x="5638800" y="4343400"/>
            <a:ext cx="457200" cy="1828800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0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0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0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0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0" grpId="0" animBg="1"/>
      <p:bldP spid="110720" grpId="0"/>
      <p:bldP spid="11059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381000" y="438150"/>
            <a:ext cx="8382000" cy="6286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18900000" scaled="1"/>
          </a:gradFill>
          <a:ln>
            <a:noFill/>
          </a:ln>
          <a:effectLst>
            <a:outerShdw dist="107763" dir="81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二、四位单向移位寄存器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CT74195</a:t>
            </a:r>
            <a:endParaRPr kumimoji="1" lang="en-US" altLang="zh-CN" sz="44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58371" name="Text Box 3"/>
          <p:cNvSpPr txBox="1"/>
          <p:nvPr/>
        </p:nvSpPr>
        <p:spPr>
          <a:xfrm>
            <a:off x="4343400" y="2486025"/>
            <a:ext cx="4495800" cy="4067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清零：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R=0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时，输出为“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0000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送数：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R=1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SH/LD=0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时，当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CP 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时，执行并行送数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右移：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R=1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SH/LD=1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CP 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，执行右移：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65000"/>
              </a:lnSpc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JK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决定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,  Q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Q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zh-CN" altLang="en-US" sz="2800" b="1" dirty="0">
              <a:solidFill>
                <a:srgbClr val="FF66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algn="just" eaLnBrk="1" hangingPunct="1">
              <a:lnSpc>
                <a:spcPct val="65000"/>
              </a:lnSpc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Q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Q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lang="en-US" altLang="zh-CN" sz="28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8377" name="Object 9"/>
          <p:cNvGraphicFramePr>
            <a:graphicFrameLocks noChangeAspect="1"/>
          </p:cNvGraphicFramePr>
          <p:nvPr/>
        </p:nvGraphicFramePr>
        <p:xfrm>
          <a:off x="152400" y="1981200"/>
          <a:ext cx="4024313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1971675" imgH="2314575" progId="Paint.Picture">
                  <p:embed/>
                </p:oleObj>
              </mc:Choice>
              <mc:Fallback>
                <p:oleObj name="" r:id="rId1" imgW="1971675" imgH="2314575" progId="Paint.Picture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" y="1981200"/>
                        <a:ext cx="4024313" cy="472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8" name="Text Box 10"/>
          <p:cNvSpPr txBox="1"/>
          <p:nvPr/>
        </p:nvSpPr>
        <p:spPr>
          <a:xfrm>
            <a:off x="4343400" y="1371600"/>
            <a:ext cx="32766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（二） 功能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379" name="Text Box 11"/>
          <p:cNvSpPr txBox="1"/>
          <p:nvPr/>
        </p:nvSpPr>
        <p:spPr>
          <a:xfrm>
            <a:off x="0" y="1295400"/>
            <a:ext cx="38100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（一）逻辑符号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37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2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8371">
                                            <p:txEl>
                                              <p:charRg st="21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5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371">
                                            <p:txEl>
                                              <p:charRg st="54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86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371">
                                            <p:txEl>
                                              <p:charRg st="86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110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371">
                                            <p:txEl>
                                              <p:charRg st="110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/>
      <p:bldP spid="58371" grpId="0" build="p"/>
      <p:bldP spid="58378" grpId="0"/>
      <p:bldP spid="5837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3451" name="Rectangle 27"/>
          <p:cNvSpPr/>
          <p:nvPr/>
        </p:nvSpPr>
        <p:spPr>
          <a:xfrm>
            <a:off x="1816100" y="2224088"/>
            <a:ext cx="2414588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输　　　　　　　入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53" name="Rectangle 29"/>
          <p:cNvSpPr/>
          <p:nvPr/>
        </p:nvSpPr>
        <p:spPr>
          <a:xfrm>
            <a:off x="6556375" y="2224088"/>
            <a:ext cx="1878013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输　　　　　出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3699" name="Group 275"/>
          <p:cNvGrpSpPr/>
          <p:nvPr/>
        </p:nvGrpSpPr>
        <p:grpSpPr>
          <a:xfrm>
            <a:off x="5883275" y="2574925"/>
            <a:ext cx="2890838" cy="495300"/>
            <a:chOff x="3706" y="1622"/>
            <a:chExt cx="1821" cy="312"/>
          </a:xfrm>
        </p:grpSpPr>
        <p:sp>
          <p:nvSpPr>
            <p:cNvPr id="51433" name="Rectangle 53"/>
            <p:cNvSpPr/>
            <p:nvPr/>
          </p:nvSpPr>
          <p:spPr>
            <a:xfrm>
              <a:off x="3706" y="162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Ｑ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4" name="Rectangle 54"/>
            <p:cNvSpPr/>
            <p:nvPr/>
          </p:nvSpPr>
          <p:spPr>
            <a:xfrm>
              <a:off x="3840" y="170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０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5" name="Rectangle 55"/>
            <p:cNvSpPr/>
            <p:nvPr/>
          </p:nvSpPr>
          <p:spPr>
            <a:xfrm>
              <a:off x="3923" y="1622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Ｑ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6" name="Rectangle 56"/>
            <p:cNvSpPr/>
            <p:nvPr/>
          </p:nvSpPr>
          <p:spPr>
            <a:xfrm>
              <a:off x="4332" y="1704"/>
              <a:ext cx="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7" name="Rectangle 57"/>
            <p:cNvSpPr/>
            <p:nvPr/>
          </p:nvSpPr>
          <p:spPr>
            <a:xfrm>
              <a:off x="4415" y="1622"/>
              <a:ext cx="56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Ｑ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8" name="Rectangle 58"/>
            <p:cNvSpPr/>
            <p:nvPr/>
          </p:nvSpPr>
          <p:spPr>
            <a:xfrm>
              <a:off x="4823" y="1704"/>
              <a:ext cx="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9" name="Rectangle 59"/>
            <p:cNvSpPr/>
            <p:nvPr/>
          </p:nvSpPr>
          <p:spPr>
            <a:xfrm>
              <a:off x="4906" y="1622"/>
              <a:ext cx="62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Ｑ</a:t>
              </a:r>
              <a:r>
                <a:rPr lang="en-US" altLang="zh-CN" sz="21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40" name="Rectangle 60"/>
            <p:cNvSpPr/>
            <p:nvPr/>
          </p:nvSpPr>
          <p:spPr>
            <a:xfrm>
              <a:off x="5315" y="1704"/>
              <a:ext cx="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00" name="Group 276"/>
          <p:cNvGrpSpPr/>
          <p:nvPr/>
        </p:nvGrpSpPr>
        <p:grpSpPr>
          <a:xfrm>
            <a:off x="641350" y="2924175"/>
            <a:ext cx="4487863" cy="328613"/>
            <a:chOff x="404" y="1842"/>
            <a:chExt cx="2827" cy="207"/>
          </a:xfrm>
        </p:grpSpPr>
        <p:sp>
          <p:nvSpPr>
            <p:cNvPr id="51419" name="Rectangle 70"/>
            <p:cNvSpPr/>
            <p:nvPr/>
          </p:nvSpPr>
          <p:spPr>
            <a:xfrm>
              <a:off x="404" y="18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０</a:t>
              </a: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0" name="Rectangle 71"/>
            <p:cNvSpPr/>
            <p:nvPr/>
          </p:nvSpPr>
          <p:spPr>
            <a:xfrm>
              <a:off x="673" y="184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1" name="Rectangle 72"/>
            <p:cNvSpPr/>
            <p:nvPr/>
          </p:nvSpPr>
          <p:spPr>
            <a:xfrm>
              <a:off x="807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2" name="Rectangle 73"/>
            <p:cNvSpPr/>
            <p:nvPr/>
          </p:nvSpPr>
          <p:spPr>
            <a:xfrm>
              <a:off x="890" y="18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3" name="Rectangle 74"/>
            <p:cNvSpPr/>
            <p:nvPr/>
          </p:nvSpPr>
          <p:spPr>
            <a:xfrm>
              <a:off x="1164" y="1924"/>
              <a:ext cx="2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4" name="Rectangle 75"/>
            <p:cNvSpPr/>
            <p:nvPr/>
          </p:nvSpPr>
          <p:spPr>
            <a:xfrm>
              <a:off x="1330" y="18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5" name="Rectangle 76"/>
            <p:cNvSpPr/>
            <p:nvPr/>
          </p:nvSpPr>
          <p:spPr>
            <a:xfrm>
              <a:off x="1604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6" name="Rectangle 77"/>
            <p:cNvSpPr/>
            <p:nvPr/>
          </p:nvSpPr>
          <p:spPr>
            <a:xfrm>
              <a:off x="1687" y="1842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7" name="Rectangle 78"/>
            <p:cNvSpPr/>
            <p:nvPr/>
          </p:nvSpPr>
          <p:spPr>
            <a:xfrm>
              <a:off x="2096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8" name="Rectangle 79"/>
            <p:cNvSpPr/>
            <p:nvPr/>
          </p:nvSpPr>
          <p:spPr>
            <a:xfrm>
              <a:off x="2179" y="18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29" name="Rectangle 80"/>
            <p:cNvSpPr/>
            <p:nvPr/>
          </p:nvSpPr>
          <p:spPr>
            <a:xfrm>
              <a:off x="2453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0" name="Rectangle 81"/>
            <p:cNvSpPr/>
            <p:nvPr/>
          </p:nvSpPr>
          <p:spPr>
            <a:xfrm>
              <a:off x="2536" y="18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1" name="Rectangle 82"/>
            <p:cNvSpPr/>
            <p:nvPr/>
          </p:nvSpPr>
          <p:spPr>
            <a:xfrm>
              <a:off x="2805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32" name="Rectangle 83"/>
            <p:cNvSpPr/>
            <p:nvPr/>
          </p:nvSpPr>
          <p:spPr>
            <a:xfrm>
              <a:off x="2893" y="18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02" name="Group 278"/>
          <p:cNvGrpSpPr/>
          <p:nvPr/>
        </p:nvGrpSpPr>
        <p:grpSpPr>
          <a:xfrm>
            <a:off x="641350" y="3263900"/>
            <a:ext cx="4487863" cy="328613"/>
            <a:chOff x="404" y="2056"/>
            <a:chExt cx="2827" cy="207"/>
          </a:xfrm>
        </p:grpSpPr>
        <p:sp>
          <p:nvSpPr>
            <p:cNvPr id="51406" name="Rectangle 84"/>
            <p:cNvSpPr/>
            <p:nvPr/>
          </p:nvSpPr>
          <p:spPr>
            <a:xfrm>
              <a:off x="404" y="2056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１　０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7" name="Rectangle 85"/>
            <p:cNvSpPr/>
            <p:nvPr/>
          </p:nvSpPr>
          <p:spPr>
            <a:xfrm>
              <a:off x="807" y="2138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8" name="Rectangle 86"/>
            <p:cNvSpPr/>
            <p:nvPr/>
          </p:nvSpPr>
          <p:spPr>
            <a:xfrm>
              <a:off x="890" y="2056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9" name="Rectangle 87"/>
            <p:cNvSpPr/>
            <p:nvPr/>
          </p:nvSpPr>
          <p:spPr>
            <a:xfrm>
              <a:off x="1164" y="2138"/>
              <a:ext cx="2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0" name="Rectangle 88"/>
            <p:cNvSpPr/>
            <p:nvPr/>
          </p:nvSpPr>
          <p:spPr>
            <a:xfrm>
              <a:off x="1330" y="2056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1" name="Rectangle 89"/>
            <p:cNvSpPr/>
            <p:nvPr/>
          </p:nvSpPr>
          <p:spPr>
            <a:xfrm>
              <a:off x="1604" y="2138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2" name="Rectangle 90"/>
            <p:cNvSpPr/>
            <p:nvPr/>
          </p:nvSpPr>
          <p:spPr>
            <a:xfrm>
              <a:off x="1687" y="2056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3" name="Rectangle 91"/>
            <p:cNvSpPr/>
            <p:nvPr/>
          </p:nvSpPr>
          <p:spPr>
            <a:xfrm>
              <a:off x="2096" y="2138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4" name="Rectangle 92"/>
            <p:cNvSpPr/>
            <p:nvPr/>
          </p:nvSpPr>
          <p:spPr>
            <a:xfrm>
              <a:off x="2179" y="2056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5" name="Rectangle 93"/>
            <p:cNvSpPr/>
            <p:nvPr/>
          </p:nvSpPr>
          <p:spPr>
            <a:xfrm>
              <a:off x="2453" y="2138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6" name="Rectangle 94"/>
            <p:cNvSpPr/>
            <p:nvPr/>
          </p:nvSpPr>
          <p:spPr>
            <a:xfrm>
              <a:off x="2536" y="2056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7" name="Rectangle 95"/>
            <p:cNvSpPr/>
            <p:nvPr/>
          </p:nvSpPr>
          <p:spPr>
            <a:xfrm>
              <a:off x="2805" y="2138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8" name="Rectangle 96"/>
            <p:cNvSpPr/>
            <p:nvPr/>
          </p:nvSpPr>
          <p:spPr>
            <a:xfrm>
              <a:off x="2893" y="2056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03" name="Group 279"/>
          <p:cNvGrpSpPr/>
          <p:nvPr/>
        </p:nvGrpSpPr>
        <p:grpSpPr>
          <a:xfrm>
            <a:off x="615950" y="3605213"/>
            <a:ext cx="4487863" cy="328612"/>
            <a:chOff x="388" y="2271"/>
            <a:chExt cx="2827" cy="207"/>
          </a:xfrm>
        </p:grpSpPr>
        <p:sp>
          <p:nvSpPr>
            <p:cNvPr id="51388" name="Rectangle 98"/>
            <p:cNvSpPr/>
            <p:nvPr/>
          </p:nvSpPr>
          <p:spPr>
            <a:xfrm>
              <a:off x="388" y="2271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１　↑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9" name="Rectangle 99"/>
            <p:cNvSpPr/>
            <p:nvPr/>
          </p:nvSpPr>
          <p:spPr>
            <a:xfrm>
              <a:off x="792" y="2353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0" name="Rectangle 100"/>
            <p:cNvSpPr/>
            <p:nvPr/>
          </p:nvSpPr>
          <p:spPr>
            <a:xfrm>
              <a:off x="880" y="2271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1" name="Rectangle 101"/>
            <p:cNvSpPr/>
            <p:nvPr/>
          </p:nvSpPr>
          <p:spPr>
            <a:xfrm>
              <a:off x="1149" y="2353"/>
              <a:ext cx="2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　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2" name="Rectangle 102"/>
            <p:cNvSpPr/>
            <p:nvPr/>
          </p:nvSpPr>
          <p:spPr>
            <a:xfrm>
              <a:off x="1320" y="2353"/>
              <a:ext cx="53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3" name="Rectangle 103"/>
            <p:cNvSpPr/>
            <p:nvPr/>
          </p:nvSpPr>
          <p:spPr>
            <a:xfrm>
              <a:off x="1361" y="2271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4" name="Rectangle 104"/>
            <p:cNvSpPr/>
            <p:nvPr/>
          </p:nvSpPr>
          <p:spPr>
            <a:xfrm>
              <a:off x="1496" y="2271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5" name="Rectangle 105"/>
            <p:cNvSpPr/>
            <p:nvPr/>
          </p:nvSpPr>
          <p:spPr>
            <a:xfrm>
              <a:off x="1563" y="2353"/>
              <a:ext cx="10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0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6" name="Rectangle 106"/>
            <p:cNvSpPr/>
            <p:nvPr/>
          </p:nvSpPr>
          <p:spPr>
            <a:xfrm>
              <a:off x="1646" y="2271"/>
              <a:ext cx="33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……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7" name="Rectangle 107"/>
            <p:cNvSpPr/>
            <p:nvPr/>
          </p:nvSpPr>
          <p:spPr>
            <a:xfrm>
              <a:off x="1920" y="2271"/>
              <a:ext cx="17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8" name="Rectangle 108"/>
            <p:cNvSpPr/>
            <p:nvPr/>
          </p:nvSpPr>
          <p:spPr>
            <a:xfrm>
              <a:off x="2055" y="2353"/>
              <a:ext cx="53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99" name="Rectangle 109"/>
            <p:cNvSpPr/>
            <p:nvPr/>
          </p:nvSpPr>
          <p:spPr>
            <a:xfrm>
              <a:off x="2096" y="2271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0" name="Rectangle 110"/>
            <p:cNvSpPr/>
            <p:nvPr/>
          </p:nvSpPr>
          <p:spPr>
            <a:xfrm>
              <a:off x="2231" y="2271"/>
              <a:ext cx="8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1" name="Rectangle 111"/>
            <p:cNvSpPr/>
            <p:nvPr/>
          </p:nvSpPr>
          <p:spPr>
            <a:xfrm>
              <a:off x="2303" y="2271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１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2" name="Rectangle 112"/>
            <p:cNvSpPr/>
            <p:nvPr/>
          </p:nvSpPr>
          <p:spPr>
            <a:xfrm>
              <a:off x="2438" y="2353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3" name="Rectangle 113"/>
            <p:cNvSpPr/>
            <p:nvPr/>
          </p:nvSpPr>
          <p:spPr>
            <a:xfrm>
              <a:off x="2520" y="2271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１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4" name="Rectangle 114"/>
            <p:cNvSpPr/>
            <p:nvPr/>
          </p:nvSpPr>
          <p:spPr>
            <a:xfrm>
              <a:off x="2795" y="2353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05" name="Rectangle 115"/>
            <p:cNvSpPr/>
            <p:nvPr/>
          </p:nvSpPr>
          <p:spPr>
            <a:xfrm>
              <a:off x="2877" y="2271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01" name="Group 277"/>
          <p:cNvGrpSpPr/>
          <p:nvPr/>
        </p:nvGrpSpPr>
        <p:grpSpPr>
          <a:xfrm>
            <a:off x="6022975" y="2924175"/>
            <a:ext cx="2709863" cy="328613"/>
            <a:chOff x="3794" y="1842"/>
            <a:chExt cx="1707" cy="207"/>
          </a:xfrm>
        </p:grpSpPr>
        <p:sp>
          <p:nvSpPr>
            <p:cNvPr id="51381" name="Rectangle 181"/>
            <p:cNvSpPr/>
            <p:nvPr/>
          </p:nvSpPr>
          <p:spPr>
            <a:xfrm>
              <a:off x="3794" y="184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０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2" name="Rectangle 182"/>
            <p:cNvSpPr/>
            <p:nvPr/>
          </p:nvSpPr>
          <p:spPr>
            <a:xfrm>
              <a:off x="3928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3" name="Rectangle 183"/>
            <p:cNvSpPr/>
            <p:nvPr/>
          </p:nvSpPr>
          <p:spPr>
            <a:xfrm>
              <a:off x="4011" y="1842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　　０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4" name="Rectangle 184"/>
            <p:cNvSpPr/>
            <p:nvPr/>
          </p:nvSpPr>
          <p:spPr>
            <a:xfrm>
              <a:off x="4420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5" name="Rectangle 185"/>
            <p:cNvSpPr/>
            <p:nvPr/>
          </p:nvSpPr>
          <p:spPr>
            <a:xfrm>
              <a:off x="4503" y="1842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　　０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6" name="Rectangle 186"/>
            <p:cNvSpPr/>
            <p:nvPr/>
          </p:nvSpPr>
          <p:spPr>
            <a:xfrm>
              <a:off x="4911" y="19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7" name="Rectangle 187"/>
            <p:cNvSpPr/>
            <p:nvPr/>
          </p:nvSpPr>
          <p:spPr>
            <a:xfrm>
              <a:off x="4994" y="1842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　　０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13" name="Group 289"/>
          <p:cNvGrpSpPr/>
          <p:nvPr/>
        </p:nvGrpSpPr>
        <p:grpSpPr>
          <a:xfrm>
            <a:off x="6884988" y="3263900"/>
            <a:ext cx="1149350" cy="320675"/>
            <a:chOff x="4337" y="2056"/>
            <a:chExt cx="724" cy="202"/>
          </a:xfrm>
        </p:grpSpPr>
        <p:sp>
          <p:nvSpPr>
            <p:cNvPr id="51379" name="Rectangle 189"/>
            <p:cNvSpPr/>
            <p:nvPr/>
          </p:nvSpPr>
          <p:spPr>
            <a:xfrm>
              <a:off x="4337" y="2056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保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80" name="Rectangle 191"/>
            <p:cNvSpPr/>
            <p:nvPr/>
          </p:nvSpPr>
          <p:spPr>
            <a:xfrm>
              <a:off x="4554" y="2056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持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04" name="Group 280"/>
          <p:cNvGrpSpPr/>
          <p:nvPr/>
        </p:nvGrpSpPr>
        <p:grpSpPr>
          <a:xfrm>
            <a:off x="6022975" y="3575050"/>
            <a:ext cx="2497138" cy="328613"/>
            <a:chOff x="3794" y="2252"/>
            <a:chExt cx="1573" cy="207"/>
          </a:xfrm>
        </p:grpSpPr>
        <p:sp>
          <p:nvSpPr>
            <p:cNvPr id="51371" name="Rectangle 192"/>
            <p:cNvSpPr/>
            <p:nvPr/>
          </p:nvSpPr>
          <p:spPr>
            <a:xfrm>
              <a:off x="3794" y="2252"/>
              <a:ext cx="93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72" name="Rectangle 193"/>
            <p:cNvSpPr/>
            <p:nvPr/>
          </p:nvSpPr>
          <p:spPr>
            <a:xfrm>
              <a:off x="3861" y="2334"/>
              <a:ext cx="78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73" name="Rectangle 194"/>
            <p:cNvSpPr/>
            <p:nvPr/>
          </p:nvSpPr>
          <p:spPr>
            <a:xfrm>
              <a:off x="3944" y="2252"/>
              <a:ext cx="303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74" name="Rectangle 195"/>
            <p:cNvSpPr/>
            <p:nvPr/>
          </p:nvSpPr>
          <p:spPr>
            <a:xfrm>
              <a:off x="4352" y="2334"/>
              <a:ext cx="52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75" name="Rectangle 196"/>
            <p:cNvSpPr/>
            <p:nvPr/>
          </p:nvSpPr>
          <p:spPr>
            <a:xfrm>
              <a:off x="4394" y="2252"/>
              <a:ext cx="34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 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76" name="Rectangle 197"/>
            <p:cNvSpPr/>
            <p:nvPr/>
          </p:nvSpPr>
          <p:spPr>
            <a:xfrm>
              <a:off x="4870" y="2334"/>
              <a:ext cx="52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77" name="Rectangle 198"/>
            <p:cNvSpPr/>
            <p:nvPr/>
          </p:nvSpPr>
          <p:spPr>
            <a:xfrm>
              <a:off x="4911" y="2252"/>
              <a:ext cx="303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78" name="Rectangle 199"/>
            <p:cNvSpPr/>
            <p:nvPr/>
          </p:nvSpPr>
          <p:spPr>
            <a:xfrm>
              <a:off x="5315" y="2334"/>
              <a:ext cx="52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11" name="Group 287"/>
          <p:cNvGrpSpPr/>
          <p:nvPr/>
        </p:nvGrpSpPr>
        <p:grpSpPr>
          <a:xfrm>
            <a:off x="641350" y="3894138"/>
            <a:ext cx="8020050" cy="379412"/>
            <a:chOff x="404" y="2453"/>
            <a:chExt cx="5052" cy="239"/>
          </a:xfrm>
        </p:grpSpPr>
        <p:sp>
          <p:nvSpPr>
            <p:cNvPr id="51345" name="Rectangle 200"/>
            <p:cNvSpPr/>
            <p:nvPr/>
          </p:nvSpPr>
          <p:spPr>
            <a:xfrm>
              <a:off x="3794" y="2460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１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6" name="Rectangle 202"/>
            <p:cNvSpPr/>
            <p:nvPr/>
          </p:nvSpPr>
          <p:spPr>
            <a:xfrm>
              <a:off x="4011" y="2460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7" name="Rectangle 203"/>
            <p:cNvSpPr/>
            <p:nvPr/>
          </p:nvSpPr>
          <p:spPr>
            <a:xfrm>
              <a:off x="4280" y="2453"/>
              <a:ext cx="13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8" name="Rectangle 205"/>
            <p:cNvSpPr/>
            <p:nvPr/>
          </p:nvSpPr>
          <p:spPr>
            <a:xfrm>
              <a:off x="4461" y="2460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9" name="Rectangle 206"/>
            <p:cNvSpPr/>
            <p:nvPr/>
          </p:nvSpPr>
          <p:spPr>
            <a:xfrm>
              <a:off x="4596" y="2453"/>
              <a:ext cx="25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  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50" name="Rectangle 208"/>
            <p:cNvSpPr/>
            <p:nvPr/>
          </p:nvSpPr>
          <p:spPr>
            <a:xfrm>
              <a:off x="5025" y="2460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51" name="Rectangle 210"/>
            <p:cNvSpPr/>
            <p:nvPr/>
          </p:nvSpPr>
          <p:spPr>
            <a:xfrm>
              <a:off x="5248" y="2453"/>
              <a:ext cx="13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1352" name="Group 281"/>
            <p:cNvGrpSpPr/>
            <p:nvPr/>
          </p:nvGrpSpPr>
          <p:grpSpPr>
            <a:xfrm>
              <a:off x="404" y="2485"/>
              <a:ext cx="5052" cy="207"/>
              <a:chOff x="404" y="2485"/>
              <a:chExt cx="5052" cy="207"/>
            </a:xfrm>
          </p:grpSpPr>
          <p:sp>
            <p:nvSpPr>
              <p:cNvPr id="51353" name="Rectangle 116"/>
              <p:cNvSpPr/>
              <p:nvPr/>
            </p:nvSpPr>
            <p:spPr>
              <a:xfrm>
                <a:off x="404" y="2485"/>
                <a:ext cx="507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１　↑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54" name="Rectangle 117"/>
              <p:cNvSpPr/>
              <p:nvPr/>
            </p:nvSpPr>
            <p:spPr>
              <a:xfrm>
                <a:off x="807" y="2567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55" name="Rectangle 118"/>
              <p:cNvSpPr/>
              <p:nvPr/>
            </p:nvSpPr>
            <p:spPr>
              <a:xfrm>
                <a:off x="890" y="2485"/>
                <a:ext cx="338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１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56" name="Rectangle 119"/>
              <p:cNvSpPr/>
              <p:nvPr/>
            </p:nvSpPr>
            <p:spPr>
              <a:xfrm>
                <a:off x="1164" y="2567"/>
                <a:ext cx="210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57" name="Rectangle 120"/>
              <p:cNvSpPr/>
              <p:nvPr/>
            </p:nvSpPr>
            <p:spPr>
              <a:xfrm>
                <a:off x="1330" y="2485"/>
                <a:ext cx="338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r>
                  <a:rPr lang="en-US" altLang="zh-CN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φ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58" name="Rectangle 121"/>
              <p:cNvSpPr/>
              <p:nvPr/>
            </p:nvSpPr>
            <p:spPr>
              <a:xfrm>
                <a:off x="1604" y="2567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59" name="Rectangle 122"/>
              <p:cNvSpPr/>
              <p:nvPr/>
            </p:nvSpPr>
            <p:spPr>
              <a:xfrm>
                <a:off x="1687" y="2485"/>
                <a:ext cx="507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　</a:t>
                </a:r>
                <a:r>
                  <a:rPr lang="en-US" altLang="zh-CN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φ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0" name="Rectangle 123"/>
              <p:cNvSpPr/>
              <p:nvPr/>
            </p:nvSpPr>
            <p:spPr>
              <a:xfrm>
                <a:off x="2096" y="2567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1" name="Rectangle 124"/>
              <p:cNvSpPr/>
              <p:nvPr/>
            </p:nvSpPr>
            <p:spPr>
              <a:xfrm>
                <a:off x="2179" y="2485"/>
                <a:ext cx="338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０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2" name="Rectangle 125"/>
              <p:cNvSpPr/>
              <p:nvPr/>
            </p:nvSpPr>
            <p:spPr>
              <a:xfrm>
                <a:off x="2453" y="2567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3" name="Rectangle 126"/>
              <p:cNvSpPr/>
              <p:nvPr/>
            </p:nvSpPr>
            <p:spPr>
              <a:xfrm>
                <a:off x="2536" y="2485"/>
                <a:ext cx="338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１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4" name="Rectangle 127"/>
              <p:cNvSpPr/>
              <p:nvPr/>
            </p:nvSpPr>
            <p:spPr>
              <a:xfrm>
                <a:off x="2805" y="2567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5" name="Rectangle 128"/>
              <p:cNvSpPr/>
              <p:nvPr/>
            </p:nvSpPr>
            <p:spPr>
              <a:xfrm>
                <a:off x="2893" y="2485"/>
                <a:ext cx="338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r>
                  <a:rPr lang="en-US" altLang="zh-CN" sz="21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φ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6" name="Rectangle 201"/>
              <p:cNvSpPr/>
              <p:nvPr/>
            </p:nvSpPr>
            <p:spPr>
              <a:xfrm>
                <a:off x="3928" y="2542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7" name="Rectangle 204"/>
              <p:cNvSpPr/>
              <p:nvPr/>
            </p:nvSpPr>
            <p:spPr>
              <a:xfrm>
                <a:off x="4378" y="2535"/>
                <a:ext cx="110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0n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8" name="Rectangle 207"/>
              <p:cNvSpPr/>
              <p:nvPr/>
            </p:nvSpPr>
            <p:spPr>
              <a:xfrm>
                <a:off x="4901" y="2535"/>
                <a:ext cx="136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1n 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69" name="Rectangle 209"/>
              <p:cNvSpPr/>
              <p:nvPr/>
            </p:nvSpPr>
            <p:spPr>
              <a:xfrm>
                <a:off x="5165" y="2542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70" name="Rectangle 211"/>
              <p:cNvSpPr/>
              <p:nvPr/>
            </p:nvSpPr>
            <p:spPr>
              <a:xfrm>
                <a:off x="5346" y="2535"/>
                <a:ext cx="110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2n</a:t>
                </a:r>
                <a:endPara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3706" name="Group 282"/>
          <p:cNvGrpSpPr/>
          <p:nvPr/>
        </p:nvGrpSpPr>
        <p:grpSpPr>
          <a:xfrm>
            <a:off x="641350" y="4214813"/>
            <a:ext cx="8012113" cy="398462"/>
            <a:chOff x="404" y="2655"/>
            <a:chExt cx="5047" cy="251"/>
          </a:xfrm>
        </p:grpSpPr>
        <p:sp>
          <p:nvSpPr>
            <p:cNvPr id="51320" name="Rectangle 129"/>
            <p:cNvSpPr/>
            <p:nvPr/>
          </p:nvSpPr>
          <p:spPr>
            <a:xfrm>
              <a:off x="404" y="2699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１　↑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1" name="Rectangle 130"/>
            <p:cNvSpPr/>
            <p:nvPr/>
          </p:nvSpPr>
          <p:spPr>
            <a:xfrm>
              <a:off x="807" y="2781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2" name="Rectangle 131"/>
            <p:cNvSpPr/>
            <p:nvPr/>
          </p:nvSpPr>
          <p:spPr>
            <a:xfrm>
              <a:off x="890" y="2699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０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3" name="Rectangle 132"/>
            <p:cNvSpPr/>
            <p:nvPr/>
          </p:nvSpPr>
          <p:spPr>
            <a:xfrm>
              <a:off x="1164" y="2781"/>
              <a:ext cx="2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4" name="Rectangle 133"/>
            <p:cNvSpPr/>
            <p:nvPr/>
          </p:nvSpPr>
          <p:spPr>
            <a:xfrm>
              <a:off x="1330" y="2699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5" name="Rectangle 134"/>
            <p:cNvSpPr/>
            <p:nvPr/>
          </p:nvSpPr>
          <p:spPr>
            <a:xfrm>
              <a:off x="1604" y="2781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6" name="Rectangle 135"/>
            <p:cNvSpPr/>
            <p:nvPr/>
          </p:nvSpPr>
          <p:spPr>
            <a:xfrm>
              <a:off x="1687" y="2699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　</a:t>
              </a:r>
              <a:r>
                <a:rPr lang="en-US" altLang="zh-CN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7" name="Rectangle 136"/>
            <p:cNvSpPr/>
            <p:nvPr/>
          </p:nvSpPr>
          <p:spPr>
            <a:xfrm>
              <a:off x="2096" y="2781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8" name="Rectangle 137"/>
            <p:cNvSpPr/>
            <p:nvPr/>
          </p:nvSpPr>
          <p:spPr>
            <a:xfrm>
              <a:off x="2179" y="2699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０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29" name="Rectangle 138"/>
            <p:cNvSpPr/>
            <p:nvPr/>
          </p:nvSpPr>
          <p:spPr>
            <a:xfrm>
              <a:off x="2453" y="2781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0" name="Rectangle 139"/>
            <p:cNvSpPr/>
            <p:nvPr/>
          </p:nvSpPr>
          <p:spPr>
            <a:xfrm>
              <a:off x="2536" y="2699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１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1" name="Rectangle 140"/>
            <p:cNvSpPr/>
            <p:nvPr/>
          </p:nvSpPr>
          <p:spPr>
            <a:xfrm>
              <a:off x="2805" y="2781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2" name="Rectangle 141"/>
            <p:cNvSpPr/>
            <p:nvPr/>
          </p:nvSpPr>
          <p:spPr>
            <a:xfrm>
              <a:off x="2893" y="2699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3" name="Rectangle 212"/>
            <p:cNvSpPr/>
            <p:nvPr/>
          </p:nvSpPr>
          <p:spPr>
            <a:xfrm>
              <a:off x="3778" y="2688"/>
              <a:ext cx="12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0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4" name="Rectangle 213"/>
            <p:cNvSpPr/>
            <p:nvPr/>
          </p:nvSpPr>
          <p:spPr>
            <a:xfrm>
              <a:off x="3933" y="2743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5" name="Rectangle 214"/>
            <p:cNvSpPr/>
            <p:nvPr/>
          </p:nvSpPr>
          <p:spPr>
            <a:xfrm>
              <a:off x="4016" y="2661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6" name="Rectangle 215"/>
            <p:cNvSpPr/>
            <p:nvPr/>
          </p:nvSpPr>
          <p:spPr>
            <a:xfrm>
              <a:off x="4151" y="2655"/>
              <a:ext cx="215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 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7" name="Rectangle 216"/>
            <p:cNvSpPr/>
            <p:nvPr/>
          </p:nvSpPr>
          <p:spPr>
            <a:xfrm>
              <a:off x="4383" y="2737"/>
              <a:ext cx="1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0n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8" name="Rectangle 217"/>
            <p:cNvSpPr/>
            <p:nvPr/>
          </p:nvSpPr>
          <p:spPr>
            <a:xfrm>
              <a:off x="4461" y="2661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39" name="Rectangle 218"/>
            <p:cNvSpPr/>
            <p:nvPr/>
          </p:nvSpPr>
          <p:spPr>
            <a:xfrm>
              <a:off x="4596" y="2655"/>
              <a:ext cx="25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  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0" name="Rectangle 219"/>
            <p:cNvSpPr/>
            <p:nvPr/>
          </p:nvSpPr>
          <p:spPr>
            <a:xfrm>
              <a:off x="4896" y="2737"/>
              <a:ext cx="13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1n 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1" name="Rectangle 220"/>
            <p:cNvSpPr/>
            <p:nvPr/>
          </p:nvSpPr>
          <p:spPr>
            <a:xfrm>
              <a:off x="5025" y="2661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2" name="Rectangle 221"/>
            <p:cNvSpPr/>
            <p:nvPr/>
          </p:nvSpPr>
          <p:spPr>
            <a:xfrm>
              <a:off x="5160" y="2743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3" name="Rectangle 223"/>
            <p:cNvSpPr/>
            <p:nvPr/>
          </p:nvSpPr>
          <p:spPr>
            <a:xfrm>
              <a:off x="5243" y="2655"/>
              <a:ext cx="13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44" name="Rectangle 224"/>
            <p:cNvSpPr/>
            <p:nvPr/>
          </p:nvSpPr>
          <p:spPr>
            <a:xfrm>
              <a:off x="5341" y="2737"/>
              <a:ext cx="1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2n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715" name="Group 291"/>
          <p:cNvGrpSpPr/>
          <p:nvPr/>
        </p:nvGrpSpPr>
        <p:grpSpPr>
          <a:xfrm>
            <a:off x="641350" y="4535488"/>
            <a:ext cx="7950200" cy="417512"/>
            <a:chOff x="404" y="2857"/>
            <a:chExt cx="5008" cy="263"/>
          </a:xfrm>
        </p:grpSpPr>
        <p:grpSp>
          <p:nvGrpSpPr>
            <p:cNvPr id="51291" name="Group 290"/>
            <p:cNvGrpSpPr/>
            <p:nvPr/>
          </p:nvGrpSpPr>
          <p:grpSpPr>
            <a:xfrm>
              <a:off x="3794" y="2857"/>
              <a:ext cx="1354" cy="208"/>
              <a:chOff x="3794" y="2857"/>
              <a:chExt cx="1354" cy="208"/>
            </a:xfrm>
          </p:grpSpPr>
          <p:sp>
            <p:nvSpPr>
              <p:cNvPr id="51314" name="Rectangle 225"/>
              <p:cNvSpPr/>
              <p:nvPr/>
            </p:nvSpPr>
            <p:spPr>
              <a:xfrm>
                <a:off x="3794" y="2857"/>
                <a:ext cx="131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1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15" name="Rectangle 227"/>
              <p:cNvSpPr/>
              <p:nvPr/>
            </p:nvSpPr>
            <p:spPr>
              <a:xfrm>
                <a:off x="4057" y="2863"/>
                <a:ext cx="169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16" name="Rectangle 229"/>
              <p:cNvSpPr/>
              <p:nvPr/>
            </p:nvSpPr>
            <p:spPr>
              <a:xfrm>
                <a:off x="4275" y="2857"/>
                <a:ext cx="131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1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17" name="Rectangle 231"/>
              <p:cNvSpPr/>
              <p:nvPr/>
            </p:nvSpPr>
            <p:spPr>
              <a:xfrm>
                <a:off x="4456" y="2863"/>
                <a:ext cx="169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18" name="Rectangle 232"/>
              <p:cNvSpPr/>
              <p:nvPr/>
            </p:nvSpPr>
            <p:spPr>
              <a:xfrm>
                <a:off x="4591" y="2857"/>
                <a:ext cx="257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1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   Q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19" name="Rectangle 234"/>
              <p:cNvSpPr/>
              <p:nvPr/>
            </p:nvSpPr>
            <p:spPr>
              <a:xfrm>
                <a:off x="4979" y="2863"/>
                <a:ext cx="169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92" name="Group 288"/>
            <p:cNvGrpSpPr/>
            <p:nvPr/>
          </p:nvGrpSpPr>
          <p:grpSpPr>
            <a:xfrm>
              <a:off x="404" y="2863"/>
              <a:ext cx="5008" cy="257"/>
              <a:chOff x="404" y="2863"/>
              <a:chExt cx="5008" cy="257"/>
            </a:xfrm>
          </p:grpSpPr>
          <p:grpSp>
            <p:nvGrpSpPr>
              <p:cNvPr id="51293" name="Group 283"/>
              <p:cNvGrpSpPr/>
              <p:nvPr/>
            </p:nvGrpSpPr>
            <p:grpSpPr>
              <a:xfrm>
                <a:off x="404" y="2913"/>
                <a:ext cx="4823" cy="207"/>
                <a:chOff x="404" y="2913"/>
                <a:chExt cx="4823" cy="207"/>
              </a:xfrm>
            </p:grpSpPr>
            <p:sp>
              <p:nvSpPr>
                <p:cNvPr id="51295" name="Rectangle 142"/>
                <p:cNvSpPr/>
                <p:nvPr/>
              </p:nvSpPr>
              <p:spPr>
                <a:xfrm>
                  <a:off x="404" y="2913"/>
                  <a:ext cx="507" cy="2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１　↑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296" name="Rectangle 143"/>
                <p:cNvSpPr/>
                <p:nvPr/>
              </p:nvSpPr>
              <p:spPr>
                <a:xfrm>
                  <a:off x="807" y="2995"/>
                  <a:ext cx="105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297" name="Rectangle 144"/>
                <p:cNvSpPr/>
                <p:nvPr/>
              </p:nvSpPr>
              <p:spPr>
                <a:xfrm>
                  <a:off x="890" y="2913"/>
                  <a:ext cx="338" cy="2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r>
                    <a:rPr lang="en-US" altLang="zh-CN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φ</a:t>
                  </a:r>
                  <a:endPara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298" name="Rectangle 145"/>
                <p:cNvSpPr/>
                <p:nvPr/>
              </p:nvSpPr>
              <p:spPr>
                <a:xfrm>
                  <a:off x="1164" y="2995"/>
                  <a:ext cx="210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299" name="Rectangle 146"/>
                <p:cNvSpPr/>
                <p:nvPr/>
              </p:nvSpPr>
              <p:spPr>
                <a:xfrm>
                  <a:off x="1330" y="2913"/>
                  <a:ext cx="338" cy="2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r>
                    <a:rPr lang="en-US" altLang="zh-CN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φ</a:t>
                  </a:r>
                  <a:endPara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0" name="Rectangle 147"/>
                <p:cNvSpPr/>
                <p:nvPr/>
              </p:nvSpPr>
              <p:spPr>
                <a:xfrm>
                  <a:off x="1604" y="2995"/>
                  <a:ext cx="105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1" name="Rectangle 148"/>
                <p:cNvSpPr/>
                <p:nvPr/>
              </p:nvSpPr>
              <p:spPr>
                <a:xfrm>
                  <a:off x="1687" y="2913"/>
                  <a:ext cx="507" cy="2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　</a:t>
                  </a:r>
                  <a:r>
                    <a:rPr lang="en-US" altLang="zh-CN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φ</a:t>
                  </a:r>
                  <a:endPara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2" name="Rectangle 149"/>
                <p:cNvSpPr/>
                <p:nvPr/>
              </p:nvSpPr>
              <p:spPr>
                <a:xfrm>
                  <a:off x="2096" y="2995"/>
                  <a:ext cx="105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3" name="Rectangle 150"/>
                <p:cNvSpPr/>
                <p:nvPr/>
              </p:nvSpPr>
              <p:spPr>
                <a:xfrm>
                  <a:off x="2179" y="2913"/>
                  <a:ext cx="338" cy="2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１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4" name="Rectangle 151"/>
                <p:cNvSpPr/>
                <p:nvPr/>
              </p:nvSpPr>
              <p:spPr>
                <a:xfrm>
                  <a:off x="2453" y="2995"/>
                  <a:ext cx="105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5" name="Rectangle 152"/>
                <p:cNvSpPr/>
                <p:nvPr/>
              </p:nvSpPr>
              <p:spPr>
                <a:xfrm>
                  <a:off x="2536" y="2913"/>
                  <a:ext cx="338" cy="2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０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6" name="Rectangle 153"/>
                <p:cNvSpPr/>
                <p:nvPr/>
              </p:nvSpPr>
              <p:spPr>
                <a:xfrm>
                  <a:off x="2805" y="2995"/>
                  <a:ext cx="105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7" name="Rectangle 154"/>
                <p:cNvSpPr/>
                <p:nvPr/>
              </p:nvSpPr>
              <p:spPr>
                <a:xfrm>
                  <a:off x="2893" y="2913"/>
                  <a:ext cx="338" cy="2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1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１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8" name="Rectangle 226"/>
                <p:cNvSpPr/>
                <p:nvPr/>
              </p:nvSpPr>
              <p:spPr>
                <a:xfrm>
                  <a:off x="3892" y="2938"/>
                  <a:ext cx="162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3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1n  </a:t>
                  </a:r>
                  <a:endPara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09" name="Rectangle 228"/>
                <p:cNvSpPr/>
                <p:nvPr/>
              </p:nvSpPr>
              <p:spPr>
                <a:xfrm>
                  <a:off x="4192" y="2945"/>
                  <a:ext cx="105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10" name="Rectangle 230"/>
                <p:cNvSpPr/>
                <p:nvPr/>
              </p:nvSpPr>
              <p:spPr>
                <a:xfrm>
                  <a:off x="4373" y="2938"/>
                  <a:ext cx="110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3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2n</a:t>
                  </a:r>
                  <a:endPara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11" name="Rectangle 233"/>
                <p:cNvSpPr/>
                <p:nvPr/>
              </p:nvSpPr>
              <p:spPr>
                <a:xfrm>
                  <a:off x="4896" y="2938"/>
                  <a:ext cx="110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3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3n</a:t>
                  </a:r>
                  <a:endPara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12" name="Rectangle 235"/>
                <p:cNvSpPr/>
                <p:nvPr/>
              </p:nvSpPr>
              <p:spPr>
                <a:xfrm>
                  <a:off x="5113" y="2945"/>
                  <a:ext cx="105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1300" b="1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　</a:t>
                  </a:r>
                  <a:endPara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313" name="Rectangle 236"/>
                <p:cNvSpPr/>
                <p:nvPr/>
              </p:nvSpPr>
              <p:spPr>
                <a:xfrm>
                  <a:off x="5201" y="2938"/>
                  <a:ext cx="26" cy="1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3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 </a:t>
                  </a:r>
                  <a:endPara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1294" name="Rectangle 237"/>
              <p:cNvSpPr/>
              <p:nvPr/>
            </p:nvSpPr>
            <p:spPr>
              <a:xfrm>
                <a:off x="5243" y="2863"/>
                <a:ext cx="169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１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3710" name="Group 286"/>
          <p:cNvGrpSpPr/>
          <p:nvPr/>
        </p:nvGrpSpPr>
        <p:grpSpPr>
          <a:xfrm>
            <a:off x="641350" y="4905375"/>
            <a:ext cx="7864475" cy="387350"/>
            <a:chOff x="404" y="3090"/>
            <a:chExt cx="4954" cy="244"/>
          </a:xfrm>
        </p:grpSpPr>
        <p:sp>
          <p:nvSpPr>
            <p:cNvPr id="51265" name="Rectangle 155"/>
            <p:cNvSpPr/>
            <p:nvPr/>
          </p:nvSpPr>
          <p:spPr>
            <a:xfrm>
              <a:off x="404" y="3127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１　↑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66" name="Rectangle 156"/>
            <p:cNvSpPr/>
            <p:nvPr/>
          </p:nvSpPr>
          <p:spPr>
            <a:xfrm>
              <a:off x="807" y="3209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67" name="Rectangle 157"/>
            <p:cNvSpPr/>
            <p:nvPr/>
          </p:nvSpPr>
          <p:spPr>
            <a:xfrm>
              <a:off x="890" y="3127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68" name="Rectangle 158"/>
            <p:cNvSpPr/>
            <p:nvPr/>
          </p:nvSpPr>
          <p:spPr>
            <a:xfrm>
              <a:off x="1164" y="3209"/>
              <a:ext cx="2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　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69" name="Rectangle 159"/>
            <p:cNvSpPr/>
            <p:nvPr/>
          </p:nvSpPr>
          <p:spPr>
            <a:xfrm>
              <a:off x="1330" y="3127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0" name="Rectangle 160"/>
            <p:cNvSpPr/>
            <p:nvPr/>
          </p:nvSpPr>
          <p:spPr>
            <a:xfrm>
              <a:off x="1604" y="3209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1" name="Rectangle 161"/>
            <p:cNvSpPr/>
            <p:nvPr/>
          </p:nvSpPr>
          <p:spPr>
            <a:xfrm>
              <a:off x="1687" y="3127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　</a:t>
              </a:r>
              <a:r>
                <a:rPr lang="en-US" altLang="zh-CN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2" name="Rectangle 162"/>
            <p:cNvSpPr/>
            <p:nvPr/>
          </p:nvSpPr>
          <p:spPr>
            <a:xfrm>
              <a:off x="2096" y="3209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3" name="Rectangle 163"/>
            <p:cNvSpPr/>
            <p:nvPr/>
          </p:nvSpPr>
          <p:spPr>
            <a:xfrm>
              <a:off x="2179" y="3127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１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4" name="Rectangle 164"/>
            <p:cNvSpPr/>
            <p:nvPr/>
          </p:nvSpPr>
          <p:spPr>
            <a:xfrm>
              <a:off x="2453" y="3209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5" name="Rectangle 165"/>
            <p:cNvSpPr/>
            <p:nvPr/>
          </p:nvSpPr>
          <p:spPr>
            <a:xfrm>
              <a:off x="2536" y="3127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０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6" name="Rectangle 166"/>
            <p:cNvSpPr/>
            <p:nvPr/>
          </p:nvSpPr>
          <p:spPr>
            <a:xfrm>
              <a:off x="2805" y="3209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7" name="Rectangle 167"/>
            <p:cNvSpPr/>
            <p:nvPr/>
          </p:nvSpPr>
          <p:spPr>
            <a:xfrm>
              <a:off x="2893" y="3127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　０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8" name="Rectangle 238"/>
            <p:cNvSpPr/>
            <p:nvPr/>
          </p:nvSpPr>
          <p:spPr>
            <a:xfrm>
              <a:off x="3794" y="3090"/>
              <a:ext cx="13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79" name="Rectangle 242"/>
            <p:cNvSpPr/>
            <p:nvPr/>
          </p:nvSpPr>
          <p:spPr>
            <a:xfrm>
              <a:off x="4275" y="3090"/>
              <a:ext cx="13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80" name="Rectangle 245"/>
            <p:cNvSpPr/>
            <p:nvPr/>
          </p:nvSpPr>
          <p:spPr>
            <a:xfrm>
              <a:off x="4591" y="3090"/>
              <a:ext cx="25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Q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1281" name="Group 284"/>
            <p:cNvGrpSpPr/>
            <p:nvPr/>
          </p:nvGrpSpPr>
          <p:grpSpPr>
            <a:xfrm>
              <a:off x="3892" y="3090"/>
              <a:ext cx="1466" cy="213"/>
              <a:chOff x="3892" y="3090"/>
              <a:chExt cx="1466" cy="213"/>
            </a:xfrm>
          </p:grpSpPr>
          <p:sp>
            <p:nvSpPr>
              <p:cNvPr id="51282" name="Rectangle 239"/>
              <p:cNvSpPr/>
              <p:nvPr/>
            </p:nvSpPr>
            <p:spPr>
              <a:xfrm>
                <a:off x="3892" y="3172"/>
                <a:ext cx="162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1n  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3" name="Rectangle 240"/>
              <p:cNvSpPr/>
              <p:nvPr/>
            </p:nvSpPr>
            <p:spPr>
              <a:xfrm>
                <a:off x="4057" y="3096"/>
                <a:ext cx="169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4" name="Rectangle 241"/>
              <p:cNvSpPr/>
              <p:nvPr/>
            </p:nvSpPr>
            <p:spPr>
              <a:xfrm>
                <a:off x="4192" y="3178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5" name="Rectangle 243"/>
              <p:cNvSpPr/>
              <p:nvPr/>
            </p:nvSpPr>
            <p:spPr>
              <a:xfrm>
                <a:off x="4373" y="3172"/>
                <a:ext cx="110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2n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6" name="Rectangle 244"/>
              <p:cNvSpPr/>
              <p:nvPr/>
            </p:nvSpPr>
            <p:spPr>
              <a:xfrm>
                <a:off x="4456" y="3096"/>
                <a:ext cx="169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7" name="Rectangle 246"/>
              <p:cNvSpPr/>
              <p:nvPr/>
            </p:nvSpPr>
            <p:spPr>
              <a:xfrm>
                <a:off x="4896" y="3172"/>
                <a:ext cx="110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3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3n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8" name="Rectangle 247"/>
              <p:cNvSpPr/>
              <p:nvPr/>
            </p:nvSpPr>
            <p:spPr>
              <a:xfrm>
                <a:off x="4979" y="3096"/>
                <a:ext cx="169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1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9" name="Rectangle 248"/>
              <p:cNvSpPr/>
              <p:nvPr/>
            </p:nvSpPr>
            <p:spPr>
              <a:xfrm>
                <a:off x="5113" y="3178"/>
                <a:ext cx="105" cy="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13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90" name="Rectangle 249"/>
              <p:cNvSpPr/>
              <p:nvPr/>
            </p:nvSpPr>
            <p:spPr>
              <a:xfrm>
                <a:off x="5232" y="3090"/>
                <a:ext cx="126" cy="2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1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 0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3698" name="Group 274"/>
          <p:cNvGrpSpPr/>
          <p:nvPr/>
        </p:nvGrpSpPr>
        <p:grpSpPr>
          <a:xfrm>
            <a:off x="295275" y="2524125"/>
            <a:ext cx="5176838" cy="371475"/>
            <a:chOff x="186" y="1590"/>
            <a:chExt cx="3261" cy="234"/>
          </a:xfrm>
        </p:grpSpPr>
        <p:sp>
          <p:nvSpPr>
            <p:cNvPr id="51243" name="Rectangle 32"/>
            <p:cNvSpPr/>
            <p:nvPr/>
          </p:nvSpPr>
          <p:spPr>
            <a:xfrm>
              <a:off x="186" y="1615"/>
              <a:ext cx="24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R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4" name="Rectangle 33"/>
            <p:cNvSpPr/>
            <p:nvPr/>
          </p:nvSpPr>
          <p:spPr>
            <a:xfrm>
              <a:off x="476" y="162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5" name="Rectangle 34"/>
            <p:cNvSpPr/>
            <p:nvPr/>
          </p:nvSpPr>
          <p:spPr>
            <a:xfrm>
              <a:off x="611" y="1615"/>
              <a:ext cx="26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CP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6" name="Rectangle 35"/>
            <p:cNvSpPr/>
            <p:nvPr/>
          </p:nvSpPr>
          <p:spPr>
            <a:xfrm>
              <a:off x="849" y="162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7" name="Rectangle 36"/>
            <p:cNvSpPr/>
            <p:nvPr/>
          </p:nvSpPr>
          <p:spPr>
            <a:xfrm>
              <a:off x="983" y="1615"/>
              <a:ext cx="163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8" name="Rectangle 37"/>
            <p:cNvSpPr/>
            <p:nvPr/>
          </p:nvSpPr>
          <p:spPr>
            <a:xfrm>
              <a:off x="1154" y="1697"/>
              <a:ext cx="133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SR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9" name="Rectangle 38"/>
            <p:cNvSpPr/>
            <p:nvPr/>
          </p:nvSpPr>
          <p:spPr>
            <a:xfrm>
              <a:off x="1252" y="162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0" name="Rectangle 39"/>
            <p:cNvSpPr/>
            <p:nvPr/>
          </p:nvSpPr>
          <p:spPr>
            <a:xfrm>
              <a:off x="1387" y="1615"/>
              <a:ext cx="163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1" name="Rectangle 40"/>
            <p:cNvSpPr/>
            <p:nvPr/>
          </p:nvSpPr>
          <p:spPr>
            <a:xfrm>
              <a:off x="1558" y="1697"/>
              <a:ext cx="78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 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2" name="Rectangle 41"/>
            <p:cNvSpPr/>
            <p:nvPr/>
          </p:nvSpPr>
          <p:spPr>
            <a:xfrm>
              <a:off x="1641" y="1622"/>
              <a:ext cx="33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……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3" name="Rectangle 42"/>
            <p:cNvSpPr/>
            <p:nvPr/>
          </p:nvSpPr>
          <p:spPr>
            <a:xfrm>
              <a:off x="2000" y="1594"/>
              <a:ext cx="16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4" name="Rectangle 45"/>
            <p:cNvSpPr/>
            <p:nvPr/>
          </p:nvSpPr>
          <p:spPr>
            <a:xfrm>
              <a:off x="2278" y="1622"/>
              <a:ext cx="27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</a:t>
              </a:r>
              <a:r>
                <a:rPr lang="en-US" altLang="zh-CN" sz="21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5" name="Rectangle 47"/>
            <p:cNvSpPr/>
            <p:nvPr/>
          </p:nvSpPr>
          <p:spPr>
            <a:xfrm>
              <a:off x="2469" y="162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6" name="Rectangle 48"/>
            <p:cNvSpPr/>
            <p:nvPr/>
          </p:nvSpPr>
          <p:spPr>
            <a:xfrm>
              <a:off x="2603" y="1615"/>
              <a:ext cx="20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7" name="Rectangle 49"/>
            <p:cNvSpPr/>
            <p:nvPr/>
          </p:nvSpPr>
          <p:spPr>
            <a:xfrm>
              <a:off x="2795" y="1697"/>
              <a:ext cx="7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8" name="Rectangle 50"/>
            <p:cNvSpPr/>
            <p:nvPr/>
          </p:nvSpPr>
          <p:spPr>
            <a:xfrm>
              <a:off x="2852" y="162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9" name="Rectangle 51"/>
            <p:cNvSpPr/>
            <p:nvPr/>
          </p:nvSpPr>
          <p:spPr>
            <a:xfrm>
              <a:off x="2986" y="1615"/>
              <a:ext cx="163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60" name="Rectangle 52"/>
            <p:cNvSpPr/>
            <p:nvPr/>
          </p:nvSpPr>
          <p:spPr>
            <a:xfrm>
              <a:off x="3152" y="1697"/>
              <a:ext cx="127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SL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61" name="Line 64"/>
            <p:cNvSpPr/>
            <p:nvPr/>
          </p:nvSpPr>
          <p:spPr>
            <a:xfrm>
              <a:off x="3442" y="1590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2" name="Line 65"/>
            <p:cNvSpPr/>
            <p:nvPr/>
          </p:nvSpPr>
          <p:spPr>
            <a:xfrm>
              <a:off x="3442" y="1590"/>
              <a:ext cx="1" cy="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3" name="Line 256"/>
            <p:cNvSpPr/>
            <p:nvPr/>
          </p:nvSpPr>
          <p:spPr>
            <a:xfrm>
              <a:off x="3442" y="1811"/>
              <a:ext cx="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4" name="Line 257"/>
            <p:cNvSpPr/>
            <p:nvPr/>
          </p:nvSpPr>
          <p:spPr>
            <a:xfrm>
              <a:off x="3442" y="1811"/>
              <a:ext cx="1" cy="6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3709" name="Group 285"/>
          <p:cNvGrpSpPr/>
          <p:nvPr/>
        </p:nvGrpSpPr>
        <p:grpSpPr>
          <a:xfrm>
            <a:off x="641350" y="5305425"/>
            <a:ext cx="7351713" cy="400050"/>
            <a:chOff x="404" y="3342"/>
            <a:chExt cx="4631" cy="252"/>
          </a:xfrm>
        </p:grpSpPr>
        <p:sp>
          <p:nvSpPr>
            <p:cNvPr id="51225" name="Rectangle 168"/>
            <p:cNvSpPr/>
            <p:nvPr/>
          </p:nvSpPr>
          <p:spPr>
            <a:xfrm>
              <a:off x="404" y="3342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１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6" name="Rectangle 169"/>
            <p:cNvSpPr/>
            <p:nvPr/>
          </p:nvSpPr>
          <p:spPr>
            <a:xfrm>
              <a:off x="807" y="34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7" name="Rectangle 170"/>
            <p:cNvSpPr/>
            <p:nvPr/>
          </p:nvSpPr>
          <p:spPr>
            <a:xfrm>
              <a:off x="890" y="33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8" name="Rectangle 171"/>
            <p:cNvSpPr/>
            <p:nvPr/>
          </p:nvSpPr>
          <p:spPr>
            <a:xfrm>
              <a:off x="1164" y="3424"/>
              <a:ext cx="210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9" name="Rectangle 172"/>
            <p:cNvSpPr/>
            <p:nvPr/>
          </p:nvSpPr>
          <p:spPr>
            <a:xfrm>
              <a:off x="1330" y="33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0" name="Rectangle 173"/>
            <p:cNvSpPr/>
            <p:nvPr/>
          </p:nvSpPr>
          <p:spPr>
            <a:xfrm>
              <a:off x="1604" y="34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1" name="Rectangle 174"/>
            <p:cNvSpPr/>
            <p:nvPr/>
          </p:nvSpPr>
          <p:spPr>
            <a:xfrm>
              <a:off x="1687" y="3342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2" name="Rectangle 175"/>
            <p:cNvSpPr/>
            <p:nvPr/>
          </p:nvSpPr>
          <p:spPr>
            <a:xfrm>
              <a:off x="2096" y="34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3" name="Rectangle 176"/>
            <p:cNvSpPr/>
            <p:nvPr/>
          </p:nvSpPr>
          <p:spPr>
            <a:xfrm>
              <a:off x="2179" y="33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０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4" name="Rectangle 177"/>
            <p:cNvSpPr/>
            <p:nvPr/>
          </p:nvSpPr>
          <p:spPr>
            <a:xfrm>
              <a:off x="2453" y="34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5" name="Rectangle 178"/>
            <p:cNvSpPr/>
            <p:nvPr/>
          </p:nvSpPr>
          <p:spPr>
            <a:xfrm>
              <a:off x="2536" y="33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０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6" name="Rectangle 179"/>
            <p:cNvSpPr/>
            <p:nvPr/>
          </p:nvSpPr>
          <p:spPr>
            <a:xfrm>
              <a:off x="2805" y="3424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7" name="Rectangle 180"/>
            <p:cNvSpPr/>
            <p:nvPr/>
          </p:nvSpPr>
          <p:spPr>
            <a:xfrm>
              <a:off x="2893" y="334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r>
                <a:rPr lang="en-US" altLang="zh-CN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φ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8" name="Rectangle 250"/>
            <p:cNvSpPr/>
            <p:nvPr/>
          </p:nvSpPr>
          <p:spPr>
            <a:xfrm>
              <a:off x="4311" y="3348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保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9" name="Rectangle 251"/>
            <p:cNvSpPr/>
            <p:nvPr/>
          </p:nvSpPr>
          <p:spPr>
            <a:xfrm>
              <a:off x="4446" y="3430"/>
              <a:ext cx="105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3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0" name="Rectangle 252"/>
            <p:cNvSpPr/>
            <p:nvPr/>
          </p:nvSpPr>
          <p:spPr>
            <a:xfrm>
              <a:off x="4528" y="3348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　持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1" name="Rectangle 264"/>
            <p:cNvSpPr/>
            <p:nvPr/>
          </p:nvSpPr>
          <p:spPr>
            <a:xfrm>
              <a:off x="3442" y="3575"/>
              <a:ext cx="15" cy="19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42" name="Line 265"/>
            <p:cNvSpPr/>
            <p:nvPr/>
          </p:nvSpPr>
          <p:spPr>
            <a:xfrm>
              <a:off x="3442" y="3575"/>
              <a:ext cx="1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3445" name="Text Box 21"/>
          <p:cNvSpPr txBox="1">
            <a:spLocks noChangeArrowheads="1"/>
          </p:cNvSpPr>
          <p:nvPr/>
        </p:nvSpPr>
        <p:spPr bwMode="auto">
          <a:xfrm>
            <a:off x="422275" y="228600"/>
            <a:ext cx="8382000" cy="6286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>
            <a:outerShdw dist="107763" dir="81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三、四位双向移位寄存器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CT74194</a:t>
            </a:r>
            <a:endParaRPr kumimoji="1" lang="en-US" altLang="zh-CN" sz="4400" kern="1200" cap="none" spc="0" normalizeH="0" baseline="0" noProof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grpSp>
        <p:nvGrpSpPr>
          <p:cNvPr id="103697" name="Group 273"/>
          <p:cNvGrpSpPr/>
          <p:nvPr/>
        </p:nvGrpSpPr>
        <p:grpSpPr>
          <a:xfrm>
            <a:off x="381000" y="2057400"/>
            <a:ext cx="8382000" cy="3657600"/>
            <a:chOff x="240" y="1296"/>
            <a:chExt cx="5280" cy="2304"/>
          </a:xfrm>
        </p:grpSpPr>
        <p:sp>
          <p:nvSpPr>
            <p:cNvPr id="51221" name="Rectangle 269"/>
            <p:cNvSpPr/>
            <p:nvPr/>
          </p:nvSpPr>
          <p:spPr>
            <a:xfrm>
              <a:off x="240" y="1296"/>
              <a:ext cx="5280" cy="2304"/>
            </a:xfrm>
            <a:prstGeom prst="rect">
              <a:avLst/>
            </a:prstGeom>
            <a:noFill/>
            <a:ln w="57150" cap="flat" cmpd="thinThick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2" name="Line 270"/>
            <p:cNvSpPr/>
            <p:nvPr/>
          </p:nvSpPr>
          <p:spPr>
            <a:xfrm>
              <a:off x="288" y="1598"/>
              <a:ext cx="523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3" name="Line 271"/>
            <p:cNvSpPr/>
            <p:nvPr/>
          </p:nvSpPr>
          <p:spPr>
            <a:xfrm>
              <a:off x="3504" y="1344"/>
              <a:ext cx="0" cy="22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4" name="Line 272"/>
            <p:cNvSpPr/>
            <p:nvPr/>
          </p:nvSpPr>
          <p:spPr>
            <a:xfrm>
              <a:off x="288" y="1824"/>
              <a:ext cx="523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3716" name="Rectangle 292"/>
          <p:cNvSpPr/>
          <p:nvPr/>
        </p:nvSpPr>
        <p:spPr>
          <a:xfrm>
            <a:off x="2819400" y="1143000"/>
            <a:ext cx="3865563" cy="427038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CT74194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功能表</a:t>
            </a:r>
            <a:endParaRPr lang="zh-CN" altLang="en-US" sz="2800" b="1" dirty="0">
              <a:solidFill>
                <a:srgbClr val="A5002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3717" name="Text Box 293"/>
          <p:cNvSpPr txBox="1"/>
          <p:nvPr/>
        </p:nvSpPr>
        <p:spPr>
          <a:xfrm>
            <a:off x="1660525" y="5984875"/>
            <a:ext cx="4883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注：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0--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最高位      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…...       3--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最低位</a:t>
            </a: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51" grpId="0"/>
      <p:bldP spid="103453" grpId="0"/>
      <p:bldP spid="103445" grpId="0" animBg="1"/>
      <p:bldP spid="103716" grpId="0" animBg="1"/>
      <p:bldP spid="1037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9395" name="Text Box 3"/>
          <p:cNvSpPr txBox="1"/>
          <p:nvPr/>
        </p:nvSpPr>
        <p:spPr>
          <a:xfrm>
            <a:off x="4191000" y="2052638"/>
            <a:ext cx="4572000" cy="4576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R=0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时，异步清零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＝１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时，并行送数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＝０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时，保持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右移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且数据从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SR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端串行输入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=0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、 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=1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左移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且数据从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FF6600"/>
                </a:solidFill>
                <a:latin typeface="Times New Roman" panose="02020603050405020304" pitchFamily="18" charset="0"/>
              </a:rPr>
              <a:t>SL</a:t>
            </a:r>
            <a:r>
              <a:rPr lang="en-US" altLang="zh-CN" sz="28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端串行输入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473075" y="1981200"/>
          <a:ext cx="296227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1371600" imgH="2257425" progId="Paint.Picture">
                  <p:embed/>
                </p:oleObj>
              </mc:Choice>
              <mc:Fallback>
                <p:oleObj name="" r:id="rId1" imgW="1371600" imgH="2257425" progId="Paint.Picture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3075" y="1981200"/>
                        <a:ext cx="2962275" cy="487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381000" y="304800"/>
            <a:ext cx="8382000" cy="6286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>
            <a:outerShdw dist="107763" dir="81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三、四位双向移位寄存器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CT74194</a:t>
            </a:r>
            <a:endParaRPr kumimoji="1" lang="en-US" altLang="zh-CN" sz="4400" kern="1200" cap="none" spc="0" normalizeH="0" baseline="0" noProof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9400" name="Text Box 8"/>
          <p:cNvSpPr txBox="1"/>
          <p:nvPr/>
        </p:nvSpPr>
        <p:spPr>
          <a:xfrm>
            <a:off x="4343400" y="1219200"/>
            <a:ext cx="32766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（二） 功能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401" name="Text Box 9"/>
          <p:cNvSpPr txBox="1"/>
          <p:nvPr/>
        </p:nvSpPr>
        <p:spPr>
          <a:xfrm>
            <a:off x="76200" y="1220788"/>
            <a:ext cx="3810000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（一）逻辑符号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9395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16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9395">
                                            <p:txEl>
                                              <p:charRg st="16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9395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5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9395">
                                            <p:txEl>
                                              <p:charRg st="5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82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9395">
                                            <p:txEl>
                                              <p:charRg st="82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  <p:bldP spid="59399" grpId="0" animBg="1"/>
      <p:bldP spid="59400" grpId="0"/>
      <p:bldP spid="5940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010400" cy="8382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四、寄存器的应用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60419" name="Text Box 3">
            <a:hlinkClick r:id="rId1" action="ppaction://hlinksldjump"/>
          </p:cNvPr>
          <p:cNvSpPr txBox="1"/>
          <p:nvPr/>
        </p:nvSpPr>
        <p:spPr>
          <a:xfrm>
            <a:off x="609600" y="3352800"/>
            <a:ext cx="7924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（二）、环形计数器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0422" name="Text Box 6">
            <a:hlinkClick r:id="rId2" action="ppaction://hlinksldjump"/>
          </p:cNvPr>
          <p:cNvSpPr txBox="1"/>
          <p:nvPr/>
        </p:nvSpPr>
        <p:spPr>
          <a:xfrm>
            <a:off x="685800" y="2209800"/>
            <a:ext cx="77724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（一）、数据转换</a:t>
            </a:r>
            <a:endParaRPr lang="zh-CN" altLang="en-US" sz="6000" b="1" dirty="0">
              <a:latin typeface="Times New Roman" panose="02020603050405020304" pitchFamily="18" charset="0"/>
            </a:endParaRPr>
          </a:p>
        </p:txBody>
      </p:sp>
      <p:sp>
        <p:nvSpPr>
          <p:cNvPr id="60425" name="Text Box 9">
            <a:hlinkClick r:id="rId3" action="ppaction://hlinksldjump"/>
          </p:cNvPr>
          <p:cNvSpPr txBox="1"/>
          <p:nvPr/>
        </p:nvSpPr>
        <p:spPr>
          <a:xfrm>
            <a:off x="609600" y="4495800"/>
            <a:ext cx="8305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（三）、扭环形计数器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0432" name="Text Box 16">
            <a:hlinkClick r:id="rId4" action="ppaction://hlinksldjump"/>
          </p:cNvPr>
          <p:cNvSpPr txBox="1"/>
          <p:nvPr/>
        </p:nvSpPr>
        <p:spPr>
          <a:xfrm>
            <a:off x="609600" y="5546725"/>
            <a:ext cx="7162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（四）、分频器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60419" grpId="0"/>
      <p:bldP spid="60422" grpId="0"/>
      <p:bldP spid="60425" grpId="0"/>
      <p:bldP spid="6043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990600" y="441325"/>
            <a:ext cx="7315200" cy="7016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（一）、七位串行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</a:t>
            </a:r>
            <a:r>
              <a:rPr kumimoji="1" lang="zh-CN" altLang="en-US" sz="40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并行转换</a:t>
            </a:r>
            <a:endParaRPr kumimoji="1" lang="zh-CN" altLang="en-US" sz="3200" kern="1200" cap="none" spc="0" normalizeH="0" baseline="0" noProof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4275" name="Object 6"/>
          <p:cNvGraphicFramePr>
            <a:graphicFrameLocks noChangeAspect="1"/>
          </p:cNvGraphicFramePr>
          <p:nvPr/>
        </p:nvGraphicFramePr>
        <p:xfrm>
          <a:off x="4343400" y="2209800"/>
          <a:ext cx="46482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4972050" imgH="3371850" progId="Paint.Picture">
                  <p:embed/>
                </p:oleObj>
              </mc:Choice>
              <mc:Fallback>
                <p:oleObj name="" r:id="rId1" imgW="4972050" imgH="3371850" progId="Paint.Picture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43400" y="2209800"/>
                        <a:ext cx="4648200" cy="419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7"/>
          <p:cNvGraphicFramePr>
            <a:graphicFrameLocks noChangeAspect="1"/>
          </p:cNvGraphicFramePr>
          <p:nvPr/>
        </p:nvGraphicFramePr>
        <p:xfrm>
          <a:off x="0" y="2209800"/>
          <a:ext cx="4191000" cy="419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4705350" imgH="3533775" progId="Paint.Picture">
                  <p:embed/>
                </p:oleObj>
              </mc:Choice>
              <mc:Fallback>
                <p:oleObj name="" r:id="rId3" imgW="4705350" imgH="3533775" progId="Paint.Picture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2209800"/>
                        <a:ext cx="4191000" cy="419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8"/>
          <p:cNvSpPr txBox="1"/>
          <p:nvPr/>
        </p:nvSpPr>
        <p:spPr>
          <a:xfrm>
            <a:off x="457200" y="1600200"/>
            <a:ext cx="2667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串行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并行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4278" name="Text Box 9"/>
          <p:cNvSpPr txBox="1"/>
          <p:nvPr/>
        </p:nvSpPr>
        <p:spPr>
          <a:xfrm>
            <a:off x="5410200" y="1568450"/>
            <a:ext cx="2667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并行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串行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010400" cy="8382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四、寄存器的应用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5299" name="Text Box 3">
            <a:hlinkClick r:id="rId1" action="ppaction://hlinksldjump"/>
          </p:cNvPr>
          <p:cNvSpPr txBox="1"/>
          <p:nvPr/>
        </p:nvSpPr>
        <p:spPr>
          <a:xfrm>
            <a:off x="457200" y="3352800"/>
            <a:ext cx="73914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（二）、环形计数器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5300" name="Text Box 4">
            <a:hlinkClick r:id="rId2" action="ppaction://hlinksldjump"/>
          </p:cNvPr>
          <p:cNvSpPr txBox="1"/>
          <p:nvPr/>
        </p:nvSpPr>
        <p:spPr>
          <a:xfrm>
            <a:off x="401638" y="2209800"/>
            <a:ext cx="7065962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（一）、数据转换</a:t>
            </a:r>
            <a:endParaRPr lang="zh-CN" altLang="en-US" sz="6000" b="1" dirty="0">
              <a:solidFill>
                <a:srgbClr val="8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01" name="Text Box 5">
            <a:hlinkClick r:id="rId3" action="ppaction://hlinksldjump"/>
          </p:cNvPr>
          <p:cNvSpPr txBox="1"/>
          <p:nvPr/>
        </p:nvSpPr>
        <p:spPr>
          <a:xfrm>
            <a:off x="457200" y="4495800"/>
            <a:ext cx="8686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（三）、扭环形计数器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5302" name="Text Box 6">
            <a:hlinkClick r:id="rId3" action="ppaction://hlinksldjump"/>
          </p:cNvPr>
          <p:cNvSpPr txBox="1"/>
          <p:nvPr/>
        </p:nvSpPr>
        <p:spPr>
          <a:xfrm>
            <a:off x="457200" y="5546725"/>
            <a:ext cx="7162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（四）、分频器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63490" name="Object 1026"/>
          <p:cNvGraphicFramePr>
            <a:graphicFrameLocks noChangeAspect="1"/>
          </p:cNvGraphicFramePr>
          <p:nvPr/>
        </p:nvGraphicFramePr>
        <p:xfrm>
          <a:off x="5468938" y="1990725"/>
          <a:ext cx="3384550" cy="425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2247900" imgH="2752725" progId="Paint.Picture">
                  <p:embed/>
                </p:oleObj>
              </mc:Choice>
              <mc:Fallback>
                <p:oleObj name="" r:id="rId1" imgW="2247900" imgH="2752725" progId="Paint.Picture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68938" y="1990725"/>
                        <a:ext cx="3384550" cy="425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1028"/>
          <p:cNvSpPr txBox="1"/>
          <p:nvPr/>
        </p:nvSpPr>
        <p:spPr>
          <a:xfrm>
            <a:off x="228600" y="623888"/>
            <a:ext cx="8763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：用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CT1195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构成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M=4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的环形计数器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3494" name="Rectangle 1030"/>
          <p:cNvSpPr/>
          <p:nvPr/>
        </p:nvSpPr>
        <p:spPr>
          <a:xfrm>
            <a:off x="381000" y="1066800"/>
            <a:ext cx="41910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态序表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	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Ｑ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０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Ｑ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１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Ｑ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２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Ｑ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３</a:t>
            </a:r>
            <a:endParaRPr lang="zh-CN" altLang="en-US" sz="24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１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１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１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０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　　１</a:t>
            </a:r>
            <a:r>
              <a:rPr lang="zh-CN" altLang="en-US" sz="2400" b="1" dirty="0">
                <a:latin typeface="Times New Roman" panose="02020603050405020304" pitchFamily="18" charset="0"/>
              </a:rPr>
              <a:t>	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63495" name="Text Box 1031"/>
          <p:cNvSpPr txBox="1"/>
          <p:nvPr/>
        </p:nvSpPr>
        <p:spPr>
          <a:xfrm>
            <a:off x="381000" y="3484563"/>
            <a:ext cx="4800600" cy="329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注意：</a:t>
            </a:r>
            <a:endParaRPr lang="zh-CN" altLang="en-US" sz="28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6600"/>
                </a:solidFill>
                <a:latin typeface="宋体" panose="02010600030101010101" pitchFamily="2" charset="-122"/>
              </a:rPr>
              <a:t>1 </a:t>
            </a:r>
            <a:r>
              <a:rPr lang="zh-CN" altLang="en-US" sz="2800" b="1" dirty="0">
                <a:solidFill>
                  <a:srgbClr val="FF6600"/>
                </a:solidFill>
                <a:latin typeface="宋体" panose="02010600030101010101" pitchFamily="2" charset="-122"/>
              </a:rPr>
              <a:t>电路除了有效计数循环外，还有五个无效循环</a:t>
            </a:r>
            <a:endParaRPr lang="zh-CN" altLang="en-US" sz="28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6600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2800" b="1" dirty="0">
                <a:solidFill>
                  <a:srgbClr val="FF6600"/>
                </a:solidFill>
                <a:latin typeface="宋体" panose="02010600030101010101" pitchFamily="2" charset="-122"/>
              </a:rPr>
              <a:t>不能自启动</a:t>
            </a:r>
            <a:endParaRPr lang="zh-CN" altLang="en-US" sz="28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工作时首先在</a:t>
            </a:r>
            <a:r>
              <a:rPr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SH/LD</a:t>
            </a:r>
            <a:r>
              <a:rPr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加启动信号进行预置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8" name="Line 1034"/>
          <p:cNvSpPr/>
          <p:nvPr/>
        </p:nvSpPr>
        <p:spPr>
          <a:xfrm>
            <a:off x="4267200" y="3124200"/>
            <a:ext cx="5334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00" name="Line 1036"/>
          <p:cNvSpPr/>
          <p:nvPr/>
        </p:nvSpPr>
        <p:spPr>
          <a:xfrm flipV="1">
            <a:off x="4800600" y="2057400"/>
            <a:ext cx="0" cy="10668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01" name="Line 1037"/>
          <p:cNvSpPr/>
          <p:nvPr/>
        </p:nvSpPr>
        <p:spPr>
          <a:xfrm flipH="1">
            <a:off x="4267200" y="2057400"/>
            <a:ext cx="5334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3503" name="Line 1039"/>
          <p:cNvSpPr/>
          <p:nvPr/>
        </p:nvSpPr>
        <p:spPr>
          <a:xfrm>
            <a:off x="8763000" y="5257800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04" name="Line 1040"/>
          <p:cNvSpPr/>
          <p:nvPr/>
        </p:nvSpPr>
        <p:spPr>
          <a:xfrm flipH="1">
            <a:off x="5791200" y="5715000"/>
            <a:ext cx="2971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05" name="Line 1041"/>
          <p:cNvSpPr/>
          <p:nvPr/>
        </p:nvSpPr>
        <p:spPr>
          <a:xfrm flipV="1">
            <a:off x="5791200" y="4038600"/>
            <a:ext cx="0" cy="1676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06" name="Line 1042"/>
          <p:cNvSpPr/>
          <p:nvPr/>
        </p:nvSpPr>
        <p:spPr>
          <a:xfrm>
            <a:off x="5791200" y="40386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07" name="Line 1043"/>
          <p:cNvSpPr/>
          <p:nvPr/>
        </p:nvSpPr>
        <p:spPr>
          <a:xfrm flipH="1">
            <a:off x="8153400" y="5257800"/>
            <a:ext cx="609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10" name="Line 1046"/>
          <p:cNvSpPr/>
          <p:nvPr/>
        </p:nvSpPr>
        <p:spPr>
          <a:xfrm>
            <a:off x="6019800" y="4038600"/>
            <a:ext cx="0" cy="228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11" name="Line 1047"/>
          <p:cNvSpPr/>
          <p:nvPr/>
        </p:nvSpPr>
        <p:spPr>
          <a:xfrm>
            <a:off x="6019800" y="42672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14" name="Text Box 1050"/>
          <p:cNvSpPr txBox="1">
            <a:spLocks noChangeArrowheads="1"/>
          </p:cNvSpPr>
          <p:nvPr/>
        </p:nvSpPr>
        <p:spPr bwMode="auto">
          <a:xfrm>
            <a:off x="6477000" y="279400"/>
            <a:ext cx="2362200" cy="4826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环形计数器</a:t>
            </a:r>
            <a:endParaRPr kumimoji="1" lang="zh-CN" altLang="en-US" sz="32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3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3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3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3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349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3494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3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3494">
                                            <p:txEl>
                                              <p:charRg st="30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44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3494">
                                            <p:txEl>
                                              <p:charRg st="44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5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3494">
                                            <p:txEl>
                                              <p:charRg st="58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63494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349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charRg st="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3495">
                                            <p:txEl>
                                              <p:charRg st="4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charRg st="2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3495">
                                            <p:txEl>
                                              <p:charRg st="27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>
                                            <p:txEl>
                                              <p:charRg st="35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3495">
                                            <p:txEl>
                                              <p:charRg st="35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  <p:bldP spid="63494" grpId="0" build="p"/>
      <p:bldP spid="63495" grpId="0" build="p"/>
      <p:bldP spid="635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5734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476250"/>
            <a:ext cx="7989887" cy="24479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7347" name="对象 4"/>
          <p:cNvGraphicFramePr>
            <a:graphicFrameLocks noChangeAspect="1"/>
          </p:cNvGraphicFramePr>
          <p:nvPr/>
        </p:nvGraphicFramePr>
        <p:xfrm>
          <a:off x="1692275" y="2990850"/>
          <a:ext cx="6048375" cy="354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2" imgW="3634740" imgH="2124075" progId="Visio.Drawing.11">
                  <p:embed/>
                </p:oleObj>
              </mc:Choice>
              <mc:Fallback>
                <p:oleObj name="" r:id="rId2" imgW="3634740" imgH="2124075" progId="Visio.Drawing.11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92275" y="2990850"/>
                        <a:ext cx="6048375" cy="3541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533400" y="457200"/>
            <a:ext cx="5029200" cy="7493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环形计数器设计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62467" name="Text Box 3"/>
          <p:cNvSpPr txBox="1"/>
          <p:nvPr/>
        </p:nvSpPr>
        <p:spPr>
          <a:xfrm>
            <a:off x="609600" y="1981200"/>
            <a:ext cx="8153400" cy="173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、连接方法：</a:t>
            </a:r>
            <a:endParaRPr lang="zh-CN" altLang="en-US" sz="3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将移位寄存器的最后一级输出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反馈到第一级的Ｊ、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输入端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Text Box 7"/>
          <p:cNvSpPr txBox="1"/>
          <p:nvPr/>
        </p:nvSpPr>
        <p:spPr>
          <a:xfrm>
            <a:off x="685800" y="4419600"/>
            <a:ext cx="8077200" cy="173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、判断触发器个数：</a:t>
            </a:r>
            <a:endParaRPr lang="zh-CN" altLang="en-US" sz="3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计数器的模为Ｍ＝ｎ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(n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为移位寄存器的位数</a:t>
            </a: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36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charRg st="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>
                                            <p:txEl>
                                              <p:charRg st="11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71">
                                            <p:txEl>
                                              <p:charRg st="11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nimBg="1"/>
      <p:bldP spid="62467" grpId="0" build="p"/>
      <p:bldP spid="62471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010400" cy="8382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四、寄存器的应用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9395" name="Text Box 3">
            <a:hlinkClick r:id="rId1" action="ppaction://hlinksldjump"/>
          </p:cNvPr>
          <p:cNvSpPr txBox="1"/>
          <p:nvPr/>
        </p:nvSpPr>
        <p:spPr>
          <a:xfrm>
            <a:off x="457200" y="3352800"/>
            <a:ext cx="73914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（二）、环形计数器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9396" name="Text Box 4">
            <a:hlinkClick r:id="rId2" action="ppaction://hlinksldjump"/>
          </p:cNvPr>
          <p:cNvSpPr txBox="1"/>
          <p:nvPr/>
        </p:nvSpPr>
        <p:spPr>
          <a:xfrm>
            <a:off x="477838" y="2209800"/>
            <a:ext cx="7065962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（一）、数据转换</a:t>
            </a:r>
            <a:endParaRPr lang="zh-CN" altLang="en-US" sz="6000" b="1" dirty="0">
              <a:latin typeface="Times New Roman" panose="02020603050405020304" pitchFamily="18" charset="0"/>
            </a:endParaRPr>
          </a:p>
        </p:txBody>
      </p:sp>
      <p:sp>
        <p:nvSpPr>
          <p:cNvPr id="59397" name="Text Box 5">
            <a:hlinkClick r:id="rId3" action="ppaction://hlinksldjump"/>
          </p:cNvPr>
          <p:cNvSpPr txBox="1"/>
          <p:nvPr/>
        </p:nvSpPr>
        <p:spPr>
          <a:xfrm>
            <a:off x="457200" y="4572000"/>
            <a:ext cx="8686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（三）、扭环形计数器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9398" name="Text Box 6">
            <a:hlinkClick r:id="rId4" action="ppaction://hlinksldjump"/>
          </p:cNvPr>
          <p:cNvSpPr txBox="1"/>
          <p:nvPr/>
        </p:nvSpPr>
        <p:spPr>
          <a:xfrm>
            <a:off x="457200" y="5546725"/>
            <a:ext cx="7162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（四）、分频器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5543" name="Text Box 7"/>
          <p:cNvSpPr txBox="1"/>
          <p:nvPr/>
        </p:nvSpPr>
        <p:spPr>
          <a:xfrm>
            <a:off x="381000" y="3886200"/>
            <a:ext cx="4800600" cy="2830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注意：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6600"/>
                </a:solidFill>
                <a:latin typeface="宋体" panose="02010600030101010101" pitchFamily="2" charset="-122"/>
              </a:rPr>
              <a:t>1 </a:t>
            </a:r>
            <a:r>
              <a:rPr lang="zh-CN" altLang="en-US" sz="2400" b="1" dirty="0">
                <a:solidFill>
                  <a:srgbClr val="FF6600"/>
                </a:solidFill>
                <a:latin typeface="宋体" panose="02010600030101010101" pitchFamily="2" charset="-122"/>
              </a:rPr>
              <a:t>电路除了有效计数循环外，还有一个无效循环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6600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2400" b="1" dirty="0">
                <a:solidFill>
                  <a:srgbClr val="FF6600"/>
                </a:solidFill>
                <a:latin typeface="宋体" panose="02010600030101010101" pitchFamily="2" charset="-122"/>
              </a:rPr>
              <a:t>不能自启动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工作时首先在</a:t>
            </a: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加启动信号进行清零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4" name="Line 8"/>
          <p:cNvSpPr/>
          <p:nvPr/>
        </p:nvSpPr>
        <p:spPr>
          <a:xfrm>
            <a:off x="2971800" y="3733800"/>
            <a:ext cx="5334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45" name="Line 9"/>
          <p:cNvSpPr/>
          <p:nvPr/>
        </p:nvSpPr>
        <p:spPr>
          <a:xfrm flipV="1">
            <a:off x="3505200" y="1143000"/>
            <a:ext cx="0" cy="25908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46" name="Line 10"/>
          <p:cNvSpPr/>
          <p:nvPr/>
        </p:nvSpPr>
        <p:spPr>
          <a:xfrm flipH="1">
            <a:off x="2971800" y="1143000"/>
            <a:ext cx="5334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5075238" y="1981200"/>
          <a:ext cx="3687762" cy="44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" imgW="2247900" imgH="2809875" progId="Paint.Picture">
                  <p:embed/>
                </p:oleObj>
              </mc:Choice>
              <mc:Fallback>
                <p:oleObj name="" r:id="rId1" imgW="2247900" imgH="2809875" progId="Paint.Picture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75238" y="1981200"/>
                        <a:ext cx="3687762" cy="446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Rectangle 12"/>
          <p:cNvSpPr/>
          <p:nvPr/>
        </p:nvSpPr>
        <p:spPr>
          <a:xfrm>
            <a:off x="381000" y="152400"/>
            <a:ext cx="2667000" cy="3835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态序表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0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1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2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3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0       0       0       0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1       0       0       0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1       1       0       0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1       1       1       0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1       1       1       1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0       1       1       1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0       0       1       1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0       0       0       1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9" name="Text Box 13"/>
          <p:cNvSpPr txBox="1"/>
          <p:nvPr/>
        </p:nvSpPr>
        <p:spPr>
          <a:xfrm>
            <a:off x="4800600" y="381000"/>
            <a:ext cx="3886200" cy="119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M=8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的 扭环形计数器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  <p:sp>
        <p:nvSpPr>
          <p:cNvPr id="65550" name="Line 14"/>
          <p:cNvSpPr/>
          <p:nvPr/>
        </p:nvSpPr>
        <p:spPr>
          <a:xfrm>
            <a:off x="8534400" y="5562600"/>
            <a:ext cx="0" cy="228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1" name="Line 15"/>
          <p:cNvSpPr/>
          <p:nvPr/>
        </p:nvSpPr>
        <p:spPr>
          <a:xfrm flipH="1">
            <a:off x="5410200" y="5791200"/>
            <a:ext cx="3124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2" name="Line 16"/>
          <p:cNvSpPr/>
          <p:nvPr/>
        </p:nvSpPr>
        <p:spPr>
          <a:xfrm flipV="1">
            <a:off x="5410200" y="4114800"/>
            <a:ext cx="0" cy="1676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3" name="Line 17"/>
          <p:cNvSpPr/>
          <p:nvPr/>
        </p:nvSpPr>
        <p:spPr>
          <a:xfrm>
            <a:off x="5410200" y="41148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4" name="Line 18"/>
          <p:cNvSpPr/>
          <p:nvPr/>
        </p:nvSpPr>
        <p:spPr>
          <a:xfrm flipH="1">
            <a:off x="8077200" y="5562600"/>
            <a:ext cx="457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5" name="Line 19"/>
          <p:cNvSpPr/>
          <p:nvPr/>
        </p:nvSpPr>
        <p:spPr>
          <a:xfrm>
            <a:off x="5638800" y="4114800"/>
            <a:ext cx="0" cy="2286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6" name="Line 20"/>
          <p:cNvSpPr/>
          <p:nvPr/>
        </p:nvSpPr>
        <p:spPr>
          <a:xfrm>
            <a:off x="5638800" y="43434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5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5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5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5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554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1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5548">
                                            <p:txEl>
                                              <p:charRg st="13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3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5548">
                                            <p:txEl>
                                              <p:charRg st="31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58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5548">
                                            <p:txEl>
                                              <p:charRg st="58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8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5548">
                                            <p:txEl>
                                              <p:charRg st="85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11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5548">
                                            <p:txEl>
                                              <p:charRg st="112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139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5548">
                                            <p:txEl>
                                              <p:charRg st="139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166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5548">
                                            <p:txEl>
                                              <p:charRg st="166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193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65548">
                                            <p:txEl>
                                              <p:charRg st="193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charRg st="22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5548">
                                            <p:txEl>
                                              <p:charRg st="22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500"/>
                            </p:stCondLst>
                            <p:childTnLst>
                              <p:par>
                                <p:cTn id="12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554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>
                                            <p:txEl>
                                              <p:charRg st="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5543">
                                            <p:txEl>
                                              <p:charRg st="4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>
                                            <p:txEl>
                                              <p:charRg st="2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5543">
                                            <p:txEl>
                                              <p:charRg st="27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>
                                            <p:txEl>
                                              <p:charRg st="35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5543">
                                            <p:txEl>
                                              <p:charRg st="35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3" grpId="0" build="p"/>
      <p:bldP spid="65548" grpId="0" build="p"/>
      <p:bldP spid="6554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6" name="Picture 17" descr="6m2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2988" y="1390650"/>
            <a:ext cx="6265862" cy="4076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371600" y="317500"/>
            <a:ext cx="5791200" cy="7493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3922"/>
                  <a:invGamma/>
                </a:schemeClr>
              </a:gs>
              <a:gs pos="100000">
                <a:schemeClr val="bg2"/>
              </a:gs>
            </a:gsLst>
            <a:lin ang="189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扭环形计数器设计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64515" name="Text Box 3"/>
          <p:cNvSpPr txBox="1"/>
          <p:nvPr/>
        </p:nvSpPr>
        <p:spPr>
          <a:xfrm>
            <a:off x="457200" y="1676400"/>
            <a:ext cx="8305800" cy="1958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、连接方法：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将移位寄存器的最后一级输出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经反相器后反馈到第一级的Ｊ、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输入端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64518" name="Text Box 6"/>
          <p:cNvSpPr txBox="1"/>
          <p:nvPr/>
        </p:nvSpPr>
        <p:spPr>
          <a:xfrm>
            <a:off x="381000" y="3962400"/>
            <a:ext cx="8382000" cy="1958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、判断触发器个数：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计数器的模为Ｍ＝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2n (n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为移位寄存器的位数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36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charRg st="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charRg st="8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451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charRg st="11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4518">
                                            <p:txEl>
                                              <p:charRg st="11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5" grpId="0" build="p"/>
      <p:bldP spid="64518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010400" cy="8382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四、寄存器的应用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63491" name="Text Box 3">
            <a:hlinkClick r:id="rId1" action="ppaction://hlinksldjump"/>
          </p:cNvPr>
          <p:cNvSpPr txBox="1"/>
          <p:nvPr/>
        </p:nvSpPr>
        <p:spPr>
          <a:xfrm>
            <a:off x="457200" y="3352800"/>
            <a:ext cx="73914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（二）、环形计数器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3492" name="Text Box 4">
            <a:hlinkClick r:id="rId2" action="ppaction://hlinksldjump"/>
          </p:cNvPr>
          <p:cNvSpPr txBox="1"/>
          <p:nvPr/>
        </p:nvSpPr>
        <p:spPr>
          <a:xfrm>
            <a:off x="477838" y="2209800"/>
            <a:ext cx="7065962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（一）、数据转换</a:t>
            </a:r>
            <a:endParaRPr lang="zh-CN" altLang="en-US" sz="6000" b="1" dirty="0">
              <a:latin typeface="Times New Roman" panose="02020603050405020304" pitchFamily="18" charset="0"/>
            </a:endParaRPr>
          </a:p>
        </p:txBody>
      </p:sp>
      <p:sp>
        <p:nvSpPr>
          <p:cNvPr id="63493" name="Text Box 5">
            <a:hlinkClick r:id="rId3" action="ppaction://hlinksldjump"/>
          </p:cNvPr>
          <p:cNvSpPr txBox="1"/>
          <p:nvPr/>
        </p:nvSpPr>
        <p:spPr>
          <a:xfrm>
            <a:off x="457200" y="4572000"/>
            <a:ext cx="8686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（三）、扭环形计数器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3494" name="Text Box 6">
            <a:hlinkClick r:id="rId4" action="ppaction://hlinksldjump"/>
          </p:cNvPr>
          <p:cNvSpPr txBox="1"/>
          <p:nvPr/>
        </p:nvSpPr>
        <p:spPr>
          <a:xfrm>
            <a:off x="457200" y="5546725"/>
            <a:ext cx="7162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（四）、分频器</a:t>
            </a:r>
            <a:endParaRPr lang="zh-CN" altLang="en-US" sz="48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2286000" y="228600"/>
            <a:ext cx="2590800" cy="7493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分频器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graphicFrame>
        <p:nvGraphicFramePr>
          <p:cNvPr id="64515" name="Object 7"/>
          <p:cNvGraphicFramePr>
            <a:graphicFrameLocks noChangeAspect="1"/>
          </p:cNvGraphicFramePr>
          <p:nvPr/>
        </p:nvGraphicFramePr>
        <p:xfrm>
          <a:off x="914400" y="1438275"/>
          <a:ext cx="7391400" cy="529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7219950" imgH="4886325" progId="Paint.Picture">
                  <p:embed/>
                </p:oleObj>
              </mc:Choice>
              <mc:Fallback>
                <p:oleObj name="" r:id="rId1" imgW="7219950" imgH="4886325" progId="Paint.Picture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438275"/>
                        <a:ext cx="7391400" cy="529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57200"/>
            <a:ext cx="6324600" cy="11430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392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隶书" panose="02010509060101010101" pitchFamily="49" charset="-122"/>
                <a:cs typeface="+mj-cs"/>
              </a:rPr>
              <a:t>第六章    主要内容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9" name="Text Box 3">
            <a:hlinkClick r:id="rId1" action="ppaction://hlinksldjump"/>
          </p:cNvPr>
          <p:cNvSpPr txBox="1"/>
          <p:nvPr/>
        </p:nvSpPr>
        <p:spPr>
          <a:xfrm>
            <a:off x="533400" y="19050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§6.1  </a:t>
            </a:r>
            <a:r>
              <a:rPr lang="zh-CN" altLang="en-US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计数器</a:t>
            </a:r>
            <a:endParaRPr lang="zh-CN" altLang="en-US" sz="4800" dirty="0">
              <a:solidFill>
                <a:srgbClr val="8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0" name="Text Box 4">
            <a:hlinkClick r:id="rId2" action="ppaction://hlinksldjump"/>
          </p:cNvPr>
          <p:cNvSpPr txBox="1"/>
          <p:nvPr/>
        </p:nvSpPr>
        <p:spPr>
          <a:xfrm>
            <a:off x="533400" y="28956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§6.2  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寄存器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5541" name="Text Box 5">
            <a:hlinkClick r:id="rId3" action="ppaction://hlinksldjump"/>
          </p:cNvPr>
          <p:cNvSpPr txBox="1"/>
          <p:nvPr/>
        </p:nvSpPr>
        <p:spPr>
          <a:xfrm>
            <a:off x="533400" y="3810000"/>
            <a:ext cx="7924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§6.3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序列码发生器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5542" name="Text Box 6">
            <a:hlinkClick r:id="rId4" action="ppaction://hlinksldjump"/>
          </p:cNvPr>
          <p:cNvSpPr txBox="1"/>
          <p:nvPr/>
        </p:nvSpPr>
        <p:spPr>
          <a:xfrm>
            <a:off x="533400" y="46482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§6.4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数字电子钟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65543" name="Picture 7" descr="MEETI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5372100"/>
            <a:ext cx="2330450" cy="140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4" name="Text Box 8">
            <a:hlinkClick r:id="rId4" action="ppaction://hlinksldjump"/>
          </p:cNvPr>
          <p:cNvSpPr txBox="1"/>
          <p:nvPr/>
        </p:nvSpPr>
        <p:spPr>
          <a:xfrm>
            <a:off x="533400" y="54864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§6.5  </a:t>
            </a:r>
            <a:r>
              <a:rPr lang="zh-CN" altLang="en-US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小结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5105400" y="285750"/>
            <a:ext cx="3733800" cy="140652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0196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§6.3 </a:t>
            </a: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序列信号发生器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67587" name="Text Box 3">
            <a:hlinkClick r:id="rId1" action="ppaction://hlinksldjump"/>
          </p:cNvPr>
          <p:cNvSpPr txBox="1"/>
          <p:nvPr/>
        </p:nvSpPr>
        <p:spPr>
          <a:xfrm>
            <a:off x="381000" y="2605088"/>
            <a:ext cx="8382000" cy="823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4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一、计数器型序列码发生器</a:t>
            </a:r>
            <a:endParaRPr lang="zh-CN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67590" name="Text Box 6"/>
          <p:cNvSpPr txBox="1"/>
          <p:nvPr/>
        </p:nvSpPr>
        <p:spPr>
          <a:xfrm>
            <a:off x="381000" y="3505200"/>
            <a:ext cx="8382000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4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二、反馈型序列码发生器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7594" name="Text Box 10">
            <a:hlinkClick r:id="rId2" action="ppaction://hlinksldjump"/>
          </p:cNvPr>
          <p:cNvSpPr txBox="1"/>
          <p:nvPr/>
        </p:nvSpPr>
        <p:spPr>
          <a:xfrm>
            <a:off x="1524000" y="4572000"/>
            <a:ext cx="6934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—</a:t>
            </a:r>
            <a:r>
              <a:rPr lang="zh-CN" altLang="en-US" sz="4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最长线性序列码发生器</a:t>
            </a:r>
            <a:endParaRPr lang="zh-CN" altLang="en-US" sz="4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67598" name="Group 14"/>
          <p:cNvGrpSpPr/>
          <p:nvPr/>
        </p:nvGrpSpPr>
        <p:grpSpPr>
          <a:xfrm>
            <a:off x="381000" y="152400"/>
            <a:ext cx="3048000" cy="1905000"/>
            <a:chOff x="240" y="96"/>
            <a:chExt cx="1920" cy="1200"/>
          </a:xfrm>
        </p:grpSpPr>
        <p:sp>
          <p:nvSpPr>
            <p:cNvPr id="66568" name="AutoShape 12"/>
            <p:cNvSpPr/>
            <p:nvPr/>
          </p:nvSpPr>
          <p:spPr>
            <a:xfrm>
              <a:off x="240" y="96"/>
              <a:ext cx="1920" cy="1200"/>
            </a:xfrm>
            <a:prstGeom prst="wedgeRoundRectCallout">
              <a:avLst>
                <a:gd name="adj1" fmla="val 104065"/>
                <a:gd name="adj2" fmla="val -38917"/>
                <a:gd name="adj3" fmla="val 16667"/>
              </a:avLst>
            </a:prstGeom>
            <a:solidFill>
              <a:srgbClr val="FFCC99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6569" name="Text Box 13"/>
            <p:cNvSpPr txBox="1"/>
            <p:nvPr/>
          </p:nvSpPr>
          <p:spPr>
            <a:xfrm>
              <a:off x="384" y="240"/>
              <a:ext cx="1728" cy="979"/>
            </a:xfrm>
            <a:prstGeom prst="rect">
              <a:avLst/>
            </a:prstGeom>
            <a:solidFill>
              <a:srgbClr val="FFCC99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按一定规则排列的周期性串行二进制码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7599" name="AutoShape 15"/>
          <p:cNvSpPr/>
          <p:nvPr/>
        </p:nvSpPr>
        <p:spPr>
          <a:xfrm>
            <a:off x="3505200" y="1828800"/>
            <a:ext cx="3200400" cy="838200"/>
          </a:xfrm>
          <a:prstGeom prst="wedgeRoundRectCallout">
            <a:avLst>
              <a:gd name="adj1" fmla="val -46278"/>
              <a:gd name="adj2" fmla="val 70074"/>
              <a:gd name="adj3" fmla="val 16667"/>
            </a:avLst>
          </a:prstGeom>
          <a:solidFill>
            <a:srgbClr val="FFCC99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任意长度的序列码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nimBg="1"/>
      <p:bldP spid="67587" grpId="0"/>
      <p:bldP spid="67590" grpId="0"/>
      <p:bldP spid="67594" grpId="0"/>
      <p:bldP spid="6759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685800" y="304800"/>
            <a:ext cx="7696200" cy="8239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8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一、计数器型序列码发生器</a:t>
            </a:r>
            <a:endParaRPr kumimoji="1" lang="zh-CN" altLang="en-US" sz="44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5" name="Text Box 7"/>
          <p:cNvSpPr txBox="1"/>
          <p:nvPr/>
        </p:nvSpPr>
        <p:spPr>
          <a:xfrm>
            <a:off x="1143000" y="5568950"/>
            <a:ext cx="7924800" cy="527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65000"/>
              </a:lnSpc>
              <a:spcBef>
                <a:spcPct val="0"/>
              </a:spcBef>
              <a:buNone/>
            </a:pP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en-US" altLang="zh-CN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）按要求设计组合输出电路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68625" name="Text Box 17"/>
          <p:cNvSpPr txBox="1"/>
          <p:nvPr/>
        </p:nvSpPr>
        <p:spPr>
          <a:xfrm>
            <a:off x="2057400" y="2286000"/>
            <a:ext cx="57150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计数器</a:t>
            </a: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+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组合输出电路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8626" name="Text Box 18"/>
          <p:cNvSpPr txBox="1"/>
          <p:nvPr/>
        </p:nvSpPr>
        <p:spPr>
          <a:xfrm>
            <a:off x="609600" y="1828800"/>
            <a:ext cx="3200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、电路组成</a:t>
            </a:r>
            <a:endParaRPr lang="zh-CN" altLang="en-US" sz="36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7" name="Text Box 19"/>
          <p:cNvSpPr txBox="1"/>
          <p:nvPr/>
        </p:nvSpPr>
        <p:spPr>
          <a:xfrm>
            <a:off x="685800" y="3352800"/>
            <a:ext cx="2971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、设计过程</a:t>
            </a:r>
            <a:endParaRPr lang="zh-CN" altLang="en-US" sz="36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0" name="Text Box 22"/>
          <p:cNvSpPr txBox="1"/>
          <p:nvPr/>
        </p:nvSpPr>
        <p:spPr>
          <a:xfrm>
            <a:off x="1143000" y="4371975"/>
            <a:ext cx="7772400" cy="962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65000"/>
              </a:lnSpc>
              <a:spcBef>
                <a:spcPct val="50000"/>
              </a:spcBef>
              <a:buNone/>
            </a:pP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（</a:t>
            </a: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）根据序列码的长度</a:t>
            </a: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设计模</a:t>
            </a: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计数器，状态可以自定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nimBg="1"/>
      <p:bldP spid="68615" grpId="0"/>
      <p:bldP spid="68625" grpId="0"/>
      <p:bldP spid="68626" grpId="0"/>
      <p:bldP spid="68627" grpId="0"/>
      <p:bldP spid="6863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9636" name="Text Box 4"/>
          <p:cNvSpPr txBox="1"/>
          <p:nvPr/>
        </p:nvSpPr>
        <p:spPr>
          <a:xfrm>
            <a:off x="152400" y="1371600"/>
            <a:ext cx="7620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：产生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110001001110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序列码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69643" name="Text Box 11"/>
          <p:cNvSpPr txBox="1"/>
          <p:nvPr/>
        </p:nvSpPr>
        <p:spPr>
          <a:xfrm>
            <a:off x="381000" y="2133600"/>
            <a:ext cx="4419600" cy="4602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第一步：设计计数器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  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序列长度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S=12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，设计一个模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选用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CT74161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采用同步预置法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4.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设定有效状态为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0100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1111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9645" name="Object 13"/>
          <p:cNvGraphicFramePr>
            <a:graphicFrameLocks noChangeAspect="1"/>
          </p:cNvGraphicFramePr>
          <p:nvPr/>
        </p:nvGraphicFramePr>
        <p:xfrm>
          <a:off x="5334000" y="1914525"/>
          <a:ext cx="3394075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1800225" imgH="2581275" progId="Paint.Picture">
                  <p:embed/>
                </p:oleObj>
              </mc:Choice>
              <mc:Fallback>
                <p:oleObj name="" r:id="rId1" imgW="1800225" imgH="2581275" progId="Paint.Picture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0" y="1914525"/>
                        <a:ext cx="3394075" cy="486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Text Box 14"/>
          <p:cNvSpPr txBox="1"/>
          <p:nvPr/>
        </p:nvSpPr>
        <p:spPr>
          <a:xfrm>
            <a:off x="5486400" y="4945063"/>
            <a:ext cx="381000" cy="160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9648" name="Text Box 16"/>
          <p:cNvSpPr txBox="1">
            <a:spLocks noChangeArrowheads="1"/>
          </p:cNvSpPr>
          <p:nvPr/>
        </p:nvSpPr>
        <p:spPr bwMode="auto">
          <a:xfrm>
            <a:off x="685800" y="304800"/>
            <a:ext cx="7696200" cy="8239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0196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800" b="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一、计数器型序列码发生器</a:t>
            </a:r>
            <a:endParaRPr kumimoji="1" lang="zh-CN" altLang="en-US" sz="4400" b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4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charRg st="1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43">
                                            <p:txEl>
                                              <p:charRg st="1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charRg st="15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43">
                                            <p:txEl>
                                              <p:charRg st="15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43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charRg st="4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43">
                                            <p:txEl>
                                              <p:charRg st="49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charRg st="5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43">
                                            <p:txEl>
                                              <p:charRg st="59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/>
      <p:bldP spid="69643" grpId="0" build="p"/>
      <p:bldP spid="6964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0659" name="Text Box 3"/>
          <p:cNvSpPr txBox="1"/>
          <p:nvPr/>
        </p:nvSpPr>
        <p:spPr>
          <a:xfrm>
            <a:off x="152400" y="1797050"/>
            <a:ext cx="4800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第二步：设计组合电路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2362200" y="5943600"/>
          <a:ext cx="6540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241300" imgH="215900" progId="Equation.3">
                  <p:embed/>
                </p:oleObj>
              </mc:Choice>
              <mc:Fallback>
                <p:oleObj name="" r:id="rId1" imgW="241300" imgH="2159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5943600"/>
                        <a:ext cx="65405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6"/>
          <p:cNvSpPr/>
          <p:nvPr/>
        </p:nvSpPr>
        <p:spPr>
          <a:xfrm>
            <a:off x="6172200" y="2209800"/>
            <a:ext cx="3003550" cy="4191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Q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Q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Q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     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0       1      0      0         1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0       1      0      1         1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0       1      1      0         0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0       1      1      1         0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1       0      0      0         0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1       0      0      1         1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1       0      1      0         0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1       0      1      1         0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1       1      0      0         1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1       1      0      1         1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1       1      1      0         1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1      1      1	        0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4" name="Text Box 8"/>
          <p:cNvSpPr txBox="1"/>
          <p:nvPr/>
        </p:nvSpPr>
        <p:spPr>
          <a:xfrm>
            <a:off x="228600" y="2590800"/>
            <a:ext cx="4267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列出真值表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70665" name="Text Box 9"/>
          <p:cNvSpPr txBox="1"/>
          <p:nvPr/>
        </p:nvSpPr>
        <p:spPr>
          <a:xfrm>
            <a:off x="228600" y="3048000"/>
            <a:ext cx="3733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卡诺图化简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7" name="Text Box 11"/>
          <p:cNvSpPr txBox="1"/>
          <p:nvPr/>
        </p:nvSpPr>
        <p:spPr>
          <a:xfrm>
            <a:off x="228600" y="3505200"/>
            <a:ext cx="304800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采用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输入数据选择器实现逻辑函数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40" name="Text Box 12"/>
          <p:cNvSpPr txBox="1"/>
          <p:nvPr/>
        </p:nvSpPr>
        <p:spPr>
          <a:xfrm>
            <a:off x="152400" y="1219200"/>
            <a:ext cx="7620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：产生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110001001110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序列码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685800" y="304800"/>
            <a:ext cx="7696200" cy="8239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3922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800" b="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一、计数器型序列码发生器</a:t>
            </a:r>
            <a:endParaRPr kumimoji="1" lang="zh-CN" altLang="en-US" sz="4400" b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0670" name="Object 14"/>
          <p:cNvGraphicFramePr>
            <a:graphicFrameLocks noChangeAspect="1"/>
          </p:cNvGraphicFramePr>
          <p:nvPr/>
        </p:nvGraphicFramePr>
        <p:xfrm>
          <a:off x="3124200" y="2819400"/>
          <a:ext cx="29718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" imgW="1590675" imgH="1590675" progId="Paint.Picture">
                  <p:embed/>
                </p:oleObj>
              </mc:Choice>
              <mc:Fallback>
                <p:oleObj name="" r:id="rId3" imgW="1590675" imgH="1590675" progId="Paint.Picture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2819400"/>
                        <a:ext cx="297180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2" name="Text Box 16"/>
          <p:cNvSpPr txBox="1"/>
          <p:nvPr/>
        </p:nvSpPr>
        <p:spPr>
          <a:xfrm>
            <a:off x="441325" y="5119688"/>
            <a:ext cx="2911475" cy="1738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=0D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3" name="AutoShape 17">
            <a:hlinkClick r:id="" action="ppaction://hlinkshowjump?jump=nextslide"/>
          </p:cNvPr>
          <p:cNvSpPr/>
          <p:nvPr/>
        </p:nvSpPr>
        <p:spPr>
          <a:xfrm>
            <a:off x="1905000" y="4572000"/>
            <a:ext cx="381000" cy="381000"/>
          </a:xfrm>
          <a:prstGeom prst="actionButtonForwardNext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6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3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2">
                                            <p:txEl>
                                              <p:charRg st="31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66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2">
                                            <p:txEl>
                                              <p:charRg st="66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101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2">
                                            <p:txEl>
                                              <p:charRg st="101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136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662">
                                            <p:txEl>
                                              <p:charRg st="136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171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662">
                                            <p:txEl>
                                              <p:charRg st="171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206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0662">
                                            <p:txEl>
                                              <p:charRg st="206" end="2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241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662">
                                            <p:txEl>
                                              <p:charRg st="241" end="2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276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0662">
                                            <p:txEl>
                                              <p:charRg st="276" end="3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311" end="3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0662">
                                            <p:txEl>
                                              <p:charRg st="311" end="3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346" end="3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0662">
                                            <p:txEl>
                                              <p:charRg st="346" end="3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381" end="4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0662">
                                            <p:txEl>
                                              <p:charRg st="381" end="4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416" end="4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0662">
                                            <p:txEl>
                                              <p:charRg st="416" end="4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/>
      <p:bldP spid="70662" grpId="0" build="p"/>
      <p:bldP spid="70664" grpId="0"/>
      <p:bldP spid="70665" grpId="0"/>
      <p:bldP spid="70667" grpId="0"/>
      <p:bldP spid="7067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/>
      <p:grpSp>
        <p:nvGrpSpPr>
          <p:cNvPr id="111638" name="Group 22"/>
          <p:cNvGrpSpPr/>
          <p:nvPr/>
        </p:nvGrpSpPr>
        <p:grpSpPr>
          <a:xfrm>
            <a:off x="762000" y="1143000"/>
            <a:ext cx="3581400" cy="2819400"/>
            <a:chOff x="2496" y="624"/>
            <a:chExt cx="2256" cy="1776"/>
          </a:xfrm>
        </p:grpSpPr>
        <p:sp>
          <p:nvSpPr>
            <p:cNvPr id="70710" name="Rectangle 3"/>
            <p:cNvSpPr/>
            <p:nvPr/>
          </p:nvSpPr>
          <p:spPr>
            <a:xfrm>
              <a:off x="3072" y="1008"/>
              <a:ext cx="1680" cy="1392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11" name="Line 4"/>
            <p:cNvSpPr/>
            <p:nvPr/>
          </p:nvSpPr>
          <p:spPr>
            <a:xfrm>
              <a:off x="3072" y="1694"/>
              <a:ext cx="16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2" name="Line 5"/>
            <p:cNvSpPr/>
            <p:nvPr/>
          </p:nvSpPr>
          <p:spPr>
            <a:xfrm>
              <a:off x="3072" y="1344"/>
              <a:ext cx="16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3" name="Line 6"/>
            <p:cNvSpPr/>
            <p:nvPr/>
          </p:nvSpPr>
          <p:spPr>
            <a:xfrm>
              <a:off x="3072" y="2064"/>
              <a:ext cx="16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4" name="Line 7"/>
            <p:cNvSpPr/>
            <p:nvPr/>
          </p:nvSpPr>
          <p:spPr>
            <a:xfrm>
              <a:off x="3902" y="1008"/>
              <a:ext cx="0" cy="13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5" name="Line 8"/>
            <p:cNvSpPr/>
            <p:nvPr/>
          </p:nvSpPr>
          <p:spPr>
            <a:xfrm>
              <a:off x="4320" y="1008"/>
              <a:ext cx="0" cy="13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6" name="Line 9"/>
            <p:cNvSpPr/>
            <p:nvPr/>
          </p:nvSpPr>
          <p:spPr>
            <a:xfrm>
              <a:off x="3504" y="1008"/>
              <a:ext cx="0" cy="13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7" name="Line 10"/>
            <p:cNvSpPr/>
            <p:nvPr/>
          </p:nvSpPr>
          <p:spPr>
            <a:xfrm>
              <a:off x="2640" y="816"/>
              <a:ext cx="43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8" name="Text Box 11"/>
            <p:cNvSpPr txBox="1"/>
            <p:nvPr/>
          </p:nvSpPr>
          <p:spPr>
            <a:xfrm>
              <a:off x="2496" y="864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19" name="Text Box 12"/>
            <p:cNvSpPr txBox="1"/>
            <p:nvPr/>
          </p:nvSpPr>
          <p:spPr>
            <a:xfrm>
              <a:off x="2678" y="624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0" name="Text Box 13"/>
            <p:cNvSpPr txBox="1"/>
            <p:nvPr/>
          </p:nvSpPr>
          <p:spPr>
            <a:xfrm>
              <a:off x="2736" y="1056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1" name="Text Box 14"/>
            <p:cNvSpPr txBox="1"/>
            <p:nvPr/>
          </p:nvSpPr>
          <p:spPr>
            <a:xfrm>
              <a:off x="2736" y="139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2" name="Text Box 16"/>
            <p:cNvSpPr txBox="1"/>
            <p:nvPr/>
          </p:nvSpPr>
          <p:spPr>
            <a:xfrm>
              <a:off x="2736" y="172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3" name="Text Box 17"/>
            <p:cNvSpPr txBox="1"/>
            <p:nvPr/>
          </p:nvSpPr>
          <p:spPr>
            <a:xfrm>
              <a:off x="2736" y="211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4" name="Text Box 18"/>
            <p:cNvSpPr txBox="1"/>
            <p:nvPr/>
          </p:nvSpPr>
          <p:spPr>
            <a:xfrm>
              <a:off x="3100" y="72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5" name="Text Box 19"/>
            <p:cNvSpPr txBox="1"/>
            <p:nvPr/>
          </p:nvSpPr>
          <p:spPr>
            <a:xfrm>
              <a:off x="3552" y="72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6" name="Text Box 20"/>
            <p:cNvSpPr txBox="1"/>
            <p:nvPr/>
          </p:nvSpPr>
          <p:spPr>
            <a:xfrm>
              <a:off x="3984" y="72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27" name="Text Box 21"/>
            <p:cNvSpPr txBox="1"/>
            <p:nvPr/>
          </p:nvSpPr>
          <p:spPr>
            <a:xfrm>
              <a:off x="4416" y="72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41" name="Group 25"/>
          <p:cNvGrpSpPr/>
          <p:nvPr/>
        </p:nvGrpSpPr>
        <p:grpSpPr>
          <a:xfrm>
            <a:off x="1828800" y="1828800"/>
            <a:ext cx="1143000" cy="457200"/>
            <a:chOff x="3168" y="1056"/>
            <a:chExt cx="720" cy="288"/>
          </a:xfrm>
        </p:grpSpPr>
        <p:sp>
          <p:nvSpPr>
            <p:cNvPr id="70708" name="Text Box 23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9" name="Text Box 24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42" name="Group 26"/>
          <p:cNvGrpSpPr/>
          <p:nvPr/>
        </p:nvGrpSpPr>
        <p:grpSpPr>
          <a:xfrm>
            <a:off x="3124200" y="1828800"/>
            <a:ext cx="1143000" cy="457200"/>
            <a:chOff x="3168" y="1056"/>
            <a:chExt cx="720" cy="288"/>
          </a:xfrm>
        </p:grpSpPr>
        <p:sp>
          <p:nvSpPr>
            <p:cNvPr id="70706" name="Text Box 27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7" name="Text Box 28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45" name="Group 29"/>
          <p:cNvGrpSpPr/>
          <p:nvPr/>
        </p:nvGrpSpPr>
        <p:grpSpPr>
          <a:xfrm>
            <a:off x="1828800" y="2362200"/>
            <a:ext cx="1143000" cy="457200"/>
            <a:chOff x="3168" y="1056"/>
            <a:chExt cx="720" cy="288"/>
          </a:xfrm>
        </p:grpSpPr>
        <p:sp>
          <p:nvSpPr>
            <p:cNvPr id="70704" name="Text Box 30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5" name="Text Box 31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48" name="Group 32"/>
          <p:cNvGrpSpPr/>
          <p:nvPr/>
        </p:nvGrpSpPr>
        <p:grpSpPr>
          <a:xfrm>
            <a:off x="3124200" y="2362200"/>
            <a:ext cx="1143000" cy="457200"/>
            <a:chOff x="3168" y="1056"/>
            <a:chExt cx="720" cy="288"/>
          </a:xfrm>
        </p:grpSpPr>
        <p:sp>
          <p:nvSpPr>
            <p:cNvPr id="70702" name="Text Box 33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3" name="Text Box 34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51" name="Group 35"/>
          <p:cNvGrpSpPr/>
          <p:nvPr/>
        </p:nvGrpSpPr>
        <p:grpSpPr>
          <a:xfrm>
            <a:off x="1828800" y="3429000"/>
            <a:ext cx="1143000" cy="457200"/>
            <a:chOff x="3168" y="1056"/>
            <a:chExt cx="720" cy="288"/>
          </a:xfrm>
        </p:grpSpPr>
        <p:sp>
          <p:nvSpPr>
            <p:cNvPr id="70700" name="Text Box 36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1" name="Text Box 37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54" name="Group 38"/>
          <p:cNvGrpSpPr/>
          <p:nvPr/>
        </p:nvGrpSpPr>
        <p:grpSpPr>
          <a:xfrm>
            <a:off x="3124200" y="3429000"/>
            <a:ext cx="1143000" cy="457200"/>
            <a:chOff x="3168" y="1056"/>
            <a:chExt cx="720" cy="288"/>
          </a:xfrm>
        </p:grpSpPr>
        <p:sp>
          <p:nvSpPr>
            <p:cNvPr id="70698" name="Text Box 39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99" name="Text Box 40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57" name="Group 41"/>
          <p:cNvGrpSpPr/>
          <p:nvPr/>
        </p:nvGrpSpPr>
        <p:grpSpPr>
          <a:xfrm>
            <a:off x="1828800" y="2895600"/>
            <a:ext cx="1143000" cy="457200"/>
            <a:chOff x="3168" y="1056"/>
            <a:chExt cx="720" cy="288"/>
          </a:xfrm>
        </p:grpSpPr>
        <p:sp>
          <p:nvSpPr>
            <p:cNvPr id="70696" name="Text Box 42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97" name="Text Box 43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60" name="Group 44"/>
          <p:cNvGrpSpPr/>
          <p:nvPr/>
        </p:nvGrpSpPr>
        <p:grpSpPr>
          <a:xfrm>
            <a:off x="3124200" y="2895600"/>
            <a:ext cx="1143000" cy="457200"/>
            <a:chOff x="3168" y="1056"/>
            <a:chExt cx="720" cy="288"/>
          </a:xfrm>
        </p:grpSpPr>
        <p:sp>
          <p:nvSpPr>
            <p:cNvPr id="70694" name="Text Box 45"/>
            <p:cNvSpPr txBox="1"/>
            <p:nvPr/>
          </p:nvSpPr>
          <p:spPr>
            <a:xfrm>
              <a:off x="3168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95" name="Text Box 46"/>
            <p:cNvSpPr txBox="1"/>
            <p:nvPr/>
          </p:nvSpPr>
          <p:spPr>
            <a:xfrm>
              <a:off x="3569" y="105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1664" name="Text Box 48"/>
          <p:cNvSpPr txBox="1"/>
          <p:nvPr/>
        </p:nvSpPr>
        <p:spPr>
          <a:xfrm>
            <a:off x="1219200" y="5883275"/>
            <a:ext cx="74834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若对应于的方格内 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有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也有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，则应为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格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对应的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输入变量的积之和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（此积之和式中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只能含余下的变量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）。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66" name="Text Box 50"/>
          <p:cNvSpPr txBox="1"/>
          <p:nvPr/>
        </p:nvSpPr>
        <p:spPr>
          <a:xfrm>
            <a:off x="1582738" y="228600"/>
            <a:ext cx="5656262" cy="457200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八选一选择器实现函数：逻辑变量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ABCD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67" name="Text Box 51"/>
          <p:cNvSpPr txBox="1"/>
          <p:nvPr/>
        </p:nvSpPr>
        <p:spPr>
          <a:xfrm>
            <a:off x="898525" y="727075"/>
            <a:ext cx="6661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选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ABC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做地址输入，可的八选一选择器的卡诺图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68" name="Text Box 52"/>
          <p:cNvSpPr txBox="1"/>
          <p:nvPr/>
        </p:nvSpPr>
        <p:spPr>
          <a:xfrm>
            <a:off x="898525" y="4156075"/>
            <a:ext cx="65897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与函数的卡诺图比较，可确定相应的数据输入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1670" name="Object 54"/>
          <p:cNvGraphicFramePr>
            <a:graphicFrameLocks noChangeAspect="1"/>
          </p:cNvGraphicFramePr>
          <p:nvPr/>
        </p:nvGraphicFramePr>
        <p:xfrm>
          <a:off x="5410200" y="1219200"/>
          <a:ext cx="29718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1590675" imgH="1590675" progId="Paint.Picture">
                  <p:embed/>
                </p:oleObj>
              </mc:Choice>
              <mc:Fallback>
                <p:oleObj name="" r:id="rId1" imgW="1590675" imgH="1590675" progId="Paint.Picture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10200" y="1219200"/>
                        <a:ext cx="297180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72" name="Text Box 56"/>
          <p:cNvSpPr txBox="1"/>
          <p:nvPr/>
        </p:nvSpPr>
        <p:spPr>
          <a:xfrm>
            <a:off x="1203325" y="5070475"/>
            <a:ext cx="76358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若对应于选择器卡诺图的方格内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全为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，则此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= 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；反之，若方格内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全为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= 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1690" name="Group 74"/>
          <p:cNvGrpSpPr/>
          <p:nvPr/>
        </p:nvGrpSpPr>
        <p:grpSpPr>
          <a:xfrm>
            <a:off x="914400" y="4572000"/>
            <a:ext cx="7924800" cy="2209800"/>
            <a:chOff x="576" y="2880"/>
            <a:chExt cx="4992" cy="1392"/>
          </a:xfrm>
        </p:grpSpPr>
        <p:sp>
          <p:nvSpPr>
            <p:cNvPr id="70692" name="Text Box 53"/>
            <p:cNvSpPr txBox="1"/>
            <p:nvPr/>
          </p:nvSpPr>
          <p:spPr>
            <a:xfrm>
              <a:off x="576" y="2906"/>
              <a:ext cx="437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确定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方法：对于函数卡诺图中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93" name="Rectangle 57"/>
            <p:cNvSpPr/>
            <p:nvPr/>
          </p:nvSpPr>
          <p:spPr>
            <a:xfrm>
              <a:off x="576" y="2880"/>
              <a:ext cx="4992" cy="139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1674" name="Rectangle 58"/>
          <p:cNvSpPr/>
          <p:nvPr/>
        </p:nvSpPr>
        <p:spPr>
          <a:xfrm>
            <a:off x="1828800" y="2362200"/>
            <a:ext cx="1066800" cy="4572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75" name="Rectangle 59"/>
          <p:cNvSpPr/>
          <p:nvPr/>
        </p:nvSpPr>
        <p:spPr>
          <a:xfrm>
            <a:off x="6019800" y="2514600"/>
            <a:ext cx="1066800" cy="4572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76" name="Rectangle 60"/>
          <p:cNvSpPr/>
          <p:nvPr/>
        </p:nvSpPr>
        <p:spPr>
          <a:xfrm>
            <a:off x="5943600" y="3124200"/>
            <a:ext cx="1066800" cy="4572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77" name="Rectangle 61"/>
          <p:cNvSpPr/>
          <p:nvPr/>
        </p:nvSpPr>
        <p:spPr>
          <a:xfrm>
            <a:off x="1828800" y="2895600"/>
            <a:ext cx="1066800" cy="4572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78" name="Rectangle 62"/>
          <p:cNvSpPr/>
          <p:nvPr/>
        </p:nvSpPr>
        <p:spPr>
          <a:xfrm>
            <a:off x="7162800" y="2514600"/>
            <a:ext cx="990600" cy="457200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79" name="Rectangle 63"/>
          <p:cNvSpPr/>
          <p:nvPr/>
        </p:nvSpPr>
        <p:spPr>
          <a:xfrm>
            <a:off x="7162800" y="3657600"/>
            <a:ext cx="990600" cy="457200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0" name="Rectangle 64"/>
          <p:cNvSpPr/>
          <p:nvPr/>
        </p:nvSpPr>
        <p:spPr>
          <a:xfrm>
            <a:off x="3200400" y="2362200"/>
            <a:ext cx="990600" cy="457200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1" name="Rectangle 65"/>
          <p:cNvSpPr/>
          <p:nvPr/>
        </p:nvSpPr>
        <p:spPr>
          <a:xfrm>
            <a:off x="3200400" y="3505200"/>
            <a:ext cx="990600" cy="457200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2" name="Rectangle 66"/>
          <p:cNvSpPr/>
          <p:nvPr/>
        </p:nvSpPr>
        <p:spPr>
          <a:xfrm>
            <a:off x="7162800" y="3124200"/>
            <a:ext cx="914400" cy="3810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3" name="Rectangle 67"/>
          <p:cNvSpPr/>
          <p:nvPr/>
        </p:nvSpPr>
        <p:spPr>
          <a:xfrm>
            <a:off x="6019800" y="3657600"/>
            <a:ext cx="914400" cy="3810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4" name="Rectangle 68"/>
          <p:cNvSpPr/>
          <p:nvPr/>
        </p:nvSpPr>
        <p:spPr>
          <a:xfrm>
            <a:off x="3200400" y="2971800"/>
            <a:ext cx="1066800" cy="3810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5" name="Rectangle 69"/>
          <p:cNvSpPr/>
          <p:nvPr/>
        </p:nvSpPr>
        <p:spPr>
          <a:xfrm>
            <a:off x="1828800" y="3505200"/>
            <a:ext cx="1066800" cy="3810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6" name="Rectangle 70"/>
          <p:cNvSpPr/>
          <p:nvPr/>
        </p:nvSpPr>
        <p:spPr>
          <a:xfrm>
            <a:off x="6096000" y="1981200"/>
            <a:ext cx="838200" cy="457200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7" name="Rectangle 71"/>
          <p:cNvSpPr/>
          <p:nvPr/>
        </p:nvSpPr>
        <p:spPr>
          <a:xfrm>
            <a:off x="7239000" y="1981200"/>
            <a:ext cx="838200" cy="457200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8" name="Rectangle 72"/>
          <p:cNvSpPr/>
          <p:nvPr/>
        </p:nvSpPr>
        <p:spPr>
          <a:xfrm>
            <a:off x="1905000" y="1752600"/>
            <a:ext cx="1066800" cy="533400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89" name="Rectangle 73"/>
          <p:cNvSpPr/>
          <p:nvPr/>
        </p:nvSpPr>
        <p:spPr>
          <a:xfrm>
            <a:off x="3200400" y="1752600"/>
            <a:ext cx="1066800" cy="533400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91" name="AutoShape 75">
            <a:hlinkClick r:id="" action="ppaction://hlinkshowjump?jump=previousslide"/>
          </p:cNvPr>
          <p:cNvSpPr/>
          <p:nvPr/>
        </p:nvSpPr>
        <p:spPr>
          <a:xfrm>
            <a:off x="8382000" y="2667000"/>
            <a:ext cx="609600" cy="533400"/>
          </a:xfrm>
          <a:prstGeom prst="actionButtonBackPrevious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92" name="AutoShape 76"/>
          <p:cNvSpPr/>
          <p:nvPr/>
        </p:nvSpPr>
        <p:spPr>
          <a:xfrm>
            <a:off x="5791200" y="228600"/>
            <a:ext cx="2286000" cy="914400"/>
          </a:xfrm>
          <a:prstGeom prst="wedgeRoundRectCallout">
            <a:avLst>
              <a:gd name="adj1" fmla="val -42917"/>
              <a:gd name="adj2" fmla="val 69968"/>
              <a:gd name="adj3" fmla="val 16667"/>
            </a:avLst>
          </a:prstGeom>
          <a:solidFill>
            <a:srgbClr val="FFCC99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--ABC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--D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1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1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64" grpId="0"/>
      <p:bldP spid="111666" grpId="0" animBg="1"/>
      <p:bldP spid="111667" grpId="0"/>
      <p:bldP spid="111668" grpId="0"/>
      <p:bldP spid="111672" grpId="0"/>
      <p:bldP spid="11169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1676400" y="1776413"/>
          <a:ext cx="7086600" cy="500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4057650" imgH="2543175" progId="Paint.Picture">
                  <p:embed/>
                </p:oleObj>
              </mc:Choice>
              <mc:Fallback>
                <p:oleObj name="" r:id="rId1" imgW="4057650" imgH="2543175" progId="Paint.Picture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1776413"/>
                        <a:ext cx="7086600" cy="5005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5"/>
          <p:cNvSpPr txBox="1"/>
          <p:nvPr/>
        </p:nvSpPr>
        <p:spPr>
          <a:xfrm>
            <a:off x="0" y="1905000"/>
            <a:ext cx="2057400" cy="119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第三步：画电路图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71687" name="Line 7"/>
          <p:cNvSpPr/>
          <p:nvPr/>
        </p:nvSpPr>
        <p:spPr>
          <a:xfrm>
            <a:off x="4648200" y="6408738"/>
            <a:ext cx="609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8" name="Line 8"/>
          <p:cNvSpPr/>
          <p:nvPr/>
        </p:nvSpPr>
        <p:spPr>
          <a:xfrm flipV="1">
            <a:off x="5257800" y="3741738"/>
            <a:ext cx="0" cy="2667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9" name="Line 9"/>
          <p:cNvSpPr/>
          <p:nvPr/>
        </p:nvSpPr>
        <p:spPr>
          <a:xfrm flipV="1">
            <a:off x="5257800" y="3741738"/>
            <a:ext cx="16002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0" name="Line 10"/>
          <p:cNvSpPr/>
          <p:nvPr/>
        </p:nvSpPr>
        <p:spPr>
          <a:xfrm>
            <a:off x="4648200" y="6027738"/>
            <a:ext cx="457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1" name="Line 11"/>
          <p:cNvSpPr/>
          <p:nvPr/>
        </p:nvSpPr>
        <p:spPr>
          <a:xfrm flipV="1">
            <a:off x="5105400" y="3436938"/>
            <a:ext cx="0" cy="25908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2" name="Line 12"/>
          <p:cNvSpPr/>
          <p:nvPr/>
        </p:nvSpPr>
        <p:spPr>
          <a:xfrm flipV="1">
            <a:off x="5105400" y="3436938"/>
            <a:ext cx="17526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3" name="Line 13"/>
          <p:cNvSpPr/>
          <p:nvPr/>
        </p:nvSpPr>
        <p:spPr>
          <a:xfrm>
            <a:off x="4648200" y="5570538"/>
            <a:ext cx="304800" cy="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4" name="Line 14"/>
          <p:cNvSpPr/>
          <p:nvPr/>
        </p:nvSpPr>
        <p:spPr>
          <a:xfrm flipV="1">
            <a:off x="4953000" y="3208338"/>
            <a:ext cx="0" cy="23622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5" name="Line 15"/>
          <p:cNvSpPr/>
          <p:nvPr/>
        </p:nvSpPr>
        <p:spPr>
          <a:xfrm>
            <a:off x="4953000" y="3208338"/>
            <a:ext cx="1905000" cy="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696" name="Object 16"/>
          <p:cNvGraphicFramePr>
            <a:graphicFrameLocks noChangeAspect="1"/>
          </p:cNvGraphicFramePr>
          <p:nvPr/>
        </p:nvGraphicFramePr>
        <p:xfrm>
          <a:off x="5837238" y="5703888"/>
          <a:ext cx="6397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257175" imgH="342900" progId="Paint.Picture">
                  <p:embed/>
                </p:oleObj>
              </mc:Choice>
              <mc:Fallback>
                <p:oleObj name="" r:id="rId3" imgW="257175" imgH="342900" progId="Paint.Picture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7238" y="5703888"/>
                        <a:ext cx="639762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7" name="Line 17"/>
          <p:cNvSpPr/>
          <p:nvPr/>
        </p:nvSpPr>
        <p:spPr>
          <a:xfrm>
            <a:off x="4648200" y="5189538"/>
            <a:ext cx="220980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8" name="Line 18"/>
          <p:cNvSpPr/>
          <p:nvPr/>
        </p:nvSpPr>
        <p:spPr>
          <a:xfrm flipH="1" flipV="1">
            <a:off x="6400800" y="6103938"/>
            <a:ext cx="45720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9" name="Line 19"/>
          <p:cNvSpPr/>
          <p:nvPr/>
        </p:nvSpPr>
        <p:spPr>
          <a:xfrm>
            <a:off x="5486400" y="5189538"/>
            <a:ext cx="0" cy="9144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00" name="Line 20"/>
          <p:cNvSpPr/>
          <p:nvPr/>
        </p:nvSpPr>
        <p:spPr>
          <a:xfrm>
            <a:off x="5486400" y="6103938"/>
            <a:ext cx="38100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26"/>
          <p:cNvSpPr txBox="1"/>
          <p:nvPr/>
        </p:nvSpPr>
        <p:spPr>
          <a:xfrm>
            <a:off x="152400" y="1219200"/>
            <a:ext cx="7620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：产生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110001001110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序列码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71707" name="Text Box 27"/>
          <p:cNvSpPr txBox="1">
            <a:spLocks noChangeArrowheads="1"/>
          </p:cNvSpPr>
          <p:nvPr/>
        </p:nvSpPr>
        <p:spPr bwMode="auto">
          <a:xfrm>
            <a:off x="685800" y="304800"/>
            <a:ext cx="7696200" cy="8239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3922"/>
                  <a:invGamma/>
                </a:schemeClr>
              </a:gs>
              <a:gs pos="100000">
                <a:schemeClr val="bg2"/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800" b="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一、计数器型序列码发生器</a:t>
            </a:r>
            <a:endParaRPr kumimoji="1" lang="zh-CN" altLang="en-US" sz="4400" b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09" name="Text Box 29"/>
          <p:cNvSpPr txBox="1"/>
          <p:nvPr/>
        </p:nvSpPr>
        <p:spPr>
          <a:xfrm>
            <a:off x="76200" y="3200400"/>
            <a:ext cx="2911475" cy="2592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lang="zh-CN" altLang="en-US" sz="28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1710" name="Object 30"/>
          <p:cNvGraphicFramePr>
            <a:graphicFrameLocks noChangeAspect="1"/>
          </p:cNvGraphicFramePr>
          <p:nvPr/>
        </p:nvGraphicFramePr>
        <p:xfrm>
          <a:off x="762000" y="4953000"/>
          <a:ext cx="6540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5" imgW="241300" imgH="215900" progId="Equation.3">
                  <p:embed/>
                </p:oleObj>
              </mc:Choice>
              <mc:Fallback>
                <p:oleObj name="" r:id="rId5" imgW="241300" imgH="2159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" y="4953000"/>
                        <a:ext cx="65405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1" name="Text Box 31"/>
          <p:cNvSpPr txBox="1"/>
          <p:nvPr/>
        </p:nvSpPr>
        <p:spPr>
          <a:xfrm>
            <a:off x="8594725" y="3165475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Z</a:t>
            </a:r>
            <a:endParaRPr lang="en-US" altLang="zh-CN" sz="24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3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000"/>
                            </p:stCondLst>
                            <p:childTnLst>
                              <p:par>
                                <p:cTn id="8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1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1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1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1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1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1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/>
      <p:bldP spid="71709" grpId="0"/>
      <p:bldP spid="717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5105400" y="285750"/>
            <a:ext cx="3733800" cy="1406525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§6.3 </a:t>
            </a: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序列信号发生器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72707" name="Text Box 3">
            <a:hlinkClick r:id="rId1" action="ppaction://hlinksldjump"/>
          </p:cNvPr>
          <p:cNvSpPr txBox="1"/>
          <p:nvPr/>
        </p:nvSpPr>
        <p:spPr>
          <a:xfrm>
            <a:off x="381000" y="2605088"/>
            <a:ext cx="8382000" cy="823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一、计数器型序列码发生器</a:t>
            </a:r>
            <a:endParaRPr lang="zh-CN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72708" name="Text Box 4"/>
          <p:cNvSpPr txBox="1"/>
          <p:nvPr/>
        </p:nvSpPr>
        <p:spPr>
          <a:xfrm>
            <a:off x="381000" y="3505200"/>
            <a:ext cx="8382000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二、反馈型序列码发生器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72709" name="Text Box 6">
            <a:hlinkClick r:id="rId2" action="ppaction://hlinksldjump"/>
          </p:cNvPr>
          <p:cNvSpPr txBox="1"/>
          <p:nvPr/>
        </p:nvSpPr>
        <p:spPr>
          <a:xfrm>
            <a:off x="1524000" y="4419600"/>
            <a:ext cx="6934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---</a:t>
            </a:r>
            <a:r>
              <a:rPr lang="zh-CN" altLang="en-US" sz="4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最长线性序列码发生器</a:t>
            </a:r>
            <a:endParaRPr lang="zh-CN" altLang="en-US" sz="4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2710" name="Group 7"/>
          <p:cNvGrpSpPr/>
          <p:nvPr/>
        </p:nvGrpSpPr>
        <p:grpSpPr>
          <a:xfrm>
            <a:off x="381000" y="152400"/>
            <a:ext cx="3048000" cy="1905000"/>
            <a:chOff x="240" y="96"/>
            <a:chExt cx="1920" cy="1200"/>
          </a:xfrm>
        </p:grpSpPr>
        <p:sp>
          <p:nvSpPr>
            <p:cNvPr id="72711" name="AutoShape 8"/>
            <p:cNvSpPr/>
            <p:nvPr/>
          </p:nvSpPr>
          <p:spPr>
            <a:xfrm>
              <a:off x="240" y="96"/>
              <a:ext cx="1920" cy="1200"/>
            </a:xfrm>
            <a:prstGeom prst="wedgeRoundRectCallout">
              <a:avLst>
                <a:gd name="adj1" fmla="val 104065"/>
                <a:gd name="adj2" fmla="val -38917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12" name="Text Box 9"/>
            <p:cNvSpPr txBox="1"/>
            <p:nvPr/>
          </p:nvSpPr>
          <p:spPr>
            <a:xfrm>
              <a:off x="384" y="240"/>
              <a:ext cx="1728" cy="979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按一定规则排列的周期性串行二进制码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split orient="vert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1219200" y="228600"/>
            <a:ext cx="6781800" cy="1431925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二、反馈型最长线性序列码发生器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(m</a:t>
            </a: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序列码发生器</a:t>
            </a:r>
            <a:r>
              <a:rPr kumimoji="1" lang="en-US" altLang="zh-CN" sz="4400" b="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)</a:t>
            </a:r>
            <a:endParaRPr kumimoji="1" lang="en-US" altLang="zh-CN" sz="4400" b="0" kern="1200" cap="none" spc="0" normalizeH="0" baseline="0" noProof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2718" name="Text Box 14"/>
          <p:cNvSpPr txBox="1"/>
          <p:nvPr/>
        </p:nvSpPr>
        <p:spPr>
          <a:xfrm>
            <a:off x="152400" y="2984500"/>
            <a:ext cx="8610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2.  </a:t>
            </a: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电路组成：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移位寄存器 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 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异或反馈电路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72719" name="Text Box 15"/>
          <p:cNvSpPr txBox="1"/>
          <p:nvPr/>
        </p:nvSpPr>
        <p:spPr>
          <a:xfrm>
            <a:off x="152400" y="2146300"/>
            <a:ext cx="8382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3600" b="1" dirty="0">
                <a:solidFill>
                  <a:srgbClr val="FF6600"/>
                </a:solidFill>
                <a:latin typeface="宋体" panose="02010600030101010101" pitchFamily="2" charset="-122"/>
              </a:rPr>
              <a:t>最长线性序列码长度：</a:t>
            </a:r>
            <a:r>
              <a:rPr lang="en-US" altLang="zh-CN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S=2</a:t>
            </a:r>
            <a:r>
              <a:rPr lang="en-US" altLang="zh-CN" sz="3600" b="1" baseline="30000" dirty="0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-1</a:t>
            </a:r>
            <a:endParaRPr lang="en-US" altLang="zh-CN" sz="3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2720" name="Rectangle 16"/>
          <p:cNvSpPr/>
          <p:nvPr/>
        </p:nvSpPr>
        <p:spPr>
          <a:xfrm>
            <a:off x="152400" y="3822700"/>
            <a:ext cx="2819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设计过程</a:t>
            </a:r>
            <a:r>
              <a:rPr lang="en-US" altLang="zh-CN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2723" name="Text Box 19"/>
          <p:cNvSpPr txBox="1"/>
          <p:nvPr/>
        </p:nvSpPr>
        <p:spPr>
          <a:xfrm>
            <a:off x="2667000" y="3930650"/>
            <a:ext cx="6248400" cy="2774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根据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S=2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，确定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再查表可得反馈函数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f(Q)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画电路图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4) 加防全0装置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72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>
                                            <p:txEl>
                                              <p:charRg st="18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723">
                                            <p:txEl>
                                              <p:charRg st="18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723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>
                                            <p:txEl>
                                              <p:charRg st="4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723">
                                            <p:txEl>
                                              <p:charRg st="46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animBg="1"/>
      <p:bldP spid="72718" grpId="0"/>
      <p:bldP spid="72719" grpId="0"/>
      <p:bldP spid="72720" grpId="0"/>
      <p:bldP spid="7272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3730" name="Text Box 2"/>
          <p:cNvSpPr txBox="1"/>
          <p:nvPr/>
        </p:nvSpPr>
        <p:spPr>
          <a:xfrm>
            <a:off x="0" y="1905000"/>
            <a:ext cx="7315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：设计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S=7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序列码发生器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1" name="Text Box 3"/>
          <p:cNvSpPr txBox="1"/>
          <p:nvPr/>
        </p:nvSpPr>
        <p:spPr>
          <a:xfrm>
            <a:off x="381000" y="2755900"/>
            <a:ext cx="4419600" cy="356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第一步：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根据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S=2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确定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 =3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第二步：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查表可得反馈函数：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f(Q)=Q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endParaRPr lang="en-US" altLang="zh-CN" sz="28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即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CT74194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SR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第三步：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画电路图</a:t>
            </a:r>
            <a:endParaRPr lang="zh-CN" altLang="en-US" sz="36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5019675" y="2514600"/>
          <a:ext cx="389572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2000250" imgH="2419350" progId="Paint.Picture">
                  <p:embed/>
                </p:oleObj>
              </mc:Choice>
              <mc:Fallback>
                <p:oleObj name="" r:id="rId1" imgW="2000250" imgH="2419350" progId="Paint.Picture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9675" y="2514600"/>
                        <a:ext cx="3895725" cy="449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7" name="Line 9"/>
          <p:cNvSpPr/>
          <p:nvPr/>
        </p:nvSpPr>
        <p:spPr>
          <a:xfrm>
            <a:off x="7772400" y="54102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39" name="Line 11"/>
          <p:cNvSpPr/>
          <p:nvPr/>
        </p:nvSpPr>
        <p:spPr>
          <a:xfrm>
            <a:off x="7848600" y="5867400"/>
            <a:ext cx="228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41" name="Line 13"/>
          <p:cNvSpPr/>
          <p:nvPr/>
        </p:nvSpPr>
        <p:spPr>
          <a:xfrm>
            <a:off x="8610600" y="5638800"/>
            <a:ext cx="3810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42" name="Line 14"/>
          <p:cNvSpPr/>
          <p:nvPr/>
        </p:nvSpPr>
        <p:spPr>
          <a:xfrm flipH="1">
            <a:off x="8991600" y="5638800"/>
            <a:ext cx="0" cy="1066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43" name="Line 15"/>
          <p:cNvSpPr/>
          <p:nvPr/>
        </p:nvSpPr>
        <p:spPr>
          <a:xfrm flipH="1">
            <a:off x="5334000" y="6705600"/>
            <a:ext cx="36576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44" name="Line 16"/>
          <p:cNvSpPr/>
          <p:nvPr/>
        </p:nvSpPr>
        <p:spPr>
          <a:xfrm flipV="1">
            <a:off x="5334000" y="4876800"/>
            <a:ext cx="0" cy="1828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45" name="Line 17"/>
          <p:cNvSpPr/>
          <p:nvPr/>
        </p:nvSpPr>
        <p:spPr>
          <a:xfrm>
            <a:off x="5334000" y="4876800"/>
            <a:ext cx="304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3746" name="Object 18"/>
          <p:cNvGraphicFramePr>
            <a:graphicFrameLocks noChangeAspect="1"/>
          </p:cNvGraphicFramePr>
          <p:nvPr/>
        </p:nvGraphicFramePr>
        <p:xfrm>
          <a:off x="8077200" y="5105400"/>
          <a:ext cx="5921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228600" imgH="352425" progId="Paint.Picture">
                  <p:embed/>
                </p:oleObj>
              </mc:Choice>
              <mc:Fallback>
                <p:oleObj name="" r:id="rId3" imgW="228600" imgH="352425" progId="Paint.Picture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7200" y="5105400"/>
                        <a:ext cx="592138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1219200" y="228600"/>
            <a:ext cx="6781800" cy="1431925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二、反馈型最长线性序列码发生器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(m</a:t>
            </a: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序列码发生器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)</a:t>
            </a:r>
            <a:endParaRPr kumimoji="1" lang="en-US" altLang="zh-CN" sz="4400" b="0" kern="1200" cap="none" spc="0" normalizeH="0" baseline="0" noProof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0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charRg st="19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charRg st="19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charRg st="44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charRg st="44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charRg st="6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charRg st="66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3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3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3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3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dvAuto="1000" build="p"/>
      <p:bldP spid="7373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4755" name="Text Box 3"/>
          <p:cNvSpPr txBox="1"/>
          <p:nvPr/>
        </p:nvSpPr>
        <p:spPr>
          <a:xfrm>
            <a:off x="381000" y="2590800"/>
            <a:ext cx="441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第四步：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加全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校正项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304800" y="3124200"/>
          <a:ext cx="457200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1637665" imgH="444500" progId="Equation.3">
                  <p:embed/>
                </p:oleObj>
              </mc:Choice>
              <mc:Fallback>
                <p:oleObj name="" r:id="rId1" imgW="1637665" imgH="4445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" y="3124200"/>
                        <a:ext cx="4572000" cy="1416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9" name="Text Box 7"/>
          <p:cNvSpPr txBox="1"/>
          <p:nvPr/>
        </p:nvSpPr>
        <p:spPr>
          <a:xfrm>
            <a:off x="381000" y="4560888"/>
            <a:ext cx="4038600" cy="2144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第五步：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画电路图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利用全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状态重新置数以实现自启动，其逻辑电路如图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4761" name="Object 9"/>
          <p:cNvGraphicFramePr>
            <a:graphicFrameLocks noChangeAspect="1"/>
          </p:cNvGraphicFramePr>
          <p:nvPr/>
        </p:nvGraphicFramePr>
        <p:xfrm>
          <a:off x="4876800" y="2286000"/>
          <a:ext cx="4084638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3" imgW="2152650" imgH="2409825" progId="Paint.Picture">
                  <p:embed/>
                </p:oleObj>
              </mc:Choice>
              <mc:Fallback>
                <p:oleObj name="" r:id="rId3" imgW="2152650" imgH="2409825" progId="Paint.Picture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00" y="2286000"/>
                        <a:ext cx="4084638" cy="457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Text Box 15"/>
          <p:cNvSpPr txBox="1"/>
          <p:nvPr/>
        </p:nvSpPr>
        <p:spPr>
          <a:xfrm>
            <a:off x="0" y="1828800"/>
            <a:ext cx="7315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：设计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S=7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序列码发生器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8" name="Text Box 16"/>
          <p:cNvSpPr txBox="1">
            <a:spLocks noChangeArrowheads="1"/>
          </p:cNvSpPr>
          <p:nvPr/>
        </p:nvSpPr>
        <p:spPr bwMode="auto">
          <a:xfrm>
            <a:off x="1219200" y="228600"/>
            <a:ext cx="6781800" cy="1431925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二、反馈型最长线性序列码发生器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(m</a:t>
            </a:r>
            <a:r>
              <a:rPr kumimoji="1" lang="zh-CN" altLang="en-US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序列码发生器</a:t>
            </a:r>
            <a:r>
              <a:rPr kumimoji="1" lang="en-US" altLang="zh-CN" sz="4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)</a:t>
            </a:r>
            <a:endParaRPr kumimoji="1" lang="en-US" altLang="zh-CN" sz="4400" b="0" kern="1200" cap="none" spc="0" normalizeH="0" baseline="0" noProof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/>
      <p:bldP spid="7475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457200"/>
            <a:ext cx="8316913" cy="1143000"/>
          </a:xfr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392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隶书" panose="02010509060101010101" pitchFamily="49" charset="-122"/>
                <a:cs typeface="+mj-cs"/>
              </a:rPr>
              <a:t>第六章中规模时序电路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803" name="Text Box 3">
            <a:hlinkClick r:id="rId1" action="ppaction://hlinksldjump"/>
          </p:cNvPr>
          <p:cNvSpPr txBox="1"/>
          <p:nvPr/>
        </p:nvSpPr>
        <p:spPr>
          <a:xfrm>
            <a:off x="533400" y="19050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§6.1  </a:t>
            </a:r>
            <a:r>
              <a:rPr lang="zh-CN" altLang="en-US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计数器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76804" name="Text Box 4">
            <a:hlinkClick r:id="rId2" action="ppaction://hlinksldjump"/>
          </p:cNvPr>
          <p:cNvSpPr txBox="1"/>
          <p:nvPr/>
        </p:nvSpPr>
        <p:spPr>
          <a:xfrm>
            <a:off x="533400" y="2895600"/>
            <a:ext cx="57150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§6.2  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寄存器</a:t>
            </a:r>
            <a:endParaRPr lang="zh-CN" altLang="en-US" sz="6000" b="1" dirty="0">
              <a:solidFill>
                <a:srgbClr val="80808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6805" name="Text Box 5">
            <a:hlinkClick r:id="rId3" action="ppaction://hlinksldjump"/>
          </p:cNvPr>
          <p:cNvSpPr txBox="1"/>
          <p:nvPr/>
        </p:nvSpPr>
        <p:spPr>
          <a:xfrm>
            <a:off x="533400" y="3810000"/>
            <a:ext cx="7924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solidFill>
                  <a:srgbClr val="808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§6.3  </a:t>
            </a:r>
            <a:r>
              <a:rPr lang="zh-CN" altLang="en-US" sz="6000" b="1" dirty="0">
                <a:solidFill>
                  <a:srgbClr val="8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序列码发生器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6806" name="Text Box 6">
            <a:hlinkClick r:id="rId4" action="ppaction://hlinksldjump"/>
          </p:cNvPr>
          <p:cNvSpPr txBox="1"/>
          <p:nvPr/>
        </p:nvSpPr>
        <p:spPr>
          <a:xfrm>
            <a:off x="533400" y="46482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§6.4  </a:t>
            </a:r>
            <a:r>
              <a:rPr lang="zh-CN" altLang="en-US" sz="60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数字电子钟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76807" name="Picture 7" descr="MEETI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5372100"/>
            <a:ext cx="2330450" cy="140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08" name="Text Box 8">
            <a:hlinkClick r:id="rId4" action="ppaction://hlinksldjump"/>
          </p:cNvPr>
          <p:cNvSpPr txBox="1"/>
          <p:nvPr/>
        </p:nvSpPr>
        <p:spPr>
          <a:xfrm>
            <a:off x="533400" y="5486400"/>
            <a:ext cx="7543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§6.5  </a:t>
            </a:r>
            <a:r>
              <a:rPr lang="zh-CN" altLang="en-US" sz="6000" b="1" dirty="0">
                <a:latin typeface="隶书" panose="02010509060101010101" pitchFamily="49" charset="-122"/>
                <a:ea typeface="隶书" panose="02010509060101010101" pitchFamily="49" charset="-122"/>
              </a:rPr>
              <a:t>小结</a:t>
            </a:r>
            <a:endParaRPr lang="zh-CN" altLang="en-US" sz="60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2743200" y="228600"/>
            <a:ext cx="5943600" cy="7493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3922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just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§6.4 </a:t>
            </a: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数字电子钟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75780" name="Text Box 4"/>
          <p:cNvSpPr txBox="1"/>
          <p:nvPr/>
        </p:nvSpPr>
        <p:spPr>
          <a:xfrm>
            <a:off x="152400" y="457200"/>
            <a:ext cx="2590800" cy="594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b="1" dirty="0">
                <a:latin typeface="Times New Roman" panose="02020603050405020304" pitchFamily="18" charset="0"/>
              </a:rPr>
              <a:t>数字电子钟是一种直接用数字显示时间的计时装置。一般由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晶体振荡器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分频器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计数器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译码器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显示器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校时电路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电源</a:t>
            </a:r>
            <a:r>
              <a:rPr lang="zh-CN" altLang="en-US" b="1" dirty="0">
                <a:latin typeface="Times New Roman" panose="02020603050405020304" pitchFamily="18" charset="0"/>
              </a:rPr>
              <a:t>等部分组成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3200400" y="1331913"/>
          <a:ext cx="5943600" cy="552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" imgW="5172075" imgH="3209925" progId="Paint.Picture">
                  <p:embed/>
                </p:oleObj>
              </mc:Choice>
              <mc:Fallback>
                <p:oleObj name="" r:id="rId1" imgW="5172075" imgH="3209925" progId="Paint.Picture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0400" y="1331913"/>
                        <a:ext cx="5943600" cy="552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nimBg="1"/>
      <p:bldP spid="7578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1600200" y="228600"/>
            <a:ext cx="5943600" cy="7493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00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§6.5   </a:t>
            </a: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小结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94211" name="Text Box 3"/>
          <p:cNvSpPr txBox="1"/>
          <p:nvPr/>
        </p:nvSpPr>
        <p:spPr>
          <a:xfrm>
            <a:off x="152400" y="1295400"/>
            <a:ext cx="8534400" cy="521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b="1" dirty="0">
                <a:latin typeface="Times New Roman" panose="02020603050405020304" pitchFamily="18" charset="0"/>
              </a:rPr>
              <a:t>本章主要讨论了几种常用的时序模块，如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计数器、寄存器、移位寄存器</a:t>
            </a:r>
            <a:r>
              <a:rPr lang="zh-CN" altLang="en-US" b="1" dirty="0">
                <a:latin typeface="Times New Roman" panose="02020603050405020304" pitchFamily="18" charset="0"/>
              </a:rPr>
              <a:t>以及由它们组成的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</a:rPr>
              <a:t>序列信号发生器</a:t>
            </a:r>
            <a:r>
              <a:rPr lang="zh-CN" altLang="en-US" b="1" dirty="0">
                <a:latin typeface="Times New Roman" panose="02020603050405020304" pitchFamily="18" charset="0"/>
              </a:rPr>
              <a:t>等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</a:t>
            </a:r>
            <a:r>
              <a:rPr lang="zh-CN" altLang="en-US" b="1" dirty="0">
                <a:latin typeface="Times New Roman" panose="02020603050405020304" pitchFamily="18" charset="0"/>
              </a:rPr>
              <a:t>计数器可分为同步、异步两种；同步计数器的工作频率高，异步计数器的电路简单。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移位寄存器分为左移、右移及双向移动等。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本章重点：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）会识别中规模时序模块的功能，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）熟悉其功能扩展，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）具备应用时序模块及组合模块构成给定逻辑功能电路的能力。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charRg st="55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charRg st="55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4211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charRg st="125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4211">
                                            <p:txEl>
                                              <p:charRg st="125" end="1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nimBg="1"/>
      <p:bldP spid="94211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600200" y="228600"/>
            <a:ext cx="5943600" cy="7493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2000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5400" kern="1200" cap="none" spc="0" normalizeH="0" baseline="0" noProof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习   题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95235" name="Text Box 3"/>
          <p:cNvSpPr txBox="1"/>
          <p:nvPr/>
        </p:nvSpPr>
        <p:spPr>
          <a:xfrm>
            <a:off x="838200" y="2514600"/>
            <a:ext cx="7543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6-1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14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15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19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22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24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9523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nimBg="1"/>
      <p:bldP spid="95235" grpId="0" build="p"/>
    </p:bldLst>
  </p:timing>
</p:sld>
</file>

<file path=ppt/theme/theme1.xml><?xml version="1.0" encoding="utf-8"?>
<a:theme xmlns:a="http://schemas.openxmlformats.org/drawingml/2006/main" name="彩晕型模板">
  <a:themeElements>
    <a:clrScheme name="">
      <a:dk1>
        <a:srgbClr val="660066"/>
      </a:dk1>
      <a:lt1>
        <a:srgbClr val="FFFFFF"/>
      </a:lt1>
      <a:dk2>
        <a:srgbClr val="FF00FF"/>
      </a:dk2>
      <a:lt2>
        <a:srgbClr val="FFCC99"/>
      </a:lt2>
      <a:accent1>
        <a:srgbClr val="99FF99"/>
      </a:accent1>
      <a:accent2>
        <a:srgbClr val="CC66FF"/>
      </a:accent2>
      <a:accent3>
        <a:srgbClr val="FFFFFF"/>
      </a:accent3>
      <a:accent4>
        <a:srgbClr val="560056"/>
      </a:accent4>
      <a:accent5>
        <a:srgbClr val="CAFFCA"/>
      </a:accent5>
      <a:accent6>
        <a:srgbClr val="B95CE7"/>
      </a:accent6>
      <a:hlink>
        <a:srgbClr val="FF99CC"/>
      </a:hlink>
      <a:folHlink>
        <a:srgbClr val="006600"/>
      </a:folHlink>
    </a:clrScheme>
    <a:fontScheme name="彩晕型模板">
      <a:majorFont>
        <a:latin typeface="Impact"/>
        <a:ea typeface="宋体"/>
        <a:cs typeface=""/>
      </a:majorFont>
      <a:minorFont>
        <a:latin typeface="Impact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彩晕型模板 1">
        <a:dk1>
          <a:srgbClr val="000000"/>
        </a:dk1>
        <a:lt1>
          <a:srgbClr val="FFFFFF"/>
        </a:lt1>
        <a:dk2>
          <a:srgbClr val="6600CC"/>
        </a:dk2>
        <a:lt2>
          <a:srgbClr val="CCECFF"/>
        </a:lt2>
        <a:accent1>
          <a:srgbClr val="00FFCC"/>
        </a:accent1>
        <a:accent2>
          <a:srgbClr val="9933FF"/>
        </a:accent2>
        <a:accent3>
          <a:srgbClr val="B8AAE2"/>
        </a:accent3>
        <a:accent4>
          <a:srgbClr val="DADADA"/>
        </a:accent4>
        <a:accent5>
          <a:srgbClr val="AAFFE2"/>
        </a:accent5>
        <a:accent6>
          <a:srgbClr val="8A2DE7"/>
        </a:accent6>
        <a:hlink>
          <a:srgbClr val="660066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彩晕型模板 2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彩晕型模板 3">
        <a:dk1>
          <a:srgbClr val="000000"/>
        </a:dk1>
        <a:lt1>
          <a:srgbClr val="FFFFFF"/>
        </a:lt1>
        <a:dk2>
          <a:srgbClr val="CC0099"/>
        </a:dk2>
        <a:lt2>
          <a:srgbClr val="FFCCFF"/>
        </a:lt2>
        <a:accent1>
          <a:srgbClr val="00FF00"/>
        </a:accent1>
        <a:accent2>
          <a:srgbClr val="9933FF"/>
        </a:accent2>
        <a:accent3>
          <a:srgbClr val="E2AACA"/>
        </a:accent3>
        <a:accent4>
          <a:srgbClr val="DADADA"/>
        </a:accent4>
        <a:accent5>
          <a:srgbClr val="AAFFAA"/>
        </a:accent5>
        <a:accent6>
          <a:srgbClr val="8A2DE7"/>
        </a:accent6>
        <a:hlink>
          <a:srgbClr val="660066"/>
        </a:hlink>
        <a:folHlink>
          <a:srgbClr val="00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3.xml><?xml version="1.0" encoding="utf-8"?>
<a:themeOverride xmlns:a="http://schemas.openxmlformats.org/drawingml/2006/main">
  <a:clrScheme name="彩晕型模板 2">
    <a:dk1>
      <a:srgbClr val="000000"/>
    </a:dk1>
    <a:lt1>
      <a:srgbClr val="FFFFFF"/>
    </a:lt1>
    <a:dk2>
      <a:srgbClr val="000000"/>
    </a:dk2>
    <a:lt2>
      <a:srgbClr val="393939"/>
    </a:lt2>
    <a:accent1>
      <a:srgbClr val="CBCBCB"/>
    </a:accent1>
    <a:accent2>
      <a:srgbClr val="868686"/>
    </a:accent2>
    <a:accent3>
      <a:srgbClr val="FFFFFF"/>
    </a:accent3>
    <a:accent4>
      <a:srgbClr val="000000"/>
    </a:accent4>
    <a:accent5>
      <a:srgbClr val="E2E2E2"/>
    </a:accent5>
    <a:accent6>
      <a:srgbClr val="797979"/>
    </a:accent6>
    <a:hlink>
      <a:srgbClr val="4D4D4D"/>
    </a:hlink>
    <a:folHlink>
      <a:srgbClr val="EAEAEA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660066"/>
    </a:dk1>
    <a:lt1>
      <a:srgbClr val="FFFFFF"/>
    </a:lt1>
    <a:dk2>
      <a:srgbClr val="FF00FF"/>
    </a:dk2>
    <a:lt2>
      <a:srgbClr val="FFCC99"/>
    </a:lt2>
    <a:accent1>
      <a:srgbClr val="99FF99"/>
    </a:accent1>
    <a:accent2>
      <a:srgbClr val="CC66FF"/>
    </a:accent2>
    <a:accent3>
      <a:srgbClr val="FFFFFF"/>
    </a:accent3>
    <a:accent4>
      <a:srgbClr val="560056"/>
    </a:accent4>
    <a:accent5>
      <a:srgbClr val="CAFFCA"/>
    </a:accent5>
    <a:accent6>
      <a:srgbClr val="B95CE7"/>
    </a:accent6>
    <a:hlink>
      <a:srgbClr val="FF99CC"/>
    </a:hlink>
    <a:folHlink>
      <a:srgbClr val="0066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11316</Words>
  <Application>WPS 演示</Application>
  <PresentationFormat>全屏显示(4:3)</PresentationFormat>
  <Paragraphs>1874</Paragraphs>
  <Slides>74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64</vt:i4>
      </vt:variant>
      <vt:variant>
        <vt:lpstr>幻灯片标题</vt:lpstr>
      </vt:variant>
      <vt:variant>
        <vt:i4>74</vt:i4>
      </vt:variant>
    </vt:vector>
  </HeadingPairs>
  <TitlesOfParts>
    <vt:vector size="151" baseType="lpstr">
      <vt:lpstr>Arial</vt:lpstr>
      <vt:lpstr>宋体</vt:lpstr>
      <vt:lpstr>Wingdings</vt:lpstr>
      <vt:lpstr>Times New Roman</vt:lpstr>
      <vt:lpstr>Impact</vt:lpstr>
      <vt:lpstr>隶书</vt:lpstr>
      <vt:lpstr>黑体</vt:lpstr>
      <vt:lpstr>Symbol</vt:lpstr>
      <vt:lpstr>仿宋_GB2312</vt:lpstr>
      <vt:lpstr>仿宋</vt:lpstr>
      <vt:lpstr>微软雅黑</vt:lpstr>
      <vt:lpstr>Arial Unicode MS</vt:lpstr>
      <vt:lpstr>彩晕型模板</vt:lpstr>
      <vt:lpstr>MS_ClipArt_Gallery.2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MS_ClipArt_Gallery.2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MS_ClipArt_Gallery.2</vt:lpstr>
      <vt:lpstr>Paint.Picture</vt:lpstr>
      <vt:lpstr>MS_ClipArt_Gallery.2</vt:lpstr>
      <vt:lpstr>MS_ClipArt_Gallery.2</vt:lpstr>
      <vt:lpstr>MS_ClipArt_Gallery.2</vt:lpstr>
      <vt:lpstr>MS_ClipArt_Gallery.2</vt:lpstr>
      <vt:lpstr>Paint.Picture</vt:lpstr>
      <vt:lpstr>Equation.3</vt:lpstr>
      <vt:lpstr>Equation.3</vt:lpstr>
      <vt:lpstr>Paint.Picture</vt:lpstr>
      <vt:lpstr>Equation.3</vt:lpstr>
      <vt:lpstr>MS_ClipArt_Gallery.2</vt:lpstr>
      <vt:lpstr>Equation.3</vt:lpstr>
      <vt:lpstr>Equation.3</vt:lpstr>
      <vt:lpstr>Equation.3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Visio.Drawing.11</vt:lpstr>
      <vt:lpstr>Paint.Picture</vt:lpstr>
      <vt:lpstr>Paint.Picture</vt:lpstr>
      <vt:lpstr>Paint.Picture</vt:lpstr>
      <vt:lpstr>Equation.3</vt:lpstr>
      <vt:lpstr>Paint.Picture</vt:lpstr>
      <vt:lpstr>Paint.Picture</vt:lpstr>
      <vt:lpstr>Paint.Picture</vt:lpstr>
      <vt:lpstr>Paint.Picture</vt:lpstr>
      <vt:lpstr>Equation.3</vt:lpstr>
      <vt:lpstr>MS_ClipArt_Gallery.2</vt:lpstr>
      <vt:lpstr>Paint.Picture</vt:lpstr>
      <vt:lpstr>Paint.Picture</vt:lpstr>
      <vt:lpstr>Equation.3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              </vt:lpstr>
      <vt:lpstr>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</vt:lpstr>
      <vt:lpstr>PowerPoint 演示文稿</vt:lpstr>
      <vt:lpstr>        </vt:lpstr>
      <vt:lpstr>PowerPoint 演示文稿</vt:lpstr>
      <vt:lpstr>PowerPoint 演示文稿</vt:lpstr>
      <vt:lpstr>PowerPoint 演示文稿</vt:lpstr>
      <vt:lpstr>        </vt:lpstr>
      <vt:lpstr>PowerPoint 演示文稿</vt:lpstr>
      <vt:lpstr>PowerPoint 演示文稿</vt:lpstr>
      <vt:lpstr>PowerPoint 演示文稿</vt:lpstr>
      <vt:lpstr>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   主要内容</dc:title>
  <dc:creator>d7</dc:creator>
  <cp:lastModifiedBy>WPS_1640354101</cp:lastModifiedBy>
  <cp:revision>39</cp:revision>
  <dcterms:created xsi:type="dcterms:W3CDTF">1999-02-02T01:54:06Z</dcterms:created>
  <dcterms:modified xsi:type="dcterms:W3CDTF">2024-06-25T08:26:45Z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40A85E2A2714497DA50AC81912C0470B_13</vt:lpwstr>
  </property>
  <property fmtid="{D5CDD505-2E9C-101B-9397-08002B2CF9AE}" pid="3" name="KSOProductBuildVer">
    <vt:lpwstr>2052-12.1.0.17133</vt:lpwstr>
  </property>
</Properties>
</file>