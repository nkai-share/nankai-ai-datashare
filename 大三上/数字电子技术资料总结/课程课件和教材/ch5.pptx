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297" r:id="rId3"/>
    <p:sldId id="256" r:id="rId4"/>
    <p:sldId id="295" r:id="rId5"/>
    <p:sldId id="259" r:id="rId6"/>
    <p:sldId id="260" r:id="rId7"/>
    <p:sldId id="261" r:id="rId8"/>
    <p:sldId id="262" r:id="rId9"/>
    <p:sldId id="257" r:id="rId10"/>
    <p:sldId id="264" r:id="rId11"/>
    <p:sldId id="263" r:id="rId12"/>
    <p:sldId id="265" r:id="rId13"/>
    <p:sldId id="266" r:id="rId14"/>
    <p:sldId id="267" r:id="rId15"/>
    <p:sldId id="296" r:id="rId16"/>
    <p:sldId id="268" r:id="rId17"/>
    <p:sldId id="269" r:id="rId18"/>
    <p:sldId id="270" r:id="rId19"/>
    <p:sldId id="271" r:id="rId20"/>
    <p:sldId id="273" r:id="rId21"/>
    <p:sldId id="298" r:id="rId22"/>
    <p:sldId id="272" r:id="rId23"/>
    <p:sldId id="274" r:id="rId24"/>
    <p:sldId id="275" r:id="rId25"/>
    <p:sldId id="276" r:id="rId26"/>
    <p:sldId id="277" r:id="rId27"/>
    <p:sldId id="279" r:id="rId28"/>
    <p:sldId id="278" r:id="rId29"/>
    <p:sldId id="280" r:id="rId30"/>
    <p:sldId id="281" r:id="rId31"/>
    <p:sldId id="282" r:id="rId32"/>
    <p:sldId id="283" r:id="rId33"/>
    <p:sldId id="284" r:id="rId34"/>
    <p:sldId id="285" r:id="rId35"/>
    <p:sldId id="299" r:id="rId36"/>
    <p:sldId id="300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9144000" cy="6858000" type="screen4x3"/>
  <p:notesSz cx="6858000" cy="9144000"/>
  <p:defaultTextStyle>
    <a:defPPr>
      <a:defRPr lang="zh-CN"/>
    </a:defPPr>
    <a:lvl1pPr marL="0" lvl="0" indent="0" algn="r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r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r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r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r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r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r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r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r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6600"/>
    <a:srgbClr val="FFCCCC"/>
    <a:srgbClr val="FFCCFF"/>
    <a:srgbClr val="FF0000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6"/>
    <p:restoredTop sz="90929"/>
  </p:normalViewPr>
  <p:slideViewPr>
    <p:cSldViewPr showGuides="1">
      <p:cViewPr varScale="1">
        <p:scale>
          <a:sx n="53" d="100"/>
          <a:sy n="53" d="100"/>
        </p:scale>
        <p:origin x="-600" y="-72"/>
      </p:cViewPr>
      <p:guideLst>
        <p:guide orient="horz" pos="48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7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slide" Target="slides/slide3.xml"/><Relationship Id="rId49" Type="http://schemas.openxmlformats.org/officeDocument/2006/relationships/presProps" Target="presProps.xml"/><Relationship Id="rId48" Type="http://schemas.openxmlformats.org/officeDocument/2006/relationships/handoutMaster" Target="handoutMasters/handoutMaster1.xml"/><Relationship Id="rId47" Type="http://schemas.openxmlformats.org/officeDocument/2006/relationships/notesMaster" Target="notesMasters/notesMaster1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7" Type="http://schemas.openxmlformats.org/officeDocument/2006/relationships/image" Target="../media/image15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drawings/_rels/vmlDrawing5.vml.rels><?xml version="1.0" encoding="UTF-8" standalone="yes"?>
<Relationships xmlns="http://schemas.openxmlformats.org/package/2006/relationships"><Relationship Id="rId4" Type="http://schemas.openxmlformats.org/officeDocument/2006/relationships/image" Target="../media/image21.png"/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6.vml.rels><?xml version="1.0" encoding="UTF-8" standalone="yes"?>
<Relationships xmlns="http://schemas.openxmlformats.org/package/2006/relationships"><Relationship Id="rId4" Type="http://schemas.openxmlformats.org/officeDocument/2006/relationships/image" Target="../media/image22.png"/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7.vml.rels><?xml version="1.0" encoding="UTF-8" standalone="yes"?>
<Relationships xmlns="http://schemas.openxmlformats.org/package/2006/relationships"><Relationship Id="rId6" Type="http://schemas.openxmlformats.org/officeDocument/2006/relationships/image" Target="../media/image28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Relationship Id="rId3" Type="http://schemas.openxmlformats.org/officeDocument/2006/relationships/image" Target="../media/image25.wmf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drawings/_rels/vmlDrawing8.vml.rels><?xml version="1.0" encoding="UTF-8" standalone="yes"?>
<Relationships xmlns="http://schemas.openxmlformats.org/package/2006/relationships"><Relationship Id="rId5" Type="http://schemas.openxmlformats.org/officeDocument/2006/relationships/image" Target="../media/image28.wmf"/><Relationship Id="rId4" Type="http://schemas.openxmlformats.org/officeDocument/2006/relationships/image" Target="../media/image27.wmf"/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9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png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38.wmf"/><Relationship Id="rId8" Type="http://schemas.openxmlformats.org/officeDocument/2006/relationships/image" Target="../media/image37.wmf"/><Relationship Id="rId7" Type="http://schemas.openxmlformats.org/officeDocument/2006/relationships/image" Target="../media/image36.wmf"/><Relationship Id="rId6" Type="http://schemas.openxmlformats.org/officeDocument/2006/relationships/image" Target="../media/image35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6" Type="http://schemas.openxmlformats.org/officeDocument/2006/relationships/image" Target="../media/image45.wmf"/><Relationship Id="rId15" Type="http://schemas.openxmlformats.org/officeDocument/2006/relationships/image" Target="../media/image44.wmf"/><Relationship Id="rId14" Type="http://schemas.openxmlformats.org/officeDocument/2006/relationships/image" Target="../media/image43.wmf"/><Relationship Id="rId13" Type="http://schemas.openxmlformats.org/officeDocument/2006/relationships/image" Target="../media/image42.wmf"/><Relationship Id="rId12" Type="http://schemas.openxmlformats.org/officeDocument/2006/relationships/image" Target="../media/image41.wmf"/><Relationship Id="rId11" Type="http://schemas.openxmlformats.org/officeDocument/2006/relationships/image" Target="../media/image40.wmf"/><Relationship Id="rId10" Type="http://schemas.openxmlformats.org/officeDocument/2006/relationships/image" Target="../media/image39.wmf"/><Relationship Id="rId1" Type="http://schemas.openxmlformats.org/officeDocument/2006/relationships/image" Target="../media/image30.png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7" Type="http://schemas.openxmlformats.org/officeDocument/2006/relationships/image" Target="../media/image44.wmf"/><Relationship Id="rId6" Type="http://schemas.openxmlformats.org/officeDocument/2006/relationships/image" Target="../media/image43.wmf"/><Relationship Id="rId5" Type="http://schemas.openxmlformats.org/officeDocument/2006/relationships/image" Target="../media/image42.wmf"/><Relationship Id="rId4" Type="http://schemas.openxmlformats.org/officeDocument/2006/relationships/image" Target="../media/image41.wmf"/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页眉占位符 3073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b="0" dirty="0"/>
          </a:p>
        </p:txBody>
      </p:sp>
      <p:sp>
        <p:nvSpPr>
          <p:cNvPr id="3075" name="日期占位符 3074"/>
          <p:cNvSpPr>
            <a:spLocks noGrp="1"/>
          </p:cNvSpPr>
          <p:nvPr>
            <p:ph type="dt" sz="quarter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b="0" dirty="0"/>
          </a:p>
        </p:txBody>
      </p:sp>
      <p:sp>
        <p:nvSpPr>
          <p:cNvPr id="3076" name="页脚占位符 3075"/>
          <p:cNvSpPr>
            <a:spLocks noGrp="1"/>
          </p:cNvSpPr>
          <p:nvPr>
            <p:ph type="ftr" sz="quarter" idx="2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eaLnBrk="1" hangingPunct="1"/>
            <a:endParaRPr lang="zh-CN" altLang="en-US" sz="1200" b="0" dirty="0"/>
          </a:p>
        </p:txBody>
      </p:sp>
      <p:sp>
        <p:nvSpPr>
          <p:cNvPr id="3077" name="灯片编号占位符 3076"/>
          <p:cNvSpPr>
            <a:spLocks noGrp="1"/>
          </p:cNvSpPr>
          <p:nvPr>
            <p:ph type="sldNum" sz="quarter" idx="3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页眉占位符 2049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b="0" dirty="0"/>
          </a:p>
        </p:txBody>
      </p:sp>
      <p:sp>
        <p:nvSpPr>
          <p:cNvPr id="2051" name="日期占位符 2050"/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b="0" dirty="0"/>
          </a:p>
        </p:txBody>
      </p:sp>
      <p:sp>
        <p:nvSpPr>
          <p:cNvPr id="2052" name="幻灯片图像占位符 2051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3" name="文本占位符 2052"/>
          <p:cNvSpPr>
            <a:spLocks noGrp="1"/>
          </p:cNvSpPr>
          <p:nvPr>
            <p:ph type="body" sz="quarter" idx="3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单击以编辑母版文本样式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054" name="页脚占位符 2053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eaLnBrk="1" hangingPunct="1"/>
            <a:endParaRPr lang="zh-CN" altLang="en-US" sz="1200" b="0" dirty="0"/>
          </a:p>
        </p:txBody>
      </p:sp>
      <p:sp>
        <p:nvSpPr>
          <p:cNvPr id="2055" name="灯片编号占位符 2054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lvl="0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BB962C8B-B14F-4D97-AF65-F5344CB8AC3E}" type="datetime1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716657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zh-CN" dirty="0"/>
              <a:t>单击以编辑</a:t>
            </a:r>
            <a:r>
              <a:rPr lang="zh-CN" altLang="en-US" dirty="0"/>
              <a:t>母版标题样式</a:t>
            </a:r>
            <a:endParaRPr lang="zh-CN" altLang="en-US" dirty="0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单击以编辑母版文本样式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l">
              <a:defRPr sz="1400" b="0"/>
            </a:lvl1pPr>
          </a:lstStyle>
          <a:p>
            <a:pPr lvl="0" eaLnBrk="1" hangingPunct="1">
              <a:spcBef>
                <a:spcPct val="50000"/>
              </a:spcBef>
            </a:pPr>
            <a:fld id="{BB962C8B-B14F-4D97-AF65-F5344CB8AC3E}" type="datetime1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 b="0"/>
            </a:lvl1pPr>
          </a:lstStyle>
          <a:p>
            <a:pPr lvl="0" eaLnBrk="1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 b="0"/>
            </a:lvl1pPr>
          </a:lstStyle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r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2pPr>
      <a:lvl3pPr marL="914400" lvl="2" indent="0" algn="r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3pPr>
      <a:lvl4pPr marL="1371600" lvl="3" indent="0" algn="r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4pPr>
      <a:lvl5pPr marL="1828800" lvl="4" indent="0" algn="r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5pPr>
      <a:lvl6pPr marL="2286000" lvl="5" indent="0" algn="r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6pPr>
      <a:lvl7pPr marL="2743200" lvl="6" indent="0" algn="r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7pPr>
      <a:lvl8pPr marL="3200400" lvl="7" indent="0" algn="r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8pPr>
      <a:lvl9pPr marL="3657600" lvl="8" indent="0" algn="r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5.wmf"/><Relationship Id="rId7" Type="http://schemas.openxmlformats.org/officeDocument/2006/relationships/hyperlink" Target="..\jiaoan\&#23553;&#39029;1.ppt" TargetMode="External"/><Relationship Id="rId6" Type="http://schemas.openxmlformats.org/officeDocument/2006/relationships/slide" Target="slide40.xml"/><Relationship Id="rId5" Type="http://schemas.openxmlformats.org/officeDocument/2006/relationships/slide" Target="slide36.xml"/><Relationship Id="rId4" Type="http://schemas.openxmlformats.org/officeDocument/2006/relationships/slide" Target="slide3.xml"/><Relationship Id="rId3" Type="http://schemas.openxmlformats.org/officeDocument/2006/relationships/slide" Target="slide7.xml"/><Relationship Id="rId2" Type="http://schemas.openxmlformats.org/officeDocument/2006/relationships/image" Target="../media/image4.png"/><Relationship Id="rId1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slide" Target="slide2.xml"/><Relationship Id="rId4" Type="http://schemas.openxmlformats.org/officeDocument/2006/relationships/slide" Target="slide30.xml"/><Relationship Id="rId3" Type="http://schemas.openxmlformats.org/officeDocument/2006/relationships/slide" Target="slide27.xml"/><Relationship Id="rId2" Type="http://schemas.openxmlformats.org/officeDocument/2006/relationships/image" Target="../media/image6.png"/><Relationship Id="rId1" Type="http://schemas.openxmlformats.org/officeDocument/2006/relationships/slide" Target="slide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wmf"/><Relationship Id="rId8" Type="http://schemas.openxmlformats.org/officeDocument/2006/relationships/oleObject" Target="../embeddings/oleObject6.bin"/><Relationship Id="rId7" Type="http://schemas.openxmlformats.org/officeDocument/2006/relationships/image" Target="../media/image1.jpeg"/><Relationship Id="rId6" Type="http://schemas.openxmlformats.org/officeDocument/2006/relationships/image" Target="../media/image11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0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9.png"/><Relationship Id="rId19" Type="http://schemas.openxmlformats.org/officeDocument/2006/relationships/vmlDrawing" Target="../drawings/vmlDrawing2.vml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16.wmf"/><Relationship Id="rId16" Type="http://schemas.openxmlformats.org/officeDocument/2006/relationships/oleObject" Target="../embeddings/oleObject10.bin"/><Relationship Id="rId15" Type="http://schemas.openxmlformats.org/officeDocument/2006/relationships/image" Target="../media/image15.wmf"/><Relationship Id="rId14" Type="http://schemas.openxmlformats.org/officeDocument/2006/relationships/oleObject" Target="../embeddings/oleObject9.bin"/><Relationship Id="rId13" Type="http://schemas.openxmlformats.org/officeDocument/2006/relationships/image" Target="../media/image14.wmf"/><Relationship Id="rId12" Type="http://schemas.openxmlformats.org/officeDocument/2006/relationships/oleObject" Target="../embeddings/oleObject8.bin"/><Relationship Id="rId11" Type="http://schemas.openxmlformats.org/officeDocument/2006/relationships/image" Target="../media/image13.wmf"/><Relationship Id="rId10" Type="http://schemas.openxmlformats.org/officeDocument/2006/relationships/oleObject" Target="../embeddings/oleObject7.bin"/><Relationship Id="rId1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slide" Target="slide2.xml"/><Relationship Id="rId2" Type="http://schemas.openxmlformats.org/officeDocument/2006/relationships/image" Target="../media/image15.wmf"/><Relationship Id="rId1" Type="http://schemas.openxmlformats.org/officeDocument/2006/relationships/oleObject" Target="../embeddings/oleObject1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slide" Target="sl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slide" Target="slide2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slide" Target="slide2.xml"/><Relationship Id="rId2" Type="http://schemas.openxmlformats.org/officeDocument/2006/relationships/image" Target="../media/image17.png"/><Relationship Id="rId1" Type="http://schemas.openxmlformats.org/officeDocument/2006/relationships/oleObject" Target="../embeddings/oleObject12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slide" Target="slide2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slide" Target="slide30.xml"/><Relationship Id="rId3" Type="http://schemas.openxmlformats.org/officeDocument/2006/relationships/slide" Target="slide27.xml"/><Relationship Id="rId2" Type="http://schemas.openxmlformats.org/officeDocument/2006/relationships/image" Target="../media/image6.png"/><Relationship Id="rId1" Type="http://schemas.openxmlformats.org/officeDocument/2006/relationships/slide" Target="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slide" Target="slide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slide" Target="slide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slide" Target="slide3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" Target="slide3.xml"/><Relationship Id="rId8" Type="http://schemas.openxmlformats.org/officeDocument/2006/relationships/image" Target="../media/image21.png"/><Relationship Id="rId7" Type="http://schemas.openxmlformats.org/officeDocument/2006/relationships/oleObject" Target="../embeddings/oleObject16.bin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9.w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18.wmf"/><Relationship Id="rId12" Type="http://schemas.openxmlformats.org/officeDocument/2006/relationships/vmlDrawing" Target="../drawings/vmlDrawing5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8.png"/><Relationship Id="rId1" Type="http://schemas.openxmlformats.org/officeDocument/2006/relationships/oleObject" Target="../embeddings/oleObject13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" Target="slide3.xml"/><Relationship Id="rId8" Type="http://schemas.openxmlformats.org/officeDocument/2006/relationships/image" Target="../media/image22.png"/><Relationship Id="rId7" Type="http://schemas.openxmlformats.org/officeDocument/2006/relationships/oleObject" Target="../embeddings/oleObject20.bin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19.wmf"/><Relationship Id="rId3" Type="http://schemas.openxmlformats.org/officeDocument/2006/relationships/oleObject" Target="../embeddings/oleObject18.bin"/><Relationship Id="rId2" Type="http://schemas.openxmlformats.org/officeDocument/2006/relationships/image" Target="../media/image18.wmf"/><Relationship Id="rId12" Type="http://schemas.openxmlformats.org/officeDocument/2006/relationships/vmlDrawing" Target="../drawings/vmlDrawing6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8.png"/><Relationship Id="rId1" Type="http://schemas.openxmlformats.org/officeDocument/2006/relationships/oleObject" Target="../embeddings/oleObject17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slide" Target="slide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slide" Target="slide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slide" Target="slide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slide" Target="slide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slide" Target="slide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slide" Target="slide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.bin"/><Relationship Id="rId8" Type="http://schemas.openxmlformats.org/officeDocument/2006/relationships/image" Target="../media/image26.wmf"/><Relationship Id="rId7" Type="http://schemas.openxmlformats.org/officeDocument/2006/relationships/oleObject" Target="../embeddings/oleObject24.bin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4.png"/><Relationship Id="rId3" Type="http://schemas.openxmlformats.org/officeDocument/2006/relationships/oleObject" Target="../embeddings/oleObject22.bin"/><Relationship Id="rId2" Type="http://schemas.openxmlformats.org/officeDocument/2006/relationships/image" Target="../media/image23.png"/><Relationship Id="rId16" Type="http://schemas.openxmlformats.org/officeDocument/2006/relationships/vmlDrawing" Target="../drawings/vmlDrawing7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8.png"/><Relationship Id="rId13" Type="http://schemas.openxmlformats.org/officeDocument/2006/relationships/slide" Target="slide3.xml"/><Relationship Id="rId12" Type="http://schemas.openxmlformats.org/officeDocument/2006/relationships/image" Target="../media/image28.wmf"/><Relationship Id="rId11" Type="http://schemas.openxmlformats.org/officeDocument/2006/relationships/oleObject" Target="../embeddings/oleObject26.bin"/><Relationship Id="rId10" Type="http://schemas.openxmlformats.org/officeDocument/2006/relationships/image" Target="../media/image27.wmf"/><Relationship Id="rId1" Type="http://schemas.openxmlformats.org/officeDocument/2006/relationships/oleObject" Target="../embeddings/oleObject21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0.bin"/><Relationship Id="rId8" Type="http://schemas.openxmlformats.org/officeDocument/2006/relationships/image" Target="../media/image26.wmf"/><Relationship Id="rId7" Type="http://schemas.openxmlformats.org/officeDocument/2006/relationships/oleObject" Target="../embeddings/oleObject29.bin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8.png"/><Relationship Id="rId3" Type="http://schemas.openxmlformats.org/officeDocument/2006/relationships/slide" Target="slide3.xml"/><Relationship Id="rId2" Type="http://schemas.openxmlformats.org/officeDocument/2006/relationships/image" Target="../media/image29.png"/><Relationship Id="rId14" Type="http://schemas.openxmlformats.org/officeDocument/2006/relationships/vmlDrawing" Target="../drawings/vmlDrawing8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28.wmf"/><Relationship Id="rId11" Type="http://schemas.openxmlformats.org/officeDocument/2006/relationships/oleObject" Target="../embeddings/oleObject31.bin"/><Relationship Id="rId10" Type="http://schemas.openxmlformats.org/officeDocument/2006/relationships/image" Target="../media/image27.wmf"/><Relationship Id="rId1" Type="http://schemas.openxmlformats.org/officeDocument/2006/relationships/oleObject" Target="../embeddings/oleObject27.bin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slide" Target="slide3.xml"/><Relationship Id="rId1" Type="http://schemas.openxmlformats.org/officeDocument/2006/relationships/hyperlink" Target="file:///C:\fndtn\Active\exe\SC.EXE" TargetMode="Externa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slide" Target="slide3.xml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9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slide" Target="slide2.xml"/><Relationship Id="rId2" Type="http://schemas.openxmlformats.org/officeDocument/2006/relationships/image" Target="../media/image30.png"/><Relationship Id="rId1" Type="http://schemas.openxmlformats.org/officeDocument/2006/relationships/oleObject" Target="../embeddings/oleObject32.bin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7.bin"/><Relationship Id="rId8" Type="http://schemas.openxmlformats.org/officeDocument/2006/relationships/image" Target="../media/image33.wmf"/><Relationship Id="rId7" Type="http://schemas.openxmlformats.org/officeDocument/2006/relationships/oleObject" Target="../embeddings/oleObject36.bin"/><Relationship Id="rId6" Type="http://schemas.openxmlformats.org/officeDocument/2006/relationships/image" Target="../media/image32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31.wmf"/><Relationship Id="rId36" Type="http://schemas.openxmlformats.org/officeDocument/2006/relationships/vmlDrawing" Target="../drawings/vmlDrawing10.vml"/><Relationship Id="rId35" Type="http://schemas.openxmlformats.org/officeDocument/2006/relationships/slideLayout" Target="../slideLayouts/slideLayout7.xml"/><Relationship Id="rId34" Type="http://schemas.openxmlformats.org/officeDocument/2006/relationships/image" Target="../media/image8.png"/><Relationship Id="rId33" Type="http://schemas.openxmlformats.org/officeDocument/2006/relationships/slide" Target="slide2.xml"/><Relationship Id="rId32" Type="http://schemas.openxmlformats.org/officeDocument/2006/relationships/image" Target="../media/image45.wmf"/><Relationship Id="rId31" Type="http://schemas.openxmlformats.org/officeDocument/2006/relationships/oleObject" Target="../embeddings/oleObject48.bin"/><Relationship Id="rId30" Type="http://schemas.openxmlformats.org/officeDocument/2006/relationships/image" Target="../media/image44.wmf"/><Relationship Id="rId3" Type="http://schemas.openxmlformats.org/officeDocument/2006/relationships/oleObject" Target="../embeddings/oleObject34.bin"/><Relationship Id="rId29" Type="http://schemas.openxmlformats.org/officeDocument/2006/relationships/oleObject" Target="../embeddings/oleObject47.bin"/><Relationship Id="rId28" Type="http://schemas.openxmlformats.org/officeDocument/2006/relationships/image" Target="../media/image43.wmf"/><Relationship Id="rId27" Type="http://schemas.openxmlformats.org/officeDocument/2006/relationships/oleObject" Target="../embeddings/oleObject46.bin"/><Relationship Id="rId26" Type="http://schemas.openxmlformats.org/officeDocument/2006/relationships/image" Target="../media/image42.wmf"/><Relationship Id="rId25" Type="http://schemas.openxmlformats.org/officeDocument/2006/relationships/oleObject" Target="../embeddings/oleObject45.bin"/><Relationship Id="rId24" Type="http://schemas.openxmlformats.org/officeDocument/2006/relationships/image" Target="../media/image41.wmf"/><Relationship Id="rId23" Type="http://schemas.openxmlformats.org/officeDocument/2006/relationships/oleObject" Target="../embeddings/oleObject44.bin"/><Relationship Id="rId22" Type="http://schemas.openxmlformats.org/officeDocument/2006/relationships/image" Target="../media/image40.wmf"/><Relationship Id="rId21" Type="http://schemas.openxmlformats.org/officeDocument/2006/relationships/oleObject" Target="../embeddings/oleObject43.bin"/><Relationship Id="rId20" Type="http://schemas.openxmlformats.org/officeDocument/2006/relationships/image" Target="../media/image39.wmf"/><Relationship Id="rId2" Type="http://schemas.openxmlformats.org/officeDocument/2006/relationships/image" Target="../media/image30.png"/><Relationship Id="rId19" Type="http://schemas.openxmlformats.org/officeDocument/2006/relationships/oleObject" Target="../embeddings/oleObject42.bin"/><Relationship Id="rId18" Type="http://schemas.openxmlformats.org/officeDocument/2006/relationships/image" Target="../media/image38.wmf"/><Relationship Id="rId17" Type="http://schemas.openxmlformats.org/officeDocument/2006/relationships/oleObject" Target="../embeddings/oleObject41.bin"/><Relationship Id="rId16" Type="http://schemas.openxmlformats.org/officeDocument/2006/relationships/image" Target="../media/image37.wmf"/><Relationship Id="rId15" Type="http://schemas.openxmlformats.org/officeDocument/2006/relationships/oleObject" Target="../embeddings/oleObject40.bin"/><Relationship Id="rId14" Type="http://schemas.openxmlformats.org/officeDocument/2006/relationships/image" Target="../media/image36.wmf"/><Relationship Id="rId13" Type="http://schemas.openxmlformats.org/officeDocument/2006/relationships/oleObject" Target="../embeddings/oleObject39.bin"/><Relationship Id="rId12" Type="http://schemas.openxmlformats.org/officeDocument/2006/relationships/image" Target="../media/image35.wmf"/><Relationship Id="rId11" Type="http://schemas.openxmlformats.org/officeDocument/2006/relationships/oleObject" Target="../embeddings/oleObject38.bin"/><Relationship Id="rId10" Type="http://schemas.openxmlformats.org/officeDocument/2006/relationships/image" Target="../media/image34.wmf"/><Relationship Id="rId1" Type="http://schemas.openxmlformats.org/officeDocument/2006/relationships/oleObject" Target="../embeddings/oleObject33.bin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3.bin"/><Relationship Id="rId8" Type="http://schemas.openxmlformats.org/officeDocument/2006/relationships/image" Target="../media/image41.wmf"/><Relationship Id="rId7" Type="http://schemas.openxmlformats.org/officeDocument/2006/relationships/oleObject" Target="../embeddings/oleObject52.bin"/><Relationship Id="rId6" Type="http://schemas.openxmlformats.org/officeDocument/2006/relationships/image" Target="../media/image40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39.wmf"/><Relationship Id="rId3" Type="http://schemas.openxmlformats.org/officeDocument/2006/relationships/oleObject" Target="../embeddings/oleObject50.bin"/><Relationship Id="rId20" Type="http://schemas.openxmlformats.org/officeDocument/2006/relationships/vmlDrawing" Target="../drawings/vmlDrawing11.vml"/><Relationship Id="rId2" Type="http://schemas.openxmlformats.org/officeDocument/2006/relationships/image" Target="../media/image38.w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8.png"/><Relationship Id="rId17" Type="http://schemas.openxmlformats.org/officeDocument/2006/relationships/slide" Target="slide2.xml"/><Relationship Id="rId16" Type="http://schemas.openxmlformats.org/officeDocument/2006/relationships/image" Target="../media/image45.wmf"/><Relationship Id="rId15" Type="http://schemas.openxmlformats.org/officeDocument/2006/relationships/oleObject" Target="../embeddings/oleObject56.bin"/><Relationship Id="rId14" Type="http://schemas.openxmlformats.org/officeDocument/2006/relationships/image" Target="../media/image44.wmf"/><Relationship Id="rId13" Type="http://schemas.openxmlformats.org/officeDocument/2006/relationships/oleObject" Target="../embeddings/oleObject55.bin"/><Relationship Id="rId12" Type="http://schemas.openxmlformats.org/officeDocument/2006/relationships/image" Target="../media/image43.wmf"/><Relationship Id="rId11" Type="http://schemas.openxmlformats.org/officeDocument/2006/relationships/oleObject" Target="../embeddings/oleObject54.bin"/><Relationship Id="rId10" Type="http://schemas.openxmlformats.org/officeDocument/2006/relationships/image" Target="../media/image42.wmf"/><Relationship Id="rId1" Type="http://schemas.openxmlformats.org/officeDocument/2006/relationships/oleObject" Target="../embeddings/oleObject49.bin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2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slide" Target="slide2.xml"/><Relationship Id="rId2" Type="http://schemas.openxmlformats.org/officeDocument/2006/relationships/image" Target="../media/image46.png"/><Relationship Id="rId1" Type="http://schemas.openxmlformats.org/officeDocument/2006/relationships/oleObject" Target="../embeddings/oleObject57.bin"/></Relationships>
</file>

<file path=ppt/slides/_rels/slide4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slide" Target="slide2.xml"/><Relationship Id="rId3" Type="http://schemas.openxmlformats.org/officeDocument/2006/relationships/slide" Target="slide44.xml"/><Relationship Id="rId2" Type="http://schemas.openxmlformats.org/officeDocument/2006/relationships/slide" Target="slide43.xml"/><Relationship Id="rId1" Type="http://schemas.openxmlformats.org/officeDocument/2006/relationships/slide" Target="slide4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slide" Target="slide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4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4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0246" name="组合 50245"/>
          <p:cNvGrpSpPr/>
          <p:nvPr/>
        </p:nvGrpSpPr>
        <p:grpSpPr>
          <a:xfrm>
            <a:off x="304800" y="381000"/>
            <a:ext cx="2927350" cy="2867025"/>
            <a:chOff x="192" y="240"/>
            <a:chExt cx="1844" cy="1806"/>
          </a:xfrm>
        </p:grpSpPr>
        <p:grpSp>
          <p:nvGrpSpPr>
            <p:cNvPr id="50178" name="组合 50177"/>
            <p:cNvGrpSpPr/>
            <p:nvPr/>
          </p:nvGrpSpPr>
          <p:grpSpPr>
            <a:xfrm>
              <a:off x="192" y="240"/>
              <a:ext cx="1844" cy="1806"/>
              <a:chOff x="480" y="1292"/>
              <a:chExt cx="1844" cy="1806"/>
            </a:xfrm>
          </p:grpSpPr>
          <p:sp>
            <p:nvSpPr>
              <p:cNvPr id="50179" name="文本框 50178"/>
              <p:cNvSpPr txBox="1"/>
              <p:nvPr/>
            </p:nvSpPr>
            <p:spPr>
              <a:xfrm>
                <a:off x="480" y="1292"/>
                <a:ext cx="1844" cy="180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lvl="2" algn="l">
                  <a:lnSpc>
                    <a:spcPct val="120000"/>
                  </a:lnSpc>
                </a:pPr>
                <a:r>
                  <a:rPr lang="zh-CN" altLang="en-US" b="1" dirty="0">
                    <a:latin typeface="黑体" panose="02010609060101010101" pitchFamily="2" charset="-122"/>
                    <a:ea typeface="黑体" panose="02010609060101010101" pitchFamily="2" charset="-122"/>
                  </a:rPr>
                  <a:t>真值表</a:t>
                </a:r>
                <a:r>
                  <a:rPr lang="zh-CN" altLang="en-US" b="0" dirty="0">
                    <a:latin typeface="宋体" panose="02010600030101010101" pitchFamily="2" charset="-122"/>
                  </a:rPr>
                  <a:t>   </a:t>
                </a:r>
                <a:endParaRPr lang="zh-CN" altLang="en-US" b="0" dirty="0">
                  <a:latin typeface="宋体" panose="02010600030101010101" pitchFamily="2" charset="-122"/>
                </a:endParaRPr>
              </a:p>
              <a:p>
                <a:pPr algn="l">
                  <a:lnSpc>
                    <a:spcPct val="120000"/>
                  </a:lnSpc>
                </a:pPr>
                <a:r>
                  <a:rPr lang="zh-CN" altLang="en-US" b="0" dirty="0">
                    <a:latin typeface="Times New Roman" panose="02020603050405020304" pitchFamily="18" charset="0"/>
                  </a:rPr>
                  <a:t>   </a:t>
                </a:r>
                <a:r>
                  <a:rPr lang="en-US" altLang="zh-CN">
                    <a:latin typeface="Times New Roman" panose="02020603050405020304" pitchFamily="18" charset="0"/>
                  </a:rPr>
                  <a:t>K	J	Q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n+1</a:t>
                </a:r>
                <a:r>
                  <a:rPr lang="en-US" altLang="zh-CN">
                    <a:latin typeface="Times New Roman" panose="02020603050405020304" pitchFamily="18" charset="0"/>
                  </a:rPr>
                  <a:t>	</a:t>
                </a:r>
                <a:endParaRPr lang="en-US" altLang="zh-CN">
                  <a:latin typeface="Times New Roman" panose="02020603050405020304" pitchFamily="18" charset="0"/>
                </a:endParaRPr>
              </a:p>
              <a:p>
                <a:pPr algn="l">
                  <a:lnSpc>
                    <a:spcPct val="120000"/>
                  </a:lnSpc>
                </a:pPr>
                <a:r>
                  <a:rPr lang="en-US" altLang="zh-CN">
                    <a:latin typeface="Times New Roman" panose="02020603050405020304" pitchFamily="18" charset="0"/>
                  </a:rPr>
                  <a:t>   0	0	</a:t>
                </a:r>
                <a:r>
                  <a:rPr lang="en-US" altLang="zh-CN" err="1">
                    <a:latin typeface="Times New Roman" panose="02020603050405020304" pitchFamily="18" charset="0"/>
                  </a:rPr>
                  <a:t>Q</a:t>
                </a:r>
                <a:r>
                  <a:rPr lang="en-US" altLang="zh-CN" baseline="-25000" err="1">
                    <a:latin typeface="Times New Roman" panose="02020603050405020304" pitchFamily="18" charset="0"/>
                  </a:rPr>
                  <a:t>n</a:t>
                </a:r>
                <a:r>
                  <a:rPr lang="en-US" altLang="zh-CN">
                    <a:latin typeface="Times New Roman" panose="02020603050405020304" pitchFamily="18" charset="0"/>
                  </a:rPr>
                  <a:t>	</a:t>
                </a:r>
                <a:endParaRPr lang="en-US" altLang="zh-CN">
                  <a:latin typeface="Times New Roman" panose="02020603050405020304" pitchFamily="18" charset="0"/>
                </a:endParaRPr>
              </a:p>
              <a:p>
                <a:pPr algn="l"/>
                <a:r>
                  <a:rPr lang="en-US" altLang="zh-CN">
                    <a:latin typeface="Times New Roman" panose="02020603050405020304" pitchFamily="18" charset="0"/>
                  </a:rPr>
                  <a:t>   1	0	0	</a:t>
                </a:r>
                <a:endParaRPr lang="en-US" altLang="zh-CN">
                  <a:latin typeface="Times New Roman" panose="02020603050405020304" pitchFamily="18" charset="0"/>
                </a:endParaRPr>
              </a:p>
              <a:p>
                <a:pPr algn="l"/>
                <a:r>
                  <a:rPr lang="en-US" altLang="zh-CN">
                    <a:latin typeface="Times New Roman" panose="02020603050405020304" pitchFamily="18" charset="0"/>
                  </a:rPr>
                  <a:t>   0	1	1	</a:t>
                </a:r>
                <a:endParaRPr lang="en-US" altLang="zh-CN">
                  <a:latin typeface="Times New Roman" panose="02020603050405020304" pitchFamily="18" charset="0"/>
                </a:endParaRPr>
              </a:p>
              <a:p>
                <a:pPr algn="l"/>
                <a:r>
                  <a:rPr lang="en-US" altLang="zh-CN">
                    <a:latin typeface="Times New Roman" panose="02020603050405020304" pitchFamily="18" charset="0"/>
                  </a:rPr>
                  <a:t>   1	1	</a:t>
                </a:r>
                <a:r>
                  <a:rPr lang="en-US" altLang="zh-CN" b="0">
                    <a:latin typeface="Times New Roman" panose="02020603050405020304" pitchFamily="18" charset="0"/>
                  </a:rPr>
                  <a:t>	</a:t>
                </a:r>
                <a:endParaRPr lang="en-US" altLang="zh-CN" b="0">
                  <a:latin typeface="Times New Roman" panose="02020603050405020304" pitchFamily="18" charset="0"/>
                </a:endParaRPr>
              </a:p>
              <a:p>
                <a:pPr algn="l"/>
                <a:endParaRPr lang="en-US" altLang="zh-CN" b="0"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50180" name="对象 50179"/>
              <p:cNvGraphicFramePr/>
              <p:nvPr/>
            </p:nvGraphicFramePr>
            <p:xfrm>
              <a:off x="1584" y="2544"/>
              <a:ext cx="252" cy="3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7" name="" r:id="rId1" imgW="190500" imgH="241300" progId="Equation.3">
                      <p:embed/>
                    </p:oleObj>
                  </mc:Choice>
                  <mc:Fallback>
                    <p:oleObj name="" r:id="rId1" imgW="190500" imgH="241300" progId="Equation.3">
                      <p:embed/>
                      <p:pic>
                        <p:nvPicPr>
                          <p:cNvPr id="0" name="图片 3076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1584" y="2544"/>
                            <a:ext cx="252" cy="31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0181" name="直接连接符 50180"/>
              <p:cNvSpPr/>
              <p:nvPr/>
            </p:nvSpPr>
            <p:spPr>
              <a:xfrm>
                <a:off x="576" y="1584"/>
                <a:ext cx="15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182" name="直接连接符 50181"/>
              <p:cNvSpPr/>
              <p:nvPr/>
            </p:nvSpPr>
            <p:spPr>
              <a:xfrm>
                <a:off x="528" y="1872"/>
                <a:ext cx="168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183" name="直接连接符 50182"/>
              <p:cNvSpPr/>
              <p:nvPr/>
            </p:nvSpPr>
            <p:spPr>
              <a:xfrm>
                <a:off x="528" y="2832"/>
                <a:ext cx="168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0191" name="直接连接符 50190"/>
            <p:cNvSpPr/>
            <p:nvPr/>
          </p:nvSpPr>
          <p:spPr>
            <a:xfrm>
              <a:off x="1200" y="528"/>
              <a:ext cx="0" cy="124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50199" name="对象 50198"/>
          <p:cNvGraphicFramePr/>
          <p:nvPr/>
        </p:nvGraphicFramePr>
        <p:xfrm>
          <a:off x="6019800" y="3505200"/>
          <a:ext cx="25146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1167765" imgH="241300" progId="Equation.3">
                  <p:embed/>
                </p:oleObj>
              </mc:Choice>
              <mc:Fallback>
                <p:oleObj name="" r:id="rId3" imgW="1167765" imgH="2413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19800" y="3505200"/>
                        <a:ext cx="2514600" cy="501650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CC33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02" name="文本框 50201"/>
          <p:cNvSpPr txBox="1"/>
          <p:nvPr/>
        </p:nvSpPr>
        <p:spPr>
          <a:xfrm>
            <a:off x="4191000" y="3505200"/>
            <a:ext cx="17049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特性方程：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50213" name="组合 50212"/>
          <p:cNvGrpSpPr/>
          <p:nvPr/>
        </p:nvGrpSpPr>
        <p:grpSpPr>
          <a:xfrm>
            <a:off x="5257800" y="4098925"/>
            <a:ext cx="4756150" cy="2759075"/>
            <a:chOff x="190" y="1920"/>
            <a:chExt cx="2996" cy="1738"/>
          </a:xfrm>
        </p:grpSpPr>
        <p:sp>
          <p:nvSpPr>
            <p:cNvPr id="50204" name="文本框 50203"/>
            <p:cNvSpPr txBox="1"/>
            <p:nvPr/>
          </p:nvSpPr>
          <p:spPr>
            <a:xfrm>
              <a:off x="190" y="1920"/>
              <a:ext cx="2996" cy="173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>
                <a:lnSpc>
                  <a:spcPct val="125000"/>
                </a:lnSpc>
              </a:pPr>
              <a:r>
                <a:rPr lang="zh-CN" altLang="en-US" dirty="0">
                  <a:latin typeface="黑体" panose="02010609060101010101" pitchFamily="2" charset="-122"/>
                  <a:ea typeface="黑体" panose="02010609060101010101" pitchFamily="2" charset="-122"/>
                </a:rPr>
                <a:t>状态转换真值表（激励表）</a:t>
              </a:r>
              <a:r>
                <a:rPr lang="zh-CN" altLang="en-US">
                  <a:latin typeface="Times New Roman" panose="02020603050405020304" pitchFamily="18" charset="0"/>
                </a:rPr>
                <a:t>	</a:t>
              </a:r>
              <a:endParaRPr lang="zh-CN" altLang="en-US">
                <a:latin typeface="Times New Roman" panose="02020603050405020304" pitchFamily="18" charset="0"/>
              </a:endParaRPr>
            </a:p>
            <a:p>
              <a:pPr algn="l">
                <a:lnSpc>
                  <a:spcPct val="125000"/>
                </a:lnSpc>
              </a:pPr>
              <a:r>
                <a:rPr lang="en-US" altLang="zh-CN" err="1">
                  <a:latin typeface="Times New Roman" panose="02020603050405020304" pitchFamily="18" charset="0"/>
                </a:rPr>
                <a:t>Q</a:t>
              </a:r>
              <a:r>
                <a:rPr lang="en-US" altLang="zh-CN" baseline="-25000" err="1">
                  <a:latin typeface="Times New Roman" panose="02020603050405020304" pitchFamily="18" charset="0"/>
                </a:rPr>
                <a:t>n</a:t>
              </a:r>
              <a:r>
                <a:rPr lang="en-US" altLang="zh-CN">
                  <a:latin typeface="Times New Roman" panose="02020603050405020304" pitchFamily="18" charset="0"/>
                </a:rPr>
                <a:t>	Q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n+1</a:t>
              </a:r>
              <a:r>
                <a:rPr lang="en-US" altLang="zh-CN">
                  <a:latin typeface="Times New Roman" panose="02020603050405020304" pitchFamily="18" charset="0"/>
                </a:rPr>
                <a:t>	J	K	</a:t>
              </a:r>
              <a:endParaRPr lang="en-US" altLang="zh-CN">
                <a:latin typeface="Times New Roman" panose="02020603050405020304" pitchFamily="18" charset="0"/>
              </a:endParaRPr>
            </a:p>
            <a:p>
              <a:pPr algn="l">
                <a:lnSpc>
                  <a:spcPct val="80000"/>
                </a:lnSpc>
              </a:pPr>
              <a:endParaRPr lang="en-US" altLang="zh-CN">
                <a:latin typeface="Times New Roman" panose="02020603050405020304" pitchFamily="18" charset="0"/>
              </a:endParaRPr>
            </a:p>
            <a:p>
              <a:pPr algn="l">
                <a:lnSpc>
                  <a:spcPct val="80000"/>
                </a:lnSpc>
              </a:pPr>
              <a:r>
                <a:rPr lang="en-US" altLang="zh-CN">
                  <a:latin typeface="Times New Roman" panose="02020603050405020304" pitchFamily="18" charset="0"/>
                </a:rPr>
                <a:t>0	0	0	</a:t>
              </a: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r>
                <a:rPr lang="en-US" altLang="zh-CN">
                  <a:latin typeface="Times New Roman" panose="02020603050405020304" pitchFamily="18" charset="0"/>
                </a:rPr>
                <a:t>	</a:t>
              </a:r>
              <a:endParaRPr lang="en-US" altLang="zh-CN">
                <a:latin typeface="Times New Roman" panose="02020603050405020304" pitchFamily="18" charset="0"/>
              </a:endParaRPr>
            </a:p>
            <a:p>
              <a:pPr algn="l">
                <a:lnSpc>
                  <a:spcPct val="80000"/>
                </a:lnSpc>
              </a:pPr>
              <a:r>
                <a:rPr lang="en-US" altLang="zh-CN">
                  <a:latin typeface="Times New Roman" panose="02020603050405020304" pitchFamily="18" charset="0"/>
                </a:rPr>
                <a:t>0	1	1          </a:t>
              </a: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r>
                <a:rPr lang="en-US" altLang="zh-CN">
                  <a:latin typeface="Times New Roman" panose="02020603050405020304" pitchFamily="18" charset="0"/>
                </a:rPr>
                <a:t> 	</a:t>
              </a:r>
              <a:endParaRPr lang="en-US" altLang="zh-CN">
                <a:latin typeface="Times New Roman" panose="02020603050405020304" pitchFamily="18" charset="0"/>
              </a:endParaRPr>
            </a:p>
            <a:p>
              <a:pPr algn="l">
                <a:lnSpc>
                  <a:spcPct val="80000"/>
                </a:lnSpc>
              </a:pPr>
              <a:r>
                <a:rPr lang="en-US" altLang="zh-CN">
                  <a:latin typeface="Times New Roman" panose="02020603050405020304" pitchFamily="18" charset="0"/>
                </a:rPr>
                <a:t>1	0         </a:t>
              </a: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r>
                <a:rPr lang="en-US" altLang="zh-CN">
                  <a:latin typeface="Times New Roman" panose="02020603050405020304" pitchFamily="18" charset="0"/>
                </a:rPr>
                <a:t> 	 1	</a:t>
              </a:r>
              <a:endParaRPr lang="en-US" altLang="zh-CN">
                <a:latin typeface="Times New Roman" panose="02020603050405020304" pitchFamily="18" charset="0"/>
              </a:endParaRPr>
            </a:p>
            <a:p>
              <a:pPr algn="l">
                <a:lnSpc>
                  <a:spcPct val="80000"/>
                </a:lnSpc>
              </a:pPr>
              <a:r>
                <a:rPr lang="en-US" altLang="zh-CN">
                  <a:latin typeface="Times New Roman" panose="02020603050405020304" pitchFamily="18" charset="0"/>
                </a:rPr>
                <a:t>1	1         </a:t>
              </a: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r>
                <a:rPr lang="en-US" altLang="zh-CN">
                  <a:latin typeface="Times New Roman" panose="02020603050405020304" pitchFamily="18" charset="0"/>
                </a:rPr>
                <a:t> 	 1	</a:t>
              </a:r>
              <a:endParaRPr lang="en-US" altLang="zh-CN">
                <a:latin typeface="Times New Roman" panose="02020603050405020304" pitchFamily="18" charset="0"/>
              </a:endParaRPr>
            </a:p>
            <a:p>
              <a:pPr algn="l">
                <a:lnSpc>
                  <a:spcPct val="80000"/>
                </a:lnSpc>
              </a:pP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0209" name="矩形 50208"/>
            <p:cNvSpPr/>
            <p:nvPr/>
          </p:nvSpPr>
          <p:spPr>
            <a:xfrm>
              <a:off x="192" y="2256"/>
              <a:ext cx="2016" cy="120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0210" name="直接连接符 50209"/>
            <p:cNvSpPr/>
            <p:nvPr/>
          </p:nvSpPr>
          <p:spPr>
            <a:xfrm>
              <a:off x="192" y="2592"/>
              <a:ext cx="201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12" name="直接连接符 50211"/>
            <p:cNvSpPr/>
            <p:nvPr/>
          </p:nvSpPr>
          <p:spPr>
            <a:xfrm>
              <a:off x="1248" y="2256"/>
              <a:ext cx="0" cy="120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0214" name="组合 50213"/>
          <p:cNvGrpSpPr/>
          <p:nvPr/>
        </p:nvGrpSpPr>
        <p:grpSpPr>
          <a:xfrm>
            <a:off x="1071563" y="4191000"/>
            <a:ext cx="838200" cy="762000"/>
            <a:chOff x="432" y="2832"/>
            <a:chExt cx="528" cy="480"/>
          </a:xfrm>
        </p:grpSpPr>
        <p:sp>
          <p:nvSpPr>
            <p:cNvPr id="50215" name="文本框 50214"/>
            <p:cNvSpPr txBox="1"/>
            <p:nvPr/>
          </p:nvSpPr>
          <p:spPr>
            <a:xfrm>
              <a:off x="614" y="295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/>
              <a:r>
                <a:rPr lang="en-US" altLang="zh-CN">
                  <a:solidFill>
                    <a:srgbClr val="CC33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0216" name="椭圆 50215"/>
            <p:cNvSpPr/>
            <p:nvPr/>
          </p:nvSpPr>
          <p:spPr>
            <a:xfrm>
              <a:off x="432" y="2832"/>
              <a:ext cx="528" cy="48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50217" name="组合 50216"/>
          <p:cNvGrpSpPr/>
          <p:nvPr/>
        </p:nvGrpSpPr>
        <p:grpSpPr>
          <a:xfrm>
            <a:off x="2976563" y="4267200"/>
            <a:ext cx="838200" cy="762000"/>
            <a:chOff x="2016" y="2832"/>
            <a:chExt cx="528" cy="480"/>
          </a:xfrm>
        </p:grpSpPr>
        <p:sp>
          <p:nvSpPr>
            <p:cNvPr id="50218" name="文本框 50217"/>
            <p:cNvSpPr txBox="1"/>
            <p:nvPr/>
          </p:nvSpPr>
          <p:spPr>
            <a:xfrm>
              <a:off x="2198" y="290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/>
              <a:r>
                <a:rPr lang="en-US" altLang="zh-CN">
                  <a:solidFill>
                    <a:srgbClr val="CC33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219" name="椭圆 50218"/>
            <p:cNvSpPr/>
            <p:nvPr/>
          </p:nvSpPr>
          <p:spPr>
            <a:xfrm>
              <a:off x="2016" y="2832"/>
              <a:ext cx="528" cy="48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50222" name="任意多边形 50221"/>
          <p:cNvSpPr/>
          <p:nvPr/>
        </p:nvSpPr>
        <p:spPr>
          <a:xfrm flipH="1">
            <a:off x="774700" y="4194175"/>
            <a:ext cx="461963" cy="758825"/>
          </a:xfrm>
          <a:custGeom>
            <a:avLst/>
            <a:gdLst>
              <a:gd name="txL" fmla="*/ 0 w 33515"/>
              <a:gd name="txT" fmla="*/ 0 h 43200"/>
              <a:gd name="txR" fmla="*/ 33515 w 33515"/>
              <a:gd name="txB" fmla="*/ 43200 h 43200"/>
            </a:gdLst>
            <a:ahLst/>
            <a:cxnLst>
              <a:cxn ang="180">
                <a:pos x="560" y="3225"/>
              </a:cxn>
              <a:cxn ang="90">
                <a:pos x="0" y="39616"/>
              </a:cxn>
              <a:cxn ang="90">
                <a:pos x="11915" y="21600"/>
              </a:cxn>
            </a:cxnLst>
            <a:rect l="txL" t="txT" r="txR" b="txB"/>
            <a:pathLst>
              <a:path w="33515" h="43200" fill="none">
                <a:moveTo>
                  <a:pt x="560" y="3225"/>
                </a:moveTo>
                <a:arcTo wR="21600" hR="21600" stAng="-7302862" swAng="14711598"/>
              </a:path>
              <a:path w="33515" h="43200" stroke="0">
                <a:moveTo>
                  <a:pt x="560" y="3225"/>
                </a:moveTo>
                <a:arcTo wR="21600" hR="21600" stAng="-7302862" swAng="14711598"/>
                <a:lnTo>
                  <a:pt x="11915" y="21600"/>
                </a:lnTo>
                <a:close/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50223" name="组合 50222"/>
          <p:cNvGrpSpPr/>
          <p:nvPr/>
        </p:nvGrpSpPr>
        <p:grpSpPr>
          <a:xfrm>
            <a:off x="0" y="4191000"/>
            <a:ext cx="827088" cy="762000"/>
            <a:chOff x="967" y="2832"/>
            <a:chExt cx="521" cy="480"/>
          </a:xfrm>
        </p:grpSpPr>
        <p:sp>
          <p:nvSpPr>
            <p:cNvPr id="50224" name="文本框 50223"/>
            <p:cNvSpPr txBox="1"/>
            <p:nvPr/>
          </p:nvSpPr>
          <p:spPr>
            <a:xfrm>
              <a:off x="1018" y="2832"/>
              <a:ext cx="4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/>
              <a:r>
                <a:rPr lang="en-US" altLang="zh-CN">
                  <a:latin typeface="Times New Roman" panose="02020603050405020304" pitchFamily="18" charset="0"/>
                </a:rPr>
                <a:t>J=0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0225" name="文本框 50224"/>
            <p:cNvSpPr txBox="1"/>
            <p:nvPr/>
          </p:nvSpPr>
          <p:spPr>
            <a:xfrm>
              <a:off x="967" y="3024"/>
              <a:ext cx="52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/>
              <a:r>
                <a:rPr lang="en-US" altLang="zh-CN">
                  <a:latin typeface="Times New Roman" panose="02020603050405020304" pitchFamily="18" charset="0"/>
                </a:rPr>
                <a:t>K=</a:t>
              </a: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sp>
        <p:nvSpPr>
          <p:cNvPr id="50226" name="任意多边形 50225"/>
          <p:cNvSpPr/>
          <p:nvPr/>
        </p:nvSpPr>
        <p:spPr>
          <a:xfrm>
            <a:off x="3657600" y="4267200"/>
            <a:ext cx="461963" cy="758825"/>
          </a:xfrm>
          <a:custGeom>
            <a:avLst/>
            <a:gdLst>
              <a:gd name="txL" fmla="*/ 0 w 33515"/>
              <a:gd name="txT" fmla="*/ 0 h 43200"/>
              <a:gd name="txR" fmla="*/ 33515 w 33515"/>
              <a:gd name="txB" fmla="*/ 43200 h 43200"/>
            </a:gdLst>
            <a:ahLst/>
            <a:cxnLst>
              <a:cxn ang="180">
                <a:pos x="560" y="3225"/>
              </a:cxn>
              <a:cxn ang="90">
                <a:pos x="0" y="39616"/>
              </a:cxn>
              <a:cxn ang="90">
                <a:pos x="11915" y="21600"/>
              </a:cxn>
            </a:cxnLst>
            <a:rect l="txL" t="txT" r="txR" b="txB"/>
            <a:pathLst>
              <a:path w="33515" h="43200" fill="none">
                <a:moveTo>
                  <a:pt x="560" y="3225"/>
                </a:moveTo>
                <a:arcTo wR="21600" hR="21600" stAng="-7302862" swAng="14711598"/>
              </a:path>
              <a:path w="33515" h="43200" stroke="0">
                <a:moveTo>
                  <a:pt x="560" y="3225"/>
                </a:moveTo>
                <a:arcTo wR="21600" hR="21600" stAng="-7302862" swAng="14711598"/>
                <a:lnTo>
                  <a:pt x="11915" y="21600"/>
                </a:lnTo>
                <a:close/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50227" name="组合 50226"/>
          <p:cNvGrpSpPr/>
          <p:nvPr/>
        </p:nvGrpSpPr>
        <p:grpSpPr>
          <a:xfrm>
            <a:off x="4114800" y="4249738"/>
            <a:ext cx="746125" cy="762000"/>
            <a:chOff x="3562" y="2880"/>
            <a:chExt cx="470" cy="480"/>
          </a:xfrm>
        </p:grpSpPr>
        <p:sp>
          <p:nvSpPr>
            <p:cNvPr id="50228" name="文本框 50227"/>
            <p:cNvSpPr txBox="1"/>
            <p:nvPr/>
          </p:nvSpPr>
          <p:spPr>
            <a:xfrm>
              <a:off x="3562" y="3072"/>
              <a:ext cx="47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/>
              <a:r>
                <a:rPr lang="en-US" altLang="zh-CN">
                  <a:latin typeface="Times New Roman" panose="02020603050405020304" pitchFamily="18" charset="0"/>
                </a:rPr>
                <a:t>K=0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0229" name="文本框 50228"/>
            <p:cNvSpPr txBox="1"/>
            <p:nvPr/>
          </p:nvSpPr>
          <p:spPr>
            <a:xfrm>
              <a:off x="3562" y="2880"/>
              <a:ext cx="4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/>
              <a:r>
                <a:rPr lang="en-US" altLang="zh-CN">
                  <a:latin typeface="Times New Roman" panose="02020603050405020304" pitchFamily="18" charset="0"/>
                </a:rPr>
                <a:t>J=</a:t>
              </a: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sp>
        <p:nvSpPr>
          <p:cNvPr id="50230" name="任意多边形 50229"/>
          <p:cNvSpPr/>
          <p:nvPr/>
        </p:nvSpPr>
        <p:spPr>
          <a:xfrm>
            <a:off x="1452563" y="3824288"/>
            <a:ext cx="2057400" cy="520700"/>
          </a:xfrm>
          <a:custGeom>
            <a:avLst/>
            <a:gdLst>
              <a:gd name="txL" fmla="*/ 0 w 21600"/>
              <a:gd name="txT" fmla="*/ 0 h 21110"/>
              <a:gd name="txR" fmla="*/ 21600 w 21600"/>
              <a:gd name="txB" fmla="*/ 21110 h 21110"/>
            </a:gdLst>
            <a:ahLst/>
            <a:cxnLst>
              <a:cxn ang="270">
                <a:pos x="4575" y="0"/>
              </a:cxn>
              <a:cxn ang="0">
                <a:pos x="21600" y="21110"/>
              </a:cxn>
              <a:cxn ang="180">
                <a:pos x="0" y="21110"/>
              </a:cxn>
            </a:cxnLst>
            <a:rect l="txL" t="txT" r="txR" b="txB"/>
            <a:pathLst>
              <a:path w="21600" h="21110" fill="none">
                <a:moveTo>
                  <a:pt x="4575" y="0"/>
                </a:moveTo>
                <a:arcTo wR="21600" hR="21600" stAng="-4666311" swAng="4666311"/>
              </a:path>
              <a:path w="21600" h="21110" stroke="0">
                <a:moveTo>
                  <a:pt x="4575" y="0"/>
                </a:moveTo>
                <a:arcTo wR="21600" hR="21600" stAng="-4666311" swAng="4666311"/>
                <a:lnTo>
                  <a:pt x="0" y="21110"/>
                </a:lnTo>
                <a:close/>
              </a:path>
            </a:pathLst>
          </a:cu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50231" name="任意多边形 50230"/>
          <p:cNvSpPr/>
          <p:nvPr/>
        </p:nvSpPr>
        <p:spPr>
          <a:xfrm>
            <a:off x="1604963" y="3810000"/>
            <a:ext cx="1679575" cy="460375"/>
          </a:xfrm>
          <a:custGeom>
            <a:avLst/>
            <a:gdLst>
              <a:gd name="txL" fmla="*/ 0 w 42940"/>
              <a:gd name="txT" fmla="*/ 0 h 21600"/>
              <a:gd name="txR" fmla="*/ 42940 w 42940"/>
              <a:gd name="txB" fmla="*/ 21600 h 21600"/>
            </a:gdLst>
            <a:ahLst/>
            <a:cxnLst>
              <a:cxn ang="180">
                <a:pos x="0" y="18255"/>
              </a:cxn>
              <a:cxn ang="0">
                <a:pos x="42940" y="21600"/>
              </a:cxn>
              <a:cxn ang="90">
                <a:pos x="21340" y="21600"/>
              </a:cxn>
            </a:cxnLst>
            <a:rect l="txL" t="txT" r="txR" b="txB"/>
            <a:pathLst>
              <a:path w="42940" h="21600" fill="none">
                <a:moveTo>
                  <a:pt x="0" y="18255"/>
                </a:moveTo>
                <a:arcTo wR="21600" hR="21600" stAng="-10265490" swAng="10265490"/>
              </a:path>
              <a:path w="42940" h="21600" stroke="0">
                <a:moveTo>
                  <a:pt x="0" y="18255"/>
                </a:moveTo>
                <a:arcTo wR="21600" hR="21600" stAng="-10265490" swAng="10265490"/>
                <a:lnTo>
                  <a:pt x="21340" y="21600"/>
                </a:lnTo>
                <a:close/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50232" name="组合 50231"/>
          <p:cNvGrpSpPr/>
          <p:nvPr/>
        </p:nvGrpSpPr>
        <p:grpSpPr>
          <a:xfrm>
            <a:off x="1833563" y="3387725"/>
            <a:ext cx="1431925" cy="457200"/>
            <a:chOff x="2122" y="2326"/>
            <a:chExt cx="902" cy="288"/>
          </a:xfrm>
        </p:grpSpPr>
        <p:sp>
          <p:nvSpPr>
            <p:cNvPr id="50233" name="文本框 50232"/>
            <p:cNvSpPr txBox="1"/>
            <p:nvPr/>
          </p:nvSpPr>
          <p:spPr>
            <a:xfrm>
              <a:off x="2122" y="2341"/>
              <a:ext cx="35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/>
              <a:r>
                <a:rPr lang="en-US" altLang="zh-CN" sz="2000">
                  <a:latin typeface="宋体" panose="02010600030101010101" pitchFamily="2" charset="-122"/>
                </a:rPr>
                <a:t>J=1</a:t>
              </a:r>
              <a:endParaRPr lang="en-US" altLang="zh-CN">
                <a:latin typeface="宋体" panose="02010600030101010101" pitchFamily="2" charset="-122"/>
              </a:endParaRPr>
            </a:p>
          </p:txBody>
        </p:sp>
        <p:sp>
          <p:nvSpPr>
            <p:cNvPr id="50234" name="文本框 50233"/>
            <p:cNvSpPr txBox="1"/>
            <p:nvPr/>
          </p:nvSpPr>
          <p:spPr>
            <a:xfrm>
              <a:off x="2506" y="2326"/>
              <a:ext cx="51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/>
              <a:r>
                <a:rPr lang="en-US" altLang="zh-CN" sz="2000">
                  <a:latin typeface="Times New Roman" panose="02020603050405020304" pitchFamily="18" charset="0"/>
                </a:rPr>
                <a:t>K= </a:t>
              </a: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endParaRPr lang="en-US" altLang="zh-CN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sp>
        <p:nvSpPr>
          <p:cNvPr id="50235" name="任意多边形 50234"/>
          <p:cNvSpPr/>
          <p:nvPr/>
        </p:nvSpPr>
        <p:spPr>
          <a:xfrm flipH="1" flipV="1">
            <a:off x="1604963" y="4953000"/>
            <a:ext cx="1679575" cy="460375"/>
          </a:xfrm>
          <a:custGeom>
            <a:avLst/>
            <a:gdLst>
              <a:gd name="txL" fmla="*/ 0 w 42940"/>
              <a:gd name="txT" fmla="*/ 0 h 21600"/>
              <a:gd name="txR" fmla="*/ 42940 w 42940"/>
              <a:gd name="txB" fmla="*/ 21600 h 21600"/>
            </a:gdLst>
            <a:ahLst/>
            <a:cxnLst>
              <a:cxn ang="180">
                <a:pos x="0" y="18255"/>
              </a:cxn>
              <a:cxn ang="0">
                <a:pos x="42940" y="21600"/>
              </a:cxn>
              <a:cxn ang="90">
                <a:pos x="21340" y="21600"/>
              </a:cxn>
            </a:cxnLst>
            <a:rect l="txL" t="txT" r="txR" b="txB"/>
            <a:pathLst>
              <a:path w="42940" h="21600" fill="none">
                <a:moveTo>
                  <a:pt x="0" y="18255"/>
                </a:moveTo>
                <a:arcTo wR="21600" hR="21600" stAng="-10265490" swAng="10265490"/>
              </a:path>
              <a:path w="42940" h="21600" stroke="0">
                <a:moveTo>
                  <a:pt x="0" y="18255"/>
                </a:moveTo>
                <a:arcTo wR="21600" hR="21600" stAng="-10265490" swAng="10265490"/>
                <a:lnTo>
                  <a:pt x="21340" y="21600"/>
                </a:lnTo>
                <a:close/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50236" name="组合 50235"/>
          <p:cNvGrpSpPr/>
          <p:nvPr/>
        </p:nvGrpSpPr>
        <p:grpSpPr>
          <a:xfrm>
            <a:off x="1833563" y="5354638"/>
            <a:ext cx="1517650" cy="457200"/>
            <a:chOff x="2122" y="3565"/>
            <a:chExt cx="956" cy="288"/>
          </a:xfrm>
        </p:grpSpPr>
        <p:sp>
          <p:nvSpPr>
            <p:cNvPr id="50237" name="文本框 50236"/>
            <p:cNvSpPr txBox="1"/>
            <p:nvPr/>
          </p:nvSpPr>
          <p:spPr>
            <a:xfrm>
              <a:off x="2667" y="3600"/>
              <a:ext cx="41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/>
              <a:r>
                <a:rPr lang="en-US" altLang="zh-CN" sz="2000">
                  <a:latin typeface="Times New Roman" panose="02020603050405020304" pitchFamily="18" charset="0"/>
                </a:rPr>
                <a:t>K=1</a:t>
              </a:r>
              <a:endParaRPr lang="en-US" altLang="zh-CN">
                <a:latin typeface="宋体" panose="02010600030101010101" pitchFamily="2" charset="-122"/>
              </a:endParaRPr>
            </a:p>
          </p:txBody>
        </p:sp>
        <p:sp>
          <p:nvSpPr>
            <p:cNvPr id="50238" name="文本框 50237"/>
            <p:cNvSpPr txBox="1"/>
            <p:nvPr/>
          </p:nvSpPr>
          <p:spPr>
            <a:xfrm>
              <a:off x="2122" y="3565"/>
              <a:ext cx="52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/>
              <a:r>
                <a:rPr lang="en-US" altLang="zh-CN" sz="2000">
                  <a:latin typeface="宋体" panose="02010600030101010101" pitchFamily="2" charset="-122"/>
                </a:rPr>
                <a:t>J= </a:t>
              </a:r>
              <a:r>
                <a:rPr lang="en-US" altLang="zh-CN">
                  <a:latin typeface="宋体" panose="02010600030101010101" pitchFamily="2" charset="-122"/>
                  <a:sym typeface="Symbol" panose="05050102010706020507" pitchFamily="18" charset="2"/>
                </a:rPr>
                <a:t></a:t>
              </a:r>
              <a:endParaRPr lang="en-US" altLang="zh-CN"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50239" name="文本框 50238"/>
          <p:cNvSpPr txBox="1"/>
          <p:nvPr/>
        </p:nvSpPr>
        <p:spPr>
          <a:xfrm>
            <a:off x="1284288" y="5838825"/>
            <a:ext cx="2232025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zh-CN" altLang="en-US" sz="3200" dirty="0">
                <a:solidFill>
                  <a:srgbClr val="A5002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状态转换图</a:t>
            </a:r>
            <a:endParaRPr lang="zh-CN" altLang="en-US" sz="3200">
              <a:solidFill>
                <a:srgbClr val="FF33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50247" name="组合 50246"/>
          <p:cNvGrpSpPr/>
          <p:nvPr/>
        </p:nvGrpSpPr>
        <p:grpSpPr>
          <a:xfrm>
            <a:off x="4343400" y="-38100"/>
            <a:ext cx="3917950" cy="3009900"/>
            <a:chOff x="2736" y="-24"/>
            <a:chExt cx="2468" cy="1896"/>
          </a:xfrm>
        </p:grpSpPr>
        <p:sp>
          <p:nvSpPr>
            <p:cNvPr id="50194" name="直接连接符 50193"/>
            <p:cNvSpPr/>
            <p:nvPr/>
          </p:nvSpPr>
          <p:spPr>
            <a:xfrm>
              <a:off x="4320" y="336"/>
              <a:ext cx="0" cy="151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50245" name="组合 50244"/>
            <p:cNvGrpSpPr/>
            <p:nvPr/>
          </p:nvGrpSpPr>
          <p:grpSpPr>
            <a:xfrm>
              <a:off x="2736" y="-24"/>
              <a:ext cx="2468" cy="1896"/>
              <a:chOff x="2736" y="-24"/>
              <a:chExt cx="2468" cy="1896"/>
            </a:xfrm>
          </p:grpSpPr>
          <p:sp>
            <p:nvSpPr>
              <p:cNvPr id="50186" name="文本框 50185"/>
              <p:cNvSpPr txBox="1"/>
              <p:nvPr/>
            </p:nvSpPr>
            <p:spPr>
              <a:xfrm>
                <a:off x="2784" y="-24"/>
                <a:ext cx="2420" cy="184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>
                  <a:lnSpc>
                    <a:spcPct val="125000"/>
                  </a:lnSpc>
                </a:pPr>
                <a:r>
                  <a:rPr lang="en-US" altLang="zh-CN" dirty="0">
                    <a:latin typeface="黑体" panose="02010609060101010101" pitchFamily="2" charset="-122"/>
                    <a:ea typeface="黑体" panose="02010609060101010101" pitchFamily="2" charset="-122"/>
                  </a:rPr>
                  <a:t>        </a:t>
                </a:r>
                <a:r>
                  <a:rPr lang="zh-CN" altLang="en-US" dirty="0">
                    <a:latin typeface="黑体" panose="02010609060101010101" pitchFamily="2" charset="-122"/>
                    <a:ea typeface="黑体" panose="02010609060101010101" pitchFamily="2" charset="-122"/>
                  </a:rPr>
                  <a:t>特性表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	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  <a:p>
                <a:pPr algn="l">
                  <a:lnSpc>
                    <a:spcPct val="125000"/>
                  </a:lnSpc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J            K          </a:t>
                </a:r>
                <a:r>
                  <a:rPr lang="en-US" altLang="zh-CN" sz="2000" err="1">
                    <a:latin typeface="Times New Roman" panose="02020603050405020304" pitchFamily="18" charset="0"/>
                  </a:rPr>
                  <a:t>Q</a:t>
                </a:r>
                <a:r>
                  <a:rPr lang="en-US" altLang="zh-CN" sz="2000" baseline="-25000" err="1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000">
                    <a:latin typeface="Times New Roman" panose="02020603050405020304" pitchFamily="18" charset="0"/>
                  </a:rPr>
                  <a:t>	Q</a:t>
                </a:r>
                <a:r>
                  <a:rPr lang="en-US" altLang="zh-CN" sz="2000" baseline="-25000">
                    <a:latin typeface="Times New Roman" panose="02020603050405020304" pitchFamily="18" charset="0"/>
                  </a:rPr>
                  <a:t>n+1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  <a:p>
                <a:pPr algn="l">
                  <a:lnSpc>
                    <a:spcPct val="80000"/>
                  </a:lnSpc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0	0	0	0	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  <a:p>
                <a:pPr algn="l">
                  <a:lnSpc>
                    <a:spcPct val="80000"/>
                  </a:lnSpc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0	0	1	1	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  <a:p>
                <a:pPr algn="l">
                  <a:lnSpc>
                    <a:spcPct val="80000"/>
                  </a:lnSpc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0	1	0	0	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  <a:p>
                <a:pPr algn="l">
                  <a:lnSpc>
                    <a:spcPct val="80000"/>
                  </a:lnSpc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0	1	1	0	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  <a:p>
                <a:pPr algn="l">
                  <a:lnSpc>
                    <a:spcPct val="80000"/>
                  </a:lnSpc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	0	0	1	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  <a:p>
                <a:pPr algn="l">
                  <a:lnSpc>
                    <a:spcPct val="80000"/>
                  </a:lnSpc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	0	1	0	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  <a:p>
                <a:pPr algn="l">
                  <a:lnSpc>
                    <a:spcPct val="80000"/>
                  </a:lnSpc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	1	0	1	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  <a:p>
                <a:pPr algn="l">
                  <a:lnSpc>
                    <a:spcPct val="80000"/>
                  </a:lnSpc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	1	1	0</a:t>
                </a:r>
                <a:r>
                  <a:rPr lang="en-US" altLang="zh-CN">
                    <a:latin typeface="Times New Roman" panose="02020603050405020304" pitchFamily="18" charset="0"/>
                  </a:rPr>
                  <a:t>	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192" name="矩形 50191"/>
              <p:cNvSpPr/>
              <p:nvPr/>
            </p:nvSpPr>
            <p:spPr>
              <a:xfrm>
                <a:off x="2736" y="48"/>
                <a:ext cx="2352" cy="182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0193" name="直接连接符 50192"/>
              <p:cNvSpPr/>
              <p:nvPr/>
            </p:nvSpPr>
            <p:spPr>
              <a:xfrm>
                <a:off x="2736" y="336"/>
                <a:ext cx="2352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240" name="直接连接符 50239"/>
              <p:cNvSpPr/>
              <p:nvPr/>
            </p:nvSpPr>
            <p:spPr>
              <a:xfrm>
                <a:off x="2736" y="528"/>
                <a:ext cx="2352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50241" name="直接连接符 50240"/>
          <p:cNvSpPr/>
          <p:nvPr/>
        </p:nvSpPr>
        <p:spPr>
          <a:xfrm>
            <a:off x="5791200" y="4876800"/>
            <a:ext cx="304800" cy="0"/>
          </a:xfrm>
          <a:prstGeom prst="line">
            <a:avLst/>
          </a:prstGeom>
          <a:ln w="76200" cap="flat" cmpd="sng">
            <a:solidFill>
              <a:srgbClr val="A5002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0242" name="直接连接符 50241"/>
          <p:cNvSpPr/>
          <p:nvPr/>
        </p:nvSpPr>
        <p:spPr>
          <a:xfrm flipH="1" flipV="1">
            <a:off x="4191000" y="5257800"/>
            <a:ext cx="762000" cy="533400"/>
          </a:xfrm>
          <a:prstGeom prst="line">
            <a:avLst/>
          </a:prstGeom>
          <a:ln w="76200" cap="flat" cmpd="sng">
            <a:solidFill>
              <a:srgbClr val="A5002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0243" name="直接连接符 50242"/>
          <p:cNvSpPr/>
          <p:nvPr/>
        </p:nvSpPr>
        <p:spPr>
          <a:xfrm>
            <a:off x="4953000" y="3048000"/>
            <a:ext cx="0" cy="533400"/>
          </a:xfrm>
          <a:prstGeom prst="line">
            <a:avLst/>
          </a:prstGeom>
          <a:ln w="76200" cap="flat" cmpd="sng">
            <a:solidFill>
              <a:srgbClr val="A5002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0244" name="直接连接符 50243"/>
          <p:cNvSpPr/>
          <p:nvPr/>
        </p:nvSpPr>
        <p:spPr>
          <a:xfrm>
            <a:off x="3124200" y="1752600"/>
            <a:ext cx="762000" cy="0"/>
          </a:xfrm>
          <a:prstGeom prst="line">
            <a:avLst/>
          </a:prstGeom>
          <a:ln w="76200" cap="flat" cmpd="sng">
            <a:solidFill>
              <a:srgbClr val="A5002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0248" name="圆角矩形标注 50247"/>
          <p:cNvSpPr/>
          <p:nvPr/>
        </p:nvSpPr>
        <p:spPr>
          <a:xfrm>
            <a:off x="1295400" y="3276600"/>
            <a:ext cx="1447800" cy="762000"/>
          </a:xfrm>
          <a:prstGeom prst="wedgeRoundRectCallout">
            <a:avLst>
              <a:gd name="adj1" fmla="val -46051"/>
              <a:gd name="adj2" fmla="val 70000"/>
              <a:gd name="adj3" fmla="val 16667"/>
            </a:avLst>
          </a:prstGeom>
          <a:solidFill>
            <a:srgbClr val="FFFF99"/>
          </a:solidFill>
          <a:ln w="38100" cap="flat" cmpd="sng">
            <a:solidFill>
              <a:srgbClr val="A5002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just"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电路状态</a:t>
            </a:r>
            <a:endParaRPr lang="zh-CN" altLang="en-US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249" name="圆角矩形标注 50248"/>
          <p:cNvSpPr/>
          <p:nvPr/>
        </p:nvSpPr>
        <p:spPr>
          <a:xfrm>
            <a:off x="838200" y="3352800"/>
            <a:ext cx="1447800" cy="762000"/>
          </a:xfrm>
          <a:prstGeom prst="wedgeRoundRectCallout">
            <a:avLst>
              <a:gd name="adj1" fmla="val -46051"/>
              <a:gd name="adj2" fmla="val 70000"/>
              <a:gd name="adj3" fmla="val 16667"/>
            </a:avLst>
          </a:prstGeom>
          <a:solidFill>
            <a:srgbClr val="FFFF99"/>
          </a:solidFill>
          <a:ln w="38100" cap="flat" cmpd="sng">
            <a:solidFill>
              <a:srgbClr val="A5002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just"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转换方向</a:t>
            </a:r>
            <a:endParaRPr lang="zh-CN" altLang="en-US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250" name="圆角矩形标注 50249"/>
          <p:cNvSpPr/>
          <p:nvPr/>
        </p:nvSpPr>
        <p:spPr>
          <a:xfrm>
            <a:off x="304800" y="3429000"/>
            <a:ext cx="1447800" cy="762000"/>
          </a:xfrm>
          <a:prstGeom prst="wedgeRoundRectCallout">
            <a:avLst>
              <a:gd name="adj1" fmla="val -43421"/>
              <a:gd name="adj2" fmla="val 67292"/>
              <a:gd name="adj3" fmla="val 16667"/>
            </a:avLst>
          </a:prstGeom>
          <a:solidFill>
            <a:srgbClr val="FFFF99"/>
          </a:solidFill>
          <a:ln w="38100" cap="flat" cmpd="sng">
            <a:solidFill>
              <a:srgbClr val="A5002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just"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转换条件</a:t>
            </a:r>
            <a:endParaRPr lang="zh-CN" altLang="en-US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50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50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0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0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46" dur="500"/>
                                        <p:tgtEl>
                                          <p:spTgt spid="5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0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0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0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0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0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0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0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0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0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0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0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0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0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0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0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0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02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502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50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50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502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502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202" grpId="0"/>
      <p:bldP spid="50239" grpId="0"/>
      <p:bldP spid="50248" grpId="0" animBg="1"/>
      <p:bldP spid="50249" grpId="0" animBg="1"/>
      <p:bldP spid="5025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矩形 7169"/>
          <p:cNvSpPr/>
          <p:nvPr/>
        </p:nvSpPr>
        <p:spPr>
          <a:xfrm>
            <a:off x="685800" y="381000"/>
            <a:ext cx="7772400" cy="9906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9525"/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 anchorCtr="0">
            <a:flatTx/>
          </a:bodyPr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sz="6000" b="1" dirty="0">
                <a:solidFill>
                  <a:srgbClr val="A50021"/>
                </a:solidFill>
                <a:latin typeface="宋体" panose="02010600030101010101" pitchFamily="2" charset="-122"/>
                <a:ea typeface="隶书" panose="02010509060101010101" pitchFamily="49" charset="-122"/>
              </a:rPr>
              <a:t>第</a:t>
            </a:r>
            <a:r>
              <a:rPr lang="zh-CN" altLang="en-US" sz="6000" b="1" dirty="0">
                <a:solidFill>
                  <a:srgbClr val="A50021"/>
                </a:solidFill>
                <a:ea typeface="隶书" panose="02010509060101010101" pitchFamily="49" charset="-122"/>
              </a:rPr>
              <a:t>五章  时序逻辑电路</a:t>
            </a:r>
            <a:endParaRPr lang="zh-CN" altLang="en-US" b="0">
              <a:solidFill>
                <a:schemeClr val="tx1"/>
              </a:solidFill>
            </a:endParaRPr>
          </a:p>
        </p:txBody>
      </p:sp>
      <p:pic>
        <p:nvPicPr>
          <p:cNvPr id="7171" name="图片 7170" descr="ball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988" y="2193925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2" name="图片 7171" descr="ball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2987675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3" name="图片 7172" descr="ball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3733800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4" name="图片 7173" descr="ball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113" y="4495800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5" name="文本框 7174"/>
          <p:cNvSpPr txBox="1"/>
          <p:nvPr/>
        </p:nvSpPr>
        <p:spPr>
          <a:xfrm>
            <a:off x="1382713" y="2057400"/>
            <a:ext cx="5246687" cy="762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l" eaLnBrk="1" hangingPunct="1"/>
            <a:r>
              <a:rPr lang="zh-CN" altLang="en-US" sz="4400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§</a:t>
            </a:r>
            <a:r>
              <a:rPr lang="en-US" altLang="zh-CN" sz="4400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5-1 </a:t>
            </a:r>
            <a:r>
              <a:rPr lang="zh-CN" altLang="en-US" sz="4400" dirty="0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时序电路概述</a:t>
            </a:r>
            <a:endParaRPr lang="zh-CN" altLang="en-US" sz="4400">
              <a:solidFill>
                <a:schemeClr val="tx2"/>
              </a:solidFill>
              <a:effectLst>
                <a:outerShdw blurRad="38100" dist="38100" dir="2700000">
                  <a:srgbClr val="FFFFFF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7176" name="文本框 7175"/>
          <p:cNvSpPr txBox="1"/>
          <p:nvPr/>
        </p:nvSpPr>
        <p:spPr>
          <a:xfrm>
            <a:off x="1368425" y="2835275"/>
            <a:ext cx="6937375" cy="762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l" eaLnBrk="1" hangingPunct="1"/>
            <a:r>
              <a:rPr lang="zh-CN" altLang="en-US" sz="4400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§</a:t>
            </a:r>
            <a:r>
              <a:rPr lang="en-US" altLang="zh-CN" sz="4400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5-2 </a:t>
            </a:r>
            <a:r>
              <a:rPr lang="zh-CN" altLang="en-US" sz="4400" dirty="0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同步时序电路的分析</a:t>
            </a:r>
            <a:endParaRPr lang="zh-CN" altLang="en-US" sz="4400">
              <a:solidFill>
                <a:schemeClr val="tx2"/>
              </a:solidFill>
              <a:effectLst>
                <a:outerShdw blurRad="38100" dist="38100" dir="2700000">
                  <a:srgbClr val="FFFFFF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7177" name="文本框 7176"/>
          <p:cNvSpPr txBox="1"/>
          <p:nvPr/>
        </p:nvSpPr>
        <p:spPr>
          <a:xfrm>
            <a:off x="1368425" y="3581400"/>
            <a:ext cx="6937375" cy="762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l" eaLnBrk="1" hangingPunct="1"/>
            <a:r>
              <a:rPr lang="zh-CN" altLang="en-US" sz="4400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§</a:t>
            </a:r>
            <a:r>
              <a:rPr lang="en-US" altLang="zh-CN" sz="4400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5-3 </a:t>
            </a:r>
            <a:r>
              <a:rPr lang="zh-CN" altLang="en-US" sz="4400" dirty="0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同步时序电路的设计</a:t>
            </a:r>
            <a:endParaRPr lang="zh-CN" altLang="en-US" sz="4400">
              <a:solidFill>
                <a:schemeClr val="tx2"/>
              </a:solidFill>
              <a:effectLst>
                <a:outerShdw blurRad="38100" dist="38100" dir="2700000">
                  <a:srgbClr val="FFFFFF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7178" name="文本框 7177"/>
          <p:cNvSpPr txBox="1"/>
          <p:nvPr/>
        </p:nvSpPr>
        <p:spPr>
          <a:xfrm>
            <a:off x="1382713" y="4343400"/>
            <a:ext cx="5246687" cy="762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l" eaLnBrk="1" hangingPunct="1"/>
            <a:r>
              <a:rPr lang="zh-CN" altLang="en-US" sz="4400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§</a:t>
            </a:r>
            <a:r>
              <a:rPr lang="en-US" altLang="zh-CN" sz="4400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5-4 </a:t>
            </a:r>
            <a:r>
              <a:rPr lang="zh-CN" altLang="en-US" sz="4400" dirty="0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异步时序电路</a:t>
            </a:r>
            <a:endParaRPr lang="zh-CN" altLang="en-US" sz="4400" dirty="0">
              <a:solidFill>
                <a:schemeClr val="tx2"/>
              </a:solidFill>
              <a:effectLst>
                <a:outerShdw blurRad="38100" dist="38100" dir="2700000">
                  <a:srgbClr val="FFFFFF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7194" name="图片 7193" descr="ball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113" y="5257800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95" name="文本框 7194"/>
          <p:cNvSpPr txBox="1"/>
          <p:nvPr/>
        </p:nvSpPr>
        <p:spPr>
          <a:xfrm>
            <a:off x="1584325" y="5105400"/>
            <a:ext cx="1311275" cy="762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l" eaLnBrk="1" hangingPunct="1"/>
            <a:r>
              <a:rPr lang="zh-CN" altLang="en-US" sz="4400" dirty="0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小结</a:t>
            </a:r>
            <a:endParaRPr lang="zh-CN" altLang="en-US" sz="4400" dirty="0">
              <a:solidFill>
                <a:schemeClr val="tx2"/>
              </a:solidFill>
              <a:effectLst>
                <a:outerShdw blurRad="38100" dist="38100" dir="2700000">
                  <a:srgbClr val="FFFFFF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7198" name="图片 7197" descr="MEETING">
            <a:hlinkClick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0" y="5257800"/>
            <a:ext cx="1981200" cy="1295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animBg="1"/>
      <p:bldP spid="7175" grpId="0"/>
      <p:bldP spid="7176" grpId="0"/>
      <p:bldP spid="7177" grpId="0"/>
      <p:bldP spid="7178" grpId="0"/>
      <p:bldP spid="719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4" name="矩形 48133"/>
          <p:cNvSpPr/>
          <p:nvPr/>
        </p:nvSpPr>
        <p:spPr>
          <a:xfrm>
            <a:off x="685800" y="381000"/>
            <a:ext cx="7924800" cy="9906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9525"/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 anchorCtr="0">
            <a:flatTx/>
          </a:bodyPr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sz="5400" b="1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§</a:t>
            </a:r>
            <a:r>
              <a:rPr lang="en-US" altLang="zh-CN" sz="5400" b="1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5-3 </a:t>
            </a:r>
            <a:r>
              <a:rPr lang="zh-CN" altLang="en-US" sz="5400" b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同步时序路的设计</a:t>
            </a:r>
            <a:endParaRPr lang="zh-CN" altLang="en-US" sz="7200" b="1">
              <a:effectLst>
                <a:outerShdw blurRad="38100" dist="38100" dir="2700000">
                  <a:srgbClr val="FFFFFF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8136" name="文本框 48135"/>
          <p:cNvSpPr txBox="1"/>
          <p:nvPr/>
        </p:nvSpPr>
        <p:spPr>
          <a:xfrm>
            <a:off x="1295400" y="2119313"/>
            <a:ext cx="3124200" cy="8239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sz="48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设计方法</a:t>
            </a:r>
            <a:endParaRPr lang="zh-CN" altLang="en-US" sz="36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37" name="文本框 48136"/>
          <p:cNvSpPr txBox="1"/>
          <p:nvPr/>
        </p:nvSpPr>
        <p:spPr>
          <a:xfrm>
            <a:off x="1447800" y="3124200"/>
            <a:ext cx="5181600" cy="8239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sz="48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状态转换表的简化</a:t>
            </a:r>
            <a:endParaRPr lang="zh-CN" altLang="en-US" sz="36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38" name="文本框 48137"/>
          <p:cNvSpPr txBox="1"/>
          <p:nvPr/>
        </p:nvSpPr>
        <p:spPr>
          <a:xfrm>
            <a:off x="1447800" y="4114800"/>
            <a:ext cx="6477000" cy="8239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sz="48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同步时序电路设计举例</a:t>
            </a:r>
            <a:endParaRPr lang="zh-CN" altLang="en-US" sz="36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8139" name="图片 48138" descr="ball5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62200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8140" name="图片 48139" descr="ball5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352800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8141" name="图片 48140" descr="ball5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267200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8146" name="图片 48145" descr="wb00677_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5791200"/>
            <a:ext cx="609600" cy="457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4" grpId="0" animBg="1"/>
      <p:bldP spid="48136" grpId="0"/>
      <p:bldP spid="48137" grpId="0"/>
      <p:bldP spid="481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标题 10241"/>
          <p:cNvSpPr>
            <a:spLocks noGrp="1"/>
          </p:cNvSpPr>
          <p:nvPr>
            <p:ph type="title"/>
          </p:nvPr>
        </p:nvSpPr>
        <p:spPr>
          <a:xfrm>
            <a:off x="990600" y="381000"/>
            <a:ext cx="6781800" cy="685800"/>
          </a:xfr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/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 anchorCtr="0">
            <a:flatTx/>
          </a:bodyPr>
          <a:p>
            <a:r>
              <a:rPr lang="zh-CN" altLang="en-US" sz="7200" b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时序电路概述</a:t>
            </a:r>
            <a:endParaRPr lang="zh-CN" altLang="en-US" sz="7200" b="1">
              <a:effectLst>
                <a:outerShdw blurRad="38100" dist="38100" dir="2700000">
                  <a:srgbClr val="FFFFFF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0245" name="文本框 10244"/>
          <p:cNvSpPr txBox="1"/>
          <p:nvPr/>
        </p:nvSpPr>
        <p:spPr>
          <a:xfrm>
            <a:off x="533400" y="1295400"/>
            <a:ext cx="4824413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 sz="2800" dirty="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   </a:t>
            </a:r>
            <a:r>
              <a:rPr lang="zh-CN" altLang="en-US" sz="2800" dirty="0">
                <a:latin typeface="Times New Roman" panose="02020603050405020304" pitchFamily="18" charset="0"/>
              </a:rPr>
              <a:t>组合电路与时序电路的区别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10247" name="文本框 10246"/>
          <p:cNvSpPr txBox="1"/>
          <p:nvPr/>
        </p:nvSpPr>
        <p:spPr>
          <a:xfrm>
            <a:off x="533400" y="1854200"/>
            <a:ext cx="24828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 sz="2800">
                <a:latin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</a:rPr>
              <a:t>、组合电路：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10248" name="文本框 10247"/>
          <p:cNvSpPr txBox="1"/>
          <p:nvPr/>
        </p:nvSpPr>
        <p:spPr>
          <a:xfrm>
            <a:off x="2743200" y="1905000"/>
            <a:ext cx="17049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zh-CN" altLang="en-US" dirty="0">
                <a:latin typeface="Times New Roman" panose="02020603050405020304" pitchFamily="18" charset="0"/>
              </a:rPr>
              <a:t>电路的输出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249" name="文本框 10248"/>
          <p:cNvSpPr txBox="1"/>
          <p:nvPr/>
        </p:nvSpPr>
        <p:spPr>
          <a:xfrm>
            <a:off x="4267200" y="1905000"/>
            <a:ext cx="32385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zh-CN" altLang="en-US" dirty="0">
                <a:latin typeface="Times New Roman" panose="02020603050405020304" pitchFamily="18" charset="0"/>
              </a:rPr>
              <a:t>只与电路的输入有关，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250" name="文本框 10249"/>
          <p:cNvSpPr txBox="1"/>
          <p:nvPr/>
        </p:nvSpPr>
        <p:spPr>
          <a:xfrm>
            <a:off x="3276600" y="2438400"/>
            <a:ext cx="41497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zh-CN" altLang="en-US" dirty="0">
                <a:latin typeface="Times New Roman" panose="02020603050405020304" pitchFamily="18" charset="0"/>
              </a:rPr>
              <a:t>与电路的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前一时刻</a:t>
            </a:r>
            <a:r>
              <a:rPr lang="zh-CN" altLang="en-US" dirty="0">
                <a:latin typeface="Times New Roman" panose="02020603050405020304" pitchFamily="18" charset="0"/>
              </a:rPr>
              <a:t>的状态无关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0251" name="文本框 10250"/>
          <p:cNvSpPr txBox="1"/>
          <p:nvPr/>
        </p:nvSpPr>
        <p:spPr>
          <a:xfrm>
            <a:off x="533400" y="2962275"/>
            <a:ext cx="24828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 sz="2800">
                <a:latin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</a:rPr>
              <a:t>、时序电路：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10253" name="文本框 10252"/>
          <p:cNvSpPr txBox="1"/>
          <p:nvPr/>
        </p:nvSpPr>
        <p:spPr>
          <a:xfrm>
            <a:off x="457200" y="3581400"/>
            <a:ext cx="38544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zh-CN" altLang="en-US" dirty="0">
                <a:latin typeface="Times New Roman" panose="02020603050405020304" pitchFamily="18" charset="0"/>
              </a:rPr>
              <a:t>电路在某一给定时刻的输出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0254" name="左大括号 10253"/>
          <p:cNvSpPr/>
          <p:nvPr/>
        </p:nvSpPr>
        <p:spPr>
          <a:xfrm>
            <a:off x="4267200" y="3429000"/>
            <a:ext cx="304800" cy="838200"/>
          </a:xfrm>
          <a:prstGeom prst="leftBrace">
            <a:avLst>
              <a:gd name="adj1" fmla="val 22916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256" name="文本框 10255"/>
          <p:cNvSpPr txBox="1"/>
          <p:nvPr/>
        </p:nvSpPr>
        <p:spPr>
          <a:xfrm>
            <a:off x="4572000" y="3124200"/>
            <a:ext cx="35718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zh-CN" altLang="en-US" dirty="0">
                <a:latin typeface="Times New Roman" panose="02020603050405020304" pitchFamily="18" charset="0"/>
              </a:rPr>
              <a:t>取决于该时刻电路的输入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0258" name="文本框 10257"/>
          <p:cNvSpPr txBox="1"/>
          <p:nvPr/>
        </p:nvSpPr>
        <p:spPr>
          <a:xfrm>
            <a:off x="4572000" y="3962400"/>
            <a:ext cx="41624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zh-CN" altLang="en-US" dirty="0">
                <a:latin typeface="Times New Roman" panose="02020603050405020304" pitchFamily="18" charset="0"/>
              </a:rPr>
              <a:t>还取决于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前一时刻电路的状态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0259" name="椭圆形标注 10258"/>
          <p:cNvSpPr/>
          <p:nvPr/>
        </p:nvSpPr>
        <p:spPr>
          <a:xfrm>
            <a:off x="6705600" y="2743200"/>
            <a:ext cx="2057400" cy="1066800"/>
          </a:xfrm>
          <a:prstGeom prst="wedgeEllipseCallout">
            <a:avLst>
              <a:gd name="adj1" fmla="val -43750"/>
              <a:gd name="adj2" fmla="val 77083"/>
            </a:avLst>
          </a:prstGeom>
          <a:solidFill>
            <a:srgbClr val="FFCC00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由触发器保存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0267" name="文本框 10266"/>
          <p:cNvSpPr txBox="1"/>
          <p:nvPr/>
        </p:nvSpPr>
        <p:spPr>
          <a:xfrm>
            <a:off x="457200" y="4814888"/>
            <a:ext cx="194627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zh-CN" altLang="en-US" sz="2800" dirty="0">
                <a:latin typeface="Times New Roman" panose="02020603050405020304" pitchFamily="18" charset="0"/>
              </a:rPr>
              <a:t>时序电路：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0268" name="文本框 10267"/>
          <p:cNvSpPr txBox="1"/>
          <p:nvPr/>
        </p:nvSpPr>
        <p:spPr>
          <a:xfrm>
            <a:off x="2422525" y="4821238"/>
            <a:ext cx="1377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zh-CN" altLang="en-US" dirty="0">
                <a:latin typeface="Times New Roman" panose="02020603050405020304" pitchFamily="18" charset="0"/>
              </a:rPr>
              <a:t>组合电路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0269" name="文本框 10268"/>
          <p:cNvSpPr txBox="1"/>
          <p:nvPr/>
        </p:nvSpPr>
        <p:spPr>
          <a:xfrm>
            <a:off x="3879850" y="4814888"/>
            <a:ext cx="3873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 sz="2800">
                <a:latin typeface="Times New Roman" panose="02020603050405020304" pitchFamily="18" charset="0"/>
              </a:rPr>
              <a:t>+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10270" name="文本框 10269"/>
          <p:cNvSpPr txBox="1"/>
          <p:nvPr/>
        </p:nvSpPr>
        <p:spPr>
          <a:xfrm>
            <a:off x="4403725" y="4821238"/>
            <a:ext cx="1098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zh-CN" altLang="en-US" dirty="0">
                <a:latin typeface="Times New Roman" panose="02020603050405020304" pitchFamily="18" charset="0"/>
              </a:rPr>
              <a:t>触发器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0271" name="文本框 10270"/>
          <p:cNvSpPr txBox="1"/>
          <p:nvPr/>
        </p:nvSpPr>
        <p:spPr>
          <a:xfrm>
            <a:off x="2346325" y="5354638"/>
            <a:ext cx="3841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zh-CN" altLang="en-US" dirty="0">
                <a:latin typeface="Times New Roman" panose="02020603050405020304" pitchFamily="18" charset="0"/>
              </a:rPr>
              <a:t>电路的状态与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时间</a:t>
            </a:r>
            <a:r>
              <a:rPr lang="zh-CN" altLang="en-US" dirty="0">
                <a:latin typeface="Times New Roman" panose="02020603050405020304" pitchFamily="18" charset="0"/>
              </a:rPr>
              <a:t>顺序有关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pic>
        <p:nvPicPr>
          <p:cNvPr id="10272" name="图片 10271" descr="wb01508_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7912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3" name="文本框 10272">
            <a:hlinkClick r:id="rId1" action="ppaction://hlinksldjump"/>
          </p:cNvPr>
          <p:cNvSpPr txBox="1"/>
          <p:nvPr/>
        </p:nvSpPr>
        <p:spPr>
          <a:xfrm>
            <a:off x="7512050" y="58674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u="sng" dirty="0">
                <a:solidFill>
                  <a:schemeClr val="accent2"/>
                </a:solidFill>
                <a:latin typeface="Times New Roman" panose="02020603050405020304" pitchFamily="18" charset="0"/>
              </a:rPr>
              <a:t>返  回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0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0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0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0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animBg="1"/>
      <p:bldP spid="10245" grpId="0"/>
      <p:bldP spid="10247" grpId="0"/>
      <p:bldP spid="10248" grpId="0"/>
      <p:bldP spid="10249" grpId="0"/>
      <p:bldP spid="10250" grpId="0"/>
      <p:bldP spid="10251" grpId="0"/>
      <p:bldP spid="10253" grpId="0"/>
      <p:bldP spid="10256" grpId="0"/>
      <p:bldP spid="10258" grpId="0"/>
      <p:bldP spid="10259" grpId="0" animBg="1"/>
      <p:bldP spid="10267" grpId="0"/>
      <p:bldP spid="10268" grpId="0"/>
      <p:bldP spid="10269" grpId="0"/>
      <p:bldP spid="10270" grpId="0"/>
      <p:bldP spid="1027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350" name="文本框 11349"/>
          <p:cNvSpPr txBox="1"/>
          <p:nvPr/>
        </p:nvSpPr>
        <p:spPr>
          <a:xfrm>
            <a:off x="441325" y="5832475"/>
            <a:ext cx="54371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zh-CN" altLang="en-US" dirty="0">
                <a:latin typeface="Times New Roman" panose="02020603050405020304" pitchFamily="18" charset="0"/>
              </a:rPr>
              <a:t>式中：</a:t>
            </a:r>
            <a:r>
              <a:rPr lang="en-US" altLang="zh-CN" err="1">
                <a:latin typeface="Times New Roman" panose="02020603050405020304" pitchFamily="18" charset="0"/>
              </a:rPr>
              <a:t>t</a:t>
            </a:r>
            <a:r>
              <a:rPr lang="en-US" altLang="zh-CN" baseline="-25000" err="1">
                <a:latin typeface="Times New Roman" panose="02020603050405020304" pitchFamily="18" charset="0"/>
              </a:rPr>
              <a:t>n</a:t>
            </a:r>
            <a:r>
              <a:rPr lang="zh-CN" altLang="en-US">
                <a:latin typeface="Times New Roman" panose="02020603050405020304" pitchFamily="18" charset="0"/>
              </a:rPr>
              <a:t>、</a:t>
            </a:r>
            <a:r>
              <a:rPr lang="en-US" altLang="zh-CN">
                <a:latin typeface="Times New Roman" panose="02020603050405020304" pitchFamily="18" charset="0"/>
              </a:rPr>
              <a:t>t</a:t>
            </a:r>
            <a:r>
              <a:rPr lang="en-US" altLang="zh-CN" baseline="-25000">
                <a:latin typeface="Times New Roman" panose="02020603050405020304" pitchFamily="18" charset="0"/>
              </a:rPr>
              <a:t>n+1</a:t>
            </a:r>
            <a:r>
              <a:rPr lang="zh-CN" altLang="en-US" dirty="0">
                <a:latin typeface="Times New Roman" panose="02020603050405020304" pitchFamily="18" charset="0"/>
              </a:rPr>
              <a:t>表示相邻的两个离散时间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1268" name="标题 11267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762000"/>
          </a:xfr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/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vert="horz" wrap="square" lIns="91440" tIns="45720" rIns="91440" bIns="45720" anchor="ctr" anchorCtr="0">
            <a:flatTx/>
          </a:bodyPr>
          <a:p>
            <a:r>
              <a:rPr lang="zh-CN" altLang="en-US" sz="7200" b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时序电路概述</a:t>
            </a:r>
            <a:endParaRPr lang="zh-CN" altLang="en-US" sz="7200" b="1">
              <a:effectLst>
                <a:outerShdw blurRad="38100" dist="38100" dir="2700000">
                  <a:srgbClr val="FFFFFF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11275" name="组合 11274"/>
          <p:cNvGrpSpPr/>
          <p:nvPr/>
        </p:nvGrpSpPr>
        <p:grpSpPr>
          <a:xfrm>
            <a:off x="5799138" y="2362200"/>
            <a:ext cx="1828800" cy="1295400"/>
            <a:chOff x="3312" y="1488"/>
            <a:chExt cx="1152" cy="816"/>
          </a:xfrm>
        </p:grpSpPr>
        <p:sp>
          <p:nvSpPr>
            <p:cNvPr id="11273" name="矩形 11272"/>
            <p:cNvSpPr/>
            <p:nvPr/>
          </p:nvSpPr>
          <p:spPr>
            <a:xfrm>
              <a:off x="3312" y="1488"/>
              <a:ext cx="1152" cy="816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274" name="文本框 11273"/>
            <p:cNvSpPr txBox="1"/>
            <p:nvPr/>
          </p:nvSpPr>
          <p:spPr>
            <a:xfrm>
              <a:off x="3456" y="1728"/>
              <a:ext cx="8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组合电路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276" name="组合 11275"/>
          <p:cNvGrpSpPr/>
          <p:nvPr/>
        </p:nvGrpSpPr>
        <p:grpSpPr>
          <a:xfrm>
            <a:off x="5799138" y="4114800"/>
            <a:ext cx="1828800" cy="1295400"/>
            <a:chOff x="3312" y="1488"/>
            <a:chExt cx="1152" cy="816"/>
          </a:xfrm>
        </p:grpSpPr>
        <p:sp>
          <p:nvSpPr>
            <p:cNvPr id="11277" name="矩形 11276"/>
            <p:cNvSpPr/>
            <p:nvPr/>
          </p:nvSpPr>
          <p:spPr>
            <a:xfrm>
              <a:off x="3312" y="1488"/>
              <a:ext cx="1152" cy="816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278" name="文本框 11277"/>
            <p:cNvSpPr txBox="1"/>
            <p:nvPr/>
          </p:nvSpPr>
          <p:spPr>
            <a:xfrm>
              <a:off x="3456" y="1728"/>
              <a:ext cx="8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存储电路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331" name="组合 11330"/>
          <p:cNvGrpSpPr/>
          <p:nvPr/>
        </p:nvGrpSpPr>
        <p:grpSpPr>
          <a:xfrm>
            <a:off x="7627938" y="2286000"/>
            <a:ext cx="1285875" cy="838200"/>
            <a:chOff x="4464" y="1440"/>
            <a:chExt cx="956" cy="528"/>
          </a:xfrm>
        </p:grpSpPr>
        <p:sp>
          <p:nvSpPr>
            <p:cNvPr id="11281" name="直接连接符 11280"/>
            <p:cNvSpPr/>
            <p:nvPr/>
          </p:nvSpPr>
          <p:spPr>
            <a:xfrm>
              <a:off x="4464" y="1584"/>
              <a:ext cx="62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282" name="直接连接符 11281"/>
            <p:cNvSpPr/>
            <p:nvPr/>
          </p:nvSpPr>
          <p:spPr>
            <a:xfrm>
              <a:off x="4464" y="1824"/>
              <a:ext cx="62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302" name="直接连接符 11301"/>
            <p:cNvSpPr/>
            <p:nvPr/>
          </p:nvSpPr>
          <p:spPr>
            <a:xfrm>
              <a:off x="4752" y="1632"/>
              <a:ext cx="0" cy="192"/>
            </a:xfrm>
            <a:prstGeom prst="line">
              <a:avLst/>
            </a:prstGeom>
            <a:ln w="38100" cap="rnd" cmpd="sng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11308" name="文本框 11307"/>
            <p:cNvSpPr txBox="1"/>
            <p:nvPr/>
          </p:nvSpPr>
          <p:spPr>
            <a:xfrm>
              <a:off x="5057" y="1440"/>
              <a:ext cx="36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Z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1309" name="文本框 11308"/>
            <p:cNvSpPr txBox="1"/>
            <p:nvPr/>
          </p:nvSpPr>
          <p:spPr>
            <a:xfrm>
              <a:off x="5040" y="1680"/>
              <a:ext cx="3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Z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n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335" name="组合 11334"/>
          <p:cNvGrpSpPr/>
          <p:nvPr/>
        </p:nvGrpSpPr>
        <p:grpSpPr>
          <a:xfrm>
            <a:off x="7627938" y="3124200"/>
            <a:ext cx="1439862" cy="2057400"/>
            <a:chOff x="4464" y="1968"/>
            <a:chExt cx="907" cy="1296"/>
          </a:xfrm>
        </p:grpSpPr>
        <p:grpSp>
          <p:nvGrpSpPr>
            <p:cNvPr id="11334" name="组合 11333"/>
            <p:cNvGrpSpPr/>
            <p:nvPr/>
          </p:nvGrpSpPr>
          <p:grpSpPr>
            <a:xfrm>
              <a:off x="4464" y="1968"/>
              <a:ext cx="528" cy="1296"/>
              <a:chOff x="4464" y="1968"/>
              <a:chExt cx="528" cy="1296"/>
            </a:xfrm>
          </p:grpSpPr>
          <p:grpSp>
            <p:nvGrpSpPr>
              <p:cNvPr id="11286" name="组合 11285"/>
              <p:cNvGrpSpPr/>
              <p:nvPr/>
            </p:nvGrpSpPr>
            <p:grpSpPr>
              <a:xfrm flipH="1" flipV="1">
                <a:off x="4464" y="2208"/>
                <a:ext cx="240" cy="528"/>
                <a:chOff x="3072" y="2208"/>
                <a:chExt cx="240" cy="528"/>
              </a:xfrm>
            </p:grpSpPr>
            <p:sp>
              <p:nvSpPr>
                <p:cNvPr id="11283" name="直接连接符 11282"/>
                <p:cNvSpPr/>
                <p:nvPr/>
              </p:nvSpPr>
              <p:spPr>
                <a:xfrm flipH="1">
                  <a:off x="3072" y="2736"/>
                  <a:ext cx="240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284" name="直接连接符 11283"/>
                <p:cNvSpPr/>
                <p:nvPr/>
              </p:nvSpPr>
              <p:spPr>
                <a:xfrm flipV="1">
                  <a:off x="3072" y="2208"/>
                  <a:ext cx="0" cy="528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285" name="直接连接符 11284"/>
                <p:cNvSpPr/>
                <p:nvPr/>
              </p:nvSpPr>
              <p:spPr>
                <a:xfrm>
                  <a:off x="3072" y="2208"/>
                  <a:ext cx="240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11295" name="组合 11294"/>
              <p:cNvGrpSpPr/>
              <p:nvPr/>
            </p:nvGrpSpPr>
            <p:grpSpPr>
              <a:xfrm flipH="1" flipV="1">
                <a:off x="4464" y="1968"/>
                <a:ext cx="528" cy="1296"/>
                <a:chOff x="2784" y="1968"/>
                <a:chExt cx="528" cy="1296"/>
              </a:xfrm>
            </p:grpSpPr>
            <p:sp>
              <p:nvSpPr>
                <p:cNvPr id="11296" name="直接连接符 11295"/>
                <p:cNvSpPr/>
                <p:nvPr/>
              </p:nvSpPr>
              <p:spPr>
                <a:xfrm flipH="1">
                  <a:off x="2784" y="3264"/>
                  <a:ext cx="52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297" name="直接连接符 11296"/>
                <p:cNvSpPr/>
                <p:nvPr/>
              </p:nvSpPr>
              <p:spPr>
                <a:xfrm flipV="1">
                  <a:off x="2784" y="1968"/>
                  <a:ext cx="0" cy="129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298" name="直接连接符 11297"/>
                <p:cNvSpPr/>
                <p:nvPr/>
              </p:nvSpPr>
              <p:spPr>
                <a:xfrm>
                  <a:off x="2784" y="1968"/>
                  <a:ext cx="52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  <p:sp>
            <p:nvSpPr>
              <p:cNvPr id="11304" name="直接连接符 11303"/>
              <p:cNvSpPr/>
              <p:nvPr/>
            </p:nvSpPr>
            <p:spPr>
              <a:xfrm>
                <a:off x="4608" y="2880"/>
                <a:ext cx="0" cy="192"/>
              </a:xfrm>
              <a:prstGeom prst="line">
                <a:avLst/>
              </a:prstGeom>
              <a:ln w="38100" cap="rnd" cmpd="sng">
                <a:solidFill>
                  <a:schemeClr val="tx1"/>
                </a:solidFill>
                <a:prstDash val="sysDot"/>
                <a:headEnd type="none" w="med" len="med"/>
                <a:tailEnd type="none" w="med" len="med"/>
              </a:ln>
            </p:spPr>
          </p:sp>
        </p:grpSp>
        <p:sp>
          <p:nvSpPr>
            <p:cNvPr id="11310" name="文本框 11309"/>
            <p:cNvSpPr txBox="1"/>
            <p:nvPr/>
          </p:nvSpPr>
          <p:spPr>
            <a:xfrm>
              <a:off x="4656" y="2282"/>
              <a:ext cx="3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W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1311" name="文本框 11310"/>
            <p:cNvSpPr txBox="1"/>
            <p:nvPr/>
          </p:nvSpPr>
          <p:spPr>
            <a:xfrm>
              <a:off x="4992" y="2256"/>
              <a:ext cx="37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 err="1">
                  <a:latin typeface="Times New Roman" panose="02020603050405020304" pitchFamily="18" charset="0"/>
                </a:rPr>
                <a:t>W</a:t>
              </a:r>
              <a:r>
                <a:rPr lang="en-US" altLang="zh-CN" baseline="-25000" err="1">
                  <a:latin typeface="Times New Roman" panose="02020603050405020304" pitchFamily="18" charset="0"/>
                </a:rPr>
                <a:t>h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330" name="组合 11329"/>
          <p:cNvGrpSpPr/>
          <p:nvPr/>
        </p:nvGrpSpPr>
        <p:grpSpPr>
          <a:xfrm>
            <a:off x="4454525" y="3124200"/>
            <a:ext cx="1344613" cy="2057400"/>
            <a:chOff x="2465" y="1968"/>
            <a:chExt cx="847" cy="1296"/>
          </a:xfrm>
        </p:grpSpPr>
        <p:grpSp>
          <p:nvGrpSpPr>
            <p:cNvPr id="11290" name="组合 11289"/>
            <p:cNvGrpSpPr/>
            <p:nvPr/>
          </p:nvGrpSpPr>
          <p:grpSpPr>
            <a:xfrm>
              <a:off x="2784" y="1968"/>
              <a:ext cx="528" cy="1296"/>
              <a:chOff x="2784" y="1968"/>
              <a:chExt cx="528" cy="1296"/>
            </a:xfrm>
          </p:grpSpPr>
          <p:sp>
            <p:nvSpPr>
              <p:cNvPr id="11287" name="直接连接符 11286"/>
              <p:cNvSpPr/>
              <p:nvPr/>
            </p:nvSpPr>
            <p:spPr>
              <a:xfrm flipH="1">
                <a:off x="2784" y="3264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88" name="直接连接符 11287"/>
              <p:cNvSpPr/>
              <p:nvPr/>
            </p:nvSpPr>
            <p:spPr>
              <a:xfrm flipV="1">
                <a:off x="2784" y="1968"/>
                <a:ext cx="0" cy="129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89" name="直接连接符 11288"/>
              <p:cNvSpPr/>
              <p:nvPr/>
            </p:nvSpPr>
            <p:spPr>
              <a:xfrm>
                <a:off x="2784" y="1968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11291" name="组合 11290"/>
            <p:cNvGrpSpPr/>
            <p:nvPr/>
          </p:nvGrpSpPr>
          <p:grpSpPr>
            <a:xfrm>
              <a:off x="3072" y="2208"/>
              <a:ext cx="240" cy="528"/>
              <a:chOff x="3072" y="2208"/>
              <a:chExt cx="240" cy="528"/>
            </a:xfrm>
          </p:grpSpPr>
          <p:sp>
            <p:nvSpPr>
              <p:cNvPr id="11292" name="直接连接符 11291"/>
              <p:cNvSpPr/>
              <p:nvPr/>
            </p:nvSpPr>
            <p:spPr>
              <a:xfrm flipH="1">
                <a:off x="3072" y="2736"/>
                <a:ext cx="24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93" name="直接连接符 11292"/>
              <p:cNvSpPr/>
              <p:nvPr/>
            </p:nvSpPr>
            <p:spPr>
              <a:xfrm flipV="1">
                <a:off x="3072" y="2208"/>
                <a:ext cx="0" cy="5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94" name="直接连接符 11293"/>
              <p:cNvSpPr/>
              <p:nvPr/>
            </p:nvSpPr>
            <p:spPr>
              <a:xfrm>
                <a:off x="3072" y="2208"/>
                <a:ext cx="24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11303" name="直接连接符 11302"/>
            <p:cNvSpPr/>
            <p:nvPr/>
          </p:nvSpPr>
          <p:spPr>
            <a:xfrm>
              <a:off x="3120" y="2880"/>
              <a:ext cx="0" cy="192"/>
            </a:xfrm>
            <a:prstGeom prst="line">
              <a:avLst/>
            </a:prstGeom>
            <a:ln w="38100" cap="rnd" cmpd="sng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11312" name="文本框 11311"/>
            <p:cNvSpPr txBox="1"/>
            <p:nvPr/>
          </p:nvSpPr>
          <p:spPr>
            <a:xfrm>
              <a:off x="2784" y="2186"/>
              <a:ext cx="31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Y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1313" name="文本框 11312"/>
            <p:cNvSpPr txBox="1"/>
            <p:nvPr/>
          </p:nvSpPr>
          <p:spPr>
            <a:xfrm>
              <a:off x="2465" y="2160"/>
              <a:ext cx="3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Y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K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329" name="组合 11328"/>
          <p:cNvGrpSpPr/>
          <p:nvPr/>
        </p:nvGrpSpPr>
        <p:grpSpPr>
          <a:xfrm>
            <a:off x="4495800" y="2286000"/>
            <a:ext cx="1303338" cy="838200"/>
            <a:chOff x="2369" y="1440"/>
            <a:chExt cx="943" cy="528"/>
          </a:xfrm>
        </p:grpSpPr>
        <p:sp>
          <p:nvSpPr>
            <p:cNvPr id="11279" name="直接连接符 11278"/>
            <p:cNvSpPr/>
            <p:nvPr/>
          </p:nvSpPr>
          <p:spPr>
            <a:xfrm>
              <a:off x="2688" y="1584"/>
              <a:ext cx="62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280" name="直接连接符 11279"/>
            <p:cNvSpPr/>
            <p:nvPr/>
          </p:nvSpPr>
          <p:spPr>
            <a:xfrm>
              <a:off x="2688" y="1824"/>
              <a:ext cx="62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301" name="直接连接符 11300"/>
            <p:cNvSpPr/>
            <p:nvPr/>
          </p:nvSpPr>
          <p:spPr>
            <a:xfrm>
              <a:off x="2928" y="1584"/>
              <a:ext cx="0" cy="192"/>
            </a:xfrm>
            <a:prstGeom prst="line">
              <a:avLst/>
            </a:prstGeom>
            <a:ln w="38100" cap="rnd" cmpd="sng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11305" name="文本框 11304"/>
            <p:cNvSpPr txBox="1"/>
            <p:nvPr/>
          </p:nvSpPr>
          <p:spPr>
            <a:xfrm>
              <a:off x="2369" y="1440"/>
              <a:ext cx="36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X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1307" name="文本框 11306"/>
            <p:cNvSpPr txBox="1"/>
            <p:nvPr/>
          </p:nvSpPr>
          <p:spPr>
            <a:xfrm>
              <a:off x="2369" y="1680"/>
              <a:ext cx="37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 err="1">
                  <a:latin typeface="Times New Roman" panose="02020603050405020304" pitchFamily="18" charset="0"/>
                </a:rPr>
                <a:t>X</a:t>
              </a:r>
              <a:r>
                <a:rPr lang="en-US" altLang="zh-CN" baseline="-25000" err="1">
                  <a:latin typeface="Times New Roman" panose="02020603050405020304" pitchFamily="18" charset="0"/>
                </a:rPr>
                <a:t>n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326" name="组合 11325"/>
          <p:cNvGrpSpPr/>
          <p:nvPr/>
        </p:nvGrpSpPr>
        <p:grpSpPr>
          <a:xfrm>
            <a:off x="4808538" y="5334000"/>
            <a:ext cx="1676400" cy="685800"/>
            <a:chOff x="2688" y="3360"/>
            <a:chExt cx="1056" cy="432"/>
          </a:xfrm>
        </p:grpSpPr>
        <p:sp>
          <p:nvSpPr>
            <p:cNvPr id="11322" name="圆角矩形标注 11321"/>
            <p:cNvSpPr/>
            <p:nvPr/>
          </p:nvSpPr>
          <p:spPr>
            <a:xfrm>
              <a:off x="2688" y="3360"/>
              <a:ext cx="1056" cy="432"/>
            </a:xfrm>
            <a:prstGeom prst="wedgeRoundRectCallout">
              <a:avLst>
                <a:gd name="adj1" fmla="val -13352"/>
                <a:gd name="adj2" fmla="val -130787"/>
                <a:gd name="adj3" fmla="val 16667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dirty="0">
                <a:latin typeface="Times New Roman" panose="02020603050405020304" pitchFamily="18" charset="0"/>
              </a:endParaRPr>
            </a:p>
          </p:txBody>
        </p:sp>
        <p:sp>
          <p:nvSpPr>
            <p:cNvPr id="11323" name="文本框 11322"/>
            <p:cNvSpPr txBox="1"/>
            <p:nvPr/>
          </p:nvSpPr>
          <p:spPr>
            <a:xfrm>
              <a:off x="2736" y="3408"/>
              <a:ext cx="892" cy="28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输出状态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11337" name="椭圆形标注 11336"/>
          <p:cNvSpPr/>
          <p:nvPr/>
        </p:nvSpPr>
        <p:spPr>
          <a:xfrm>
            <a:off x="7018338" y="5410200"/>
            <a:ext cx="1828800" cy="914400"/>
          </a:xfrm>
          <a:prstGeom prst="wedgeEllipseCallout">
            <a:avLst>
              <a:gd name="adj1" fmla="val -16579"/>
              <a:gd name="adj2" fmla="val -64236"/>
            </a:avLst>
          </a:prstGeom>
          <a:solidFill>
            <a:srgbClr val="FFCC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时钟信号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未注明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1342" name="文本框 11341"/>
          <p:cNvSpPr txBox="1"/>
          <p:nvPr/>
        </p:nvSpPr>
        <p:spPr>
          <a:xfrm>
            <a:off x="304800" y="2438400"/>
            <a:ext cx="17240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zh-CN" altLang="en-US" dirty="0">
                <a:latin typeface="Times New Roman" panose="02020603050405020304" pitchFamily="18" charset="0"/>
              </a:rPr>
              <a:t>输出方程：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1343" name="文本框 11342"/>
          <p:cNvSpPr txBox="1"/>
          <p:nvPr/>
        </p:nvSpPr>
        <p:spPr>
          <a:xfrm>
            <a:off x="230188" y="2971800"/>
            <a:ext cx="449421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Z</a:t>
            </a:r>
            <a:r>
              <a:rPr lang="zh-CN" altLang="en-US">
                <a:latin typeface="Times New Roman" panose="02020603050405020304" pitchFamily="18" charset="0"/>
              </a:rPr>
              <a:t>（</a:t>
            </a:r>
            <a:r>
              <a:rPr lang="en-US" altLang="zh-CN" err="1">
                <a:latin typeface="Times New Roman" panose="02020603050405020304" pitchFamily="18" charset="0"/>
              </a:rPr>
              <a:t>t</a:t>
            </a:r>
            <a:r>
              <a:rPr lang="en-US" altLang="zh-CN" baseline="-25000" err="1">
                <a:latin typeface="Times New Roman" panose="02020603050405020304" pitchFamily="18" charset="0"/>
              </a:rPr>
              <a:t>n</a:t>
            </a:r>
            <a:r>
              <a:rPr lang="zh-CN" altLang="en-US">
                <a:latin typeface="Times New Roman" panose="02020603050405020304" pitchFamily="18" charset="0"/>
              </a:rPr>
              <a:t>）   </a:t>
            </a:r>
            <a:r>
              <a:rPr lang="en-US" altLang="zh-CN">
                <a:latin typeface="Times New Roman" panose="02020603050405020304" pitchFamily="18" charset="0"/>
              </a:rPr>
              <a:t>= F[X</a:t>
            </a:r>
            <a:r>
              <a:rPr lang="zh-CN" altLang="en-US">
                <a:latin typeface="Times New Roman" panose="02020603050405020304" pitchFamily="18" charset="0"/>
              </a:rPr>
              <a:t>（</a:t>
            </a:r>
            <a:r>
              <a:rPr lang="en-US" altLang="zh-CN" err="1">
                <a:latin typeface="Times New Roman" panose="02020603050405020304" pitchFamily="18" charset="0"/>
              </a:rPr>
              <a:t>t</a:t>
            </a:r>
            <a:r>
              <a:rPr lang="en-US" altLang="zh-CN" baseline="-25000" err="1">
                <a:latin typeface="Times New Roman" panose="02020603050405020304" pitchFamily="18" charset="0"/>
              </a:rPr>
              <a:t>n</a:t>
            </a:r>
            <a:r>
              <a:rPr lang="zh-CN" altLang="en-US">
                <a:latin typeface="Times New Roman" panose="02020603050405020304" pitchFamily="18" charset="0"/>
              </a:rPr>
              <a:t>），</a:t>
            </a:r>
            <a:r>
              <a:rPr lang="en-US" altLang="zh-CN">
                <a:latin typeface="Times New Roman" panose="02020603050405020304" pitchFamily="18" charset="0"/>
              </a:rPr>
              <a:t>Y</a:t>
            </a:r>
            <a:r>
              <a:rPr lang="zh-CN" altLang="en-US">
                <a:latin typeface="Times New Roman" panose="02020603050405020304" pitchFamily="18" charset="0"/>
              </a:rPr>
              <a:t>（</a:t>
            </a:r>
            <a:r>
              <a:rPr lang="en-US" altLang="zh-CN" err="1">
                <a:latin typeface="Times New Roman" panose="02020603050405020304" pitchFamily="18" charset="0"/>
              </a:rPr>
              <a:t>t</a:t>
            </a:r>
            <a:r>
              <a:rPr lang="en-US" altLang="zh-CN" baseline="-25000" err="1">
                <a:latin typeface="Times New Roman" panose="02020603050405020304" pitchFamily="18" charset="0"/>
              </a:rPr>
              <a:t>n</a:t>
            </a:r>
            <a:r>
              <a:rPr lang="zh-CN" altLang="en-US">
                <a:latin typeface="Times New Roman" panose="02020603050405020304" pitchFamily="18" charset="0"/>
              </a:rPr>
              <a:t>）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1344" name="文本框 11343"/>
          <p:cNvSpPr txBox="1"/>
          <p:nvPr/>
        </p:nvSpPr>
        <p:spPr>
          <a:xfrm>
            <a:off x="228600" y="3505200"/>
            <a:ext cx="17240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zh-CN" altLang="en-US" dirty="0">
                <a:latin typeface="Times New Roman" panose="02020603050405020304" pitchFamily="18" charset="0"/>
              </a:rPr>
              <a:t>状态方程：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1345" name="文本框 11344"/>
          <p:cNvSpPr txBox="1"/>
          <p:nvPr/>
        </p:nvSpPr>
        <p:spPr>
          <a:xfrm>
            <a:off x="228600" y="4114800"/>
            <a:ext cx="46355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solidFill>
                  <a:schemeClr val="accent2"/>
                </a:solidFill>
                <a:latin typeface="Times New Roman" panose="02020603050405020304" pitchFamily="18" charset="0"/>
              </a:rPr>
              <a:t>Y</a:t>
            </a:r>
            <a:r>
              <a:rPr lang="zh-CN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n+1</a:t>
            </a:r>
            <a:r>
              <a:rPr lang="zh-CN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）</a:t>
            </a:r>
            <a:r>
              <a:rPr lang="en-US" altLang="zh-CN">
                <a:solidFill>
                  <a:schemeClr val="accent2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>
                <a:latin typeface="Times New Roman" panose="02020603050405020304" pitchFamily="18" charset="0"/>
              </a:rPr>
              <a:t> G[W</a:t>
            </a:r>
            <a:r>
              <a:rPr lang="zh-CN" altLang="en-US">
                <a:latin typeface="Times New Roman" panose="02020603050405020304" pitchFamily="18" charset="0"/>
              </a:rPr>
              <a:t>（</a:t>
            </a:r>
            <a:r>
              <a:rPr lang="en-US" altLang="zh-CN" err="1">
                <a:latin typeface="Times New Roman" panose="02020603050405020304" pitchFamily="18" charset="0"/>
              </a:rPr>
              <a:t>t</a:t>
            </a:r>
            <a:r>
              <a:rPr lang="en-US" altLang="zh-CN" baseline="-25000" err="1">
                <a:latin typeface="Times New Roman" panose="02020603050405020304" pitchFamily="18" charset="0"/>
              </a:rPr>
              <a:t>n</a:t>
            </a:r>
            <a:r>
              <a:rPr lang="zh-CN" altLang="en-US">
                <a:latin typeface="Times New Roman" panose="02020603050405020304" pitchFamily="18" charset="0"/>
              </a:rPr>
              <a:t>），</a:t>
            </a:r>
            <a:r>
              <a:rPr lang="en-US" altLang="zh-CN">
                <a:solidFill>
                  <a:schemeClr val="accent2"/>
                </a:solidFill>
                <a:latin typeface="Times New Roman" panose="02020603050405020304" pitchFamily="18" charset="0"/>
              </a:rPr>
              <a:t>Y</a:t>
            </a:r>
            <a:r>
              <a:rPr lang="zh-CN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err="1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aseline="-25000" err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）</a:t>
            </a:r>
            <a:r>
              <a:rPr lang="en-US" altLang="zh-CN">
                <a:solidFill>
                  <a:schemeClr val="accent2"/>
                </a:solidFill>
                <a:latin typeface="Times New Roman" panose="02020603050405020304" pitchFamily="18" charset="0"/>
              </a:rPr>
              <a:t>]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1346" name="文本框 11345"/>
          <p:cNvSpPr txBox="1"/>
          <p:nvPr/>
        </p:nvSpPr>
        <p:spPr>
          <a:xfrm>
            <a:off x="304800" y="4724400"/>
            <a:ext cx="15176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zh-CN" altLang="en-US" dirty="0">
                <a:latin typeface="Times New Roman" panose="02020603050405020304" pitchFamily="18" charset="0"/>
              </a:rPr>
              <a:t>控制方程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1347" name="文本框 11346"/>
          <p:cNvSpPr txBox="1"/>
          <p:nvPr/>
        </p:nvSpPr>
        <p:spPr>
          <a:xfrm>
            <a:off x="228600" y="5257800"/>
            <a:ext cx="45704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W</a:t>
            </a:r>
            <a:r>
              <a:rPr lang="zh-CN" altLang="en-US">
                <a:latin typeface="Times New Roman" panose="02020603050405020304" pitchFamily="18" charset="0"/>
              </a:rPr>
              <a:t>（</a:t>
            </a:r>
            <a:r>
              <a:rPr lang="en-US" altLang="zh-CN" err="1">
                <a:latin typeface="Times New Roman" panose="02020603050405020304" pitchFamily="18" charset="0"/>
              </a:rPr>
              <a:t>t</a:t>
            </a:r>
            <a:r>
              <a:rPr lang="en-US" altLang="zh-CN" baseline="-25000" err="1">
                <a:latin typeface="Times New Roman" panose="02020603050405020304" pitchFamily="18" charset="0"/>
              </a:rPr>
              <a:t>n</a:t>
            </a:r>
            <a:r>
              <a:rPr lang="zh-CN" altLang="en-US">
                <a:latin typeface="Times New Roman" panose="02020603050405020304" pitchFamily="18" charset="0"/>
              </a:rPr>
              <a:t>）  </a:t>
            </a:r>
            <a:r>
              <a:rPr lang="en-US" altLang="zh-CN">
                <a:latin typeface="Times New Roman" panose="02020603050405020304" pitchFamily="18" charset="0"/>
              </a:rPr>
              <a:t>= H[X</a:t>
            </a:r>
            <a:r>
              <a:rPr lang="zh-CN" altLang="en-US">
                <a:latin typeface="Times New Roman" panose="02020603050405020304" pitchFamily="18" charset="0"/>
              </a:rPr>
              <a:t>（</a:t>
            </a:r>
            <a:r>
              <a:rPr lang="en-US" altLang="zh-CN" err="1">
                <a:latin typeface="Times New Roman" panose="02020603050405020304" pitchFamily="18" charset="0"/>
              </a:rPr>
              <a:t>t</a:t>
            </a:r>
            <a:r>
              <a:rPr lang="en-US" altLang="zh-CN" baseline="-25000" err="1">
                <a:latin typeface="Times New Roman" panose="02020603050405020304" pitchFamily="18" charset="0"/>
              </a:rPr>
              <a:t>n</a:t>
            </a:r>
            <a:r>
              <a:rPr lang="zh-CN" altLang="en-US">
                <a:latin typeface="Times New Roman" panose="02020603050405020304" pitchFamily="18" charset="0"/>
              </a:rPr>
              <a:t>），</a:t>
            </a:r>
            <a:r>
              <a:rPr lang="en-US" altLang="zh-CN">
                <a:latin typeface="Times New Roman" panose="02020603050405020304" pitchFamily="18" charset="0"/>
              </a:rPr>
              <a:t>Y</a:t>
            </a:r>
            <a:r>
              <a:rPr lang="zh-CN" altLang="en-US">
                <a:latin typeface="Times New Roman" panose="02020603050405020304" pitchFamily="18" charset="0"/>
              </a:rPr>
              <a:t>（</a:t>
            </a:r>
            <a:r>
              <a:rPr lang="en-US" altLang="zh-CN" err="1">
                <a:latin typeface="Times New Roman" panose="02020603050405020304" pitchFamily="18" charset="0"/>
              </a:rPr>
              <a:t>t</a:t>
            </a:r>
            <a:r>
              <a:rPr lang="en-US" altLang="zh-CN" baseline="-25000" err="1">
                <a:latin typeface="Times New Roman" panose="02020603050405020304" pitchFamily="18" charset="0"/>
              </a:rPr>
              <a:t>n</a:t>
            </a:r>
            <a:r>
              <a:rPr lang="zh-CN" altLang="en-US">
                <a:latin typeface="Times New Roman" panose="02020603050405020304" pitchFamily="18" charset="0"/>
              </a:rPr>
              <a:t>）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11357" name="组合 11356"/>
          <p:cNvGrpSpPr/>
          <p:nvPr/>
        </p:nvGrpSpPr>
        <p:grpSpPr>
          <a:xfrm>
            <a:off x="228600" y="1524000"/>
            <a:ext cx="8686800" cy="4876800"/>
            <a:chOff x="144" y="960"/>
            <a:chExt cx="5472" cy="3072"/>
          </a:xfrm>
        </p:grpSpPr>
        <p:sp>
          <p:nvSpPr>
            <p:cNvPr id="11271" name="文本框 11270"/>
            <p:cNvSpPr txBox="1"/>
            <p:nvPr/>
          </p:nvSpPr>
          <p:spPr>
            <a:xfrm>
              <a:off x="240" y="1056"/>
              <a:ext cx="19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 sz="2800" dirty="0">
                  <a:solidFill>
                    <a:srgbClr val="A5002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  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时序电路的结构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1349" name="矩形 11348"/>
            <p:cNvSpPr/>
            <p:nvPr/>
          </p:nvSpPr>
          <p:spPr>
            <a:xfrm>
              <a:off x="144" y="960"/>
              <a:ext cx="5472" cy="3072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1325" name="组合 11324"/>
          <p:cNvGrpSpPr/>
          <p:nvPr/>
        </p:nvGrpSpPr>
        <p:grpSpPr>
          <a:xfrm>
            <a:off x="7018338" y="1447800"/>
            <a:ext cx="1676400" cy="685800"/>
            <a:chOff x="4464" y="912"/>
            <a:chExt cx="1056" cy="432"/>
          </a:xfrm>
        </p:grpSpPr>
        <p:sp>
          <p:nvSpPr>
            <p:cNvPr id="11318" name="圆角矩形标注 11317"/>
            <p:cNvSpPr/>
            <p:nvPr/>
          </p:nvSpPr>
          <p:spPr>
            <a:xfrm>
              <a:off x="4464" y="912"/>
              <a:ext cx="1056" cy="432"/>
            </a:xfrm>
            <a:prstGeom prst="wedgeRoundRectCallout">
              <a:avLst>
                <a:gd name="adj1" fmla="val 30968"/>
                <a:gd name="adj2" fmla="val 140509"/>
                <a:gd name="adj3" fmla="val 16667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dirty="0">
                <a:latin typeface="Times New Roman" panose="02020603050405020304" pitchFamily="18" charset="0"/>
              </a:endParaRPr>
            </a:p>
          </p:txBody>
        </p:sp>
        <p:sp>
          <p:nvSpPr>
            <p:cNvPr id="11319" name="文本框 11318"/>
            <p:cNvSpPr txBox="1"/>
            <p:nvPr/>
          </p:nvSpPr>
          <p:spPr>
            <a:xfrm>
              <a:off x="4560" y="1008"/>
              <a:ext cx="892" cy="28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输出信号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324" name="组合 11323"/>
          <p:cNvGrpSpPr/>
          <p:nvPr/>
        </p:nvGrpSpPr>
        <p:grpSpPr>
          <a:xfrm>
            <a:off x="3429000" y="1371600"/>
            <a:ext cx="1524000" cy="685800"/>
            <a:chOff x="1536" y="864"/>
            <a:chExt cx="960" cy="432"/>
          </a:xfrm>
        </p:grpSpPr>
        <p:sp>
          <p:nvSpPr>
            <p:cNvPr id="11314" name="圆角矩形标注 11313"/>
            <p:cNvSpPr/>
            <p:nvPr/>
          </p:nvSpPr>
          <p:spPr>
            <a:xfrm>
              <a:off x="1536" y="864"/>
              <a:ext cx="960" cy="432"/>
            </a:xfrm>
            <a:prstGeom prst="wedgeRoundRectCallout">
              <a:avLst>
                <a:gd name="adj1" fmla="val 29273"/>
                <a:gd name="adj2" fmla="val 149306"/>
                <a:gd name="adj3" fmla="val 16667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dirty="0">
                <a:latin typeface="Times New Roman" panose="02020603050405020304" pitchFamily="18" charset="0"/>
              </a:endParaRPr>
            </a:p>
          </p:txBody>
        </p:sp>
        <p:sp>
          <p:nvSpPr>
            <p:cNvPr id="11316" name="文本框 11315"/>
            <p:cNvSpPr txBox="1"/>
            <p:nvPr/>
          </p:nvSpPr>
          <p:spPr>
            <a:xfrm>
              <a:off x="1584" y="960"/>
              <a:ext cx="892" cy="28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输入信号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353" name="组合 11352"/>
          <p:cNvGrpSpPr/>
          <p:nvPr/>
        </p:nvGrpSpPr>
        <p:grpSpPr>
          <a:xfrm>
            <a:off x="3733800" y="3429000"/>
            <a:ext cx="2743200" cy="581025"/>
            <a:chOff x="2304" y="1824"/>
            <a:chExt cx="3024" cy="720"/>
          </a:xfrm>
        </p:grpSpPr>
        <p:sp>
          <p:nvSpPr>
            <p:cNvPr id="11351" name="圆角矩形标注 11350"/>
            <p:cNvSpPr/>
            <p:nvPr/>
          </p:nvSpPr>
          <p:spPr>
            <a:xfrm>
              <a:off x="2304" y="1824"/>
              <a:ext cx="3024" cy="720"/>
            </a:xfrm>
            <a:prstGeom prst="wedgeRoundRectCallout">
              <a:avLst>
                <a:gd name="adj1" fmla="val -48611"/>
                <a:gd name="adj2" fmla="val 65139"/>
                <a:gd name="adj3" fmla="val 16667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dirty="0">
                <a:latin typeface="Times New Roman" panose="02020603050405020304" pitchFamily="18" charset="0"/>
              </a:endParaRPr>
            </a:p>
          </p:txBody>
        </p:sp>
        <p:sp>
          <p:nvSpPr>
            <p:cNvPr id="11352" name="文本框 11351"/>
            <p:cNvSpPr txBox="1"/>
            <p:nvPr/>
          </p:nvSpPr>
          <p:spPr>
            <a:xfrm>
              <a:off x="2437" y="1930"/>
              <a:ext cx="2650" cy="567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现态</a:t>
              </a:r>
              <a:r>
                <a:rPr lang="zh-CN" altLang="en-US" dirty="0">
                  <a:latin typeface="Times New Roman" panose="02020603050405020304" pitchFamily="18" charset="0"/>
                </a:rPr>
                <a:t>，或</a:t>
              </a:r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原状态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356" name="组合 11355"/>
          <p:cNvGrpSpPr/>
          <p:nvPr/>
        </p:nvGrpSpPr>
        <p:grpSpPr>
          <a:xfrm>
            <a:off x="838200" y="3429000"/>
            <a:ext cx="2209800" cy="685800"/>
            <a:chOff x="288" y="1584"/>
            <a:chExt cx="1968" cy="960"/>
          </a:xfrm>
        </p:grpSpPr>
        <p:sp>
          <p:nvSpPr>
            <p:cNvPr id="11354" name="圆角矩形标注 11353"/>
            <p:cNvSpPr/>
            <p:nvPr/>
          </p:nvSpPr>
          <p:spPr>
            <a:xfrm>
              <a:off x="288" y="1584"/>
              <a:ext cx="1968" cy="960"/>
            </a:xfrm>
            <a:prstGeom prst="wedgeRoundRectCallout">
              <a:avLst>
                <a:gd name="adj1" fmla="val -41412"/>
                <a:gd name="adj2" fmla="val 58750"/>
                <a:gd name="adj3" fmla="val 16667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dirty="0">
                <a:latin typeface="Times New Roman" panose="02020603050405020304" pitchFamily="18" charset="0"/>
              </a:endParaRPr>
            </a:p>
          </p:txBody>
        </p:sp>
        <p:sp>
          <p:nvSpPr>
            <p:cNvPr id="11355" name="文本框 11354"/>
            <p:cNvSpPr txBox="1"/>
            <p:nvPr/>
          </p:nvSpPr>
          <p:spPr>
            <a:xfrm>
              <a:off x="288" y="1653"/>
              <a:ext cx="1968" cy="640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次态</a:t>
              </a:r>
              <a:r>
                <a:rPr lang="zh-CN" altLang="en-US" dirty="0">
                  <a:latin typeface="Times New Roman" panose="02020603050405020304" pitchFamily="18" charset="0"/>
                </a:rPr>
                <a:t>或</a:t>
              </a:r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新状态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1320" name="圆角矩形标注 11319"/>
          <p:cNvSpPr/>
          <p:nvPr/>
        </p:nvSpPr>
        <p:spPr>
          <a:xfrm>
            <a:off x="7772400" y="3962400"/>
            <a:ext cx="1371600" cy="685800"/>
          </a:xfrm>
          <a:prstGeom prst="wedgeRoundRectCallout">
            <a:avLst>
              <a:gd name="adj1" fmla="val -48019"/>
              <a:gd name="adj2" fmla="val 63426"/>
              <a:gd name="adj3" fmla="val 16667"/>
            </a:avLst>
          </a:prstGeom>
          <a:solidFill>
            <a:srgbClr val="FFCC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just" eaLnBrk="1" hangingPunct="1"/>
            <a:r>
              <a:rPr lang="zh-CN" altLang="en-US" dirty="0">
                <a:latin typeface="Times New Roman" panose="02020603050405020304" pitchFamily="18" charset="0"/>
              </a:rPr>
              <a:t>控制信号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1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1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1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1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1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1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1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300"/>
                                        <p:tgtEl>
                                          <p:spTgt spid="11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1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1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1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1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50" grpId="0"/>
      <p:bldP spid="11337" grpId="0" animBg="1"/>
      <p:bldP spid="11342" grpId="0"/>
      <p:bldP spid="11343" grpId="0"/>
      <p:bldP spid="11344" grpId="0"/>
      <p:bldP spid="11345" grpId="0"/>
      <p:bldP spid="11346" grpId="0"/>
      <p:bldP spid="11347" grpId="0"/>
      <p:bldP spid="113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1" name="矩形 12290"/>
          <p:cNvSpPr/>
          <p:nvPr/>
        </p:nvSpPr>
        <p:spPr>
          <a:xfrm>
            <a:off x="685800" y="304800"/>
            <a:ext cx="7772400" cy="7620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9525"/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 anchorCtr="0">
            <a:flatTx/>
          </a:bodyPr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sz="7200" b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时序电路概述</a:t>
            </a:r>
            <a:endParaRPr lang="zh-CN" altLang="en-US" sz="7200" b="1">
              <a:effectLst>
                <a:outerShdw blurRad="38100" dist="38100" dir="2700000">
                  <a:srgbClr val="FFFFFF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12312" name="组合 12311"/>
          <p:cNvGrpSpPr/>
          <p:nvPr/>
        </p:nvGrpSpPr>
        <p:grpSpPr>
          <a:xfrm>
            <a:off x="609600" y="1524000"/>
            <a:ext cx="8001000" cy="4648200"/>
            <a:chOff x="384" y="960"/>
            <a:chExt cx="5040" cy="2928"/>
          </a:xfrm>
        </p:grpSpPr>
        <p:sp>
          <p:nvSpPr>
            <p:cNvPr id="12292" name="矩形 12291"/>
            <p:cNvSpPr/>
            <p:nvPr/>
          </p:nvSpPr>
          <p:spPr>
            <a:xfrm>
              <a:off x="384" y="960"/>
              <a:ext cx="5040" cy="2928"/>
            </a:xfrm>
            <a:prstGeom prst="rect">
              <a:avLst/>
            </a:prstGeom>
            <a:noFill/>
            <a:ln w="57150" cap="flat" cmpd="thickThin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294" name="文本框 12293"/>
            <p:cNvSpPr txBox="1"/>
            <p:nvPr/>
          </p:nvSpPr>
          <p:spPr>
            <a:xfrm>
              <a:off x="518" y="1046"/>
              <a:ext cx="196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 sz="2800" dirty="0">
                  <a:solidFill>
                    <a:srgbClr val="A5002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  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时序电路的分类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12295" name="文本框 12294"/>
          <p:cNvSpPr txBox="1"/>
          <p:nvPr/>
        </p:nvSpPr>
        <p:spPr>
          <a:xfrm>
            <a:off x="898525" y="2251075"/>
            <a:ext cx="777716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、输出</a:t>
            </a:r>
            <a:r>
              <a:rPr lang="en-US" altLang="zh-CN">
                <a:latin typeface="Times New Roman" panose="02020603050405020304" pitchFamily="18" charset="0"/>
              </a:rPr>
              <a:t>Z</a:t>
            </a:r>
            <a:r>
              <a:rPr lang="zh-CN" altLang="en-US">
                <a:latin typeface="Times New Roman" panose="02020603050405020304" pitchFamily="18" charset="0"/>
              </a:rPr>
              <a:t>（</a:t>
            </a:r>
            <a:r>
              <a:rPr lang="en-US" altLang="zh-CN" err="1">
                <a:latin typeface="Times New Roman" panose="02020603050405020304" pitchFamily="18" charset="0"/>
              </a:rPr>
              <a:t>t</a:t>
            </a:r>
            <a:r>
              <a:rPr lang="en-US" altLang="zh-CN" baseline="-25000" err="1">
                <a:latin typeface="Times New Roman" panose="02020603050405020304" pitchFamily="18" charset="0"/>
              </a:rPr>
              <a:t>n</a:t>
            </a:r>
            <a:r>
              <a:rPr lang="zh-CN" altLang="en-US">
                <a:latin typeface="Times New Roman" panose="02020603050405020304" pitchFamily="18" charset="0"/>
              </a:rPr>
              <a:t>）</a:t>
            </a:r>
            <a:r>
              <a:rPr lang="zh-CN" altLang="en-US" dirty="0">
                <a:latin typeface="Times New Roman" panose="02020603050405020304" pitchFamily="18" charset="0"/>
              </a:rPr>
              <a:t>与现态</a:t>
            </a:r>
            <a:r>
              <a:rPr lang="en-US" altLang="zh-CN">
                <a:latin typeface="Times New Roman" panose="02020603050405020304" pitchFamily="18" charset="0"/>
              </a:rPr>
              <a:t>Y</a:t>
            </a:r>
            <a:r>
              <a:rPr lang="zh-CN" altLang="en-US">
                <a:latin typeface="Times New Roman" panose="02020603050405020304" pitchFamily="18" charset="0"/>
              </a:rPr>
              <a:t>（</a:t>
            </a:r>
            <a:r>
              <a:rPr lang="en-US" altLang="zh-CN" err="1">
                <a:latin typeface="Times New Roman" panose="02020603050405020304" pitchFamily="18" charset="0"/>
              </a:rPr>
              <a:t>t</a:t>
            </a:r>
            <a:r>
              <a:rPr lang="en-US" altLang="zh-CN" baseline="-25000" err="1">
                <a:latin typeface="Times New Roman" panose="02020603050405020304" pitchFamily="18" charset="0"/>
              </a:rPr>
              <a:t>n</a:t>
            </a:r>
            <a:r>
              <a:rPr lang="zh-CN" altLang="en-US">
                <a:latin typeface="Times New Roman" panose="02020603050405020304" pitchFamily="18" charset="0"/>
              </a:rPr>
              <a:t>）</a:t>
            </a:r>
            <a:r>
              <a:rPr lang="zh-CN" altLang="en-US" dirty="0">
                <a:latin typeface="Times New Roman" panose="02020603050405020304" pitchFamily="18" charset="0"/>
              </a:rPr>
              <a:t>及输入</a:t>
            </a:r>
            <a:r>
              <a:rPr lang="en-US" altLang="zh-CN">
                <a:latin typeface="Times New Roman" panose="02020603050405020304" pitchFamily="18" charset="0"/>
              </a:rPr>
              <a:t>X</a:t>
            </a:r>
            <a:r>
              <a:rPr lang="zh-CN" altLang="en-US">
                <a:latin typeface="Times New Roman" panose="02020603050405020304" pitchFamily="18" charset="0"/>
              </a:rPr>
              <a:t>（</a:t>
            </a:r>
            <a:r>
              <a:rPr lang="en-US" altLang="zh-CN" err="1">
                <a:latin typeface="Times New Roman" panose="02020603050405020304" pitchFamily="18" charset="0"/>
              </a:rPr>
              <a:t>t</a:t>
            </a:r>
            <a:r>
              <a:rPr lang="en-US" altLang="zh-CN" baseline="-25000" err="1">
                <a:latin typeface="Times New Roman" panose="02020603050405020304" pitchFamily="18" charset="0"/>
              </a:rPr>
              <a:t>n</a:t>
            </a:r>
            <a:r>
              <a:rPr lang="zh-CN" altLang="en-US">
                <a:latin typeface="Times New Roman" panose="02020603050405020304" pitchFamily="18" charset="0"/>
              </a:rPr>
              <a:t>）</a:t>
            </a:r>
            <a:r>
              <a:rPr lang="zh-CN" altLang="en-US" dirty="0">
                <a:latin typeface="Times New Roman" panose="02020603050405020304" pitchFamily="18" charset="0"/>
              </a:rPr>
              <a:t>的关系分：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2296" name="文本框 12295"/>
          <p:cNvSpPr txBox="1"/>
          <p:nvPr/>
        </p:nvSpPr>
        <p:spPr>
          <a:xfrm>
            <a:off x="685800" y="3048000"/>
            <a:ext cx="15430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Z</a:t>
            </a:r>
            <a:r>
              <a:rPr lang="zh-CN" altLang="en-US">
                <a:latin typeface="Times New Roman" panose="02020603050405020304" pitchFamily="18" charset="0"/>
              </a:rPr>
              <a:t>（</a:t>
            </a:r>
            <a:r>
              <a:rPr lang="en-US" altLang="zh-CN" err="1">
                <a:latin typeface="Times New Roman" panose="02020603050405020304" pitchFamily="18" charset="0"/>
              </a:rPr>
              <a:t>t</a:t>
            </a:r>
            <a:r>
              <a:rPr lang="en-US" altLang="zh-CN" baseline="-25000" err="1">
                <a:latin typeface="Times New Roman" panose="02020603050405020304" pitchFamily="18" charset="0"/>
              </a:rPr>
              <a:t>n</a:t>
            </a:r>
            <a:r>
              <a:rPr lang="zh-CN" altLang="en-US">
                <a:latin typeface="Times New Roman" panose="02020603050405020304" pitchFamily="18" charset="0"/>
              </a:rPr>
              <a:t>）  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2297" name="左大括号 12296"/>
          <p:cNvSpPr/>
          <p:nvPr/>
        </p:nvSpPr>
        <p:spPr>
          <a:xfrm>
            <a:off x="2286000" y="2895600"/>
            <a:ext cx="76200" cy="762000"/>
          </a:xfrm>
          <a:prstGeom prst="leftBrace">
            <a:avLst>
              <a:gd name="adj1" fmla="val 83333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2298" name="文本框 12297"/>
          <p:cNvSpPr txBox="1"/>
          <p:nvPr/>
        </p:nvSpPr>
        <p:spPr>
          <a:xfrm>
            <a:off x="2362200" y="2743200"/>
            <a:ext cx="16240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F[Y</a:t>
            </a:r>
            <a:r>
              <a:rPr lang="zh-CN" altLang="en-US">
                <a:latin typeface="Times New Roman" panose="02020603050405020304" pitchFamily="18" charset="0"/>
              </a:rPr>
              <a:t>（</a:t>
            </a:r>
            <a:r>
              <a:rPr lang="en-US" altLang="zh-CN" err="1">
                <a:latin typeface="Times New Roman" panose="02020603050405020304" pitchFamily="18" charset="0"/>
              </a:rPr>
              <a:t>t</a:t>
            </a:r>
            <a:r>
              <a:rPr lang="en-US" altLang="zh-CN" baseline="-25000" err="1">
                <a:latin typeface="Times New Roman" panose="02020603050405020304" pitchFamily="18" charset="0"/>
              </a:rPr>
              <a:t>n</a:t>
            </a:r>
            <a:r>
              <a:rPr lang="zh-CN" altLang="en-US">
                <a:latin typeface="Times New Roman" panose="02020603050405020304" pitchFamily="18" charset="0"/>
              </a:rPr>
              <a:t>）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2299" name="直接连接符 12298"/>
          <p:cNvSpPr/>
          <p:nvPr/>
        </p:nvSpPr>
        <p:spPr>
          <a:xfrm>
            <a:off x="4495800" y="2971800"/>
            <a:ext cx="457200" cy="0"/>
          </a:xfrm>
          <a:prstGeom prst="line">
            <a:avLst/>
          </a:prstGeom>
          <a:ln w="762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300" name="文本框 12299"/>
          <p:cNvSpPr txBox="1"/>
          <p:nvPr/>
        </p:nvSpPr>
        <p:spPr>
          <a:xfrm>
            <a:off x="5029200" y="2743200"/>
            <a:ext cx="32019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zh-CN" altLang="en-US" dirty="0">
                <a:latin typeface="Times New Roman" panose="02020603050405020304" pitchFamily="18" charset="0"/>
              </a:rPr>
              <a:t>穆尔型（</a:t>
            </a:r>
            <a:r>
              <a:rPr lang="en-US" altLang="zh-CN">
                <a:latin typeface="Times New Roman" panose="02020603050405020304" pitchFamily="18" charset="0"/>
              </a:rPr>
              <a:t>Moore</a:t>
            </a:r>
            <a:r>
              <a:rPr lang="zh-CN" altLang="en-US">
                <a:latin typeface="Times New Roman" panose="02020603050405020304" pitchFamily="18" charset="0"/>
              </a:rPr>
              <a:t>）</a:t>
            </a:r>
            <a:r>
              <a:rPr lang="zh-CN" altLang="en-US" dirty="0">
                <a:latin typeface="Times New Roman" panose="02020603050405020304" pitchFamily="18" charset="0"/>
              </a:rPr>
              <a:t>电路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2301" name="矩形 12300"/>
          <p:cNvSpPr/>
          <p:nvPr/>
        </p:nvSpPr>
        <p:spPr>
          <a:xfrm>
            <a:off x="2286000" y="3352800"/>
            <a:ext cx="29829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F[X</a:t>
            </a:r>
            <a:r>
              <a:rPr lang="zh-CN" altLang="en-US">
                <a:latin typeface="Times New Roman" panose="02020603050405020304" pitchFamily="18" charset="0"/>
              </a:rPr>
              <a:t>（</a:t>
            </a:r>
            <a:r>
              <a:rPr lang="en-US" altLang="zh-CN" err="1">
                <a:latin typeface="Times New Roman" panose="02020603050405020304" pitchFamily="18" charset="0"/>
              </a:rPr>
              <a:t>t</a:t>
            </a:r>
            <a:r>
              <a:rPr lang="en-US" altLang="zh-CN" baseline="-25000" err="1">
                <a:latin typeface="Times New Roman" panose="02020603050405020304" pitchFamily="18" charset="0"/>
              </a:rPr>
              <a:t>n</a:t>
            </a:r>
            <a:r>
              <a:rPr lang="zh-CN" altLang="en-US">
                <a:latin typeface="Times New Roman" panose="02020603050405020304" pitchFamily="18" charset="0"/>
              </a:rPr>
              <a:t>），</a:t>
            </a:r>
            <a:r>
              <a:rPr lang="en-US" altLang="zh-CN">
                <a:latin typeface="Times New Roman" panose="02020603050405020304" pitchFamily="18" charset="0"/>
              </a:rPr>
              <a:t>Y</a:t>
            </a:r>
            <a:r>
              <a:rPr lang="zh-CN" altLang="en-US">
                <a:latin typeface="Times New Roman" panose="02020603050405020304" pitchFamily="18" charset="0"/>
              </a:rPr>
              <a:t>（</a:t>
            </a:r>
            <a:r>
              <a:rPr lang="en-US" altLang="zh-CN" err="1">
                <a:latin typeface="Times New Roman" panose="02020603050405020304" pitchFamily="18" charset="0"/>
              </a:rPr>
              <a:t>t</a:t>
            </a:r>
            <a:r>
              <a:rPr lang="en-US" altLang="zh-CN" baseline="-25000" err="1">
                <a:latin typeface="Times New Roman" panose="02020603050405020304" pitchFamily="18" charset="0"/>
              </a:rPr>
              <a:t>n</a:t>
            </a:r>
            <a:r>
              <a:rPr lang="zh-CN" altLang="en-US">
                <a:latin typeface="Times New Roman" panose="02020603050405020304" pitchFamily="18" charset="0"/>
              </a:rPr>
              <a:t>）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2302" name="直接连接符 12301"/>
          <p:cNvSpPr/>
          <p:nvPr/>
        </p:nvSpPr>
        <p:spPr>
          <a:xfrm>
            <a:off x="5257800" y="3581400"/>
            <a:ext cx="457200" cy="0"/>
          </a:xfrm>
          <a:prstGeom prst="line">
            <a:avLst/>
          </a:prstGeom>
          <a:ln w="762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303" name="文本框 12302"/>
          <p:cNvSpPr txBox="1"/>
          <p:nvPr/>
        </p:nvSpPr>
        <p:spPr>
          <a:xfrm>
            <a:off x="5638800" y="3352800"/>
            <a:ext cx="253523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zh-CN" altLang="en-US" dirty="0">
                <a:latin typeface="Times New Roman" panose="02020603050405020304" pitchFamily="18" charset="0"/>
              </a:rPr>
              <a:t>米莱型（</a:t>
            </a:r>
            <a:r>
              <a:rPr lang="en-US" altLang="zh-CN">
                <a:latin typeface="Times New Roman" panose="02020603050405020304" pitchFamily="18" charset="0"/>
              </a:rPr>
              <a:t>Mealy</a:t>
            </a:r>
            <a:r>
              <a:rPr lang="zh-CN" altLang="en-US">
                <a:latin typeface="Times New Roman" panose="02020603050405020304" pitchFamily="18" charset="0"/>
              </a:rPr>
              <a:t>）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2304" name="文本框 12303"/>
          <p:cNvSpPr txBox="1"/>
          <p:nvPr/>
        </p:nvSpPr>
        <p:spPr>
          <a:xfrm>
            <a:off x="914400" y="3851275"/>
            <a:ext cx="49434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、从控制时序状态的脉冲源来分：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2305" name="文本框 12304"/>
          <p:cNvSpPr txBox="1"/>
          <p:nvPr/>
        </p:nvSpPr>
        <p:spPr>
          <a:xfrm>
            <a:off x="762000" y="4876800"/>
            <a:ext cx="16192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zh-CN" altLang="en-US" sz="2800" dirty="0">
                <a:latin typeface="Times New Roman" panose="02020603050405020304" pitchFamily="18" charset="0"/>
              </a:rPr>
              <a:t>时序电路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12306" name="左大括号 12305"/>
          <p:cNvSpPr/>
          <p:nvPr/>
        </p:nvSpPr>
        <p:spPr>
          <a:xfrm>
            <a:off x="2362200" y="4572000"/>
            <a:ext cx="76200" cy="1143000"/>
          </a:xfrm>
          <a:prstGeom prst="leftBrace">
            <a:avLst>
              <a:gd name="adj1" fmla="val 125000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2307" name="文本框 12306"/>
          <p:cNvSpPr txBox="1"/>
          <p:nvPr/>
        </p:nvSpPr>
        <p:spPr>
          <a:xfrm>
            <a:off x="2362200" y="4364038"/>
            <a:ext cx="11080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zh-CN" altLang="en-US" dirty="0">
                <a:latin typeface="Times New Roman" panose="02020603050405020304" pitchFamily="18" charset="0"/>
              </a:rPr>
              <a:t>同步：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2309" name="文本框 12308"/>
          <p:cNvSpPr txBox="1"/>
          <p:nvPr/>
        </p:nvSpPr>
        <p:spPr>
          <a:xfrm>
            <a:off x="2362200" y="5334000"/>
            <a:ext cx="11080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zh-CN" altLang="en-US" dirty="0">
                <a:latin typeface="Times New Roman" panose="02020603050405020304" pitchFamily="18" charset="0"/>
              </a:rPr>
              <a:t>异步：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2310" name="文本框 12309"/>
          <p:cNvSpPr txBox="1"/>
          <p:nvPr/>
        </p:nvSpPr>
        <p:spPr>
          <a:xfrm>
            <a:off x="3336925" y="4359275"/>
            <a:ext cx="5045075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 eaLnBrk="1" hangingPunct="1"/>
            <a:r>
              <a:rPr lang="zh-CN" altLang="en-US" dirty="0">
                <a:latin typeface="Times New Roman" panose="02020603050405020304" pitchFamily="18" charset="0"/>
              </a:rPr>
              <a:t>存储电路里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所有触发器</a:t>
            </a:r>
            <a:r>
              <a:rPr lang="zh-CN" altLang="en-US" dirty="0">
                <a:latin typeface="Times New Roman" panose="02020603050405020304" pitchFamily="18" charset="0"/>
              </a:rPr>
              <a:t>由一个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统一的时钟</a:t>
            </a:r>
            <a:r>
              <a:rPr lang="zh-CN" altLang="en-US" dirty="0">
                <a:latin typeface="Times New Roman" panose="02020603050405020304" pitchFamily="18" charset="0"/>
              </a:rPr>
              <a:t>脉冲源控制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311" name="文本框 12310"/>
          <p:cNvSpPr txBox="1"/>
          <p:nvPr/>
        </p:nvSpPr>
        <p:spPr>
          <a:xfrm>
            <a:off x="3260725" y="5334000"/>
            <a:ext cx="29559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zh-CN" altLang="en-US" dirty="0">
                <a:latin typeface="Times New Roman" panose="02020603050405020304" pitchFamily="18" charset="0"/>
              </a:rPr>
              <a:t>没有统一的时钟脉冲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5" grpId="0"/>
      <p:bldP spid="12296" grpId="0"/>
      <p:bldP spid="12298" grpId="0"/>
      <p:bldP spid="12300" grpId="0"/>
      <p:bldP spid="12301" grpId="0"/>
      <p:bldP spid="12303" grpId="0"/>
      <p:bldP spid="12304" grpId="0"/>
      <p:bldP spid="12305" grpId="0"/>
      <p:bldP spid="12307" grpId="0"/>
      <p:bldP spid="12309" grpId="0"/>
      <p:bldP spid="12310" grpId="0"/>
      <p:bldP spid="123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矩形 13313"/>
          <p:cNvSpPr/>
          <p:nvPr/>
        </p:nvSpPr>
        <p:spPr>
          <a:xfrm>
            <a:off x="685800" y="304800"/>
            <a:ext cx="7772400" cy="7620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9525"/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 anchorCtr="0">
            <a:flatTx/>
          </a:bodyPr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sz="6000" b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同步时序电路分析</a:t>
            </a:r>
            <a:endParaRPr lang="zh-CN" altLang="en-US" sz="7200" b="1">
              <a:effectLst>
                <a:outerShdw blurRad="38100" dist="38100" dir="2700000">
                  <a:srgbClr val="FFFFFF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13337" name="组合 13336"/>
          <p:cNvGrpSpPr/>
          <p:nvPr/>
        </p:nvGrpSpPr>
        <p:grpSpPr>
          <a:xfrm>
            <a:off x="2362200" y="1447800"/>
            <a:ext cx="3733800" cy="990600"/>
            <a:chOff x="1488" y="912"/>
            <a:chExt cx="2352" cy="624"/>
          </a:xfrm>
        </p:grpSpPr>
        <p:sp>
          <p:nvSpPr>
            <p:cNvPr id="13318" name="流程图: 可选过程 13317"/>
            <p:cNvSpPr/>
            <p:nvPr/>
          </p:nvSpPr>
          <p:spPr>
            <a:xfrm>
              <a:off x="1488" y="912"/>
              <a:ext cx="2352" cy="624"/>
            </a:xfrm>
            <a:prstGeom prst="flowChartAlternateProcess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319" name="文本框 13318"/>
            <p:cNvSpPr txBox="1"/>
            <p:nvPr/>
          </p:nvSpPr>
          <p:spPr>
            <a:xfrm>
              <a:off x="1680" y="912"/>
              <a:ext cx="205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写各触发器的</a:t>
              </a:r>
              <a:r>
                <a:rPr lang="zh-CN" altLang="en-US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控制函数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3320" name="文本框 13319"/>
          <p:cNvSpPr txBox="1"/>
          <p:nvPr/>
        </p:nvSpPr>
        <p:spPr>
          <a:xfrm>
            <a:off x="2667000" y="1905000"/>
            <a:ext cx="2647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zh-CN" altLang="en-US" dirty="0">
                <a:latin typeface="Times New Roman" panose="02020603050405020304" pitchFamily="18" charset="0"/>
              </a:rPr>
              <a:t>写电路的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输出函数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3321" name="直接连接符 13320"/>
          <p:cNvSpPr/>
          <p:nvPr/>
        </p:nvSpPr>
        <p:spPr>
          <a:xfrm>
            <a:off x="4267200" y="2438400"/>
            <a:ext cx="0" cy="30480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13345" name="组合 13344"/>
          <p:cNvGrpSpPr/>
          <p:nvPr/>
        </p:nvGrpSpPr>
        <p:grpSpPr>
          <a:xfrm>
            <a:off x="2362200" y="2743200"/>
            <a:ext cx="3733800" cy="762000"/>
            <a:chOff x="1488" y="1728"/>
            <a:chExt cx="2352" cy="480"/>
          </a:xfrm>
        </p:grpSpPr>
        <p:sp>
          <p:nvSpPr>
            <p:cNvPr id="13322" name="流程图: 可选过程 13321"/>
            <p:cNvSpPr/>
            <p:nvPr/>
          </p:nvSpPr>
          <p:spPr>
            <a:xfrm>
              <a:off x="1488" y="1728"/>
              <a:ext cx="2352" cy="480"/>
            </a:xfrm>
            <a:prstGeom prst="flowChartAlternateProcess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323" name="文本框 13322"/>
            <p:cNvSpPr txBox="1"/>
            <p:nvPr/>
          </p:nvSpPr>
          <p:spPr>
            <a:xfrm>
              <a:off x="1680" y="1837"/>
              <a:ext cx="185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写触发器的</a:t>
              </a:r>
              <a:r>
                <a:rPr lang="zh-CN" altLang="en-US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状态方程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13324" name="直接连接符 13323"/>
          <p:cNvSpPr/>
          <p:nvPr/>
        </p:nvSpPr>
        <p:spPr>
          <a:xfrm>
            <a:off x="4267200" y="3505200"/>
            <a:ext cx="0" cy="30480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13346" name="组合 13345"/>
          <p:cNvGrpSpPr/>
          <p:nvPr/>
        </p:nvGrpSpPr>
        <p:grpSpPr>
          <a:xfrm>
            <a:off x="2286000" y="3810000"/>
            <a:ext cx="3886200" cy="609600"/>
            <a:chOff x="1440" y="2400"/>
            <a:chExt cx="2448" cy="384"/>
          </a:xfrm>
        </p:grpSpPr>
        <p:sp>
          <p:nvSpPr>
            <p:cNvPr id="13325" name="流程图: 可选过程 13324"/>
            <p:cNvSpPr/>
            <p:nvPr/>
          </p:nvSpPr>
          <p:spPr>
            <a:xfrm>
              <a:off x="1440" y="2400"/>
              <a:ext cx="2448" cy="384"/>
            </a:xfrm>
            <a:prstGeom prst="flowChartAlternateProcess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326" name="文本框 13325"/>
            <p:cNvSpPr txBox="1"/>
            <p:nvPr/>
          </p:nvSpPr>
          <p:spPr>
            <a:xfrm>
              <a:off x="1440" y="2448"/>
              <a:ext cx="242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作</a:t>
              </a:r>
              <a:r>
                <a:rPr lang="zh-CN" altLang="en-US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状态转换表</a:t>
              </a:r>
              <a:r>
                <a:rPr lang="zh-CN" altLang="en-US" dirty="0">
                  <a:latin typeface="Times New Roman" panose="02020603050405020304" pitchFamily="18" charset="0"/>
                </a:rPr>
                <a:t>及</a:t>
              </a:r>
              <a:r>
                <a:rPr lang="zh-CN" altLang="en-US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状态转换图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13327" name="直接连接符 13326"/>
          <p:cNvSpPr/>
          <p:nvPr/>
        </p:nvSpPr>
        <p:spPr>
          <a:xfrm>
            <a:off x="4267200" y="4419600"/>
            <a:ext cx="0" cy="30480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13347" name="组合 13346"/>
          <p:cNvGrpSpPr/>
          <p:nvPr/>
        </p:nvGrpSpPr>
        <p:grpSpPr>
          <a:xfrm>
            <a:off x="2286000" y="4724400"/>
            <a:ext cx="3886200" cy="609600"/>
            <a:chOff x="1440" y="2976"/>
            <a:chExt cx="2448" cy="384"/>
          </a:xfrm>
        </p:grpSpPr>
        <p:sp>
          <p:nvSpPr>
            <p:cNvPr id="13328" name="文本框 13327"/>
            <p:cNvSpPr txBox="1"/>
            <p:nvPr/>
          </p:nvSpPr>
          <p:spPr>
            <a:xfrm>
              <a:off x="1968" y="3024"/>
              <a:ext cx="12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作</a:t>
              </a:r>
              <a:r>
                <a:rPr lang="zh-CN" altLang="en-US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时序波形图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3329" name="流程图: 可选过程 13328"/>
            <p:cNvSpPr/>
            <p:nvPr/>
          </p:nvSpPr>
          <p:spPr>
            <a:xfrm>
              <a:off x="1440" y="2976"/>
              <a:ext cx="2448" cy="384"/>
            </a:xfrm>
            <a:prstGeom prst="flowChartAlternateProcess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3330" name="直接连接符 13329"/>
          <p:cNvSpPr/>
          <p:nvPr/>
        </p:nvSpPr>
        <p:spPr>
          <a:xfrm>
            <a:off x="4267200" y="5334000"/>
            <a:ext cx="0" cy="30480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13348" name="组合 13347"/>
          <p:cNvGrpSpPr/>
          <p:nvPr/>
        </p:nvGrpSpPr>
        <p:grpSpPr>
          <a:xfrm>
            <a:off x="2286000" y="5638800"/>
            <a:ext cx="3886200" cy="609600"/>
            <a:chOff x="1440" y="3552"/>
            <a:chExt cx="2448" cy="384"/>
          </a:xfrm>
        </p:grpSpPr>
        <p:sp>
          <p:nvSpPr>
            <p:cNvPr id="13331" name="流程图: 可选过程 13330"/>
            <p:cNvSpPr/>
            <p:nvPr/>
          </p:nvSpPr>
          <p:spPr>
            <a:xfrm>
              <a:off x="1440" y="3552"/>
              <a:ext cx="2448" cy="384"/>
            </a:xfrm>
            <a:prstGeom prst="flowChartAlternateProcess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332" name="文本框 13331"/>
            <p:cNvSpPr txBox="1"/>
            <p:nvPr/>
          </p:nvSpPr>
          <p:spPr>
            <a:xfrm>
              <a:off x="1690" y="3600"/>
              <a:ext cx="186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得到电路的逻辑功能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3334" name="组合 13333"/>
          <p:cNvGrpSpPr/>
          <p:nvPr/>
        </p:nvGrpSpPr>
        <p:grpSpPr>
          <a:xfrm>
            <a:off x="990600" y="1219200"/>
            <a:ext cx="914400" cy="5181600"/>
            <a:chOff x="624" y="768"/>
            <a:chExt cx="576" cy="3264"/>
          </a:xfrm>
        </p:grpSpPr>
        <p:sp>
          <p:nvSpPr>
            <p:cNvPr id="13333" name="椭圆 13332"/>
            <p:cNvSpPr/>
            <p:nvPr/>
          </p:nvSpPr>
          <p:spPr>
            <a:xfrm>
              <a:off x="624" y="768"/>
              <a:ext cx="576" cy="3264"/>
            </a:xfrm>
            <a:prstGeom prst="ellipse">
              <a:avLst/>
            </a:prstGeom>
            <a:gradFill rotWithShape="0">
              <a:gsLst>
                <a:gs pos="0">
                  <a:srgbClr val="FFFF99">
                    <a:gamma/>
                    <a:shade val="46275"/>
                    <a:invGamma/>
                  </a:srgbClr>
                </a:gs>
                <a:gs pos="50000">
                  <a:srgbClr val="FFFF99"/>
                </a:gs>
                <a:gs pos="100000">
                  <a:srgbClr val="FFFF99">
                    <a:gamma/>
                    <a:shade val="46275"/>
                    <a:invGamma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315" name="文本框 13314"/>
            <p:cNvSpPr txBox="1"/>
            <p:nvPr/>
          </p:nvSpPr>
          <p:spPr>
            <a:xfrm>
              <a:off x="762" y="910"/>
              <a:ext cx="342" cy="297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sz="28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同</a:t>
              </a:r>
              <a:endParaRPr lang="zh-CN" altLang="en-US" sz="2800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sz="28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步</a:t>
              </a:r>
              <a:endParaRPr lang="zh-CN" altLang="en-US" sz="2800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sz="28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时</a:t>
              </a:r>
              <a:endParaRPr lang="zh-CN" altLang="en-US" sz="2800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sz="28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序</a:t>
              </a:r>
              <a:endParaRPr lang="zh-CN" altLang="en-US" sz="2800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sz="28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电</a:t>
              </a:r>
              <a:endParaRPr lang="zh-CN" altLang="en-US" sz="2800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sz="28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路</a:t>
              </a:r>
              <a:endParaRPr lang="zh-CN" altLang="en-US" sz="2800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sz="28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的</a:t>
              </a:r>
              <a:endParaRPr lang="zh-CN" altLang="en-US" sz="2800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sz="28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分</a:t>
              </a:r>
              <a:endParaRPr lang="zh-CN" altLang="en-US" sz="2800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sz="28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析</a:t>
              </a:r>
              <a:endParaRPr lang="zh-CN" altLang="en-US" sz="2800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sz="28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方</a:t>
              </a:r>
              <a:endParaRPr lang="zh-CN" altLang="en-US" sz="2800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法</a:t>
              </a:r>
              <a:endParaRPr lang="zh-CN" altLang="en-US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3351" name="组合 13350"/>
          <p:cNvGrpSpPr/>
          <p:nvPr/>
        </p:nvGrpSpPr>
        <p:grpSpPr>
          <a:xfrm>
            <a:off x="5943600" y="609600"/>
            <a:ext cx="2743200" cy="1066800"/>
            <a:chOff x="3744" y="384"/>
            <a:chExt cx="1728" cy="672"/>
          </a:xfrm>
        </p:grpSpPr>
        <p:sp>
          <p:nvSpPr>
            <p:cNvPr id="13335" name="圆角矩形标注 13334"/>
            <p:cNvSpPr/>
            <p:nvPr/>
          </p:nvSpPr>
          <p:spPr>
            <a:xfrm>
              <a:off x="3744" y="384"/>
              <a:ext cx="1728" cy="672"/>
            </a:xfrm>
            <a:prstGeom prst="wedgeRoundRectCallout">
              <a:avLst>
                <a:gd name="adj1" fmla="val -54921"/>
                <a:gd name="adj2" fmla="val 55356"/>
                <a:gd name="adj3" fmla="val 16667"/>
              </a:avLst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/>
            <a:p>
              <a:pPr algn="ctr" eaLnBrk="1" hangingPunct="1"/>
              <a:endParaRPr dirty="0">
                <a:latin typeface="Times New Roman" panose="02020603050405020304" pitchFamily="18" charset="0"/>
              </a:endParaRPr>
            </a:p>
          </p:txBody>
        </p:sp>
        <p:sp>
          <p:nvSpPr>
            <p:cNvPr id="13336" name="文本框 13335"/>
            <p:cNvSpPr txBox="1"/>
            <p:nvPr/>
          </p:nvSpPr>
          <p:spPr>
            <a:xfrm>
              <a:off x="3792" y="480"/>
              <a:ext cx="1680" cy="51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输入端的表达式，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如</a:t>
              </a:r>
              <a:r>
                <a:rPr lang="en-US" altLang="zh-CN">
                  <a:latin typeface="Times New Roman" panose="02020603050405020304" pitchFamily="18" charset="0"/>
                </a:rPr>
                <a:t>T</a:t>
              </a:r>
              <a:r>
                <a:rPr lang="zh-CN" altLang="en-US">
                  <a:latin typeface="Times New Roman" panose="02020603050405020304" pitchFamily="18" charset="0"/>
                </a:rPr>
                <a:t>、</a:t>
              </a:r>
              <a:r>
                <a:rPr lang="en-US" altLang="zh-CN">
                  <a:latin typeface="Times New Roman" panose="02020603050405020304" pitchFamily="18" charset="0"/>
                </a:rPr>
                <a:t>J</a:t>
              </a:r>
              <a:r>
                <a:rPr lang="zh-CN" altLang="en-US">
                  <a:latin typeface="Times New Roman" panose="02020603050405020304" pitchFamily="18" charset="0"/>
                </a:rPr>
                <a:t>、</a:t>
              </a:r>
              <a:r>
                <a:rPr lang="en-US" altLang="zh-CN">
                  <a:latin typeface="Times New Roman" panose="02020603050405020304" pitchFamily="18" charset="0"/>
                </a:rPr>
                <a:t>K</a:t>
              </a:r>
              <a:r>
                <a:rPr lang="zh-CN" altLang="en-US">
                  <a:latin typeface="Times New Roman" panose="02020603050405020304" pitchFamily="18" charset="0"/>
                </a:rPr>
                <a:t>、</a:t>
              </a:r>
              <a:r>
                <a:rPr lang="en-US" altLang="zh-CN">
                  <a:latin typeface="Times New Roman" panose="02020603050405020304" pitchFamily="18" charset="0"/>
                </a:rPr>
                <a:t>D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3340" name="组合 13339"/>
          <p:cNvGrpSpPr/>
          <p:nvPr/>
        </p:nvGrpSpPr>
        <p:grpSpPr>
          <a:xfrm>
            <a:off x="5638800" y="1905000"/>
            <a:ext cx="2895600" cy="457200"/>
            <a:chOff x="3552" y="1200"/>
            <a:chExt cx="1824" cy="288"/>
          </a:xfrm>
        </p:grpSpPr>
        <p:sp>
          <p:nvSpPr>
            <p:cNvPr id="13338" name="圆角矩形标注 13337"/>
            <p:cNvSpPr/>
            <p:nvPr/>
          </p:nvSpPr>
          <p:spPr>
            <a:xfrm>
              <a:off x="3552" y="1200"/>
              <a:ext cx="1824" cy="288"/>
            </a:xfrm>
            <a:prstGeom prst="wedgeRoundRectCallout">
              <a:avLst>
                <a:gd name="adj1" fmla="val -64750"/>
                <a:gd name="adj2" fmla="val -1736"/>
                <a:gd name="adj3" fmla="val 16667"/>
              </a:avLst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/>
            <a:p>
              <a:pPr algn="ctr" eaLnBrk="1" hangingPunct="1"/>
              <a:endParaRPr dirty="0">
                <a:latin typeface="Times New Roman" panose="02020603050405020304" pitchFamily="18" charset="0"/>
              </a:endParaRPr>
            </a:p>
          </p:txBody>
        </p:sp>
        <p:sp>
          <p:nvSpPr>
            <p:cNvPr id="13339" name="文本框 13338"/>
            <p:cNvSpPr txBox="1"/>
            <p:nvPr/>
          </p:nvSpPr>
          <p:spPr>
            <a:xfrm>
              <a:off x="3744" y="1200"/>
              <a:ext cx="1474" cy="28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组合电路的输出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3341" name="组合 13340"/>
          <p:cNvGrpSpPr/>
          <p:nvPr/>
        </p:nvGrpSpPr>
        <p:grpSpPr>
          <a:xfrm>
            <a:off x="5867400" y="2971800"/>
            <a:ext cx="1676400" cy="457200"/>
            <a:chOff x="3552" y="1200"/>
            <a:chExt cx="1824" cy="288"/>
          </a:xfrm>
        </p:grpSpPr>
        <p:sp>
          <p:nvSpPr>
            <p:cNvPr id="13342" name="圆角矩形标注 13341"/>
            <p:cNvSpPr/>
            <p:nvPr/>
          </p:nvSpPr>
          <p:spPr>
            <a:xfrm>
              <a:off x="3552" y="1200"/>
              <a:ext cx="1824" cy="288"/>
            </a:xfrm>
            <a:prstGeom prst="wedgeRoundRectCallout">
              <a:avLst>
                <a:gd name="adj1" fmla="val -64750"/>
                <a:gd name="adj2" fmla="val -1736"/>
                <a:gd name="adj3" fmla="val 16667"/>
              </a:avLst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/>
            <a:p>
              <a:pPr algn="ctr" eaLnBrk="1" hangingPunct="1"/>
              <a:endParaRPr dirty="0">
                <a:latin typeface="Times New Roman" panose="02020603050405020304" pitchFamily="18" charset="0"/>
              </a:endParaRPr>
            </a:p>
          </p:txBody>
        </p:sp>
        <p:sp>
          <p:nvSpPr>
            <p:cNvPr id="13343" name="文本框 13342"/>
            <p:cNvSpPr txBox="1"/>
            <p:nvPr/>
          </p:nvSpPr>
          <p:spPr>
            <a:xfrm>
              <a:off x="3745" y="1200"/>
              <a:ext cx="1541" cy="28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特性方程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3350" name="组合 13349"/>
          <p:cNvGrpSpPr/>
          <p:nvPr/>
        </p:nvGrpSpPr>
        <p:grpSpPr>
          <a:xfrm>
            <a:off x="2971800" y="2743200"/>
            <a:ext cx="2454275" cy="990600"/>
            <a:chOff x="1872" y="1728"/>
            <a:chExt cx="1546" cy="624"/>
          </a:xfrm>
        </p:grpSpPr>
        <p:sp>
          <p:nvSpPr>
            <p:cNvPr id="13344" name="圆角矩形标注 13343"/>
            <p:cNvSpPr/>
            <p:nvPr/>
          </p:nvSpPr>
          <p:spPr>
            <a:xfrm>
              <a:off x="1872" y="1728"/>
              <a:ext cx="1536" cy="624"/>
            </a:xfrm>
            <a:prstGeom prst="wedgeRoundRectCallout">
              <a:avLst>
                <a:gd name="adj1" fmla="val -46875"/>
                <a:gd name="adj2" fmla="val 76120"/>
                <a:gd name="adj3" fmla="val 16667"/>
              </a:avLst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/>
            <a:p>
              <a:pPr algn="ctr" eaLnBrk="1" hangingPunct="1"/>
              <a:endParaRPr dirty="0">
                <a:latin typeface="Times New Roman" panose="02020603050405020304" pitchFamily="18" charset="0"/>
              </a:endParaRPr>
            </a:p>
          </p:txBody>
        </p:sp>
        <p:sp>
          <p:nvSpPr>
            <p:cNvPr id="13349" name="文本框 13348"/>
            <p:cNvSpPr txBox="1"/>
            <p:nvPr/>
          </p:nvSpPr>
          <p:spPr>
            <a:xfrm>
              <a:off x="1920" y="1776"/>
              <a:ext cx="1498" cy="51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描述输入与状态转换关系的表格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3354" name="组合 13353"/>
          <p:cNvGrpSpPr/>
          <p:nvPr/>
        </p:nvGrpSpPr>
        <p:grpSpPr>
          <a:xfrm>
            <a:off x="5638800" y="4267200"/>
            <a:ext cx="2987675" cy="914400"/>
            <a:chOff x="3552" y="2688"/>
            <a:chExt cx="1882" cy="576"/>
          </a:xfrm>
        </p:grpSpPr>
        <p:sp>
          <p:nvSpPr>
            <p:cNvPr id="13352" name="圆角矩形标注 13351"/>
            <p:cNvSpPr/>
            <p:nvPr/>
          </p:nvSpPr>
          <p:spPr>
            <a:xfrm>
              <a:off x="3552" y="2688"/>
              <a:ext cx="1872" cy="576"/>
            </a:xfrm>
            <a:prstGeom prst="wedgeRoundRectCallout">
              <a:avLst>
                <a:gd name="adj1" fmla="val -67894"/>
                <a:gd name="adj2" fmla="val 37329"/>
                <a:gd name="adj3" fmla="val 16667"/>
              </a:avLst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/>
            <a:p>
              <a:pPr algn="ctr" eaLnBrk="1" hangingPunct="1"/>
              <a:endParaRPr dirty="0">
                <a:latin typeface="Times New Roman" panose="02020603050405020304" pitchFamily="18" charset="0"/>
              </a:endParaRPr>
            </a:p>
          </p:txBody>
        </p:sp>
        <p:sp>
          <p:nvSpPr>
            <p:cNvPr id="13353" name="文本框 13352"/>
            <p:cNvSpPr txBox="1"/>
            <p:nvPr/>
          </p:nvSpPr>
          <p:spPr>
            <a:xfrm>
              <a:off x="3552" y="2736"/>
              <a:ext cx="1882" cy="51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画出</a:t>
              </a:r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时钟脉冲</a:t>
              </a:r>
              <a:r>
                <a:rPr lang="zh-CN" altLang="en-US" dirty="0">
                  <a:latin typeface="Times New Roman" panose="02020603050405020304" pitchFamily="18" charset="0"/>
                </a:rPr>
                <a:t>作用下的输入、输出波形图</a:t>
              </a:r>
              <a:endParaRPr lang="zh-CN" altLang="en-US" b="0">
                <a:latin typeface="Times New Roman" panose="02020603050405020304" pitchFamily="18" charset="0"/>
              </a:endParaRPr>
            </a:p>
          </p:txBody>
        </p:sp>
      </p:grpSp>
      <p:pic>
        <p:nvPicPr>
          <p:cNvPr id="13355" name="图片 13354" descr="wb01508_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0" y="57912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56" name="文本框 13355">
            <a:hlinkClick r:id="rId1" action="ppaction://hlinksldjump"/>
          </p:cNvPr>
          <p:cNvSpPr txBox="1"/>
          <p:nvPr/>
        </p:nvSpPr>
        <p:spPr>
          <a:xfrm>
            <a:off x="7359650" y="58674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u="sng" dirty="0">
                <a:solidFill>
                  <a:schemeClr val="accent2"/>
                </a:solidFill>
                <a:latin typeface="Times New Roman" panose="02020603050405020304" pitchFamily="18" charset="0"/>
              </a:rPr>
              <a:t>返  回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13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3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3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3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33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3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3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3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3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13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3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 animBg="1"/>
      <p:bldP spid="133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矩形 8193"/>
          <p:cNvSpPr/>
          <p:nvPr/>
        </p:nvSpPr>
        <p:spPr>
          <a:xfrm>
            <a:off x="304800" y="228600"/>
            <a:ext cx="4419600" cy="5334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9525">
            <a:noFill/>
          </a:ln>
          <a:effectLst>
            <a:outerShdw sy="50000" kx="-2453608" algn="br" rotWithShape="0">
              <a:srgbClr val="808080"/>
            </a:outerShdw>
          </a:effectLst>
        </p:spPr>
        <p:txBody>
          <a:bodyPr anchor="ctr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sz="4000" b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同步时序电路分析</a:t>
            </a:r>
            <a:endParaRPr lang="zh-CN" altLang="en-US" sz="7200" b="1">
              <a:effectLst>
                <a:outerShdw blurRad="38100" dist="38100" dir="2700000">
                  <a:srgbClr val="FFFFFF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8222" name="组合 8221"/>
          <p:cNvGrpSpPr/>
          <p:nvPr/>
        </p:nvGrpSpPr>
        <p:grpSpPr>
          <a:xfrm>
            <a:off x="381000" y="1143000"/>
            <a:ext cx="8382000" cy="5105400"/>
            <a:chOff x="240" y="720"/>
            <a:chExt cx="5280" cy="3216"/>
          </a:xfrm>
        </p:grpSpPr>
        <p:graphicFrame>
          <p:nvGraphicFramePr>
            <p:cNvPr id="8196" name="对象 8195"/>
            <p:cNvGraphicFramePr/>
            <p:nvPr/>
          </p:nvGraphicFramePr>
          <p:xfrm>
            <a:off x="1917" y="1983"/>
            <a:ext cx="3555" cy="19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" r:id="rId1" imgW="3514725" imgH="1685925" progId="Paint.Picture">
                    <p:embed/>
                  </p:oleObj>
                </mc:Choice>
                <mc:Fallback>
                  <p:oleObj name="" r:id="rId1" imgW="3514725" imgH="1685925" progId="Paint.Picture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917" y="1983"/>
                          <a:ext cx="3555" cy="19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8221" name="组合 8220"/>
            <p:cNvGrpSpPr/>
            <p:nvPr/>
          </p:nvGrpSpPr>
          <p:grpSpPr>
            <a:xfrm>
              <a:off x="240" y="720"/>
              <a:ext cx="5280" cy="3216"/>
              <a:chOff x="240" y="720"/>
              <a:chExt cx="5280" cy="3216"/>
            </a:xfrm>
          </p:grpSpPr>
          <p:sp>
            <p:nvSpPr>
              <p:cNvPr id="8195" name="矩形 8194"/>
              <p:cNvSpPr/>
              <p:nvPr/>
            </p:nvSpPr>
            <p:spPr>
              <a:xfrm>
                <a:off x="240" y="720"/>
                <a:ext cx="5280" cy="3216"/>
              </a:xfrm>
              <a:prstGeom prst="rect">
                <a:avLst/>
              </a:prstGeom>
              <a:noFill/>
              <a:ln w="57150" cap="flat" cmpd="thinThick">
                <a:solidFill>
                  <a:srgbClr val="33CCCC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197" name="文本框 8196"/>
              <p:cNvSpPr txBox="1"/>
              <p:nvPr/>
            </p:nvSpPr>
            <p:spPr>
              <a:xfrm>
                <a:off x="278" y="733"/>
                <a:ext cx="519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l" eaLnBrk="1" hangingPunct="1"/>
                <a:r>
                  <a:rPr lang="zh-CN" altLang="en-US" dirty="0">
                    <a:latin typeface="黑体" panose="02010609060101010101" pitchFamily="2" charset="-122"/>
                    <a:ea typeface="黑体" panose="02010609060101010101" pitchFamily="2" charset="-122"/>
                  </a:rPr>
                  <a:t>例：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已知某同步时序电路的逻辑图，试分析电路的逻辑功能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8198" name="文本框 8197"/>
          <p:cNvSpPr txBox="1"/>
          <p:nvPr/>
        </p:nvSpPr>
        <p:spPr>
          <a:xfrm>
            <a:off x="457200" y="1697038"/>
            <a:ext cx="8001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zh-CN" altLang="en-US" dirty="0">
                <a:latin typeface="Times New Roman" panose="02020603050405020304" pitchFamily="18" charset="0"/>
              </a:rPr>
              <a:t>解：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8199" name="文本框 8198"/>
          <p:cNvSpPr txBox="1"/>
          <p:nvPr/>
        </p:nvSpPr>
        <p:spPr>
          <a:xfrm>
            <a:off x="1066800" y="1676400"/>
            <a:ext cx="62642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1.</a:t>
            </a:r>
            <a:r>
              <a:rPr lang="zh-CN" altLang="en-US" dirty="0">
                <a:latin typeface="Times New Roman" panose="02020603050405020304" pitchFamily="18" charset="0"/>
              </a:rPr>
              <a:t>写出各触发器的控制函数和电路的输出函数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8201" name="文本框 8200"/>
          <p:cNvSpPr txBox="1"/>
          <p:nvPr/>
        </p:nvSpPr>
        <p:spPr>
          <a:xfrm>
            <a:off x="1066800" y="2133600"/>
            <a:ext cx="17240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zh-CN" altLang="en-US" dirty="0">
                <a:latin typeface="Times New Roman" panose="02020603050405020304" pitchFamily="18" charset="0"/>
              </a:rPr>
              <a:t>控制函数：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8202" name="文本框 8201"/>
          <p:cNvSpPr txBox="1"/>
          <p:nvPr/>
        </p:nvSpPr>
        <p:spPr>
          <a:xfrm>
            <a:off x="2803525" y="2047875"/>
            <a:ext cx="1420813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 sz="2800">
                <a:latin typeface="Times New Roman" panose="02020603050405020304" pitchFamily="18" charset="0"/>
              </a:rPr>
              <a:t>T</a:t>
            </a:r>
            <a:r>
              <a:rPr lang="en-US" altLang="zh-CN" sz="2800" baseline="-25000">
                <a:latin typeface="Times New Roman" panose="02020603050405020304" pitchFamily="18" charset="0"/>
              </a:rPr>
              <a:t>1n </a:t>
            </a:r>
            <a:r>
              <a:rPr lang="en-US" altLang="zh-CN" sz="2800">
                <a:latin typeface="Times New Roman" panose="02020603050405020304" pitchFamily="18" charset="0"/>
              </a:rPr>
              <a:t>= </a:t>
            </a:r>
            <a:r>
              <a:rPr lang="en-US" altLang="zh-CN" sz="2800" err="1">
                <a:latin typeface="Times New Roman" panose="02020603050405020304" pitchFamily="18" charset="0"/>
              </a:rPr>
              <a:t>X</a:t>
            </a:r>
            <a:r>
              <a:rPr lang="en-US" altLang="zh-CN" sz="2800" baseline="-25000" err="1">
                <a:latin typeface="Times New Roman" panose="02020603050405020304" pitchFamily="18" charset="0"/>
              </a:rPr>
              <a:t>n</a:t>
            </a:r>
            <a:endParaRPr lang="en-US" altLang="zh-CN" sz="2800" baseline="-25000">
              <a:latin typeface="Times New Roman" panose="02020603050405020304" pitchFamily="18" charset="0"/>
            </a:endParaRPr>
          </a:p>
        </p:txBody>
      </p:sp>
      <p:sp>
        <p:nvSpPr>
          <p:cNvPr id="8203" name="矩形 8202"/>
          <p:cNvSpPr/>
          <p:nvPr/>
        </p:nvSpPr>
        <p:spPr>
          <a:xfrm>
            <a:off x="5791200" y="4038600"/>
            <a:ext cx="381000" cy="68580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8204" name="文本框 8203"/>
          <p:cNvSpPr txBox="1"/>
          <p:nvPr/>
        </p:nvSpPr>
        <p:spPr>
          <a:xfrm>
            <a:off x="6156325" y="4308475"/>
            <a:ext cx="635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1n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05" name="文本框 8204"/>
          <p:cNvSpPr txBox="1"/>
          <p:nvPr/>
        </p:nvSpPr>
        <p:spPr>
          <a:xfrm>
            <a:off x="6096000" y="3581400"/>
            <a:ext cx="4048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06" name="文本框 8205"/>
          <p:cNvSpPr txBox="1"/>
          <p:nvPr/>
        </p:nvSpPr>
        <p:spPr>
          <a:xfrm>
            <a:off x="4343400" y="2047875"/>
            <a:ext cx="19526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 sz="2800">
                <a:latin typeface="Times New Roman" panose="02020603050405020304" pitchFamily="18" charset="0"/>
              </a:rPr>
              <a:t>T</a:t>
            </a:r>
            <a:r>
              <a:rPr lang="en-US" altLang="zh-CN" sz="2800" baseline="-25000">
                <a:latin typeface="Times New Roman" panose="02020603050405020304" pitchFamily="18" charset="0"/>
              </a:rPr>
              <a:t>2n </a:t>
            </a:r>
            <a:r>
              <a:rPr lang="en-US" altLang="zh-CN" sz="2800">
                <a:latin typeface="Times New Roman" panose="02020603050405020304" pitchFamily="18" charset="0"/>
              </a:rPr>
              <a:t>= X</a:t>
            </a:r>
            <a:r>
              <a:rPr lang="en-US" altLang="zh-CN" sz="2800" baseline="-25000">
                <a:latin typeface="Times New Roman" panose="02020603050405020304" pitchFamily="18" charset="0"/>
              </a:rPr>
              <a:t>n</a:t>
            </a:r>
            <a:r>
              <a:rPr lang="en-US" altLang="zh-CN" sz="2800">
                <a:latin typeface="Times New Roman" panose="02020603050405020304" pitchFamily="18" charset="0"/>
              </a:rPr>
              <a:t>Q</a:t>
            </a:r>
            <a:r>
              <a:rPr lang="en-US" altLang="zh-CN" sz="2800" baseline="-25000">
                <a:latin typeface="Times New Roman" panose="02020603050405020304" pitchFamily="18" charset="0"/>
              </a:rPr>
              <a:t>1n</a:t>
            </a:r>
            <a:endParaRPr lang="en-US" altLang="zh-CN" baseline="-25000">
              <a:latin typeface="Times New Roman" panose="02020603050405020304" pitchFamily="18" charset="0"/>
            </a:endParaRPr>
          </a:p>
        </p:txBody>
      </p:sp>
      <p:sp>
        <p:nvSpPr>
          <p:cNvPr id="8207" name="文本框 8206"/>
          <p:cNvSpPr txBox="1"/>
          <p:nvPr/>
        </p:nvSpPr>
        <p:spPr>
          <a:xfrm>
            <a:off x="1022350" y="2611438"/>
            <a:ext cx="15176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zh-CN" altLang="en-US" dirty="0">
                <a:latin typeface="Times New Roman" panose="02020603050405020304" pitchFamily="18" charset="0"/>
              </a:rPr>
              <a:t>输出函数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8208" name="矩形 8207"/>
          <p:cNvSpPr/>
          <p:nvPr/>
        </p:nvSpPr>
        <p:spPr>
          <a:xfrm>
            <a:off x="3581400" y="3200400"/>
            <a:ext cx="381000" cy="68580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8209" name="文本框 8208"/>
          <p:cNvSpPr txBox="1"/>
          <p:nvPr/>
        </p:nvSpPr>
        <p:spPr>
          <a:xfrm>
            <a:off x="4038600" y="3276600"/>
            <a:ext cx="4048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10" name="文本框 8209"/>
          <p:cNvSpPr txBox="1"/>
          <p:nvPr/>
        </p:nvSpPr>
        <p:spPr>
          <a:xfrm>
            <a:off x="4013200" y="2971800"/>
            <a:ext cx="635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1n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11" name="文本框 8210"/>
          <p:cNvSpPr txBox="1"/>
          <p:nvPr/>
        </p:nvSpPr>
        <p:spPr>
          <a:xfrm>
            <a:off x="3937000" y="3581400"/>
            <a:ext cx="635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2n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12" name="文本框 8211"/>
          <p:cNvSpPr txBox="1"/>
          <p:nvPr/>
        </p:nvSpPr>
        <p:spPr>
          <a:xfrm>
            <a:off x="2803525" y="2505075"/>
            <a:ext cx="236378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 sz="2800">
                <a:latin typeface="Times New Roman" panose="02020603050405020304" pitchFamily="18" charset="0"/>
              </a:rPr>
              <a:t>Z</a:t>
            </a:r>
            <a:r>
              <a:rPr lang="en-US" altLang="zh-CN" sz="2800" baseline="-25000">
                <a:latin typeface="Times New Roman" panose="02020603050405020304" pitchFamily="18" charset="0"/>
              </a:rPr>
              <a:t>n </a:t>
            </a:r>
            <a:r>
              <a:rPr lang="en-US" altLang="zh-CN" sz="2800">
                <a:latin typeface="Times New Roman" panose="02020603050405020304" pitchFamily="18" charset="0"/>
              </a:rPr>
              <a:t>= X</a:t>
            </a:r>
            <a:r>
              <a:rPr lang="en-US" altLang="zh-CN" sz="2800" baseline="-25000">
                <a:latin typeface="Times New Roman" panose="02020603050405020304" pitchFamily="18" charset="0"/>
              </a:rPr>
              <a:t>n</a:t>
            </a:r>
            <a:r>
              <a:rPr lang="en-US" altLang="zh-CN" sz="2800">
                <a:latin typeface="Times New Roman" panose="02020603050405020304" pitchFamily="18" charset="0"/>
              </a:rPr>
              <a:t>Q</a:t>
            </a:r>
            <a:r>
              <a:rPr lang="en-US" altLang="zh-CN" sz="2800" baseline="-25000">
                <a:latin typeface="Times New Roman" panose="02020603050405020304" pitchFamily="18" charset="0"/>
              </a:rPr>
              <a:t>2n</a:t>
            </a:r>
            <a:r>
              <a:rPr lang="en-US" altLang="zh-CN" sz="2800">
                <a:latin typeface="Times New Roman" panose="02020603050405020304" pitchFamily="18" charset="0"/>
              </a:rPr>
              <a:t>Q</a:t>
            </a:r>
            <a:r>
              <a:rPr lang="en-US" altLang="zh-CN" sz="2800" baseline="-25000">
                <a:latin typeface="Times New Roman" panose="02020603050405020304" pitchFamily="18" charset="0"/>
              </a:rPr>
              <a:t>1n</a:t>
            </a:r>
            <a:endParaRPr lang="en-US" altLang="zh-CN" sz="2800" baseline="-25000">
              <a:latin typeface="Times New Roman" panose="02020603050405020304" pitchFamily="18" charset="0"/>
            </a:endParaRPr>
          </a:p>
        </p:txBody>
      </p:sp>
      <p:sp>
        <p:nvSpPr>
          <p:cNvPr id="8213" name="文本框 8212"/>
          <p:cNvSpPr txBox="1"/>
          <p:nvPr/>
        </p:nvSpPr>
        <p:spPr>
          <a:xfrm>
            <a:off x="441325" y="3165475"/>
            <a:ext cx="19399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2.</a:t>
            </a:r>
            <a:r>
              <a:rPr lang="zh-CN" altLang="en-US" dirty="0">
                <a:latin typeface="Times New Roman" panose="02020603050405020304" pitchFamily="18" charset="0"/>
              </a:rPr>
              <a:t>写状态方程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214" name="文本框 8213"/>
          <p:cNvSpPr txBox="1"/>
          <p:nvPr/>
        </p:nvSpPr>
        <p:spPr>
          <a:xfrm>
            <a:off x="517525" y="3775075"/>
            <a:ext cx="2301875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T</a:t>
            </a:r>
            <a:r>
              <a:rPr lang="zh-CN" altLang="en-US" dirty="0">
                <a:latin typeface="Times New Roman" panose="02020603050405020304" pitchFamily="18" charset="0"/>
              </a:rPr>
              <a:t>触发器的状态方程为：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8215" name="对象 8214"/>
          <p:cNvGraphicFramePr/>
          <p:nvPr/>
        </p:nvGraphicFramePr>
        <p:xfrm>
          <a:off x="304800" y="4600575"/>
          <a:ext cx="2824163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3" imgW="1167765" imgH="241300" progId="Equation.3">
                  <p:embed/>
                </p:oleObj>
              </mc:Choice>
              <mc:Fallback>
                <p:oleObj name="" r:id="rId3" imgW="1167765" imgH="2413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4800" y="4600575"/>
                        <a:ext cx="2824163" cy="581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6" name="对象 8215"/>
          <p:cNvGraphicFramePr/>
          <p:nvPr/>
        </p:nvGraphicFramePr>
        <p:xfrm>
          <a:off x="1143000" y="5257800"/>
          <a:ext cx="14478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5" imgW="596265" imgH="215900" progId="Equation.3">
                  <p:embed/>
                </p:oleObj>
              </mc:Choice>
              <mc:Fallback>
                <p:oleObj name="" r:id="rId5" imgW="596265" imgH="2159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43000" y="5257800"/>
                        <a:ext cx="1447800" cy="519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220" name="组合 8219"/>
          <p:cNvGrpSpPr/>
          <p:nvPr/>
        </p:nvGrpSpPr>
        <p:grpSpPr>
          <a:xfrm>
            <a:off x="2438400" y="5486400"/>
            <a:ext cx="3581400" cy="1143000"/>
            <a:chOff x="1536" y="3456"/>
            <a:chExt cx="2256" cy="720"/>
          </a:xfrm>
        </p:grpSpPr>
        <p:sp>
          <p:nvSpPr>
            <p:cNvPr id="8217" name="圆角矩形标注 8216"/>
            <p:cNvSpPr/>
            <p:nvPr/>
          </p:nvSpPr>
          <p:spPr>
            <a:xfrm>
              <a:off x="1536" y="3456"/>
              <a:ext cx="2256" cy="720"/>
            </a:xfrm>
            <a:prstGeom prst="wedgeRoundRectCallout">
              <a:avLst>
                <a:gd name="adj1" fmla="val -45611"/>
                <a:gd name="adj2" fmla="val -85556"/>
                <a:gd name="adj3" fmla="val 16667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dirty="0">
                <a:latin typeface="Times New Roman" panose="02020603050405020304" pitchFamily="18" charset="0"/>
              </a:endParaRPr>
            </a:p>
          </p:txBody>
        </p:sp>
        <p:sp>
          <p:nvSpPr>
            <p:cNvPr id="8218" name="文本框 8217"/>
            <p:cNvSpPr txBox="1"/>
            <p:nvPr/>
          </p:nvSpPr>
          <p:spPr>
            <a:xfrm>
              <a:off x="1632" y="3562"/>
              <a:ext cx="2122" cy="51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>
                  <a:latin typeface="Times New Roman" panose="02020603050405020304" pitchFamily="18" charset="0"/>
                </a:rPr>
                <a:t>将</a:t>
              </a:r>
              <a:r>
                <a:rPr lang="en-US" altLang="zh-CN">
                  <a:latin typeface="Times New Roman" panose="02020603050405020304" pitchFamily="18" charset="0"/>
                </a:rPr>
                <a:t>T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1n</a:t>
              </a:r>
              <a:r>
                <a:rPr lang="zh-CN" altLang="en-US" baseline="-25000">
                  <a:latin typeface="Times New Roman" panose="02020603050405020304" pitchFamily="18" charset="0"/>
                </a:rPr>
                <a:t>、 </a:t>
              </a:r>
              <a:r>
                <a:rPr lang="en-US" altLang="zh-CN">
                  <a:latin typeface="Times New Roman" panose="02020603050405020304" pitchFamily="18" charset="0"/>
                </a:rPr>
                <a:t>T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2n</a:t>
              </a:r>
              <a:r>
                <a:rPr lang="zh-CN" altLang="en-US" dirty="0">
                  <a:latin typeface="Times New Roman" panose="02020603050405020304" pitchFamily="18" charset="0"/>
                </a:rPr>
                <a:t>代入则得到两个触发器的状态方程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231" name="组合 8230"/>
          <p:cNvGrpSpPr/>
          <p:nvPr/>
        </p:nvGrpSpPr>
        <p:grpSpPr>
          <a:xfrm>
            <a:off x="3048000" y="3124200"/>
            <a:ext cx="5638800" cy="3048000"/>
            <a:chOff x="1920" y="1968"/>
            <a:chExt cx="3552" cy="1920"/>
          </a:xfrm>
        </p:grpSpPr>
        <p:sp>
          <p:nvSpPr>
            <p:cNvPr id="8223" name="矩形 8222" descr="蓝色砂纸"/>
            <p:cNvSpPr/>
            <p:nvPr/>
          </p:nvSpPr>
          <p:spPr>
            <a:xfrm>
              <a:off x="1920" y="1968"/>
              <a:ext cx="3552" cy="1920"/>
            </a:xfrm>
            <a:prstGeom prst="rect">
              <a:avLst/>
            </a:prstGeom>
            <a:blipFill rotWithShape="0">
              <a:blip r:embed="rId7"/>
            </a:blip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25" name="左大括号 8224"/>
            <p:cNvSpPr/>
            <p:nvPr/>
          </p:nvSpPr>
          <p:spPr>
            <a:xfrm>
              <a:off x="1920" y="2064"/>
              <a:ext cx="192" cy="1776"/>
            </a:xfrm>
            <a:prstGeom prst="leftBrace">
              <a:avLst>
                <a:gd name="adj1" fmla="val 77083"/>
                <a:gd name="adj2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aphicFrame>
        <p:nvGraphicFramePr>
          <p:cNvPr id="8226" name="对象 8225"/>
          <p:cNvGraphicFramePr/>
          <p:nvPr/>
        </p:nvGraphicFramePr>
        <p:xfrm>
          <a:off x="4148138" y="3921125"/>
          <a:ext cx="2786062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8" imgW="1078865" imgH="254000" progId="Equation.3">
                  <p:embed/>
                </p:oleObj>
              </mc:Choice>
              <mc:Fallback>
                <p:oleObj name="" r:id="rId8" imgW="1078865" imgH="2540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148138" y="3921125"/>
                        <a:ext cx="2786062" cy="650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7" name="对象 8226"/>
          <p:cNvGraphicFramePr/>
          <p:nvPr/>
        </p:nvGraphicFramePr>
        <p:xfrm>
          <a:off x="6705600" y="3911600"/>
          <a:ext cx="20574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0" imgW="711200" imgH="228600" progId="Equation.3">
                  <p:embed/>
                </p:oleObj>
              </mc:Choice>
              <mc:Fallback>
                <p:oleObj name="" r:id="rId10" imgW="711200" imgH="2286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705600" y="3911600"/>
                        <a:ext cx="2057400" cy="660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8" name="对象 8227"/>
          <p:cNvGraphicFramePr/>
          <p:nvPr/>
        </p:nvGraphicFramePr>
        <p:xfrm>
          <a:off x="3352800" y="4562475"/>
          <a:ext cx="46482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2" imgW="1522730" imgH="254000" progId="Equation.3">
                  <p:embed/>
                </p:oleObj>
              </mc:Choice>
              <mc:Fallback>
                <p:oleObj name="" r:id="rId12" imgW="1522730" imgH="2540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352800" y="4562475"/>
                        <a:ext cx="4648200" cy="771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9" name="对象 8228"/>
          <p:cNvGraphicFramePr/>
          <p:nvPr/>
        </p:nvGraphicFramePr>
        <p:xfrm>
          <a:off x="4191000" y="5297488"/>
          <a:ext cx="4191000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4" imgW="1534795" imgH="266065" progId="Equation.3">
                  <p:embed/>
                </p:oleObj>
              </mc:Choice>
              <mc:Fallback>
                <p:oleObj name="" r:id="rId14" imgW="1534795" imgH="266065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191000" y="5297488"/>
                        <a:ext cx="4191000" cy="722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4" name="对象 8223"/>
          <p:cNvGraphicFramePr/>
          <p:nvPr/>
        </p:nvGraphicFramePr>
        <p:xfrm>
          <a:off x="3352800" y="3124200"/>
          <a:ext cx="43434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6" imgW="1433830" imgH="254000" progId="Equation.3">
                  <p:embed/>
                </p:oleObj>
              </mc:Choice>
              <mc:Fallback>
                <p:oleObj name="" r:id="rId16" imgW="1433830" imgH="2540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352800" y="3124200"/>
                        <a:ext cx="4343400" cy="76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32" name="直接连接符 8231"/>
          <p:cNvSpPr/>
          <p:nvPr/>
        </p:nvSpPr>
        <p:spPr>
          <a:xfrm>
            <a:off x="3581400" y="2438400"/>
            <a:ext cx="1295400" cy="838200"/>
          </a:xfrm>
          <a:prstGeom prst="line">
            <a:avLst/>
          </a:prstGeom>
          <a:ln w="762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233" name="直接连接符 8232"/>
          <p:cNvSpPr/>
          <p:nvPr/>
        </p:nvSpPr>
        <p:spPr>
          <a:xfrm flipH="1">
            <a:off x="5029200" y="2438400"/>
            <a:ext cx="228600" cy="2362200"/>
          </a:xfrm>
          <a:prstGeom prst="line">
            <a:avLst/>
          </a:prstGeom>
          <a:ln w="76200" cap="flat" cmpd="sng">
            <a:solidFill>
              <a:srgbClr val="008000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" fill="hold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00" fill="hold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3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8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8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8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8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8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8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8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300"/>
                                        <p:tgtEl>
                                          <p:spTgt spid="8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8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8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8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8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8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8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82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8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8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8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82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8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8" grpId="0"/>
      <p:bldP spid="8199" grpId="0"/>
      <p:bldP spid="8201" grpId="0"/>
      <p:bldP spid="8202" grpId="0"/>
      <p:bldP spid="8204" grpId="0"/>
      <p:bldP spid="8205" grpId="0"/>
      <p:bldP spid="8206" grpId="0"/>
      <p:bldP spid="8207" grpId="0"/>
      <p:bldP spid="8209" grpId="0"/>
      <p:bldP spid="8210" grpId="0"/>
      <p:bldP spid="8211" grpId="0"/>
      <p:bldP spid="8212" grpId="0"/>
      <p:bldP spid="8213" grpId="0"/>
      <p:bldP spid="82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矩形 15361"/>
          <p:cNvSpPr/>
          <p:nvPr/>
        </p:nvSpPr>
        <p:spPr>
          <a:xfrm>
            <a:off x="304800" y="228600"/>
            <a:ext cx="4419600" cy="5334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9525">
            <a:noFill/>
          </a:ln>
          <a:effectLst>
            <a:outerShdw sy="50000" kx="-2453608" algn="br" rotWithShape="0">
              <a:srgbClr val="808080"/>
            </a:outerShdw>
          </a:effectLst>
        </p:spPr>
        <p:txBody>
          <a:bodyPr anchor="ctr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sz="4000" b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同步时序电路分析</a:t>
            </a:r>
            <a:endParaRPr lang="zh-CN" altLang="en-US" sz="7200" b="1">
              <a:effectLst>
                <a:outerShdw blurRad="38100" dist="38100" dir="2700000">
                  <a:srgbClr val="FFFFFF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5368" name="文本框 15367"/>
          <p:cNvSpPr txBox="1"/>
          <p:nvPr/>
        </p:nvSpPr>
        <p:spPr>
          <a:xfrm>
            <a:off x="533400" y="1066800"/>
            <a:ext cx="5340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3.</a:t>
            </a:r>
            <a:r>
              <a:rPr lang="zh-CN" altLang="en-US" dirty="0">
                <a:latin typeface="Times New Roman" panose="02020603050405020304" pitchFamily="18" charset="0"/>
              </a:rPr>
              <a:t>作出电路的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状态转换表</a:t>
            </a:r>
            <a:r>
              <a:rPr lang="zh-CN" altLang="en-US" dirty="0">
                <a:latin typeface="Times New Roman" panose="02020603050405020304" pitchFamily="18" charset="0"/>
              </a:rPr>
              <a:t>及状态转换图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15370" name="组合 15369"/>
          <p:cNvGrpSpPr/>
          <p:nvPr/>
        </p:nvGrpSpPr>
        <p:grpSpPr>
          <a:xfrm>
            <a:off x="2743200" y="152400"/>
            <a:ext cx="2454275" cy="881063"/>
            <a:chOff x="1872" y="1728"/>
            <a:chExt cx="1546" cy="722"/>
          </a:xfrm>
        </p:grpSpPr>
        <p:sp>
          <p:nvSpPr>
            <p:cNvPr id="15371" name="圆角矩形标注 15370"/>
            <p:cNvSpPr/>
            <p:nvPr/>
          </p:nvSpPr>
          <p:spPr>
            <a:xfrm>
              <a:off x="1872" y="1728"/>
              <a:ext cx="1536" cy="624"/>
            </a:xfrm>
            <a:prstGeom prst="wedgeRoundRectCallout">
              <a:avLst>
                <a:gd name="adj1" fmla="val -46875"/>
                <a:gd name="adj2" fmla="val 76120"/>
                <a:gd name="adj3" fmla="val 16667"/>
              </a:avLst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/>
            <a:p>
              <a:pPr algn="ctr" eaLnBrk="1" hangingPunct="1"/>
              <a:endParaRPr dirty="0">
                <a:latin typeface="Times New Roman" panose="02020603050405020304" pitchFamily="18" charset="0"/>
              </a:endParaRPr>
            </a:p>
          </p:txBody>
        </p:sp>
        <p:sp>
          <p:nvSpPr>
            <p:cNvPr id="15372" name="文本框 15371"/>
            <p:cNvSpPr txBox="1"/>
            <p:nvPr/>
          </p:nvSpPr>
          <p:spPr>
            <a:xfrm>
              <a:off x="1920" y="1776"/>
              <a:ext cx="1498" cy="674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描述输入与状态转换关系的表格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5410" name="组合 15409"/>
          <p:cNvGrpSpPr/>
          <p:nvPr/>
        </p:nvGrpSpPr>
        <p:grpSpPr>
          <a:xfrm>
            <a:off x="2362200" y="1828800"/>
            <a:ext cx="6324600" cy="4267200"/>
            <a:chOff x="1488" y="1152"/>
            <a:chExt cx="3984" cy="2688"/>
          </a:xfrm>
        </p:grpSpPr>
        <p:sp>
          <p:nvSpPr>
            <p:cNvPr id="15374" name="矩形 15373"/>
            <p:cNvSpPr/>
            <p:nvPr/>
          </p:nvSpPr>
          <p:spPr>
            <a:xfrm>
              <a:off x="1488" y="1152"/>
              <a:ext cx="3984" cy="268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5375" name="直接连接符 15374"/>
            <p:cNvSpPr/>
            <p:nvPr/>
          </p:nvSpPr>
          <p:spPr>
            <a:xfrm>
              <a:off x="1488" y="1440"/>
              <a:ext cx="39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78" name="直接连接符 15377"/>
            <p:cNvSpPr/>
            <p:nvPr/>
          </p:nvSpPr>
          <p:spPr>
            <a:xfrm>
              <a:off x="1488" y="1728"/>
              <a:ext cx="39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79" name="直接连接符 15378"/>
            <p:cNvSpPr/>
            <p:nvPr/>
          </p:nvSpPr>
          <p:spPr>
            <a:xfrm>
              <a:off x="2049" y="1152"/>
              <a:ext cx="0" cy="26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81" name="直接连接符 15380"/>
            <p:cNvSpPr/>
            <p:nvPr/>
          </p:nvSpPr>
          <p:spPr>
            <a:xfrm>
              <a:off x="2891" y="1152"/>
              <a:ext cx="0" cy="26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83" name="直接连接符 15382"/>
            <p:cNvSpPr/>
            <p:nvPr/>
          </p:nvSpPr>
          <p:spPr>
            <a:xfrm>
              <a:off x="3840" y="1152"/>
              <a:ext cx="0" cy="26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85" name="直接连接符 15384"/>
            <p:cNvSpPr/>
            <p:nvPr/>
          </p:nvSpPr>
          <p:spPr>
            <a:xfrm>
              <a:off x="4800" y="1152"/>
              <a:ext cx="0" cy="26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5405" name="组合 15404"/>
          <p:cNvGrpSpPr/>
          <p:nvPr/>
        </p:nvGrpSpPr>
        <p:grpSpPr>
          <a:xfrm>
            <a:off x="2362200" y="1849438"/>
            <a:ext cx="876300" cy="893762"/>
            <a:chOff x="1488" y="1165"/>
            <a:chExt cx="552" cy="563"/>
          </a:xfrm>
        </p:grpSpPr>
        <p:sp>
          <p:nvSpPr>
            <p:cNvPr id="15376" name="文本框 15375"/>
            <p:cNvSpPr txBox="1"/>
            <p:nvPr/>
          </p:nvSpPr>
          <p:spPr>
            <a:xfrm>
              <a:off x="1488" y="1165"/>
              <a:ext cx="55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现 入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5388" name="文本框 15387"/>
            <p:cNvSpPr txBox="1"/>
            <p:nvPr/>
          </p:nvSpPr>
          <p:spPr>
            <a:xfrm>
              <a:off x="1632" y="1440"/>
              <a:ext cx="32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 err="1">
                  <a:latin typeface="Times New Roman" panose="02020603050405020304" pitchFamily="18" charset="0"/>
                </a:rPr>
                <a:t>X</a:t>
              </a:r>
              <a:r>
                <a:rPr lang="en-US" altLang="zh-CN" baseline="-25000" err="1">
                  <a:latin typeface="Times New Roman" panose="02020603050405020304" pitchFamily="18" charset="0"/>
                </a:rPr>
                <a:t>n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5406" name="组合 15405"/>
          <p:cNvGrpSpPr/>
          <p:nvPr/>
        </p:nvGrpSpPr>
        <p:grpSpPr>
          <a:xfrm>
            <a:off x="3352800" y="1849438"/>
            <a:ext cx="1238250" cy="893762"/>
            <a:chOff x="2112" y="1165"/>
            <a:chExt cx="780" cy="563"/>
          </a:xfrm>
        </p:grpSpPr>
        <p:sp>
          <p:nvSpPr>
            <p:cNvPr id="15380" name="文本框 15379"/>
            <p:cNvSpPr txBox="1"/>
            <p:nvPr/>
          </p:nvSpPr>
          <p:spPr>
            <a:xfrm>
              <a:off x="2208" y="1165"/>
              <a:ext cx="55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现 态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5389" name="文本框 15388"/>
            <p:cNvSpPr txBox="1"/>
            <p:nvPr/>
          </p:nvSpPr>
          <p:spPr>
            <a:xfrm>
              <a:off x="2112" y="1440"/>
              <a:ext cx="7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Q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2n</a:t>
              </a:r>
              <a:r>
                <a:rPr lang="en-US" altLang="zh-CN">
                  <a:latin typeface="Times New Roman" panose="02020603050405020304" pitchFamily="18" charset="0"/>
                </a:rPr>
                <a:t>  Q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1n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5407" name="组合 15406"/>
          <p:cNvGrpSpPr/>
          <p:nvPr/>
        </p:nvGrpSpPr>
        <p:grpSpPr>
          <a:xfrm>
            <a:off x="4648200" y="1828800"/>
            <a:ext cx="1416050" cy="914400"/>
            <a:chOff x="2928" y="1152"/>
            <a:chExt cx="892" cy="576"/>
          </a:xfrm>
        </p:grpSpPr>
        <p:sp>
          <p:nvSpPr>
            <p:cNvPr id="15382" name="文本框 15381"/>
            <p:cNvSpPr txBox="1"/>
            <p:nvPr/>
          </p:nvSpPr>
          <p:spPr>
            <a:xfrm>
              <a:off x="2928" y="1152"/>
              <a:ext cx="8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现控制入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5390" name="文本框 15389"/>
            <p:cNvSpPr txBox="1"/>
            <p:nvPr/>
          </p:nvSpPr>
          <p:spPr>
            <a:xfrm>
              <a:off x="2976" y="1440"/>
              <a:ext cx="73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T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2n</a:t>
              </a:r>
              <a:r>
                <a:rPr lang="en-US" altLang="zh-CN">
                  <a:latin typeface="Times New Roman" panose="02020603050405020304" pitchFamily="18" charset="0"/>
                </a:rPr>
                <a:t>  T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1n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5411" name="组合 15410"/>
          <p:cNvGrpSpPr/>
          <p:nvPr/>
        </p:nvGrpSpPr>
        <p:grpSpPr>
          <a:xfrm>
            <a:off x="6099175" y="1849438"/>
            <a:ext cx="1597025" cy="893762"/>
            <a:chOff x="3842" y="1165"/>
            <a:chExt cx="1006" cy="563"/>
          </a:xfrm>
        </p:grpSpPr>
        <p:sp>
          <p:nvSpPr>
            <p:cNvPr id="15384" name="文本框 15383"/>
            <p:cNvSpPr txBox="1"/>
            <p:nvPr/>
          </p:nvSpPr>
          <p:spPr>
            <a:xfrm>
              <a:off x="3984" y="1165"/>
              <a:ext cx="6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次  态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5391" name="文本框 15390"/>
            <p:cNvSpPr txBox="1"/>
            <p:nvPr/>
          </p:nvSpPr>
          <p:spPr>
            <a:xfrm>
              <a:off x="3842" y="1440"/>
              <a:ext cx="100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Q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2n+1</a:t>
              </a:r>
              <a:r>
                <a:rPr lang="en-US" altLang="zh-CN">
                  <a:latin typeface="Times New Roman" panose="02020603050405020304" pitchFamily="18" charset="0"/>
                </a:rPr>
                <a:t> Q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1n+1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5409" name="组合 15408"/>
          <p:cNvGrpSpPr/>
          <p:nvPr/>
        </p:nvGrpSpPr>
        <p:grpSpPr>
          <a:xfrm>
            <a:off x="7620000" y="1828800"/>
            <a:ext cx="1108075" cy="914400"/>
            <a:chOff x="4800" y="1152"/>
            <a:chExt cx="698" cy="576"/>
          </a:xfrm>
        </p:grpSpPr>
        <p:sp>
          <p:nvSpPr>
            <p:cNvPr id="15386" name="文本框 15385"/>
            <p:cNvSpPr txBox="1"/>
            <p:nvPr/>
          </p:nvSpPr>
          <p:spPr>
            <a:xfrm>
              <a:off x="4800" y="1152"/>
              <a:ext cx="69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现输出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5392" name="文本框 15391"/>
            <p:cNvSpPr txBox="1"/>
            <p:nvPr/>
          </p:nvSpPr>
          <p:spPr>
            <a:xfrm>
              <a:off x="4992" y="1440"/>
              <a:ext cx="31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Z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n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5404" name="组合 15403"/>
          <p:cNvGrpSpPr/>
          <p:nvPr/>
        </p:nvGrpSpPr>
        <p:grpSpPr>
          <a:xfrm>
            <a:off x="2438400" y="228600"/>
            <a:ext cx="5105400" cy="1673225"/>
            <a:chOff x="1536" y="144"/>
            <a:chExt cx="3216" cy="1054"/>
          </a:xfrm>
        </p:grpSpPr>
        <p:sp>
          <p:nvSpPr>
            <p:cNvPr id="15393" name="右大括号 15392"/>
            <p:cNvSpPr/>
            <p:nvPr/>
          </p:nvSpPr>
          <p:spPr>
            <a:xfrm rot="-5317671">
              <a:off x="2515" y="-126"/>
              <a:ext cx="345" cy="2303"/>
            </a:xfrm>
            <a:prstGeom prst="rightBrace">
              <a:avLst>
                <a:gd name="adj1" fmla="val 55628"/>
                <a:gd name="adj2" fmla="val 51426"/>
              </a:avLst>
            </a:prstGeom>
            <a:solidFill>
              <a:srgbClr val="FFCC00"/>
            </a:solidFill>
            <a:ln w="57150" cap="flat" cmpd="sng">
              <a:solidFill>
                <a:srgbClr val="A5002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5397" name="组合 15396"/>
            <p:cNvGrpSpPr/>
            <p:nvPr/>
          </p:nvGrpSpPr>
          <p:grpSpPr>
            <a:xfrm>
              <a:off x="2688" y="144"/>
              <a:ext cx="2064" cy="672"/>
              <a:chOff x="2688" y="144"/>
              <a:chExt cx="2064" cy="672"/>
            </a:xfrm>
          </p:grpSpPr>
          <p:sp>
            <p:nvSpPr>
              <p:cNvPr id="15394" name="圆角矩形标注 15393"/>
              <p:cNvSpPr/>
              <p:nvPr/>
            </p:nvSpPr>
            <p:spPr>
              <a:xfrm>
                <a:off x="2688" y="144"/>
                <a:ext cx="2064" cy="672"/>
              </a:xfrm>
              <a:prstGeom prst="wedgeRoundRectCallout">
                <a:avLst>
                  <a:gd name="adj1" fmla="val -50681"/>
                  <a:gd name="adj2" fmla="val 60120"/>
                  <a:gd name="adj3" fmla="val 16667"/>
                </a:avLst>
              </a:prstGeom>
              <a:solidFill>
                <a:srgbClr val="FFCC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1" hangingPunct="1"/>
                <a:endParaRPr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396" name="文本框 15395"/>
              <p:cNvSpPr txBox="1"/>
              <p:nvPr/>
            </p:nvSpPr>
            <p:spPr>
              <a:xfrm>
                <a:off x="2736" y="240"/>
                <a:ext cx="1882" cy="518"/>
              </a:xfrm>
              <a:prstGeom prst="rect">
                <a:avLst/>
              </a:prstGeom>
              <a:solidFill>
                <a:srgbClr val="FFCC00"/>
              </a:solidFill>
              <a:ln w="9525">
                <a:noFill/>
              </a:ln>
            </p:spPr>
            <p:txBody>
              <a:bodyPr>
                <a:spAutoFit/>
              </a:bodyPr>
              <a:p>
                <a:pPr algn="l" eaLnBrk="1" hangingPunct="1"/>
                <a:r>
                  <a:rPr lang="zh-CN" altLang="en-US" dirty="0">
                    <a:latin typeface="Times New Roman" panose="02020603050405020304" pitchFamily="18" charset="0"/>
                  </a:rPr>
                  <a:t>输入：输入信号、触发器的输入及现态量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5402" name="组合 15401"/>
          <p:cNvGrpSpPr/>
          <p:nvPr/>
        </p:nvGrpSpPr>
        <p:grpSpPr>
          <a:xfrm>
            <a:off x="5029200" y="381000"/>
            <a:ext cx="3581400" cy="1524000"/>
            <a:chOff x="3168" y="240"/>
            <a:chExt cx="2256" cy="960"/>
          </a:xfrm>
        </p:grpSpPr>
        <p:sp>
          <p:nvSpPr>
            <p:cNvPr id="15398" name="右大括号 15397"/>
            <p:cNvSpPr/>
            <p:nvPr/>
          </p:nvSpPr>
          <p:spPr>
            <a:xfrm rot="-5317671">
              <a:off x="4512" y="288"/>
              <a:ext cx="288" cy="1536"/>
            </a:xfrm>
            <a:prstGeom prst="rightBrace">
              <a:avLst>
                <a:gd name="adj1" fmla="val 44444"/>
                <a:gd name="adj2" fmla="val 51426"/>
              </a:avLst>
            </a:prstGeom>
            <a:solidFill>
              <a:srgbClr val="FFCC00"/>
            </a:solidFill>
            <a:ln w="57150" cap="flat" cmpd="sng">
              <a:solidFill>
                <a:srgbClr val="339966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5401" name="组合 15400"/>
            <p:cNvGrpSpPr/>
            <p:nvPr/>
          </p:nvGrpSpPr>
          <p:grpSpPr>
            <a:xfrm>
              <a:off x="3168" y="240"/>
              <a:ext cx="1776" cy="576"/>
              <a:chOff x="4608" y="240"/>
              <a:chExt cx="1776" cy="576"/>
            </a:xfrm>
          </p:grpSpPr>
          <p:sp>
            <p:nvSpPr>
              <p:cNvPr id="15399" name="圆角矩形标注 15398"/>
              <p:cNvSpPr/>
              <p:nvPr/>
            </p:nvSpPr>
            <p:spPr>
              <a:xfrm>
                <a:off x="4608" y="240"/>
                <a:ext cx="1776" cy="576"/>
              </a:xfrm>
              <a:prstGeom prst="wedgeRoundRectCallout">
                <a:avLst>
                  <a:gd name="adj1" fmla="val 35134"/>
                  <a:gd name="adj2" fmla="val 67708"/>
                  <a:gd name="adj3" fmla="val 16667"/>
                </a:avLst>
              </a:prstGeom>
              <a:solidFill>
                <a:srgbClr val="FFCC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1" hangingPunct="1"/>
                <a:endParaRPr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00" name="文本框 15399"/>
              <p:cNvSpPr txBox="1"/>
              <p:nvPr/>
            </p:nvSpPr>
            <p:spPr>
              <a:xfrm>
                <a:off x="4656" y="288"/>
                <a:ext cx="1690" cy="518"/>
              </a:xfrm>
              <a:prstGeom prst="rect">
                <a:avLst/>
              </a:prstGeom>
              <a:solidFill>
                <a:srgbClr val="FFCC00"/>
              </a:solidFill>
              <a:ln w="9525">
                <a:noFill/>
              </a:ln>
            </p:spPr>
            <p:txBody>
              <a:bodyPr>
                <a:spAutoFit/>
              </a:bodyPr>
              <a:p>
                <a:pPr algn="l" eaLnBrk="1" hangingPunct="1"/>
                <a:r>
                  <a:rPr lang="zh-CN" altLang="en-US" dirty="0">
                    <a:latin typeface="Times New Roman" panose="02020603050405020304" pitchFamily="18" charset="0"/>
                  </a:rPr>
                  <a:t>输出：触发器的次    态及组合输出</a:t>
                </a:r>
                <a:r>
                  <a:rPr lang="en-US" altLang="zh-CN">
                    <a:latin typeface="Times New Roman" panose="02020603050405020304" pitchFamily="18" charset="0"/>
                  </a:rPr>
                  <a:t>Z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n</a:t>
                </a:r>
                <a:endParaRPr lang="en-US" altLang="zh-CN" baseline="-250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5412" name="文本框 15411"/>
          <p:cNvSpPr txBox="1"/>
          <p:nvPr/>
        </p:nvSpPr>
        <p:spPr>
          <a:xfrm>
            <a:off x="457200" y="1676400"/>
            <a:ext cx="17240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zh-CN" altLang="en-US" dirty="0">
                <a:latin typeface="Times New Roman" panose="02020603050405020304" pitchFamily="18" charset="0"/>
              </a:rPr>
              <a:t>填表方法：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15440" name="组合 15439"/>
          <p:cNvGrpSpPr/>
          <p:nvPr/>
        </p:nvGrpSpPr>
        <p:grpSpPr>
          <a:xfrm>
            <a:off x="2590800" y="2743200"/>
            <a:ext cx="1784350" cy="1600200"/>
            <a:chOff x="1632" y="1728"/>
            <a:chExt cx="1124" cy="1008"/>
          </a:xfrm>
        </p:grpSpPr>
        <p:sp>
          <p:nvSpPr>
            <p:cNvPr id="15415" name="文本框 15414"/>
            <p:cNvSpPr txBox="1"/>
            <p:nvPr/>
          </p:nvSpPr>
          <p:spPr>
            <a:xfrm>
              <a:off x="2160" y="1728"/>
              <a:ext cx="5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0      0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5417" name="文本框 15416"/>
            <p:cNvSpPr txBox="1"/>
            <p:nvPr/>
          </p:nvSpPr>
          <p:spPr>
            <a:xfrm>
              <a:off x="2160" y="1968"/>
              <a:ext cx="5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0      1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grpSp>
          <p:nvGrpSpPr>
            <p:cNvPr id="15439" name="组合 15438"/>
            <p:cNvGrpSpPr/>
            <p:nvPr/>
          </p:nvGrpSpPr>
          <p:grpSpPr>
            <a:xfrm>
              <a:off x="1632" y="1728"/>
              <a:ext cx="212" cy="1008"/>
              <a:chOff x="1632" y="1728"/>
              <a:chExt cx="212" cy="1008"/>
            </a:xfrm>
          </p:grpSpPr>
          <p:sp>
            <p:nvSpPr>
              <p:cNvPr id="15414" name="文本框 15413"/>
              <p:cNvSpPr txBox="1"/>
              <p:nvPr/>
            </p:nvSpPr>
            <p:spPr>
              <a:xfrm>
                <a:off x="1632" y="1728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16" name="文本框 15415"/>
              <p:cNvSpPr txBox="1"/>
              <p:nvPr/>
            </p:nvSpPr>
            <p:spPr>
              <a:xfrm>
                <a:off x="1632" y="1968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18" name="文本框 15417"/>
              <p:cNvSpPr txBox="1"/>
              <p:nvPr/>
            </p:nvSpPr>
            <p:spPr>
              <a:xfrm>
                <a:off x="1632" y="2208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19" name="文本框 15418"/>
              <p:cNvSpPr txBox="1"/>
              <p:nvPr/>
            </p:nvSpPr>
            <p:spPr>
              <a:xfrm>
                <a:off x="1632" y="2448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5424" name="文本框 15423"/>
            <p:cNvSpPr txBox="1"/>
            <p:nvPr/>
          </p:nvSpPr>
          <p:spPr>
            <a:xfrm>
              <a:off x="2160" y="2208"/>
              <a:ext cx="5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1      0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5425" name="文本框 15424"/>
            <p:cNvSpPr txBox="1"/>
            <p:nvPr/>
          </p:nvSpPr>
          <p:spPr>
            <a:xfrm>
              <a:off x="2160" y="2448"/>
              <a:ext cx="5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1      1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5441" name="组合 15440"/>
          <p:cNvGrpSpPr/>
          <p:nvPr/>
        </p:nvGrpSpPr>
        <p:grpSpPr>
          <a:xfrm>
            <a:off x="2590800" y="4267200"/>
            <a:ext cx="1784350" cy="1676400"/>
            <a:chOff x="1632" y="2688"/>
            <a:chExt cx="1124" cy="1056"/>
          </a:xfrm>
        </p:grpSpPr>
        <p:sp>
          <p:nvSpPr>
            <p:cNvPr id="15420" name="文本框 15419"/>
            <p:cNvSpPr txBox="1"/>
            <p:nvPr/>
          </p:nvSpPr>
          <p:spPr>
            <a:xfrm>
              <a:off x="1632" y="268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5421" name="文本框 15420"/>
            <p:cNvSpPr txBox="1"/>
            <p:nvPr/>
          </p:nvSpPr>
          <p:spPr>
            <a:xfrm>
              <a:off x="1632" y="292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5422" name="文本框 15421"/>
            <p:cNvSpPr txBox="1"/>
            <p:nvPr/>
          </p:nvSpPr>
          <p:spPr>
            <a:xfrm>
              <a:off x="1632" y="316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5423" name="文本框 15422"/>
            <p:cNvSpPr txBox="1"/>
            <p:nvPr/>
          </p:nvSpPr>
          <p:spPr>
            <a:xfrm>
              <a:off x="1632" y="345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5426" name="文本框 15425"/>
            <p:cNvSpPr txBox="1"/>
            <p:nvPr/>
          </p:nvSpPr>
          <p:spPr>
            <a:xfrm>
              <a:off x="2160" y="2688"/>
              <a:ext cx="5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0      0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5427" name="文本框 15426"/>
            <p:cNvSpPr txBox="1"/>
            <p:nvPr/>
          </p:nvSpPr>
          <p:spPr>
            <a:xfrm>
              <a:off x="2160" y="2928"/>
              <a:ext cx="5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0      1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5428" name="文本框 15427"/>
            <p:cNvSpPr txBox="1"/>
            <p:nvPr/>
          </p:nvSpPr>
          <p:spPr>
            <a:xfrm>
              <a:off x="2160" y="3168"/>
              <a:ext cx="5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1      0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5429" name="文本框 15428"/>
            <p:cNvSpPr txBox="1"/>
            <p:nvPr/>
          </p:nvSpPr>
          <p:spPr>
            <a:xfrm>
              <a:off x="2160" y="3456"/>
              <a:ext cx="5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1      1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sp>
        <p:nvSpPr>
          <p:cNvPr id="15432" name="文本框 15431"/>
          <p:cNvSpPr txBox="1"/>
          <p:nvPr/>
        </p:nvSpPr>
        <p:spPr>
          <a:xfrm>
            <a:off x="4800600" y="2743200"/>
            <a:ext cx="1022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0       0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5436" name="文本框 15435"/>
          <p:cNvSpPr txBox="1"/>
          <p:nvPr/>
        </p:nvSpPr>
        <p:spPr>
          <a:xfrm>
            <a:off x="8001000" y="27432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5438" name="文本框 15437"/>
          <p:cNvSpPr txBox="1"/>
          <p:nvPr/>
        </p:nvSpPr>
        <p:spPr>
          <a:xfrm>
            <a:off x="6172200" y="2743200"/>
            <a:ext cx="1174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0         0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15449" name="组合 15448"/>
          <p:cNvGrpSpPr/>
          <p:nvPr/>
        </p:nvGrpSpPr>
        <p:grpSpPr>
          <a:xfrm>
            <a:off x="2667000" y="990600"/>
            <a:ext cx="2057400" cy="1981200"/>
            <a:chOff x="1680" y="624"/>
            <a:chExt cx="1296" cy="1248"/>
          </a:xfrm>
        </p:grpSpPr>
        <p:sp>
          <p:nvSpPr>
            <p:cNvPr id="15430" name="直接连接符 15429"/>
            <p:cNvSpPr/>
            <p:nvPr/>
          </p:nvSpPr>
          <p:spPr>
            <a:xfrm>
              <a:off x="2784" y="1872"/>
              <a:ext cx="192" cy="0"/>
            </a:xfrm>
            <a:prstGeom prst="line">
              <a:avLst/>
            </a:prstGeom>
            <a:ln w="57150" cap="flat" cmpd="sng">
              <a:solidFill>
                <a:srgbClr val="A50021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15444" name="组合 15443"/>
            <p:cNvGrpSpPr/>
            <p:nvPr/>
          </p:nvGrpSpPr>
          <p:grpSpPr>
            <a:xfrm>
              <a:off x="1680" y="624"/>
              <a:ext cx="1230" cy="768"/>
              <a:chOff x="2112" y="240"/>
              <a:chExt cx="1230" cy="768"/>
            </a:xfrm>
          </p:grpSpPr>
          <p:sp>
            <p:nvSpPr>
              <p:cNvPr id="15442" name="圆角矩形标注 15441"/>
              <p:cNvSpPr/>
              <p:nvPr/>
            </p:nvSpPr>
            <p:spPr>
              <a:xfrm>
                <a:off x="2112" y="240"/>
                <a:ext cx="1200" cy="768"/>
              </a:xfrm>
              <a:prstGeom prst="wedgeRoundRectCallout">
                <a:avLst>
                  <a:gd name="adj1" fmla="val 44583"/>
                  <a:gd name="adj2" fmla="val 112370"/>
                  <a:gd name="adj3" fmla="val 16667"/>
                </a:avLst>
              </a:prstGeom>
              <a:solidFill>
                <a:srgbClr val="FFCC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1" hangingPunct="1"/>
                <a:endParaRPr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43" name="文本框 15442"/>
              <p:cNvSpPr txBox="1"/>
              <p:nvPr/>
            </p:nvSpPr>
            <p:spPr>
              <a:xfrm>
                <a:off x="2112" y="336"/>
                <a:ext cx="1230" cy="596"/>
              </a:xfrm>
              <a:prstGeom prst="rect">
                <a:avLst/>
              </a:prstGeom>
              <a:solidFill>
                <a:srgbClr val="FFCC00"/>
              </a:solidFill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 sz="2800"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800" baseline="-25000">
                    <a:latin typeface="Times New Roman" panose="02020603050405020304" pitchFamily="18" charset="0"/>
                  </a:rPr>
                  <a:t>1n </a:t>
                </a:r>
                <a:r>
                  <a:rPr lang="en-US" altLang="zh-CN" sz="2800">
                    <a:latin typeface="Times New Roman" panose="02020603050405020304" pitchFamily="18" charset="0"/>
                  </a:rPr>
                  <a:t>= </a:t>
                </a:r>
                <a:r>
                  <a:rPr lang="en-US" altLang="zh-CN" sz="2800" err="1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800" baseline="-25000" err="1">
                    <a:latin typeface="Times New Roman" panose="02020603050405020304" pitchFamily="18" charset="0"/>
                  </a:rPr>
                  <a:t>n</a:t>
                </a:r>
                <a:endParaRPr lang="en-US" altLang="zh-CN" sz="2800" baseline="-25000">
                  <a:latin typeface="Times New Roman" panose="02020603050405020304" pitchFamily="18" charset="0"/>
                </a:endParaRPr>
              </a:p>
              <a:p>
                <a:pPr algn="l" eaLnBrk="1" hangingPunct="1"/>
                <a:r>
                  <a:rPr lang="en-US" altLang="zh-CN" sz="2800"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800" baseline="-25000">
                    <a:latin typeface="Times New Roman" panose="02020603050405020304" pitchFamily="18" charset="0"/>
                  </a:rPr>
                  <a:t>2n </a:t>
                </a:r>
                <a:r>
                  <a:rPr lang="en-US" altLang="zh-CN" sz="2800">
                    <a:latin typeface="Times New Roman" panose="02020603050405020304" pitchFamily="18" charset="0"/>
                  </a:rPr>
                  <a:t>= X</a:t>
                </a:r>
                <a:r>
                  <a:rPr lang="en-US" altLang="zh-CN" sz="2800" baseline="-25000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800">
                    <a:latin typeface="Times New Roman" panose="02020603050405020304" pitchFamily="18" charset="0"/>
                  </a:rPr>
                  <a:t>Q</a:t>
                </a:r>
                <a:r>
                  <a:rPr lang="en-US" altLang="zh-CN" sz="2800" baseline="-25000">
                    <a:latin typeface="Times New Roman" panose="02020603050405020304" pitchFamily="18" charset="0"/>
                  </a:rPr>
                  <a:t>1n</a:t>
                </a:r>
                <a:endParaRPr lang="en-US" altLang="zh-CN" sz="2800" baseline="-2500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5450" name="组合 15449"/>
          <p:cNvGrpSpPr/>
          <p:nvPr/>
        </p:nvGrpSpPr>
        <p:grpSpPr>
          <a:xfrm>
            <a:off x="2971800" y="1752600"/>
            <a:ext cx="4800600" cy="1219200"/>
            <a:chOff x="1872" y="1296"/>
            <a:chExt cx="3024" cy="768"/>
          </a:xfrm>
        </p:grpSpPr>
        <p:sp>
          <p:nvSpPr>
            <p:cNvPr id="15435" name="直接连接符 15434"/>
            <p:cNvSpPr/>
            <p:nvPr/>
          </p:nvSpPr>
          <p:spPr>
            <a:xfrm>
              <a:off x="2784" y="2064"/>
              <a:ext cx="2112" cy="0"/>
            </a:xfrm>
            <a:prstGeom prst="line">
              <a:avLst/>
            </a:prstGeom>
            <a:ln w="57150" cap="flat" cmpd="sng">
              <a:solidFill>
                <a:srgbClr val="A50021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15447" name="组合 15446"/>
            <p:cNvGrpSpPr/>
            <p:nvPr/>
          </p:nvGrpSpPr>
          <p:grpSpPr>
            <a:xfrm>
              <a:off x="1872" y="1296"/>
              <a:ext cx="1728" cy="384"/>
              <a:chOff x="4176" y="720"/>
              <a:chExt cx="1728" cy="384"/>
            </a:xfrm>
          </p:grpSpPr>
          <p:sp>
            <p:nvSpPr>
              <p:cNvPr id="15445" name="圆角矩形标注 15444"/>
              <p:cNvSpPr/>
              <p:nvPr/>
            </p:nvSpPr>
            <p:spPr>
              <a:xfrm>
                <a:off x="4176" y="720"/>
                <a:ext cx="1584" cy="384"/>
              </a:xfrm>
              <a:prstGeom prst="wedgeRoundRectCallout">
                <a:avLst>
                  <a:gd name="adj1" fmla="val 6630"/>
                  <a:gd name="adj2" fmla="val 150000"/>
                  <a:gd name="adj3" fmla="val 16667"/>
                </a:avLst>
              </a:prstGeom>
              <a:solidFill>
                <a:srgbClr val="FFCC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1" hangingPunct="1"/>
                <a:endParaRPr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46" name="文本框 15445"/>
              <p:cNvSpPr txBox="1"/>
              <p:nvPr/>
            </p:nvSpPr>
            <p:spPr>
              <a:xfrm>
                <a:off x="4272" y="720"/>
                <a:ext cx="1632" cy="327"/>
              </a:xfrm>
              <a:prstGeom prst="rect">
                <a:avLst/>
              </a:prstGeom>
              <a:solidFill>
                <a:srgbClr val="FFCC00"/>
              </a:solidFill>
              <a:ln w="9525">
                <a:noFill/>
              </a:ln>
            </p:spPr>
            <p:txBody>
              <a:bodyPr>
                <a:spAutoFit/>
              </a:bodyPr>
              <a:p>
                <a:pPr algn="l" eaLnBrk="1" hangingPunct="1"/>
                <a:r>
                  <a:rPr lang="en-US" altLang="zh-CN" sz="2800">
                    <a:latin typeface="Times New Roman" panose="02020603050405020304" pitchFamily="18" charset="0"/>
                  </a:rPr>
                  <a:t>Z</a:t>
                </a:r>
                <a:r>
                  <a:rPr lang="en-US" altLang="zh-CN" sz="2800" baseline="-25000">
                    <a:latin typeface="Times New Roman" panose="02020603050405020304" pitchFamily="18" charset="0"/>
                  </a:rPr>
                  <a:t>n </a:t>
                </a:r>
                <a:r>
                  <a:rPr lang="en-US" altLang="zh-CN" sz="2800">
                    <a:latin typeface="Times New Roman" panose="02020603050405020304" pitchFamily="18" charset="0"/>
                  </a:rPr>
                  <a:t>= X</a:t>
                </a:r>
                <a:r>
                  <a:rPr lang="en-US" altLang="zh-CN" sz="2800" baseline="-25000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800">
                    <a:latin typeface="Times New Roman" panose="02020603050405020304" pitchFamily="18" charset="0"/>
                  </a:rPr>
                  <a:t>Q</a:t>
                </a:r>
                <a:r>
                  <a:rPr lang="en-US" altLang="zh-CN" sz="2800" baseline="-25000">
                    <a:latin typeface="Times New Roman" panose="02020603050405020304" pitchFamily="18" charset="0"/>
                  </a:rPr>
                  <a:t>2n</a:t>
                </a:r>
                <a:r>
                  <a:rPr lang="en-US" altLang="zh-CN" sz="2800">
                    <a:latin typeface="Times New Roman" panose="02020603050405020304" pitchFamily="18" charset="0"/>
                  </a:rPr>
                  <a:t>Q</a:t>
                </a:r>
                <a:r>
                  <a:rPr lang="en-US" altLang="zh-CN" sz="2800" baseline="-25000">
                    <a:latin typeface="Times New Roman" panose="02020603050405020304" pitchFamily="18" charset="0"/>
                  </a:rPr>
                  <a:t>1n</a:t>
                </a:r>
                <a:endParaRPr lang="en-US" altLang="zh-CN" sz="2800" baseline="-250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5452" name="文本框 15451"/>
          <p:cNvSpPr txBox="1"/>
          <p:nvPr/>
        </p:nvSpPr>
        <p:spPr>
          <a:xfrm>
            <a:off x="593725" y="2133600"/>
            <a:ext cx="1616075" cy="82232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>
            <a:spAutoFit/>
          </a:bodyPr>
          <a:p>
            <a:pPr algn="l" eaLnBrk="1" hangingPunct="1"/>
            <a:r>
              <a:rPr lang="en-US" altLang="zh-CN" err="1">
                <a:latin typeface="Times New Roman" panose="02020603050405020304" pitchFamily="18" charset="0"/>
              </a:rPr>
              <a:t>X</a:t>
            </a:r>
            <a:r>
              <a:rPr lang="en-US" altLang="zh-CN" baseline="-25000" err="1">
                <a:latin typeface="Times New Roman" panose="02020603050405020304" pitchFamily="18" charset="0"/>
              </a:rPr>
              <a:t>n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Q</a:t>
            </a:r>
            <a:r>
              <a:rPr lang="en-US" altLang="zh-CN" baseline="-25000">
                <a:latin typeface="Times New Roman" panose="02020603050405020304" pitchFamily="18" charset="0"/>
              </a:rPr>
              <a:t>2n </a:t>
            </a:r>
            <a:r>
              <a:rPr lang="en-US" altLang="zh-CN">
                <a:latin typeface="Times New Roman" panose="02020603050405020304" pitchFamily="18" charset="0"/>
              </a:rPr>
              <a:t>Q</a:t>
            </a:r>
            <a:r>
              <a:rPr lang="en-US" altLang="zh-CN" baseline="-25000">
                <a:latin typeface="Times New Roman" panose="02020603050405020304" pitchFamily="18" charset="0"/>
              </a:rPr>
              <a:t>1n </a:t>
            </a:r>
            <a:r>
              <a:rPr lang="zh-CN" altLang="en-US" dirty="0">
                <a:latin typeface="Times New Roman" panose="02020603050405020304" pitchFamily="18" charset="0"/>
              </a:rPr>
              <a:t>所有组合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5453" name="直接连接符 15452"/>
          <p:cNvSpPr/>
          <p:nvPr/>
        </p:nvSpPr>
        <p:spPr>
          <a:xfrm>
            <a:off x="1371600" y="2971800"/>
            <a:ext cx="0" cy="30480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15459" name="组合 15458"/>
          <p:cNvGrpSpPr/>
          <p:nvPr/>
        </p:nvGrpSpPr>
        <p:grpSpPr>
          <a:xfrm>
            <a:off x="533400" y="3276600"/>
            <a:ext cx="1871663" cy="457200"/>
            <a:chOff x="336" y="2064"/>
            <a:chExt cx="1179" cy="288"/>
          </a:xfrm>
        </p:grpSpPr>
        <p:sp>
          <p:nvSpPr>
            <p:cNvPr id="15454" name="流程图: 可选过程 15453"/>
            <p:cNvSpPr/>
            <p:nvPr/>
          </p:nvSpPr>
          <p:spPr>
            <a:xfrm>
              <a:off x="336" y="2064"/>
              <a:ext cx="1104" cy="288"/>
            </a:xfrm>
            <a:prstGeom prst="flowChartAlternateProcess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5455" name="文本框 15454"/>
            <p:cNvSpPr txBox="1"/>
            <p:nvPr/>
          </p:nvSpPr>
          <p:spPr>
            <a:xfrm>
              <a:off x="336" y="2064"/>
              <a:ext cx="117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>
                  <a:latin typeface="Times New Roman" panose="02020603050405020304" pitchFamily="18" charset="0"/>
                </a:rPr>
                <a:t>求</a:t>
              </a:r>
              <a:r>
                <a:rPr lang="en-US" altLang="zh-CN">
                  <a:latin typeface="Times New Roman" panose="02020603050405020304" pitchFamily="18" charset="0"/>
                </a:rPr>
                <a:t>T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1n</a:t>
              </a:r>
              <a:r>
                <a:rPr lang="en-US" altLang="zh-CN">
                  <a:latin typeface="Times New Roman" panose="02020603050405020304" pitchFamily="18" charset="0"/>
                </a:rPr>
                <a:t>T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2n</a:t>
              </a:r>
              <a:r>
                <a:rPr lang="en-US" altLang="zh-CN">
                  <a:latin typeface="Times New Roman" panose="02020603050405020304" pitchFamily="18" charset="0"/>
                </a:rPr>
                <a:t>Z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n</a:t>
              </a:r>
              <a:r>
                <a:rPr lang="en-US" altLang="zh-CN">
                  <a:latin typeface="Times New Roman" panose="02020603050405020304" pitchFamily="18" charset="0"/>
                </a:rPr>
                <a:t>   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sp>
        <p:nvSpPr>
          <p:cNvPr id="15456" name="直接连接符 15455"/>
          <p:cNvSpPr/>
          <p:nvPr/>
        </p:nvSpPr>
        <p:spPr>
          <a:xfrm>
            <a:off x="1371600" y="3733800"/>
            <a:ext cx="0" cy="30480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15460" name="组合 15459"/>
          <p:cNvGrpSpPr/>
          <p:nvPr/>
        </p:nvGrpSpPr>
        <p:grpSpPr>
          <a:xfrm>
            <a:off x="457200" y="4038600"/>
            <a:ext cx="1905000" cy="838200"/>
            <a:chOff x="288" y="2544"/>
            <a:chExt cx="1200" cy="528"/>
          </a:xfrm>
        </p:grpSpPr>
        <p:sp>
          <p:nvSpPr>
            <p:cNvPr id="15457" name="流程图: 可选过程 15456"/>
            <p:cNvSpPr/>
            <p:nvPr/>
          </p:nvSpPr>
          <p:spPr>
            <a:xfrm>
              <a:off x="336" y="2544"/>
              <a:ext cx="1104" cy="528"/>
            </a:xfrm>
            <a:prstGeom prst="flowChartAlternateProcess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5458" name="文本框 15457"/>
            <p:cNvSpPr txBox="1"/>
            <p:nvPr/>
          </p:nvSpPr>
          <p:spPr>
            <a:xfrm>
              <a:off x="288" y="2544"/>
              <a:ext cx="1200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由状态方程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求</a:t>
              </a:r>
              <a:r>
                <a:rPr lang="en-US" altLang="zh-CN">
                  <a:latin typeface="Times New Roman" panose="02020603050405020304" pitchFamily="18" charset="0"/>
                </a:rPr>
                <a:t>Q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2n+1</a:t>
              </a:r>
              <a:r>
                <a:rPr lang="en-US" altLang="zh-CN">
                  <a:latin typeface="Times New Roman" panose="02020603050405020304" pitchFamily="18" charset="0"/>
                </a:rPr>
                <a:t> Q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1n+1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5467" name="组合 15466"/>
          <p:cNvGrpSpPr/>
          <p:nvPr/>
        </p:nvGrpSpPr>
        <p:grpSpPr>
          <a:xfrm>
            <a:off x="2590800" y="2514600"/>
            <a:ext cx="2057400" cy="1981200"/>
            <a:chOff x="1680" y="624"/>
            <a:chExt cx="1296" cy="1248"/>
          </a:xfrm>
        </p:grpSpPr>
        <p:sp>
          <p:nvSpPr>
            <p:cNvPr id="15468" name="直接连接符 15467"/>
            <p:cNvSpPr/>
            <p:nvPr/>
          </p:nvSpPr>
          <p:spPr>
            <a:xfrm>
              <a:off x="2784" y="1872"/>
              <a:ext cx="192" cy="0"/>
            </a:xfrm>
            <a:prstGeom prst="line">
              <a:avLst/>
            </a:prstGeom>
            <a:ln w="57150" cap="flat" cmpd="sng">
              <a:solidFill>
                <a:srgbClr val="A50021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15469" name="组合 15468"/>
            <p:cNvGrpSpPr/>
            <p:nvPr/>
          </p:nvGrpSpPr>
          <p:grpSpPr>
            <a:xfrm>
              <a:off x="1680" y="624"/>
              <a:ext cx="1230" cy="768"/>
              <a:chOff x="2112" y="240"/>
              <a:chExt cx="1230" cy="768"/>
            </a:xfrm>
          </p:grpSpPr>
          <p:sp>
            <p:nvSpPr>
              <p:cNvPr id="15470" name="圆角矩形标注 15469"/>
              <p:cNvSpPr/>
              <p:nvPr/>
            </p:nvSpPr>
            <p:spPr>
              <a:xfrm>
                <a:off x="2112" y="240"/>
                <a:ext cx="1200" cy="768"/>
              </a:xfrm>
              <a:prstGeom prst="wedgeRoundRectCallout">
                <a:avLst>
                  <a:gd name="adj1" fmla="val 44583"/>
                  <a:gd name="adj2" fmla="val 112370"/>
                  <a:gd name="adj3" fmla="val 16667"/>
                </a:avLst>
              </a:prstGeom>
              <a:solidFill>
                <a:srgbClr val="FFCC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1" hangingPunct="1"/>
                <a:endParaRPr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71" name="文本框 15470"/>
              <p:cNvSpPr txBox="1"/>
              <p:nvPr/>
            </p:nvSpPr>
            <p:spPr>
              <a:xfrm>
                <a:off x="2112" y="336"/>
                <a:ext cx="1230" cy="596"/>
              </a:xfrm>
              <a:prstGeom prst="rect">
                <a:avLst/>
              </a:prstGeom>
              <a:solidFill>
                <a:srgbClr val="FFCC00"/>
              </a:solidFill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 sz="2800"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800" baseline="-25000">
                    <a:latin typeface="Times New Roman" panose="02020603050405020304" pitchFamily="18" charset="0"/>
                  </a:rPr>
                  <a:t>1n </a:t>
                </a:r>
                <a:r>
                  <a:rPr lang="en-US" altLang="zh-CN" sz="2800">
                    <a:latin typeface="Times New Roman" panose="02020603050405020304" pitchFamily="18" charset="0"/>
                  </a:rPr>
                  <a:t>= </a:t>
                </a:r>
                <a:r>
                  <a:rPr lang="en-US" altLang="zh-CN" sz="2800" err="1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800" baseline="-25000" err="1">
                    <a:latin typeface="Times New Roman" panose="02020603050405020304" pitchFamily="18" charset="0"/>
                  </a:rPr>
                  <a:t>n</a:t>
                </a:r>
                <a:endParaRPr lang="en-US" altLang="zh-CN" sz="2800" baseline="-25000">
                  <a:latin typeface="Times New Roman" panose="02020603050405020304" pitchFamily="18" charset="0"/>
                </a:endParaRPr>
              </a:p>
              <a:p>
                <a:pPr algn="l" eaLnBrk="1" hangingPunct="1"/>
                <a:r>
                  <a:rPr lang="en-US" altLang="zh-CN" sz="2800"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800" baseline="-25000">
                    <a:latin typeface="Times New Roman" panose="02020603050405020304" pitchFamily="18" charset="0"/>
                  </a:rPr>
                  <a:t>2n </a:t>
                </a:r>
                <a:r>
                  <a:rPr lang="en-US" altLang="zh-CN" sz="2800">
                    <a:latin typeface="Times New Roman" panose="02020603050405020304" pitchFamily="18" charset="0"/>
                  </a:rPr>
                  <a:t>= X</a:t>
                </a:r>
                <a:r>
                  <a:rPr lang="en-US" altLang="zh-CN" sz="2800" baseline="-25000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800">
                    <a:latin typeface="Times New Roman" panose="02020603050405020304" pitchFamily="18" charset="0"/>
                  </a:rPr>
                  <a:t>Q</a:t>
                </a:r>
                <a:r>
                  <a:rPr lang="en-US" altLang="zh-CN" sz="2800" baseline="-25000">
                    <a:latin typeface="Times New Roman" panose="02020603050405020304" pitchFamily="18" charset="0"/>
                  </a:rPr>
                  <a:t>1n</a:t>
                </a:r>
                <a:endParaRPr lang="en-US" altLang="zh-CN" sz="2800" baseline="-250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5472" name="文本框 15471"/>
          <p:cNvSpPr txBox="1"/>
          <p:nvPr/>
        </p:nvSpPr>
        <p:spPr>
          <a:xfrm>
            <a:off x="4800600" y="4232275"/>
            <a:ext cx="1022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0       1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15473" name="组合 15472"/>
          <p:cNvGrpSpPr/>
          <p:nvPr/>
        </p:nvGrpSpPr>
        <p:grpSpPr>
          <a:xfrm>
            <a:off x="2971800" y="3276600"/>
            <a:ext cx="4800600" cy="1219200"/>
            <a:chOff x="1872" y="1296"/>
            <a:chExt cx="3024" cy="768"/>
          </a:xfrm>
        </p:grpSpPr>
        <p:sp>
          <p:nvSpPr>
            <p:cNvPr id="15474" name="直接连接符 15473"/>
            <p:cNvSpPr/>
            <p:nvPr/>
          </p:nvSpPr>
          <p:spPr>
            <a:xfrm>
              <a:off x="2784" y="2064"/>
              <a:ext cx="2112" cy="0"/>
            </a:xfrm>
            <a:prstGeom prst="line">
              <a:avLst/>
            </a:prstGeom>
            <a:ln w="57150" cap="flat" cmpd="sng">
              <a:solidFill>
                <a:srgbClr val="A50021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15475" name="组合 15474"/>
            <p:cNvGrpSpPr/>
            <p:nvPr/>
          </p:nvGrpSpPr>
          <p:grpSpPr>
            <a:xfrm>
              <a:off x="1872" y="1296"/>
              <a:ext cx="1728" cy="384"/>
              <a:chOff x="4176" y="720"/>
              <a:chExt cx="1728" cy="384"/>
            </a:xfrm>
          </p:grpSpPr>
          <p:sp>
            <p:nvSpPr>
              <p:cNvPr id="15476" name="圆角矩形标注 15475"/>
              <p:cNvSpPr/>
              <p:nvPr/>
            </p:nvSpPr>
            <p:spPr>
              <a:xfrm>
                <a:off x="4176" y="720"/>
                <a:ext cx="1584" cy="384"/>
              </a:xfrm>
              <a:prstGeom prst="wedgeRoundRectCallout">
                <a:avLst>
                  <a:gd name="adj1" fmla="val 6630"/>
                  <a:gd name="adj2" fmla="val 150000"/>
                  <a:gd name="adj3" fmla="val 16667"/>
                </a:avLst>
              </a:prstGeom>
              <a:solidFill>
                <a:srgbClr val="FFCC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1" hangingPunct="1"/>
                <a:endParaRPr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77" name="文本框 15476"/>
              <p:cNvSpPr txBox="1"/>
              <p:nvPr/>
            </p:nvSpPr>
            <p:spPr>
              <a:xfrm>
                <a:off x="4272" y="720"/>
                <a:ext cx="1632" cy="327"/>
              </a:xfrm>
              <a:prstGeom prst="rect">
                <a:avLst/>
              </a:prstGeom>
              <a:solidFill>
                <a:srgbClr val="FFCC00"/>
              </a:solidFill>
              <a:ln w="9525">
                <a:noFill/>
              </a:ln>
            </p:spPr>
            <p:txBody>
              <a:bodyPr>
                <a:spAutoFit/>
              </a:bodyPr>
              <a:p>
                <a:pPr algn="l" eaLnBrk="1" hangingPunct="1"/>
                <a:r>
                  <a:rPr lang="en-US" altLang="zh-CN" sz="2800">
                    <a:latin typeface="Times New Roman" panose="02020603050405020304" pitchFamily="18" charset="0"/>
                  </a:rPr>
                  <a:t>Z</a:t>
                </a:r>
                <a:r>
                  <a:rPr lang="en-US" altLang="zh-CN" sz="2800" baseline="-25000">
                    <a:latin typeface="Times New Roman" panose="02020603050405020304" pitchFamily="18" charset="0"/>
                  </a:rPr>
                  <a:t>n </a:t>
                </a:r>
                <a:r>
                  <a:rPr lang="en-US" altLang="zh-CN" sz="2800">
                    <a:latin typeface="Times New Roman" panose="02020603050405020304" pitchFamily="18" charset="0"/>
                  </a:rPr>
                  <a:t>= X</a:t>
                </a:r>
                <a:r>
                  <a:rPr lang="en-US" altLang="zh-CN" sz="2800" baseline="-25000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800">
                    <a:latin typeface="Times New Roman" panose="02020603050405020304" pitchFamily="18" charset="0"/>
                  </a:rPr>
                  <a:t>Q</a:t>
                </a:r>
                <a:r>
                  <a:rPr lang="en-US" altLang="zh-CN" sz="2800" baseline="-25000">
                    <a:latin typeface="Times New Roman" panose="02020603050405020304" pitchFamily="18" charset="0"/>
                  </a:rPr>
                  <a:t>2n</a:t>
                </a:r>
                <a:r>
                  <a:rPr lang="en-US" altLang="zh-CN" sz="2800">
                    <a:latin typeface="Times New Roman" panose="02020603050405020304" pitchFamily="18" charset="0"/>
                  </a:rPr>
                  <a:t>Q</a:t>
                </a:r>
                <a:r>
                  <a:rPr lang="en-US" altLang="zh-CN" sz="2800" baseline="-25000">
                    <a:latin typeface="Times New Roman" panose="02020603050405020304" pitchFamily="18" charset="0"/>
                  </a:rPr>
                  <a:t>1n</a:t>
                </a:r>
                <a:endParaRPr lang="en-US" altLang="zh-CN" sz="2800" baseline="-250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5478" name="文本框 15477"/>
          <p:cNvSpPr txBox="1"/>
          <p:nvPr/>
        </p:nvSpPr>
        <p:spPr>
          <a:xfrm>
            <a:off x="7969250" y="42672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5483" name="文本框 15482"/>
          <p:cNvSpPr txBox="1"/>
          <p:nvPr/>
        </p:nvSpPr>
        <p:spPr>
          <a:xfrm>
            <a:off x="6216650" y="4267200"/>
            <a:ext cx="1098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0        1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15486" name="组合 15485"/>
          <p:cNvGrpSpPr/>
          <p:nvPr/>
        </p:nvGrpSpPr>
        <p:grpSpPr>
          <a:xfrm>
            <a:off x="5105400" y="762000"/>
            <a:ext cx="3962400" cy="1219200"/>
            <a:chOff x="3216" y="480"/>
            <a:chExt cx="2496" cy="768"/>
          </a:xfrm>
        </p:grpSpPr>
        <p:grpSp>
          <p:nvGrpSpPr>
            <p:cNvPr id="15466" name="组合 15465"/>
            <p:cNvGrpSpPr/>
            <p:nvPr/>
          </p:nvGrpSpPr>
          <p:grpSpPr>
            <a:xfrm>
              <a:off x="3216" y="480"/>
              <a:ext cx="2496" cy="768"/>
              <a:chOff x="3120" y="432"/>
              <a:chExt cx="2496" cy="768"/>
            </a:xfrm>
          </p:grpSpPr>
          <p:sp>
            <p:nvSpPr>
              <p:cNvPr id="15461" name="圆角矩形标注 15460"/>
              <p:cNvSpPr/>
              <p:nvPr/>
            </p:nvSpPr>
            <p:spPr>
              <a:xfrm>
                <a:off x="3120" y="432"/>
                <a:ext cx="2496" cy="768"/>
              </a:xfrm>
              <a:prstGeom prst="wedgeRoundRectCallout">
                <a:avLst>
                  <a:gd name="adj1" fmla="val -2486"/>
                  <a:gd name="adj2" fmla="val 82944"/>
                  <a:gd name="adj3" fmla="val 16667"/>
                </a:avLst>
              </a:prstGeom>
              <a:solidFill>
                <a:srgbClr val="FFCC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1" hangingPunct="1"/>
                <a:endParaRPr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63" name="文本框 15462"/>
              <p:cNvSpPr txBox="1"/>
              <p:nvPr/>
            </p:nvSpPr>
            <p:spPr>
              <a:xfrm>
                <a:off x="3120" y="441"/>
                <a:ext cx="1552" cy="327"/>
              </a:xfrm>
              <a:prstGeom prst="rect">
                <a:avLst/>
              </a:prstGeom>
              <a:solidFill>
                <a:srgbClr val="FFCC00"/>
              </a:solidFill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 sz="2800">
                    <a:latin typeface="Times New Roman" panose="02020603050405020304" pitchFamily="18" charset="0"/>
                  </a:rPr>
                  <a:t>Q </a:t>
                </a:r>
                <a:r>
                  <a:rPr lang="en-US" altLang="zh-CN" sz="2800" baseline="-25000">
                    <a:latin typeface="Times New Roman" panose="02020603050405020304" pitchFamily="18" charset="0"/>
                  </a:rPr>
                  <a:t>1n+1</a:t>
                </a:r>
                <a:r>
                  <a:rPr lang="en-US" altLang="zh-CN" sz="2800">
                    <a:latin typeface="Times New Roman" panose="02020603050405020304" pitchFamily="18" charset="0"/>
                  </a:rPr>
                  <a:t>=X</a:t>
                </a:r>
                <a:r>
                  <a:rPr lang="en-US" altLang="zh-CN" sz="2800" baseline="-25000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800">
                    <a:latin typeface="Times New Roman" panose="02020603050405020304" pitchFamily="18" charset="0"/>
                    <a:sym typeface="Symbol" panose="05050102010706020507" pitchFamily="18" charset="2"/>
                  </a:rPr>
                  <a:t>Q</a:t>
                </a:r>
                <a:r>
                  <a:rPr lang="en-US" altLang="zh-CN" sz="2800" baseline="-25000">
                    <a:latin typeface="Times New Roman" panose="02020603050405020304" pitchFamily="18" charset="0"/>
                    <a:sym typeface="Symbol" panose="05050102010706020507" pitchFamily="18" charset="2"/>
                  </a:rPr>
                  <a:t>1n</a:t>
                </a:r>
                <a:endParaRPr lang="en-US" altLang="zh-CN" sz="2800"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15465" name="对象 15464"/>
              <p:cNvGraphicFramePr/>
              <p:nvPr/>
            </p:nvGraphicFramePr>
            <p:xfrm>
              <a:off x="3840" y="720"/>
              <a:ext cx="1584" cy="4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6" name="" r:id="rId1" imgW="1534795" imgH="266065" progId="Equation.3">
                      <p:embed/>
                    </p:oleObj>
                  </mc:Choice>
                  <mc:Fallback>
                    <p:oleObj name="" r:id="rId1" imgW="1534795" imgH="266065" progId="Equation.3">
                      <p:embed/>
                      <p:pic>
                        <p:nvPicPr>
                          <p:cNvPr id="0" name="图片 3085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3840" y="720"/>
                            <a:ext cx="1584" cy="405"/>
                          </a:xfrm>
                          <a:prstGeom prst="rect">
                            <a:avLst/>
                          </a:prstGeom>
                          <a:solidFill>
                            <a:srgbClr val="FFCC00"/>
                          </a:solidFill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5485" name="文本框 15484"/>
            <p:cNvSpPr txBox="1"/>
            <p:nvPr/>
          </p:nvSpPr>
          <p:spPr>
            <a:xfrm>
              <a:off x="3274" y="768"/>
              <a:ext cx="614" cy="327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 sz="2800">
                  <a:latin typeface="Times New Roman" panose="02020603050405020304" pitchFamily="18" charset="0"/>
                </a:rPr>
                <a:t>Q</a:t>
              </a:r>
              <a:r>
                <a:rPr lang="en-US" altLang="zh-CN" sz="2800" baseline="-25000">
                  <a:latin typeface="Times New Roman" panose="02020603050405020304" pitchFamily="18" charset="0"/>
                </a:rPr>
                <a:t>2n+1</a:t>
              </a:r>
              <a:endParaRPr lang="en-US" altLang="zh-CN" sz="2800" baseline="-25000">
                <a:latin typeface="Times New Roman" panose="02020603050405020304" pitchFamily="18" charset="0"/>
              </a:endParaRPr>
            </a:p>
          </p:txBody>
        </p:sp>
      </p:grpSp>
      <p:sp>
        <p:nvSpPr>
          <p:cNvPr id="15487" name="文本框 15486"/>
          <p:cNvSpPr txBox="1"/>
          <p:nvPr/>
        </p:nvSpPr>
        <p:spPr>
          <a:xfrm>
            <a:off x="6172200" y="3124200"/>
            <a:ext cx="1174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en-US" altLang="zh-CN">
                <a:latin typeface="Times New Roman" panose="02020603050405020304" pitchFamily="18" charset="0"/>
              </a:rPr>
              <a:t>0         1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5493" name="文本框 15492"/>
          <p:cNvSpPr txBox="1"/>
          <p:nvPr/>
        </p:nvSpPr>
        <p:spPr>
          <a:xfrm>
            <a:off x="4800600" y="3124200"/>
            <a:ext cx="1022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en-US" altLang="zh-CN">
                <a:latin typeface="Times New Roman" panose="02020603050405020304" pitchFamily="18" charset="0"/>
              </a:rPr>
              <a:t>0       0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5499" name="文本框 15498"/>
          <p:cNvSpPr txBox="1"/>
          <p:nvPr/>
        </p:nvSpPr>
        <p:spPr>
          <a:xfrm>
            <a:off x="8001000" y="31242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15505" name="组合 15504"/>
          <p:cNvGrpSpPr/>
          <p:nvPr/>
        </p:nvGrpSpPr>
        <p:grpSpPr>
          <a:xfrm>
            <a:off x="4768850" y="3505200"/>
            <a:ext cx="3568700" cy="457200"/>
            <a:chOff x="3004" y="2208"/>
            <a:chExt cx="2248" cy="288"/>
          </a:xfrm>
        </p:grpSpPr>
        <p:sp>
          <p:nvSpPr>
            <p:cNvPr id="15488" name="文本框 15487"/>
            <p:cNvSpPr txBox="1"/>
            <p:nvPr/>
          </p:nvSpPr>
          <p:spPr>
            <a:xfrm>
              <a:off x="3888" y="2208"/>
              <a:ext cx="7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/>
              <a:r>
                <a:rPr lang="en-US" altLang="zh-CN">
                  <a:latin typeface="Times New Roman" panose="02020603050405020304" pitchFamily="18" charset="0"/>
                </a:rPr>
                <a:t>1         0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5494" name="文本框 15493"/>
            <p:cNvSpPr txBox="1"/>
            <p:nvPr/>
          </p:nvSpPr>
          <p:spPr>
            <a:xfrm>
              <a:off x="3004" y="2208"/>
              <a:ext cx="6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/>
              <a:r>
                <a:rPr lang="en-US" altLang="zh-CN">
                  <a:latin typeface="Times New Roman" panose="02020603050405020304" pitchFamily="18" charset="0"/>
                </a:rPr>
                <a:t>0       0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5500" name="文本框 15499"/>
            <p:cNvSpPr txBox="1"/>
            <p:nvPr/>
          </p:nvSpPr>
          <p:spPr>
            <a:xfrm>
              <a:off x="5040" y="220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5506" name="组合 15505"/>
          <p:cNvGrpSpPr/>
          <p:nvPr/>
        </p:nvGrpSpPr>
        <p:grpSpPr>
          <a:xfrm>
            <a:off x="4800600" y="3886200"/>
            <a:ext cx="3536950" cy="457200"/>
            <a:chOff x="3024" y="2448"/>
            <a:chExt cx="2228" cy="288"/>
          </a:xfrm>
        </p:grpSpPr>
        <p:sp>
          <p:nvSpPr>
            <p:cNvPr id="15489" name="文本框 15488"/>
            <p:cNvSpPr txBox="1"/>
            <p:nvPr/>
          </p:nvSpPr>
          <p:spPr>
            <a:xfrm>
              <a:off x="3888" y="2448"/>
              <a:ext cx="7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/>
              <a:r>
                <a:rPr lang="en-US" altLang="zh-CN">
                  <a:latin typeface="Times New Roman" panose="02020603050405020304" pitchFamily="18" charset="0"/>
                </a:rPr>
                <a:t>1         1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5495" name="文本框 15494"/>
            <p:cNvSpPr txBox="1"/>
            <p:nvPr/>
          </p:nvSpPr>
          <p:spPr>
            <a:xfrm>
              <a:off x="3024" y="2448"/>
              <a:ext cx="6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/>
              <a:r>
                <a:rPr lang="en-US" altLang="zh-CN">
                  <a:latin typeface="Times New Roman" panose="02020603050405020304" pitchFamily="18" charset="0"/>
                </a:rPr>
                <a:t>0       0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5501" name="文本框 15500"/>
            <p:cNvSpPr txBox="1"/>
            <p:nvPr/>
          </p:nvSpPr>
          <p:spPr>
            <a:xfrm>
              <a:off x="5040" y="244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5507" name="组合 15506"/>
          <p:cNvGrpSpPr/>
          <p:nvPr/>
        </p:nvGrpSpPr>
        <p:grpSpPr>
          <a:xfrm>
            <a:off x="4800600" y="4648200"/>
            <a:ext cx="3536950" cy="457200"/>
            <a:chOff x="3024" y="2928"/>
            <a:chExt cx="2228" cy="288"/>
          </a:xfrm>
        </p:grpSpPr>
        <p:sp>
          <p:nvSpPr>
            <p:cNvPr id="15490" name="文本框 15489"/>
            <p:cNvSpPr txBox="1"/>
            <p:nvPr/>
          </p:nvSpPr>
          <p:spPr>
            <a:xfrm>
              <a:off x="3916" y="2928"/>
              <a:ext cx="7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/>
              <a:r>
                <a:rPr lang="en-US" altLang="zh-CN">
                  <a:latin typeface="Times New Roman" panose="02020603050405020304" pitchFamily="18" charset="0"/>
                </a:rPr>
                <a:t>1         0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5498" name="文本框 15497"/>
            <p:cNvSpPr txBox="1"/>
            <p:nvPr/>
          </p:nvSpPr>
          <p:spPr>
            <a:xfrm>
              <a:off x="3024" y="2928"/>
              <a:ext cx="6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/>
              <a:r>
                <a:rPr lang="en-US" altLang="zh-CN">
                  <a:latin typeface="Times New Roman" panose="02020603050405020304" pitchFamily="18" charset="0"/>
                </a:rPr>
                <a:t>1       0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5502" name="文本框 15501"/>
            <p:cNvSpPr txBox="1"/>
            <p:nvPr/>
          </p:nvSpPr>
          <p:spPr>
            <a:xfrm>
              <a:off x="5040" y="292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5508" name="组合 15507"/>
          <p:cNvGrpSpPr/>
          <p:nvPr/>
        </p:nvGrpSpPr>
        <p:grpSpPr>
          <a:xfrm>
            <a:off x="4800600" y="5029200"/>
            <a:ext cx="3536950" cy="457200"/>
            <a:chOff x="3024" y="3168"/>
            <a:chExt cx="2228" cy="288"/>
          </a:xfrm>
        </p:grpSpPr>
        <p:sp>
          <p:nvSpPr>
            <p:cNvPr id="15491" name="文本框 15490"/>
            <p:cNvSpPr txBox="1"/>
            <p:nvPr/>
          </p:nvSpPr>
          <p:spPr>
            <a:xfrm>
              <a:off x="3916" y="3168"/>
              <a:ext cx="7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/>
              <a:r>
                <a:rPr lang="en-US" altLang="zh-CN">
                  <a:latin typeface="Times New Roman" panose="02020603050405020304" pitchFamily="18" charset="0"/>
                </a:rPr>
                <a:t>1         1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5497" name="文本框 15496"/>
            <p:cNvSpPr txBox="1"/>
            <p:nvPr/>
          </p:nvSpPr>
          <p:spPr>
            <a:xfrm>
              <a:off x="3024" y="3168"/>
              <a:ext cx="6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/>
              <a:r>
                <a:rPr lang="en-US" altLang="zh-CN">
                  <a:latin typeface="Times New Roman" panose="02020603050405020304" pitchFamily="18" charset="0"/>
                </a:rPr>
                <a:t>1       1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5503" name="文本框 15502"/>
            <p:cNvSpPr txBox="1"/>
            <p:nvPr/>
          </p:nvSpPr>
          <p:spPr>
            <a:xfrm>
              <a:off x="5040" y="316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5509" name="组合 15508"/>
          <p:cNvGrpSpPr/>
          <p:nvPr/>
        </p:nvGrpSpPr>
        <p:grpSpPr>
          <a:xfrm>
            <a:off x="4800600" y="5486400"/>
            <a:ext cx="3536950" cy="457200"/>
            <a:chOff x="3024" y="3456"/>
            <a:chExt cx="2228" cy="288"/>
          </a:xfrm>
        </p:grpSpPr>
        <p:sp>
          <p:nvSpPr>
            <p:cNvPr id="15492" name="文本框 15491"/>
            <p:cNvSpPr txBox="1"/>
            <p:nvPr/>
          </p:nvSpPr>
          <p:spPr>
            <a:xfrm>
              <a:off x="3916" y="3456"/>
              <a:ext cx="7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/>
              <a:r>
                <a:rPr lang="en-US" altLang="zh-CN">
                  <a:latin typeface="Times New Roman" panose="02020603050405020304" pitchFamily="18" charset="0"/>
                </a:rPr>
                <a:t>0         0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5496" name="文本框 15495"/>
            <p:cNvSpPr txBox="1"/>
            <p:nvPr/>
          </p:nvSpPr>
          <p:spPr>
            <a:xfrm>
              <a:off x="3024" y="3456"/>
              <a:ext cx="6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/>
              <a:r>
                <a:rPr lang="en-US" altLang="zh-CN">
                  <a:latin typeface="Times New Roman" panose="02020603050405020304" pitchFamily="18" charset="0"/>
                </a:rPr>
                <a:t>0       0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5504" name="文本框 15503"/>
            <p:cNvSpPr txBox="1"/>
            <p:nvPr/>
          </p:nvSpPr>
          <p:spPr>
            <a:xfrm>
              <a:off x="5040" y="345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pic>
        <p:nvPicPr>
          <p:cNvPr id="15510" name="图片 15509" descr="wb01508_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60960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511" name="文本框 15510">
            <a:hlinkClick r:id="rId3" action="ppaction://hlinksldjump"/>
          </p:cNvPr>
          <p:cNvSpPr txBox="1"/>
          <p:nvPr/>
        </p:nvSpPr>
        <p:spPr>
          <a:xfrm>
            <a:off x="730250" y="61722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u="sng" dirty="0">
                <a:solidFill>
                  <a:schemeClr val="accent2"/>
                </a:solidFill>
                <a:latin typeface="Times New Roman" panose="02020603050405020304" pitchFamily="18" charset="0"/>
              </a:rPr>
              <a:t>返  回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500"/>
                                        <p:tgtEl>
                                          <p:spTgt spid="15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" dur="500"/>
                                        <p:tgtEl>
                                          <p:spTgt spid="15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15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54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2" dur="500"/>
                                        <p:tgtEl>
                                          <p:spTgt spid="15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7" dur="500"/>
                                        <p:tgtEl>
                                          <p:spTgt spid="15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54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2" dur="500"/>
                                        <p:tgtEl>
                                          <p:spTgt spid="15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5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5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5" dur="500"/>
                                        <p:tgtEl>
                                          <p:spTgt spid="154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300" fill="hold"/>
                                        <p:tgtEl>
                                          <p:spTgt spid="15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300" fill="hold"/>
                                        <p:tgtEl>
                                          <p:spTgt spid="15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5" dur="500"/>
                                        <p:tgtEl>
                                          <p:spTgt spid="154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5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15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15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5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5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5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5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5" dur="500"/>
                                        <p:tgtEl>
                                          <p:spTgt spid="154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15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15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6" dur="500"/>
                                        <p:tgtEl>
                                          <p:spTgt spid="154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15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15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15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15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15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15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154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154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15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15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8" grpId="0"/>
      <p:bldP spid="15412" grpId="0"/>
      <p:bldP spid="15432" grpId="0"/>
      <p:bldP spid="15436" grpId="0"/>
      <p:bldP spid="15438" grpId="0"/>
      <p:bldP spid="15452" grpId="0" animBg="1"/>
      <p:bldP spid="15472" grpId="0"/>
      <p:bldP spid="15478" grpId="0"/>
      <p:bldP spid="15483" grpId="0"/>
      <p:bldP spid="15487" grpId="0"/>
      <p:bldP spid="15493" grpId="0"/>
      <p:bldP spid="1549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40" name="矩形 14339"/>
          <p:cNvSpPr/>
          <p:nvPr/>
        </p:nvSpPr>
        <p:spPr>
          <a:xfrm>
            <a:off x="304800" y="228600"/>
            <a:ext cx="4419600" cy="5334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9525">
            <a:noFill/>
          </a:ln>
          <a:effectLst>
            <a:outerShdw sy="50000" kx="-2453608" algn="br" rotWithShape="0">
              <a:srgbClr val="808080"/>
            </a:outerShdw>
          </a:effectLst>
        </p:spPr>
        <p:txBody>
          <a:bodyPr anchor="ctr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sz="4000" b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同步时序电路分析</a:t>
            </a:r>
            <a:endParaRPr lang="zh-CN" altLang="en-US" sz="7200" b="1">
              <a:effectLst>
                <a:outerShdw blurRad="38100" dist="38100" dir="2700000">
                  <a:srgbClr val="FFFFFF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14550" name="组合 14549"/>
          <p:cNvGrpSpPr/>
          <p:nvPr/>
        </p:nvGrpSpPr>
        <p:grpSpPr>
          <a:xfrm>
            <a:off x="3614738" y="1295400"/>
            <a:ext cx="5529262" cy="4267200"/>
            <a:chOff x="1488" y="1104"/>
            <a:chExt cx="4125" cy="2688"/>
          </a:xfrm>
        </p:grpSpPr>
        <p:grpSp>
          <p:nvGrpSpPr>
            <p:cNvPr id="14464" name="组合 14463"/>
            <p:cNvGrpSpPr/>
            <p:nvPr/>
          </p:nvGrpSpPr>
          <p:grpSpPr>
            <a:xfrm>
              <a:off x="1488" y="1104"/>
              <a:ext cx="3984" cy="2688"/>
              <a:chOff x="1488" y="1152"/>
              <a:chExt cx="3984" cy="2688"/>
            </a:xfrm>
          </p:grpSpPr>
          <p:sp>
            <p:nvSpPr>
              <p:cNvPr id="14465" name="矩形 14464"/>
              <p:cNvSpPr/>
              <p:nvPr/>
            </p:nvSpPr>
            <p:spPr>
              <a:xfrm>
                <a:off x="1488" y="1152"/>
                <a:ext cx="3984" cy="2688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4466" name="直接连接符 14465"/>
              <p:cNvSpPr/>
              <p:nvPr/>
            </p:nvSpPr>
            <p:spPr>
              <a:xfrm>
                <a:off x="1488" y="1440"/>
                <a:ext cx="39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467" name="直接连接符 14466"/>
              <p:cNvSpPr/>
              <p:nvPr/>
            </p:nvSpPr>
            <p:spPr>
              <a:xfrm>
                <a:off x="1488" y="1728"/>
                <a:ext cx="39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468" name="直接连接符 14467"/>
              <p:cNvSpPr/>
              <p:nvPr/>
            </p:nvSpPr>
            <p:spPr>
              <a:xfrm>
                <a:off x="2049" y="1152"/>
                <a:ext cx="0" cy="26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469" name="直接连接符 14468"/>
              <p:cNvSpPr/>
              <p:nvPr/>
            </p:nvSpPr>
            <p:spPr>
              <a:xfrm>
                <a:off x="2891" y="1152"/>
                <a:ext cx="0" cy="26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470" name="直接连接符 14469"/>
              <p:cNvSpPr/>
              <p:nvPr/>
            </p:nvSpPr>
            <p:spPr>
              <a:xfrm>
                <a:off x="3840" y="1152"/>
                <a:ext cx="0" cy="26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471" name="直接连接符 14470"/>
              <p:cNvSpPr/>
              <p:nvPr/>
            </p:nvSpPr>
            <p:spPr>
              <a:xfrm>
                <a:off x="4800" y="1152"/>
                <a:ext cx="0" cy="26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4472" name="组合 14471"/>
            <p:cNvGrpSpPr/>
            <p:nvPr/>
          </p:nvGrpSpPr>
          <p:grpSpPr>
            <a:xfrm>
              <a:off x="1488" y="1165"/>
              <a:ext cx="644" cy="563"/>
              <a:chOff x="1488" y="1165"/>
              <a:chExt cx="644" cy="563"/>
            </a:xfrm>
          </p:grpSpPr>
          <p:sp>
            <p:nvSpPr>
              <p:cNvPr id="14473" name="文本框 14472"/>
              <p:cNvSpPr txBox="1"/>
              <p:nvPr/>
            </p:nvSpPr>
            <p:spPr>
              <a:xfrm>
                <a:off x="1488" y="1165"/>
                <a:ext cx="64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zh-CN" altLang="en-US" dirty="0">
                    <a:latin typeface="Times New Roman" panose="02020603050405020304" pitchFamily="18" charset="0"/>
                  </a:rPr>
                  <a:t>现 入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474" name="文本框 14473"/>
              <p:cNvSpPr txBox="1"/>
              <p:nvPr/>
            </p:nvSpPr>
            <p:spPr>
              <a:xfrm>
                <a:off x="1632" y="1440"/>
                <a:ext cx="387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 err="1">
                    <a:latin typeface="Times New Roman" panose="02020603050405020304" pitchFamily="18" charset="0"/>
                  </a:rPr>
                  <a:t>X</a:t>
                </a:r>
                <a:r>
                  <a:rPr lang="en-US" altLang="zh-CN" baseline="-25000" err="1">
                    <a:latin typeface="Times New Roman" panose="02020603050405020304" pitchFamily="18" charset="0"/>
                  </a:rPr>
                  <a:t>n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4475" name="组合 14474"/>
            <p:cNvGrpSpPr/>
            <p:nvPr/>
          </p:nvGrpSpPr>
          <p:grpSpPr>
            <a:xfrm>
              <a:off x="2112" y="1165"/>
              <a:ext cx="924" cy="563"/>
              <a:chOff x="2112" y="1165"/>
              <a:chExt cx="924" cy="563"/>
            </a:xfrm>
          </p:grpSpPr>
          <p:sp>
            <p:nvSpPr>
              <p:cNvPr id="14476" name="文本框 14475"/>
              <p:cNvSpPr txBox="1"/>
              <p:nvPr/>
            </p:nvSpPr>
            <p:spPr>
              <a:xfrm>
                <a:off x="2208" y="1165"/>
                <a:ext cx="64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zh-CN" altLang="en-US" dirty="0">
                    <a:latin typeface="Times New Roman" panose="02020603050405020304" pitchFamily="18" charset="0"/>
                  </a:rPr>
                  <a:t>现 态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477" name="文本框 14476"/>
              <p:cNvSpPr txBox="1"/>
              <p:nvPr/>
            </p:nvSpPr>
            <p:spPr>
              <a:xfrm>
                <a:off x="2112" y="1440"/>
                <a:ext cx="92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Q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2n</a:t>
                </a:r>
                <a:r>
                  <a:rPr lang="en-US" altLang="zh-CN">
                    <a:latin typeface="Times New Roman" panose="02020603050405020304" pitchFamily="18" charset="0"/>
                  </a:rPr>
                  <a:t>  Q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1n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4478" name="组合 14477"/>
            <p:cNvGrpSpPr/>
            <p:nvPr/>
          </p:nvGrpSpPr>
          <p:grpSpPr>
            <a:xfrm>
              <a:off x="2928" y="1152"/>
              <a:ext cx="1038" cy="576"/>
              <a:chOff x="2928" y="1152"/>
              <a:chExt cx="1038" cy="576"/>
            </a:xfrm>
          </p:grpSpPr>
          <p:sp>
            <p:nvSpPr>
              <p:cNvPr id="14479" name="文本框 14478"/>
              <p:cNvSpPr txBox="1"/>
              <p:nvPr/>
            </p:nvSpPr>
            <p:spPr>
              <a:xfrm>
                <a:off x="2928" y="1152"/>
                <a:ext cx="103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zh-CN" altLang="en-US" dirty="0">
                    <a:latin typeface="Times New Roman" panose="02020603050405020304" pitchFamily="18" charset="0"/>
                  </a:rPr>
                  <a:t>现控制入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480" name="文本框 14479"/>
              <p:cNvSpPr txBox="1"/>
              <p:nvPr/>
            </p:nvSpPr>
            <p:spPr>
              <a:xfrm>
                <a:off x="2977" y="1440"/>
                <a:ext cx="87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T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2n</a:t>
                </a:r>
                <a:r>
                  <a:rPr lang="en-US" altLang="zh-CN">
                    <a:latin typeface="Times New Roman" panose="02020603050405020304" pitchFamily="18" charset="0"/>
                  </a:rPr>
                  <a:t>  T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1n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4481" name="组合 14480"/>
            <p:cNvGrpSpPr/>
            <p:nvPr/>
          </p:nvGrpSpPr>
          <p:grpSpPr>
            <a:xfrm>
              <a:off x="3842" y="1165"/>
              <a:ext cx="1192" cy="563"/>
              <a:chOff x="3842" y="1165"/>
              <a:chExt cx="1192" cy="563"/>
            </a:xfrm>
          </p:grpSpPr>
          <p:sp>
            <p:nvSpPr>
              <p:cNvPr id="14482" name="文本框 14481"/>
              <p:cNvSpPr txBox="1"/>
              <p:nvPr/>
            </p:nvSpPr>
            <p:spPr>
              <a:xfrm>
                <a:off x="3987" y="1165"/>
                <a:ext cx="70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zh-CN" altLang="en-US" dirty="0">
                    <a:latin typeface="Times New Roman" panose="02020603050405020304" pitchFamily="18" charset="0"/>
                  </a:rPr>
                  <a:t>次  态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483" name="文本框 14482"/>
              <p:cNvSpPr txBox="1"/>
              <p:nvPr/>
            </p:nvSpPr>
            <p:spPr>
              <a:xfrm>
                <a:off x="3842" y="1440"/>
                <a:ext cx="119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Q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2n+1</a:t>
                </a:r>
                <a:r>
                  <a:rPr lang="en-US" altLang="zh-CN">
                    <a:latin typeface="Times New Roman" panose="02020603050405020304" pitchFamily="18" charset="0"/>
                  </a:rPr>
                  <a:t> Q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1n+1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4484" name="组合 14483"/>
            <p:cNvGrpSpPr/>
            <p:nvPr/>
          </p:nvGrpSpPr>
          <p:grpSpPr>
            <a:xfrm>
              <a:off x="4800" y="1152"/>
              <a:ext cx="813" cy="576"/>
              <a:chOff x="4800" y="1152"/>
              <a:chExt cx="813" cy="576"/>
            </a:xfrm>
          </p:grpSpPr>
          <p:sp>
            <p:nvSpPr>
              <p:cNvPr id="14485" name="文本框 14484"/>
              <p:cNvSpPr txBox="1"/>
              <p:nvPr/>
            </p:nvSpPr>
            <p:spPr>
              <a:xfrm>
                <a:off x="4800" y="1152"/>
                <a:ext cx="813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zh-CN" altLang="en-US" dirty="0">
                    <a:latin typeface="Times New Roman" panose="02020603050405020304" pitchFamily="18" charset="0"/>
                  </a:rPr>
                  <a:t>现输出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486" name="文本框 14485"/>
              <p:cNvSpPr txBox="1"/>
              <p:nvPr/>
            </p:nvSpPr>
            <p:spPr>
              <a:xfrm>
                <a:off x="4992" y="1440"/>
                <a:ext cx="373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Z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n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4487" name="组合 14486"/>
            <p:cNvGrpSpPr/>
            <p:nvPr/>
          </p:nvGrpSpPr>
          <p:grpSpPr>
            <a:xfrm>
              <a:off x="1632" y="1728"/>
              <a:ext cx="1235" cy="1008"/>
              <a:chOff x="1632" y="1728"/>
              <a:chExt cx="1235" cy="1008"/>
            </a:xfrm>
          </p:grpSpPr>
          <p:sp>
            <p:nvSpPr>
              <p:cNvPr id="14488" name="文本框 14487"/>
              <p:cNvSpPr txBox="1"/>
              <p:nvPr/>
            </p:nvSpPr>
            <p:spPr>
              <a:xfrm>
                <a:off x="2161" y="1728"/>
                <a:ext cx="70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0      0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489" name="文本框 14488"/>
              <p:cNvSpPr txBox="1"/>
              <p:nvPr/>
            </p:nvSpPr>
            <p:spPr>
              <a:xfrm>
                <a:off x="2161" y="1968"/>
                <a:ext cx="70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0      1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4490" name="组合 14489"/>
              <p:cNvGrpSpPr/>
              <p:nvPr/>
            </p:nvGrpSpPr>
            <p:grpSpPr>
              <a:xfrm>
                <a:off x="1632" y="1728"/>
                <a:ext cx="252" cy="1008"/>
                <a:chOff x="1632" y="1728"/>
                <a:chExt cx="252" cy="1008"/>
              </a:xfrm>
            </p:grpSpPr>
            <p:sp>
              <p:nvSpPr>
                <p:cNvPr id="14491" name="文本框 14490"/>
                <p:cNvSpPr txBox="1"/>
                <p:nvPr/>
              </p:nvSpPr>
              <p:spPr>
                <a:xfrm>
                  <a:off x="1632" y="1728"/>
                  <a:ext cx="25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 algn="l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0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4492" name="文本框 14491"/>
                <p:cNvSpPr txBox="1"/>
                <p:nvPr/>
              </p:nvSpPr>
              <p:spPr>
                <a:xfrm>
                  <a:off x="1632" y="1968"/>
                  <a:ext cx="25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 algn="l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0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4493" name="文本框 14492"/>
                <p:cNvSpPr txBox="1"/>
                <p:nvPr/>
              </p:nvSpPr>
              <p:spPr>
                <a:xfrm>
                  <a:off x="1632" y="2208"/>
                  <a:ext cx="25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 algn="l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0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4494" name="文本框 14493"/>
                <p:cNvSpPr txBox="1"/>
                <p:nvPr/>
              </p:nvSpPr>
              <p:spPr>
                <a:xfrm>
                  <a:off x="1632" y="2448"/>
                  <a:ext cx="25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 algn="l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0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4495" name="文本框 14494"/>
              <p:cNvSpPr txBox="1"/>
              <p:nvPr/>
            </p:nvSpPr>
            <p:spPr>
              <a:xfrm>
                <a:off x="2161" y="2208"/>
                <a:ext cx="70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1      0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496" name="文本框 14495"/>
              <p:cNvSpPr txBox="1"/>
              <p:nvPr/>
            </p:nvSpPr>
            <p:spPr>
              <a:xfrm>
                <a:off x="2161" y="2448"/>
                <a:ext cx="70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1      1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4497" name="组合 14496"/>
            <p:cNvGrpSpPr/>
            <p:nvPr/>
          </p:nvGrpSpPr>
          <p:grpSpPr>
            <a:xfrm>
              <a:off x="1632" y="2688"/>
              <a:ext cx="1235" cy="1056"/>
              <a:chOff x="1632" y="2688"/>
              <a:chExt cx="1235" cy="1056"/>
            </a:xfrm>
          </p:grpSpPr>
          <p:sp>
            <p:nvSpPr>
              <p:cNvPr id="14498" name="文本框 14497"/>
              <p:cNvSpPr txBox="1"/>
              <p:nvPr/>
            </p:nvSpPr>
            <p:spPr>
              <a:xfrm>
                <a:off x="1632" y="2688"/>
                <a:ext cx="25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499" name="文本框 14498"/>
              <p:cNvSpPr txBox="1"/>
              <p:nvPr/>
            </p:nvSpPr>
            <p:spPr>
              <a:xfrm>
                <a:off x="1632" y="2928"/>
                <a:ext cx="25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500" name="文本框 14499"/>
              <p:cNvSpPr txBox="1"/>
              <p:nvPr/>
            </p:nvSpPr>
            <p:spPr>
              <a:xfrm>
                <a:off x="1632" y="3168"/>
                <a:ext cx="25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501" name="文本框 14500"/>
              <p:cNvSpPr txBox="1"/>
              <p:nvPr/>
            </p:nvSpPr>
            <p:spPr>
              <a:xfrm>
                <a:off x="1632" y="3456"/>
                <a:ext cx="25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502" name="文本框 14501"/>
              <p:cNvSpPr txBox="1"/>
              <p:nvPr/>
            </p:nvSpPr>
            <p:spPr>
              <a:xfrm>
                <a:off x="2161" y="2688"/>
                <a:ext cx="70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0      0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503" name="文本框 14502"/>
              <p:cNvSpPr txBox="1"/>
              <p:nvPr/>
            </p:nvSpPr>
            <p:spPr>
              <a:xfrm>
                <a:off x="2161" y="2928"/>
                <a:ext cx="70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0      1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504" name="文本框 14503"/>
              <p:cNvSpPr txBox="1"/>
              <p:nvPr/>
            </p:nvSpPr>
            <p:spPr>
              <a:xfrm>
                <a:off x="2161" y="3168"/>
                <a:ext cx="70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1      0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505" name="文本框 14504"/>
              <p:cNvSpPr txBox="1"/>
              <p:nvPr/>
            </p:nvSpPr>
            <p:spPr>
              <a:xfrm>
                <a:off x="2161" y="3456"/>
                <a:ext cx="70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1      1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4506" name="文本框 14505"/>
            <p:cNvSpPr txBox="1"/>
            <p:nvPr/>
          </p:nvSpPr>
          <p:spPr>
            <a:xfrm>
              <a:off x="3024" y="1728"/>
              <a:ext cx="76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0       0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4507" name="文本框 14506"/>
            <p:cNvSpPr txBox="1"/>
            <p:nvPr/>
          </p:nvSpPr>
          <p:spPr>
            <a:xfrm>
              <a:off x="5040" y="1728"/>
              <a:ext cx="25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4508" name="文本框 14507"/>
            <p:cNvSpPr txBox="1"/>
            <p:nvPr/>
          </p:nvSpPr>
          <p:spPr>
            <a:xfrm>
              <a:off x="3889" y="1728"/>
              <a:ext cx="8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0         0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4519" name="文本框 14518"/>
            <p:cNvSpPr txBox="1"/>
            <p:nvPr/>
          </p:nvSpPr>
          <p:spPr>
            <a:xfrm>
              <a:off x="3024" y="2666"/>
              <a:ext cx="76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0       1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4525" name="文本框 14524"/>
            <p:cNvSpPr txBox="1"/>
            <p:nvPr/>
          </p:nvSpPr>
          <p:spPr>
            <a:xfrm>
              <a:off x="5020" y="2688"/>
              <a:ext cx="25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4526" name="文本框 14525"/>
            <p:cNvSpPr txBox="1"/>
            <p:nvPr/>
          </p:nvSpPr>
          <p:spPr>
            <a:xfrm>
              <a:off x="3916" y="2688"/>
              <a:ext cx="81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0        1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4527" name="文本框 14526"/>
            <p:cNvSpPr txBox="1"/>
            <p:nvPr/>
          </p:nvSpPr>
          <p:spPr>
            <a:xfrm>
              <a:off x="3889" y="1968"/>
              <a:ext cx="8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/>
              <a:r>
                <a:rPr lang="en-US" altLang="zh-CN">
                  <a:latin typeface="Times New Roman" panose="02020603050405020304" pitchFamily="18" charset="0"/>
                </a:rPr>
                <a:t>0         1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4528" name="文本框 14527"/>
            <p:cNvSpPr txBox="1"/>
            <p:nvPr/>
          </p:nvSpPr>
          <p:spPr>
            <a:xfrm>
              <a:off x="3024" y="1968"/>
              <a:ext cx="76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/>
              <a:r>
                <a:rPr lang="en-US" altLang="zh-CN">
                  <a:latin typeface="Times New Roman" panose="02020603050405020304" pitchFamily="18" charset="0"/>
                </a:rPr>
                <a:t>0       0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4529" name="文本框 14528"/>
            <p:cNvSpPr txBox="1"/>
            <p:nvPr/>
          </p:nvSpPr>
          <p:spPr>
            <a:xfrm>
              <a:off x="5040" y="1968"/>
              <a:ext cx="25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grpSp>
          <p:nvGrpSpPr>
            <p:cNvPr id="14530" name="组合 14529"/>
            <p:cNvGrpSpPr/>
            <p:nvPr/>
          </p:nvGrpSpPr>
          <p:grpSpPr>
            <a:xfrm>
              <a:off x="3004" y="2208"/>
              <a:ext cx="2287" cy="288"/>
              <a:chOff x="3004" y="2208"/>
              <a:chExt cx="2287" cy="288"/>
            </a:xfrm>
          </p:grpSpPr>
          <p:sp>
            <p:nvSpPr>
              <p:cNvPr id="14531" name="文本框 14530"/>
              <p:cNvSpPr txBox="1"/>
              <p:nvPr/>
            </p:nvSpPr>
            <p:spPr>
              <a:xfrm>
                <a:off x="3887" y="2208"/>
                <a:ext cx="877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/>
                <a:r>
                  <a:rPr lang="en-US" altLang="zh-CN">
                    <a:latin typeface="Times New Roman" panose="02020603050405020304" pitchFamily="18" charset="0"/>
                  </a:rPr>
                  <a:t>1         0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532" name="文本框 14531"/>
              <p:cNvSpPr txBox="1"/>
              <p:nvPr/>
            </p:nvSpPr>
            <p:spPr>
              <a:xfrm>
                <a:off x="3004" y="2208"/>
                <a:ext cx="763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/>
                <a:r>
                  <a:rPr lang="en-US" altLang="zh-CN">
                    <a:latin typeface="Times New Roman" panose="02020603050405020304" pitchFamily="18" charset="0"/>
                  </a:rPr>
                  <a:t>0       0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533" name="文本框 14532"/>
              <p:cNvSpPr txBox="1"/>
              <p:nvPr/>
            </p:nvSpPr>
            <p:spPr>
              <a:xfrm>
                <a:off x="5040" y="2208"/>
                <a:ext cx="25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4534" name="组合 14533"/>
            <p:cNvGrpSpPr/>
            <p:nvPr/>
          </p:nvGrpSpPr>
          <p:grpSpPr>
            <a:xfrm>
              <a:off x="3024" y="2448"/>
              <a:ext cx="2267" cy="288"/>
              <a:chOff x="3024" y="2448"/>
              <a:chExt cx="2267" cy="288"/>
            </a:xfrm>
          </p:grpSpPr>
          <p:sp>
            <p:nvSpPr>
              <p:cNvPr id="14535" name="文本框 14534"/>
              <p:cNvSpPr txBox="1"/>
              <p:nvPr/>
            </p:nvSpPr>
            <p:spPr>
              <a:xfrm>
                <a:off x="3887" y="2448"/>
                <a:ext cx="877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/>
                <a:r>
                  <a:rPr lang="en-US" altLang="zh-CN">
                    <a:latin typeface="Times New Roman" panose="02020603050405020304" pitchFamily="18" charset="0"/>
                  </a:rPr>
                  <a:t>1         1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536" name="文本框 14535"/>
              <p:cNvSpPr txBox="1"/>
              <p:nvPr/>
            </p:nvSpPr>
            <p:spPr>
              <a:xfrm>
                <a:off x="3024" y="2448"/>
                <a:ext cx="763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/>
                <a:r>
                  <a:rPr lang="en-US" altLang="zh-CN">
                    <a:latin typeface="Times New Roman" panose="02020603050405020304" pitchFamily="18" charset="0"/>
                  </a:rPr>
                  <a:t>0       0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537" name="文本框 14536"/>
              <p:cNvSpPr txBox="1"/>
              <p:nvPr/>
            </p:nvSpPr>
            <p:spPr>
              <a:xfrm>
                <a:off x="5040" y="2448"/>
                <a:ext cx="25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4538" name="组合 14537"/>
            <p:cNvGrpSpPr/>
            <p:nvPr/>
          </p:nvGrpSpPr>
          <p:grpSpPr>
            <a:xfrm>
              <a:off x="3024" y="2928"/>
              <a:ext cx="2267" cy="288"/>
              <a:chOff x="3024" y="2928"/>
              <a:chExt cx="2267" cy="288"/>
            </a:xfrm>
          </p:grpSpPr>
          <p:sp>
            <p:nvSpPr>
              <p:cNvPr id="14539" name="文本框 14538"/>
              <p:cNvSpPr txBox="1"/>
              <p:nvPr/>
            </p:nvSpPr>
            <p:spPr>
              <a:xfrm>
                <a:off x="3916" y="2928"/>
                <a:ext cx="87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/>
                <a:r>
                  <a:rPr lang="en-US" altLang="zh-CN">
                    <a:latin typeface="Times New Roman" panose="02020603050405020304" pitchFamily="18" charset="0"/>
                  </a:rPr>
                  <a:t>1         0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540" name="文本框 14539"/>
              <p:cNvSpPr txBox="1"/>
              <p:nvPr/>
            </p:nvSpPr>
            <p:spPr>
              <a:xfrm>
                <a:off x="3024" y="2928"/>
                <a:ext cx="763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/>
                <a:r>
                  <a:rPr lang="en-US" altLang="zh-CN">
                    <a:latin typeface="Times New Roman" panose="02020603050405020304" pitchFamily="18" charset="0"/>
                  </a:rPr>
                  <a:t>1       0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541" name="文本框 14540"/>
              <p:cNvSpPr txBox="1"/>
              <p:nvPr/>
            </p:nvSpPr>
            <p:spPr>
              <a:xfrm>
                <a:off x="5040" y="2928"/>
                <a:ext cx="25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4542" name="组合 14541"/>
            <p:cNvGrpSpPr/>
            <p:nvPr/>
          </p:nvGrpSpPr>
          <p:grpSpPr>
            <a:xfrm>
              <a:off x="3024" y="3168"/>
              <a:ext cx="2267" cy="288"/>
              <a:chOff x="3024" y="3168"/>
              <a:chExt cx="2267" cy="288"/>
            </a:xfrm>
          </p:grpSpPr>
          <p:sp>
            <p:nvSpPr>
              <p:cNvPr id="14543" name="文本框 14542"/>
              <p:cNvSpPr txBox="1"/>
              <p:nvPr/>
            </p:nvSpPr>
            <p:spPr>
              <a:xfrm>
                <a:off x="3916" y="3168"/>
                <a:ext cx="87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/>
                <a:r>
                  <a:rPr lang="en-US" altLang="zh-CN">
                    <a:latin typeface="Times New Roman" panose="02020603050405020304" pitchFamily="18" charset="0"/>
                  </a:rPr>
                  <a:t>1         1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544" name="文本框 14543"/>
              <p:cNvSpPr txBox="1"/>
              <p:nvPr/>
            </p:nvSpPr>
            <p:spPr>
              <a:xfrm>
                <a:off x="3024" y="3168"/>
                <a:ext cx="763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/>
                <a:r>
                  <a:rPr lang="en-US" altLang="zh-CN">
                    <a:latin typeface="Times New Roman" panose="02020603050405020304" pitchFamily="18" charset="0"/>
                  </a:rPr>
                  <a:t>1       1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545" name="文本框 14544"/>
              <p:cNvSpPr txBox="1"/>
              <p:nvPr/>
            </p:nvSpPr>
            <p:spPr>
              <a:xfrm>
                <a:off x="5040" y="3168"/>
                <a:ext cx="25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4546" name="组合 14545"/>
            <p:cNvGrpSpPr/>
            <p:nvPr/>
          </p:nvGrpSpPr>
          <p:grpSpPr>
            <a:xfrm>
              <a:off x="3024" y="3456"/>
              <a:ext cx="2267" cy="288"/>
              <a:chOff x="3024" y="3456"/>
              <a:chExt cx="2267" cy="288"/>
            </a:xfrm>
          </p:grpSpPr>
          <p:sp>
            <p:nvSpPr>
              <p:cNvPr id="14547" name="文本框 14546"/>
              <p:cNvSpPr txBox="1"/>
              <p:nvPr/>
            </p:nvSpPr>
            <p:spPr>
              <a:xfrm>
                <a:off x="3916" y="3456"/>
                <a:ext cx="87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/>
                <a:r>
                  <a:rPr lang="en-US" altLang="zh-CN">
                    <a:latin typeface="Times New Roman" panose="02020603050405020304" pitchFamily="18" charset="0"/>
                  </a:rPr>
                  <a:t>0         0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548" name="文本框 14547"/>
              <p:cNvSpPr txBox="1"/>
              <p:nvPr/>
            </p:nvSpPr>
            <p:spPr>
              <a:xfrm>
                <a:off x="3024" y="3456"/>
                <a:ext cx="763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/>
                <a:r>
                  <a:rPr lang="en-US" altLang="zh-CN">
                    <a:latin typeface="Times New Roman" panose="02020603050405020304" pitchFamily="18" charset="0"/>
                  </a:rPr>
                  <a:t>0       0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549" name="文本框 14548"/>
              <p:cNvSpPr txBox="1"/>
              <p:nvPr/>
            </p:nvSpPr>
            <p:spPr>
              <a:xfrm>
                <a:off x="5040" y="3456"/>
                <a:ext cx="25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4551" name="文本框 14550"/>
          <p:cNvSpPr txBox="1"/>
          <p:nvPr/>
        </p:nvSpPr>
        <p:spPr>
          <a:xfrm>
            <a:off x="152400" y="1143000"/>
            <a:ext cx="29051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zh-CN" altLang="en-US" dirty="0">
                <a:latin typeface="Times New Roman" panose="02020603050405020304" pitchFamily="18" charset="0"/>
              </a:rPr>
              <a:t>由状态表绘出状态图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14572" name="组合 14571"/>
          <p:cNvGrpSpPr/>
          <p:nvPr/>
        </p:nvGrpSpPr>
        <p:grpSpPr>
          <a:xfrm>
            <a:off x="914400" y="1371600"/>
            <a:ext cx="1676400" cy="533400"/>
            <a:chOff x="624" y="672"/>
            <a:chExt cx="1056" cy="336"/>
          </a:xfrm>
        </p:grpSpPr>
        <p:sp>
          <p:nvSpPr>
            <p:cNvPr id="14570" name="椭圆形标注 14569"/>
            <p:cNvSpPr/>
            <p:nvPr/>
          </p:nvSpPr>
          <p:spPr>
            <a:xfrm>
              <a:off x="624" y="672"/>
              <a:ext cx="1056" cy="336"/>
            </a:xfrm>
            <a:prstGeom prst="wedgeEllipseCallout">
              <a:avLst>
                <a:gd name="adj1" fmla="val -41759"/>
                <a:gd name="adj2" fmla="val 144046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dirty="0">
                <a:latin typeface="Times New Roman" panose="02020603050405020304" pitchFamily="18" charset="0"/>
              </a:endParaRPr>
            </a:p>
          </p:txBody>
        </p:sp>
        <p:sp>
          <p:nvSpPr>
            <p:cNvPr id="14571" name="文本框 14570"/>
            <p:cNvSpPr txBox="1"/>
            <p:nvPr/>
          </p:nvSpPr>
          <p:spPr>
            <a:xfrm>
              <a:off x="710" y="672"/>
              <a:ext cx="970" cy="28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电路状态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4573" name="组合 14572"/>
          <p:cNvGrpSpPr/>
          <p:nvPr/>
        </p:nvGrpSpPr>
        <p:grpSpPr>
          <a:xfrm>
            <a:off x="1828800" y="838200"/>
            <a:ext cx="1676400" cy="533400"/>
            <a:chOff x="624" y="672"/>
            <a:chExt cx="1056" cy="336"/>
          </a:xfrm>
        </p:grpSpPr>
        <p:sp>
          <p:nvSpPr>
            <p:cNvPr id="14574" name="椭圆形标注 14573"/>
            <p:cNvSpPr/>
            <p:nvPr/>
          </p:nvSpPr>
          <p:spPr>
            <a:xfrm>
              <a:off x="624" y="672"/>
              <a:ext cx="1056" cy="336"/>
            </a:xfrm>
            <a:prstGeom prst="wedgeEllipseCallout">
              <a:avLst>
                <a:gd name="adj1" fmla="val -41759"/>
                <a:gd name="adj2" fmla="val 144046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dirty="0">
                <a:latin typeface="Times New Roman" panose="02020603050405020304" pitchFamily="18" charset="0"/>
              </a:endParaRPr>
            </a:p>
          </p:txBody>
        </p:sp>
        <p:sp>
          <p:nvSpPr>
            <p:cNvPr id="14575" name="文本框 14574"/>
            <p:cNvSpPr txBox="1"/>
            <p:nvPr/>
          </p:nvSpPr>
          <p:spPr>
            <a:xfrm>
              <a:off x="710" y="672"/>
              <a:ext cx="970" cy="28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转换条件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4576" name="组合 14575"/>
          <p:cNvGrpSpPr/>
          <p:nvPr/>
        </p:nvGrpSpPr>
        <p:grpSpPr>
          <a:xfrm>
            <a:off x="685800" y="1219200"/>
            <a:ext cx="1676400" cy="533400"/>
            <a:chOff x="624" y="672"/>
            <a:chExt cx="1056" cy="336"/>
          </a:xfrm>
        </p:grpSpPr>
        <p:sp>
          <p:nvSpPr>
            <p:cNvPr id="14577" name="椭圆形标注 14576"/>
            <p:cNvSpPr/>
            <p:nvPr/>
          </p:nvSpPr>
          <p:spPr>
            <a:xfrm>
              <a:off x="624" y="672"/>
              <a:ext cx="1056" cy="336"/>
            </a:xfrm>
            <a:prstGeom prst="wedgeEllipseCallout">
              <a:avLst>
                <a:gd name="adj1" fmla="val -41759"/>
                <a:gd name="adj2" fmla="val 144046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dirty="0">
                <a:latin typeface="Times New Roman" panose="02020603050405020304" pitchFamily="18" charset="0"/>
              </a:endParaRPr>
            </a:p>
          </p:txBody>
        </p:sp>
        <p:sp>
          <p:nvSpPr>
            <p:cNvPr id="14578" name="文本框 14577"/>
            <p:cNvSpPr txBox="1"/>
            <p:nvPr/>
          </p:nvSpPr>
          <p:spPr>
            <a:xfrm>
              <a:off x="710" y="672"/>
              <a:ext cx="970" cy="28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转换方向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14580" name="矩形 14579"/>
          <p:cNvSpPr/>
          <p:nvPr/>
        </p:nvSpPr>
        <p:spPr>
          <a:xfrm>
            <a:off x="4494213" y="2360613"/>
            <a:ext cx="914400" cy="306387"/>
          </a:xfrm>
          <a:prstGeom prst="rect">
            <a:avLst/>
          </a:prstGeom>
          <a:noFill/>
          <a:ln w="38100" cap="flat" cmpd="sng">
            <a:solidFill>
              <a:srgbClr val="A5002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4581" name="矩形 14580"/>
          <p:cNvSpPr/>
          <p:nvPr/>
        </p:nvSpPr>
        <p:spPr>
          <a:xfrm>
            <a:off x="3810000" y="2362200"/>
            <a:ext cx="381000" cy="304800"/>
          </a:xfrm>
          <a:prstGeom prst="rect">
            <a:avLst/>
          </a:prstGeom>
          <a:noFill/>
          <a:ln w="38100" cap="flat" cmpd="sng">
            <a:solidFill>
              <a:srgbClr val="339966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4583" name="矩形 14582"/>
          <p:cNvSpPr/>
          <p:nvPr/>
        </p:nvSpPr>
        <p:spPr>
          <a:xfrm>
            <a:off x="6858000" y="2360613"/>
            <a:ext cx="1144588" cy="306387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4584" name="矩形 14583"/>
          <p:cNvSpPr/>
          <p:nvPr/>
        </p:nvSpPr>
        <p:spPr>
          <a:xfrm>
            <a:off x="8305800" y="2362200"/>
            <a:ext cx="457200" cy="304800"/>
          </a:xfrm>
          <a:prstGeom prst="rect">
            <a:avLst/>
          </a:prstGeom>
          <a:noFill/>
          <a:ln w="38100" cap="flat" cmpd="sng">
            <a:solidFill>
              <a:srgbClr val="339966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4585" name="矩形 14584"/>
          <p:cNvSpPr/>
          <p:nvPr/>
        </p:nvSpPr>
        <p:spPr>
          <a:xfrm>
            <a:off x="4495800" y="3886200"/>
            <a:ext cx="914400" cy="306388"/>
          </a:xfrm>
          <a:prstGeom prst="rect">
            <a:avLst/>
          </a:prstGeom>
          <a:noFill/>
          <a:ln w="38100" cap="flat" cmpd="sng">
            <a:solidFill>
              <a:srgbClr val="A5002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4586" name="矩形 14585"/>
          <p:cNvSpPr/>
          <p:nvPr/>
        </p:nvSpPr>
        <p:spPr>
          <a:xfrm>
            <a:off x="3810000" y="3886200"/>
            <a:ext cx="381000" cy="304800"/>
          </a:xfrm>
          <a:prstGeom prst="rect">
            <a:avLst/>
          </a:prstGeom>
          <a:noFill/>
          <a:ln w="38100" cap="flat" cmpd="sng">
            <a:solidFill>
              <a:srgbClr val="339966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4587" name="矩形 14586"/>
          <p:cNvSpPr/>
          <p:nvPr/>
        </p:nvSpPr>
        <p:spPr>
          <a:xfrm>
            <a:off x="6858000" y="3884613"/>
            <a:ext cx="1144588" cy="306387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4588" name="矩形 14587"/>
          <p:cNvSpPr/>
          <p:nvPr/>
        </p:nvSpPr>
        <p:spPr>
          <a:xfrm>
            <a:off x="8305800" y="3886200"/>
            <a:ext cx="457200" cy="304800"/>
          </a:xfrm>
          <a:prstGeom prst="rect">
            <a:avLst/>
          </a:prstGeom>
          <a:noFill/>
          <a:ln w="38100" cap="flat" cmpd="sng">
            <a:solidFill>
              <a:srgbClr val="339966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4593" name="直接连接符 14592"/>
          <p:cNvSpPr/>
          <p:nvPr/>
        </p:nvSpPr>
        <p:spPr>
          <a:xfrm>
            <a:off x="5410200" y="2514600"/>
            <a:ext cx="1447800" cy="0"/>
          </a:xfrm>
          <a:prstGeom prst="line">
            <a:avLst/>
          </a:prstGeom>
          <a:ln w="38100" cap="flat" cmpd="sng">
            <a:solidFill>
              <a:srgbClr val="FF00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4594" name="直接连接符 14593"/>
          <p:cNvSpPr/>
          <p:nvPr/>
        </p:nvSpPr>
        <p:spPr>
          <a:xfrm>
            <a:off x="5410200" y="4038600"/>
            <a:ext cx="1447800" cy="0"/>
          </a:xfrm>
          <a:prstGeom prst="line">
            <a:avLst/>
          </a:prstGeom>
          <a:ln w="38100" cap="flat" cmpd="sng">
            <a:solidFill>
              <a:srgbClr val="FF00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4595" name="矩形 14594"/>
          <p:cNvSpPr/>
          <p:nvPr/>
        </p:nvSpPr>
        <p:spPr>
          <a:xfrm>
            <a:off x="4494213" y="2741613"/>
            <a:ext cx="914400" cy="306387"/>
          </a:xfrm>
          <a:prstGeom prst="rect">
            <a:avLst/>
          </a:prstGeom>
          <a:noFill/>
          <a:ln w="38100" cap="flat" cmpd="sng">
            <a:solidFill>
              <a:srgbClr val="A5002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4596" name="矩形 14595"/>
          <p:cNvSpPr/>
          <p:nvPr/>
        </p:nvSpPr>
        <p:spPr>
          <a:xfrm>
            <a:off x="3810000" y="2743200"/>
            <a:ext cx="381000" cy="304800"/>
          </a:xfrm>
          <a:prstGeom prst="rect">
            <a:avLst/>
          </a:prstGeom>
          <a:noFill/>
          <a:ln w="38100" cap="flat" cmpd="sng">
            <a:solidFill>
              <a:srgbClr val="339966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4597" name="矩形 14596"/>
          <p:cNvSpPr/>
          <p:nvPr/>
        </p:nvSpPr>
        <p:spPr>
          <a:xfrm>
            <a:off x="6858000" y="2741613"/>
            <a:ext cx="1144588" cy="306387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4598" name="矩形 14597"/>
          <p:cNvSpPr/>
          <p:nvPr/>
        </p:nvSpPr>
        <p:spPr>
          <a:xfrm>
            <a:off x="8305800" y="2743200"/>
            <a:ext cx="457200" cy="304800"/>
          </a:xfrm>
          <a:prstGeom prst="rect">
            <a:avLst/>
          </a:prstGeom>
          <a:noFill/>
          <a:ln w="38100" cap="flat" cmpd="sng">
            <a:solidFill>
              <a:srgbClr val="339966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4599" name="直接连接符 14598"/>
          <p:cNvSpPr/>
          <p:nvPr/>
        </p:nvSpPr>
        <p:spPr>
          <a:xfrm>
            <a:off x="5410200" y="2895600"/>
            <a:ext cx="1447800" cy="0"/>
          </a:xfrm>
          <a:prstGeom prst="line">
            <a:avLst/>
          </a:prstGeom>
          <a:ln w="38100" cap="flat" cmpd="sng">
            <a:solidFill>
              <a:srgbClr val="FF00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4606" name="矩形 14605"/>
          <p:cNvSpPr/>
          <p:nvPr/>
        </p:nvSpPr>
        <p:spPr>
          <a:xfrm>
            <a:off x="4495800" y="4268788"/>
            <a:ext cx="914400" cy="306387"/>
          </a:xfrm>
          <a:prstGeom prst="rect">
            <a:avLst/>
          </a:prstGeom>
          <a:noFill/>
          <a:ln w="38100" cap="flat" cmpd="sng">
            <a:solidFill>
              <a:srgbClr val="A5002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4607" name="矩形 14606"/>
          <p:cNvSpPr/>
          <p:nvPr/>
        </p:nvSpPr>
        <p:spPr>
          <a:xfrm>
            <a:off x="3810000" y="4268788"/>
            <a:ext cx="381000" cy="304800"/>
          </a:xfrm>
          <a:prstGeom prst="rect">
            <a:avLst/>
          </a:prstGeom>
          <a:noFill/>
          <a:ln w="38100" cap="flat" cmpd="sng">
            <a:solidFill>
              <a:srgbClr val="339966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4608" name="矩形 14607"/>
          <p:cNvSpPr/>
          <p:nvPr/>
        </p:nvSpPr>
        <p:spPr>
          <a:xfrm>
            <a:off x="6858000" y="4267200"/>
            <a:ext cx="1144588" cy="306388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4609" name="矩形 14608"/>
          <p:cNvSpPr/>
          <p:nvPr/>
        </p:nvSpPr>
        <p:spPr>
          <a:xfrm>
            <a:off x="8305800" y="4268788"/>
            <a:ext cx="457200" cy="304800"/>
          </a:xfrm>
          <a:prstGeom prst="rect">
            <a:avLst/>
          </a:prstGeom>
          <a:noFill/>
          <a:ln w="38100" cap="flat" cmpd="sng">
            <a:solidFill>
              <a:srgbClr val="339966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4610" name="直接连接符 14609"/>
          <p:cNvSpPr/>
          <p:nvPr/>
        </p:nvSpPr>
        <p:spPr>
          <a:xfrm>
            <a:off x="5410200" y="4421188"/>
            <a:ext cx="1447800" cy="0"/>
          </a:xfrm>
          <a:prstGeom prst="line">
            <a:avLst/>
          </a:prstGeom>
          <a:ln w="38100" cap="flat" cmpd="sng">
            <a:solidFill>
              <a:srgbClr val="FF00FF"/>
            </a:solidFill>
            <a:prstDash val="solid"/>
            <a:headEnd type="none" w="med" len="med"/>
            <a:tailEnd type="triangle" w="med" len="med"/>
          </a:ln>
        </p:spPr>
      </p:sp>
      <p:pic>
        <p:nvPicPr>
          <p:cNvPr id="14618" name="图片 14617" descr="wb01508_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0" y="58674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619" name="文本框 14618">
            <a:hlinkClick r:id="rId1" action="ppaction://hlinksldjump"/>
          </p:cNvPr>
          <p:cNvSpPr txBox="1"/>
          <p:nvPr/>
        </p:nvSpPr>
        <p:spPr>
          <a:xfrm>
            <a:off x="7893050" y="59436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u="sng" dirty="0">
                <a:solidFill>
                  <a:schemeClr val="accent2"/>
                </a:solidFill>
                <a:latin typeface="Times New Roman" panose="02020603050405020304" pitchFamily="18" charset="0"/>
              </a:rPr>
              <a:t>返  回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4639" name="椭圆 14638"/>
          <p:cNvSpPr/>
          <p:nvPr/>
        </p:nvSpPr>
        <p:spPr>
          <a:xfrm>
            <a:off x="685800" y="2438400"/>
            <a:ext cx="533400" cy="457200"/>
          </a:xfrm>
          <a:prstGeom prst="ellipse">
            <a:avLst/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4640" name="椭圆 14639"/>
          <p:cNvSpPr/>
          <p:nvPr/>
        </p:nvSpPr>
        <p:spPr>
          <a:xfrm>
            <a:off x="2590800" y="2438400"/>
            <a:ext cx="533400" cy="457200"/>
          </a:xfrm>
          <a:prstGeom prst="ellipse">
            <a:avLst/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4641" name="椭圆 14640"/>
          <p:cNvSpPr/>
          <p:nvPr/>
        </p:nvSpPr>
        <p:spPr>
          <a:xfrm>
            <a:off x="2667000" y="3810000"/>
            <a:ext cx="533400" cy="457200"/>
          </a:xfrm>
          <a:prstGeom prst="ellipse">
            <a:avLst/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10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4642" name="椭圆 14641"/>
          <p:cNvSpPr/>
          <p:nvPr/>
        </p:nvSpPr>
        <p:spPr>
          <a:xfrm>
            <a:off x="685800" y="3810000"/>
            <a:ext cx="533400" cy="457200"/>
          </a:xfrm>
          <a:prstGeom prst="ellipse">
            <a:avLst/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11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14643" name="组合 14642"/>
          <p:cNvGrpSpPr/>
          <p:nvPr/>
        </p:nvGrpSpPr>
        <p:grpSpPr>
          <a:xfrm>
            <a:off x="2895600" y="2819400"/>
            <a:ext cx="377825" cy="990600"/>
            <a:chOff x="5136" y="2928"/>
            <a:chExt cx="238" cy="624"/>
          </a:xfrm>
        </p:grpSpPr>
        <p:sp>
          <p:nvSpPr>
            <p:cNvPr id="14644" name="直接连接符 14643"/>
            <p:cNvSpPr/>
            <p:nvPr/>
          </p:nvSpPr>
          <p:spPr>
            <a:xfrm>
              <a:off x="5136" y="2976"/>
              <a:ext cx="0" cy="57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4645" name="文本框 14644"/>
            <p:cNvSpPr txBox="1"/>
            <p:nvPr/>
          </p:nvSpPr>
          <p:spPr>
            <a:xfrm>
              <a:off x="5258" y="2928"/>
              <a:ext cx="116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endParaRPr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4649" name="组合 14648"/>
          <p:cNvGrpSpPr/>
          <p:nvPr/>
        </p:nvGrpSpPr>
        <p:grpSpPr>
          <a:xfrm>
            <a:off x="1219200" y="4038600"/>
            <a:ext cx="1447800" cy="457200"/>
            <a:chOff x="4080" y="3696"/>
            <a:chExt cx="912" cy="288"/>
          </a:xfrm>
        </p:grpSpPr>
        <p:sp>
          <p:nvSpPr>
            <p:cNvPr id="14650" name="直接连接符 14649"/>
            <p:cNvSpPr/>
            <p:nvPr/>
          </p:nvSpPr>
          <p:spPr>
            <a:xfrm flipH="1">
              <a:off x="4080" y="3696"/>
              <a:ext cx="91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4651" name="文本框 14650"/>
            <p:cNvSpPr txBox="1"/>
            <p:nvPr/>
          </p:nvSpPr>
          <p:spPr>
            <a:xfrm>
              <a:off x="4343" y="3696"/>
              <a:ext cx="36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1/1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4652" name="组合 14651"/>
          <p:cNvGrpSpPr/>
          <p:nvPr/>
        </p:nvGrpSpPr>
        <p:grpSpPr>
          <a:xfrm>
            <a:off x="304800" y="2895600"/>
            <a:ext cx="685800" cy="914400"/>
            <a:chOff x="3504" y="2976"/>
            <a:chExt cx="432" cy="576"/>
          </a:xfrm>
        </p:grpSpPr>
        <p:sp>
          <p:nvSpPr>
            <p:cNvPr id="14653" name="直接连接符 14652"/>
            <p:cNvSpPr/>
            <p:nvPr/>
          </p:nvSpPr>
          <p:spPr>
            <a:xfrm flipV="1">
              <a:off x="3936" y="2976"/>
              <a:ext cx="0" cy="57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4654" name="文本框 14653"/>
            <p:cNvSpPr txBox="1"/>
            <p:nvPr/>
          </p:nvSpPr>
          <p:spPr>
            <a:xfrm>
              <a:off x="3504" y="3168"/>
              <a:ext cx="36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1/0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4655" name="组合 14654"/>
          <p:cNvGrpSpPr/>
          <p:nvPr/>
        </p:nvGrpSpPr>
        <p:grpSpPr>
          <a:xfrm>
            <a:off x="2855913" y="2895600"/>
            <a:ext cx="573087" cy="914400"/>
            <a:chOff x="5111" y="2976"/>
            <a:chExt cx="361" cy="576"/>
          </a:xfrm>
        </p:grpSpPr>
        <p:sp>
          <p:nvSpPr>
            <p:cNvPr id="14656" name="文本框 14655"/>
            <p:cNvSpPr txBox="1"/>
            <p:nvPr/>
          </p:nvSpPr>
          <p:spPr>
            <a:xfrm>
              <a:off x="5111" y="3120"/>
              <a:ext cx="36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1/0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4657" name="直接连接符 14656"/>
            <p:cNvSpPr/>
            <p:nvPr/>
          </p:nvSpPr>
          <p:spPr>
            <a:xfrm>
              <a:off x="5136" y="2976"/>
              <a:ext cx="0" cy="57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14658" name="直接连接符 14657"/>
          <p:cNvSpPr/>
          <p:nvPr/>
        </p:nvSpPr>
        <p:spPr>
          <a:xfrm>
            <a:off x="1219200" y="2667000"/>
            <a:ext cx="13716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4659" name="文本框 14658"/>
          <p:cNvSpPr txBox="1"/>
          <p:nvPr/>
        </p:nvSpPr>
        <p:spPr>
          <a:xfrm>
            <a:off x="1447800" y="1676400"/>
            <a:ext cx="10318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 err="1">
                <a:latin typeface="Times New Roman" panose="02020603050405020304" pitchFamily="18" charset="0"/>
              </a:rPr>
              <a:t>Xn</a:t>
            </a:r>
            <a:r>
              <a:rPr lang="en-US" altLang="zh-CN">
                <a:latin typeface="Times New Roman" panose="02020603050405020304" pitchFamily="18" charset="0"/>
              </a:rPr>
              <a:t>/Zn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4660" name="文本框 14659"/>
          <p:cNvSpPr txBox="1"/>
          <p:nvPr/>
        </p:nvSpPr>
        <p:spPr>
          <a:xfrm>
            <a:off x="1600200" y="2133600"/>
            <a:ext cx="573088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1/0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4662" name="任意多边形 14661"/>
          <p:cNvSpPr/>
          <p:nvPr/>
        </p:nvSpPr>
        <p:spPr>
          <a:xfrm rot="7983256">
            <a:off x="252413" y="2109788"/>
            <a:ext cx="685800" cy="581025"/>
          </a:xfrm>
          <a:custGeom>
            <a:avLst/>
            <a:gdLst>
              <a:gd name="txL" fmla="*/ 0 w 43200"/>
              <a:gd name="txT" fmla="*/ 0 h 40918"/>
              <a:gd name="txR" fmla="*/ 43200 w 43200"/>
              <a:gd name="txB" fmla="*/ 40918 h 40918"/>
            </a:gdLst>
            <a:ahLst/>
            <a:cxnLst>
              <a:cxn ang="0">
                <a:pos x="32488" y="663"/>
              </a:cxn>
              <a:cxn ang="270">
                <a:pos x="11937" y="0"/>
              </a:cxn>
              <a:cxn ang="0">
                <a:pos x="21600" y="19318"/>
              </a:cxn>
            </a:cxnLst>
            <a:rect l="txL" t="txT" r="txR" b="txB"/>
            <a:pathLst>
              <a:path w="43200" h="40918" fill="none">
                <a:moveTo>
                  <a:pt x="32488" y="663"/>
                </a:moveTo>
                <a:arcTo wR="21600" hR="21600" stAng="-3583800" swAng="18189328"/>
              </a:path>
              <a:path w="43200" h="40918" stroke="0">
                <a:moveTo>
                  <a:pt x="32488" y="663"/>
                </a:moveTo>
                <a:arcTo wR="21600" hR="21600" stAng="-3583800" swAng="18189328"/>
                <a:lnTo>
                  <a:pt x="21600" y="19318"/>
                </a:lnTo>
                <a:close/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4663" name="文本框 14662"/>
          <p:cNvSpPr txBox="1"/>
          <p:nvPr/>
        </p:nvSpPr>
        <p:spPr>
          <a:xfrm rot="32321693">
            <a:off x="304800" y="1600200"/>
            <a:ext cx="573088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0/0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4664" name="任意多边形 14663"/>
          <p:cNvSpPr/>
          <p:nvPr/>
        </p:nvSpPr>
        <p:spPr>
          <a:xfrm rot="11803202">
            <a:off x="2667000" y="1905000"/>
            <a:ext cx="685800" cy="581025"/>
          </a:xfrm>
          <a:custGeom>
            <a:avLst/>
            <a:gdLst>
              <a:gd name="txL" fmla="*/ 0 w 43200"/>
              <a:gd name="txT" fmla="*/ 0 h 40918"/>
              <a:gd name="txR" fmla="*/ 43200 w 43200"/>
              <a:gd name="txB" fmla="*/ 40918 h 40918"/>
            </a:gdLst>
            <a:ahLst/>
            <a:cxnLst>
              <a:cxn ang="0">
                <a:pos x="32488" y="663"/>
              </a:cxn>
              <a:cxn ang="270">
                <a:pos x="11937" y="0"/>
              </a:cxn>
              <a:cxn ang="0">
                <a:pos x="21600" y="19318"/>
              </a:cxn>
            </a:cxnLst>
            <a:rect l="txL" t="txT" r="txR" b="txB"/>
            <a:pathLst>
              <a:path w="43200" h="40918" fill="none">
                <a:moveTo>
                  <a:pt x="32488" y="663"/>
                </a:moveTo>
                <a:arcTo wR="21600" hR="21600" stAng="-3583800" swAng="18189328"/>
              </a:path>
              <a:path w="43200" h="40918" stroke="0">
                <a:moveTo>
                  <a:pt x="32488" y="663"/>
                </a:moveTo>
                <a:arcTo wR="21600" hR="21600" stAng="-3583800" swAng="18189328"/>
                <a:lnTo>
                  <a:pt x="21600" y="19318"/>
                </a:lnTo>
                <a:close/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4665" name="文本框 14664"/>
          <p:cNvSpPr txBox="1"/>
          <p:nvPr/>
        </p:nvSpPr>
        <p:spPr>
          <a:xfrm rot="32321693">
            <a:off x="2819400" y="1524000"/>
            <a:ext cx="573088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0/0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4668" name="任意多边形 14667"/>
          <p:cNvSpPr/>
          <p:nvPr/>
        </p:nvSpPr>
        <p:spPr>
          <a:xfrm rot="852928">
            <a:off x="457200" y="4191000"/>
            <a:ext cx="685800" cy="581025"/>
          </a:xfrm>
          <a:custGeom>
            <a:avLst/>
            <a:gdLst>
              <a:gd name="txL" fmla="*/ 0 w 43200"/>
              <a:gd name="txT" fmla="*/ 0 h 40918"/>
              <a:gd name="txR" fmla="*/ 43200 w 43200"/>
              <a:gd name="txB" fmla="*/ 40918 h 40918"/>
            </a:gdLst>
            <a:ahLst/>
            <a:cxnLst>
              <a:cxn ang="0">
                <a:pos x="32488" y="663"/>
              </a:cxn>
              <a:cxn ang="270">
                <a:pos x="11937" y="0"/>
              </a:cxn>
              <a:cxn ang="0">
                <a:pos x="21600" y="19318"/>
              </a:cxn>
            </a:cxnLst>
            <a:rect l="txL" t="txT" r="txR" b="txB"/>
            <a:pathLst>
              <a:path w="43200" h="40918" fill="none">
                <a:moveTo>
                  <a:pt x="32488" y="663"/>
                </a:moveTo>
                <a:arcTo wR="21600" hR="21600" stAng="-3583800" swAng="18189328"/>
              </a:path>
              <a:path w="43200" h="40918" stroke="0">
                <a:moveTo>
                  <a:pt x="32488" y="663"/>
                </a:moveTo>
                <a:arcTo wR="21600" hR="21600" stAng="-3583800" swAng="18189328"/>
                <a:lnTo>
                  <a:pt x="21600" y="19318"/>
                </a:lnTo>
                <a:close/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4669" name="任意多边形 14668"/>
          <p:cNvSpPr/>
          <p:nvPr/>
        </p:nvSpPr>
        <p:spPr>
          <a:xfrm rot="-845196">
            <a:off x="2743200" y="4191000"/>
            <a:ext cx="685800" cy="581025"/>
          </a:xfrm>
          <a:custGeom>
            <a:avLst/>
            <a:gdLst>
              <a:gd name="txL" fmla="*/ 0 w 43200"/>
              <a:gd name="txT" fmla="*/ 0 h 40918"/>
              <a:gd name="txR" fmla="*/ 43200 w 43200"/>
              <a:gd name="txB" fmla="*/ 40918 h 40918"/>
            </a:gdLst>
            <a:ahLst/>
            <a:cxnLst>
              <a:cxn ang="0">
                <a:pos x="32488" y="663"/>
              </a:cxn>
              <a:cxn ang="270">
                <a:pos x="11937" y="0"/>
              </a:cxn>
              <a:cxn ang="0">
                <a:pos x="21600" y="19318"/>
              </a:cxn>
            </a:cxnLst>
            <a:rect l="txL" t="txT" r="txR" b="txB"/>
            <a:pathLst>
              <a:path w="43200" h="40918" fill="none">
                <a:moveTo>
                  <a:pt x="32488" y="663"/>
                </a:moveTo>
                <a:arcTo wR="21600" hR="21600" stAng="-3583800" swAng="18189328"/>
              </a:path>
              <a:path w="43200" h="40918" stroke="0">
                <a:moveTo>
                  <a:pt x="32488" y="663"/>
                </a:moveTo>
                <a:arcTo wR="21600" hR="21600" stAng="-3583800" swAng="18189328"/>
                <a:lnTo>
                  <a:pt x="21600" y="19318"/>
                </a:lnTo>
                <a:close/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4670" name="文本框 14669"/>
          <p:cNvSpPr txBox="1"/>
          <p:nvPr/>
        </p:nvSpPr>
        <p:spPr>
          <a:xfrm rot="32321693">
            <a:off x="2819400" y="4800600"/>
            <a:ext cx="573088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0/0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4671" name="文本框 14670"/>
          <p:cNvSpPr txBox="1"/>
          <p:nvPr/>
        </p:nvSpPr>
        <p:spPr>
          <a:xfrm rot="32321693">
            <a:off x="457200" y="4800600"/>
            <a:ext cx="573088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0/0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5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5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5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6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6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4" dur="500"/>
                                        <p:tgtEl>
                                          <p:spTgt spid="14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5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5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45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00"/>
                            </p:stCondLst>
                            <p:childTnLst>
                              <p:par>
                                <p:cTn id="76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500"/>
                            </p:stCondLst>
                            <p:childTnLst>
                              <p:par>
                                <p:cTn id="79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4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45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000"/>
                            </p:stCondLst>
                            <p:childTnLst>
                              <p:par>
                                <p:cTn id="109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3500"/>
                            </p:stCondLst>
                            <p:childTnLst>
                              <p:par>
                                <p:cTn id="112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8" dur="500"/>
                                        <p:tgtEl>
                                          <p:spTgt spid="14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46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2000"/>
                            </p:stCondLst>
                            <p:childTnLst>
                              <p:par>
                                <p:cTn id="13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3500"/>
                            </p:stCondLst>
                            <p:childTnLst>
                              <p:par>
                                <p:cTn id="13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14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53" dur="500"/>
                                        <p:tgtEl>
                                          <p:spTgt spid="14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2" dur="500"/>
                                        <p:tgtEl>
                                          <p:spTgt spid="14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71" dur="500"/>
                                        <p:tgtEl>
                                          <p:spTgt spid="14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0" dur="500"/>
                                        <p:tgtEl>
                                          <p:spTgt spid="14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5" dur="500"/>
                                        <p:tgtEl>
                                          <p:spTgt spid="14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51" grpId="0"/>
      <p:bldP spid="14639" grpId="0" animBg="1"/>
      <p:bldP spid="14640" grpId="0" animBg="1"/>
      <p:bldP spid="14641" grpId="0" animBg="1"/>
      <p:bldP spid="14642" grpId="0" animBg="1"/>
      <p:bldP spid="14659" grpId="0"/>
      <p:bldP spid="14660" grpId="0"/>
      <p:bldP spid="14663" grpId="0"/>
      <p:bldP spid="14665" grpId="0"/>
      <p:bldP spid="14670" grpId="0"/>
      <p:bldP spid="1467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7" name="矩形 16386"/>
          <p:cNvSpPr/>
          <p:nvPr/>
        </p:nvSpPr>
        <p:spPr>
          <a:xfrm>
            <a:off x="304800" y="228600"/>
            <a:ext cx="4419600" cy="5334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9525">
            <a:noFill/>
          </a:ln>
          <a:effectLst>
            <a:outerShdw sy="50000" kx="-2453608" algn="br" rotWithShape="0">
              <a:srgbClr val="808080"/>
            </a:outerShdw>
          </a:effectLst>
        </p:spPr>
        <p:txBody>
          <a:bodyPr anchor="ctr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sz="4000" b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同步时序电路分析</a:t>
            </a:r>
            <a:endParaRPr lang="zh-CN" altLang="en-US" sz="7200" b="1">
              <a:effectLst>
                <a:outerShdw blurRad="38100" dist="38100" dir="2700000">
                  <a:srgbClr val="FFFFFF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6389" name="文本框 16388"/>
          <p:cNvSpPr txBox="1"/>
          <p:nvPr/>
        </p:nvSpPr>
        <p:spPr>
          <a:xfrm>
            <a:off x="381000" y="1087438"/>
            <a:ext cx="41370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zh-CN" altLang="en-US" dirty="0">
                <a:latin typeface="Times New Roman" panose="02020603050405020304" pitchFamily="18" charset="0"/>
              </a:rPr>
              <a:t>由状态图得电路的逻辑功能：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6390" name="文本框 16389"/>
          <p:cNvSpPr txBox="1"/>
          <p:nvPr/>
        </p:nvSpPr>
        <p:spPr>
          <a:xfrm>
            <a:off x="441325" y="1717675"/>
            <a:ext cx="36988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zh-CN" altLang="en-US" dirty="0">
                <a:latin typeface="Times New Roman" panose="02020603050405020304" pitchFamily="18" charset="0"/>
              </a:rPr>
              <a:t>电路是一个可控模</a:t>
            </a:r>
            <a:r>
              <a:rPr lang="en-US" altLang="zh-CN">
                <a:latin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</a:rPr>
              <a:t>计数器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6391" name="文本框 16390"/>
          <p:cNvSpPr txBox="1"/>
          <p:nvPr/>
        </p:nvSpPr>
        <p:spPr>
          <a:xfrm>
            <a:off x="517525" y="2209800"/>
            <a:ext cx="4435475" cy="82232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</a:rPr>
              <a:t>端是控制端，时钟脉冲作为计数脉冲输入。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6392" name="文本框 16391"/>
          <p:cNvSpPr txBox="1"/>
          <p:nvPr/>
        </p:nvSpPr>
        <p:spPr>
          <a:xfrm>
            <a:off x="533400" y="3124200"/>
            <a:ext cx="27273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X=1  </a:t>
            </a:r>
            <a:r>
              <a:rPr lang="zh-CN" altLang="en-US" dirty="0">
                <a:latin typeface="Times New Roman" panose="02020603050405020304" pitchFamily="18" charset="0"/>
              </a:rPr>
              <a:t>初态为</a:t>
            </a:r>
            <a:r>
              <a:rPr lang="en-US" altLang="zh-CN">
                <a:latin typeface="Times New Roman" panose="02020603050405020304" pitchFamily="18" charset="0"/>
              </a:rPr>
              <a:t>00</a:t>
            </a:r>
            <a:r>
              <a:rPr lang="zh-CN" altLang="en-US" dirty="0">
                <a:latin typeface="Times New Roman" panose="02020603050405020304" pitchFamily="18" charset="0"/>
              </a:rPr>
              <a:t>时，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16400" name="组合 16399"/>
          <p:cNvGrpSpPr/>
          <p:nvPr/>
        </p:nvGrpSpPr>
        <p:grpSpPr>
          <a:xfrm>
            <a:off x="1295400" y="3581400"/>
            <a:ext cx="2174875" cy="477838"/>
            <a:chOff x="1248" y="2339"/>
            <a:chExt cx="1370" cy="301"/>
          </a:xfrm>
        </p:grpSpPr>
        <p:sp>
          <p:nvSpPr>
            <p:cNvPr id="16398" name="文本框 16397"/>
            <p:cNvSpPr txBox="1"/>
            <p:nvPr/>
          </p:nvSpPr>
          <p:spPr>
            <a:xfrm>
              <a:off x="1248" y="2352"/>
              <a:ext cx="79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实现模</a:t>
              </a:r>
              <a:r>
                <a:rPr lang="en-US" altLang="zh-CN">
                  <a:latin typeface="Times New Roman" panose="02020603050405020304" pitchFamily="18" charset="0"/>
                </a:rPr>
                <a:t>4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6399" name="文本框 16398"/>
            <p:cNvSpPr txBox="1"/>
            <p:nvPr/>
          </p:nvSpPr>
          <p:spPr>
            <a:xfrm>
              <a:off x="1920" y="2339"/>
              <a:ext cx="69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加计数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16401" name="文本框 16400"/>
          <p:cNvSpPr txBox="1"/>
          <p:nvPr/>
        </p:nvSpPr>
        <p:spPr>
          <a:xfrm>
            <a:off x="485775" y="4191000"/>
            <a:ext cx="10382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X=0</a:t>
            </a:r>
            <a:r>
              <a:rPr lang="zh-CN" altLang="en-US">
                <a:latin typeface="Times New Roman" panose="02020603050405020304" pitchFamily="18" charset="0"/>
              </a:rPr>
              <a:t>时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6402" name="文本框 16401"/>
          <p:cNvSpPr txBox="1"/>
          <p:nvPr/>
        </p:nvSpPr>
        <p:spPr>
          <a:xfrm>
            <a:off x="1752600" y="4191000"/>
            <a:ext cx="14160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zh-CN" altLang="en-US" dirty="0">
                <a:latin typeface="Times New Roman" panose="02020603050405020304" pitchFamily="18" charset="0"/>
              </a:rPr>
              <a:t>保持原态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6403" name="文本框 16402"/>
          <p:cNvSpPr txBox="1"/>
          <p:nvPr/>
        </p:nvSpPr>
        <p:spPr>
          <a:xfrm>
            <a:off x="838200" y="5754688"/>
            <a:ext cx="5881688" cy="519112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    </a:t>
            </a:r>
            <a:r>
              <a:rPr lang="zh-CN" altLang="en-US" dirty="0">
                <a:latin typeface="Times New Roman" panose="02020603050405020304" pitchFamily="18" charset="0"/>
              </a:rPr>
              <a:t>电路属于米莱型、可控模</a:t>
            </a:r>
            <a:r>
              <a:rPr lang="en-US" altLang="zh-CN">
                <a:latin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</a:rPr>
              <a:t>计数器电路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6404" name="文本框 16403"/>
          <p:cNvSpPr txBox="1"/>
          <p:nvPr/>
        </p:nvSpPr>
        <p:spPr>
          <a:xfrm>
            <a:off x="509588" y="5257800"/>
            <a:ext cx="8021637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zh-CN" altLang="en-US" dirty="0">
                <a:latin typeface="Times New Roman" panose="02020603050405020304" pitchFamily="18" charset="0"/>
              </a:rPr>
              <a:t>输出不仅取决于电路本身的状态，而且也与输入变量</a:t>
            </a:r>
            <a:r>
              <a:rPr lang="en-US" altLang="zh-CN">
                <a:latin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</a:rPr>
              <a:t>有关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pic>
        <p:nvPicPr>
          <p:cNvPr id="16405" name="图片 16404" descr="wb01508_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9436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406" name="文本框 16405">
            <a:hlinkClick r:id="rId1" action="ppaction://hlinksldjump"/>
          </p:cNvPr>
          <p:cNvSpPr txBox="1"/>
          <p:nvPr/>
        </p:nvSpPr>
        <p:spPr>
          <a:xfrm>
            <a:off x="7512050" y="60198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u="sng" dirty="0">
                <a:solidFill>
                  <a:schemeClr val="accent2"/>
                </a:solidFill>
                <a:latin typeface="Times New Roman" panose="02020603050405020304" pitchFamily="18" charset="0"/>
              </a:rPr>
              <a:t>返  回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16436" name="组合 16435"/>
          <p:cNvGrpSpPr/>
          <p:nvPr/>
        </p:nvGrpSpPr>
        <p:grpSpPr>
          <a:xfrm>
            <a:off x="5410200" y="914400"/>
            <a:ext cx="3124200" cy="3733800"/>
            <a:chOff x="3408" y="816"/>
            <a:chExt cx="1968" cy="2352"/>
          </a:xfrm>
        </p:grpSpPr>
        <p:sp>
          <p:nvSpPr>
            <p:cNvPr id="16409" name="椭圆 16408"/>
            <p:cNvSpPr/>
            <p:nvPr/>
          </p:nvSpPr>
          <p:spPr>
            <a:xfrm>
              <a:off x="3648" y="1392"/>
              <a:ext cx="336" cy="288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6410" name="椭圆 16409"/>
            <p:cNvSpPr/>
            <p:nvPr/>
          </p:nvSpPr>
          <p:spPr>
            <a:xfrm>
              <a:off x="4848" y="1392"/>
              <a:ext cx="336" cy="288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6411" name="椭圆 16410"/>
            <p:cNvSpPr/>
            <p:nvPr/>
          </p:nvSpPr>
          <p:spPr>
            <a:xfrm>
              <a:off x="4896" y="2256"/>
              <a:ext cx="336" cy="288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6412" name="椭圆 16411"/>
            <p:cNvSpPr/>
            <p:nvPr/>
          </p:nvSpPr>
          <p:spPr>
            <a:xfrm>
              <a:off x="3648" y="2256"/>
              <a:ext cx="336" cy="288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grpSp>
          <p:nvGrpSpPr>
            <p:cNvPr id="16413" name="组合 16412"/>
            <p:cNvGrpSpPr/>
            <p:nvPr/>
          </p:nvGrpSpPr>
          <p:grpSpPr>
            <a:xfrm>
              <a:off x="5040" y="1632"/>
              <a:ext cx="238" cy="624"/>
              <a:chOff x="5136" y="2928"/>
              <a:chExt cx="238" cy="624"/>
            </a:xfrm>
          </p:grpSpPr>
          <p:sp>
            <p:nvSpPr>
              <p:cNvPr id="16414" name="直接连接符 16413"/>
              <p:cNvSpPr/>
              <p:nvPr/>
            </p:nvSpPr>
            <p:spPr>
              <a:xfrm>
                <a:off x="5136" y="2976"/>
                <a:ext cx="0" cy="57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6415" name="文本框 16414"/>
              <p:cNvSpPr txBox="1"/>
              <p:nvPr/>
            </p:nvSpPr>
            <p:spPr>
              <a:xfrm>
                <a:off x="5258" y="2928"/>
                <a:ext cx="116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endParaRPr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6416" name="组合 16415"/>
            <p:cNvGrpSpPr/>
            <p:nvPr/>
          </p:nvGrpSpPr>
          <p:grpSpPr>
            <a:xfrm>
              <a:off x="3984" y="2400"/>
              <a:ext cx="912" cy="288"/>
              <a:chOff x="4080" y="3696"/>
              <a:chExt cx="912" cy="288"/>
            </a:xfrm>
          </p:grpSpPr>
          <p:sp>
            <p:nvSpPr>
              <p:cNvPr id="16417" name="直接连接符 16416"/>
              <p:cNvSpPr/>
              <p:nvPr/>
            </p:nvSpPr>
            <p:spPr>
              <a:xfrm flipH="1">
                <a:off x="4080" y="3696"/>
                <a:ext cx="91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6418" name="文本框 16417"/>
              <p:cNvSpPr txBox="1"/>
              <p:nvPr/>
            </p:nvSpPr>
            <p:spPr>
              <a:xfrm>
                <a:off x="4343" y="3696"/>
                <a:ext cx="361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1/1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6419" name="组合 16418"/>
            <p:cNvGrpSpPr/>
            <p:nvPr/>
          </p:nvGrpSpPr>
          <p:grpSpPr>
            <a:xfrm>
              <a:off x="3408" y="1680"/>
              <a:ext cx="432" cy="576"/>
              <a:chOff x="3504" y="2976"/>
              <a:chExt cx="432" cy="576"/>
            </a:xfrm>
          </p:grpSpPr>
          <p:sp>
            <p:nvSpPr>
              <p:cNvPr id="16420" name="直接连接符 16419"/>
              <p:cNvSpPr/>
              <p:nvPr/>
            </p:nvSpPr>
            <p:spPr>
              <a:xfrm flipV="1">
                <a:off x="3936" y="2976"/>
                <a:ext cx="0" cy="57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6421" name="文本框 16420"/>
              <p:cNvSpPr txBox="1"/>
              <p:nvPr/>
            </p:nvSpPr>
            <p:spPr>
              <a:xfrm>
                <a:off x="3504" y="3168"/>
                <a:ext cx="361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1/0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6422" name="组合 16421"/>
            <p:cNvGrpSpPr/>
            <p:nvPr/>
          </p:nvGrpSpPr>
          <p:grpSpPr>
            <a:xfrm>
              <a:off x="5015" y="1680"/>
              <a:ext cx="361" cy="576"/>
              <a:chOff x="5111" y="2976"/>
              <a:chExt cx="361" cy="576"/>
            </a:xfrm>
          </p:grpSpPr>
          <p:sp>
            <p:nvSpPr>
              <p:cNvPr id="16423" name="文本框 16422"/>
              <p:cNvSpPr txBox="1"/>
              <p:nvPr/>
            </p:nvSpPr>
            <p:spPr>
              <a:xfrm>
                <a:off x="5111" y="3120"/>
                <a:ext cx="361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1/0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424" name="直接连接符 16423"/>
              <p:cNvSpPr/>
              <p:nvPr/>
            </p:nvSpPr>
            <p:spPr>
              <a:xfrm>
                <a:off x="5136" y="2976"/>
                <a:ext cx="0" cy="57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16425" name="直接连接符 16424"/>
            <p:cNvSpPr/>
            <p:nvPr/>
          </p:nvSpPr>
          <p:spPr>
            <a:xfrm>
              <a:off x="3984" y="1536"/>
              <a:ext cx="86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6426" name="文本框 16425"/>
            <p:cNvSpPr txBox="1"/>
            <p:nvPr/>
          </p:nvSpPr>
          <p:spPr>
            <a:xfrm>
              <a:off x="4128" y="912"/>
              <a:ext cx="65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err="1">
                  <a:latin typeface="Times New Roman" panose="02020603050405020304" pitchFamily="18" charset="0"/>
                </a:rPr>
                <a:t>Xn</a:t>
              </a:r>
              <a:r>
                <a:rPr lang="en-US" altLang="zh-CN">
                  <a:latin typeface="Times New Roman" panose="02020603050405020304" pitchFamily="18" charset="0"/>
                </a:rPr>
                <a:t>/Zn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6427" name="文本框 16426"/>
            <p:cNvSpPr txBox="1"/>
            <p:nvPr/>
          </p:nvSpPr>
          <p:spPr>
            <a:xfrm>
              <a:off x="4224" y="1200"/>
              <a:ext cx="36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1/0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6428" name="任意多边形 16427"/>
            <p:cNvSpPr/>
            <p:nvPr/>
          </p:nvSpPr>
          <p:spPr>
            <a:xfrm rot="7983256">
              <a:off x="3375" y="1185"/>
              <a:ext cx="432" cy="366"/>
            </a:xfrm>
            <a:custGeom>
              <a:avLst/>
              <a:gdLst>
                <a:gd name="txL" fmla="*/ 0 w 43200"/>
                <a:gd name="txT" fmla="*/ 0 h 40918"/>
                <a:gd name="txR" fmla="*/ 43200 w 43200"/>
                <a:gd name="txB" fmla="*/ 40918 h 40918"/>
              </a:gdLst>
              <a:ahLst/>
              <a:cxnLst>
                <a:cxn ang="0">
                  <a:pos x="32488" y="663"/>
                </a:cxn>
                <a:cxn ang="270">
                  <a:pos x="11937" y="0"/>
                </a:cxn>
                <a:cxn ang="0">
                  <a:pos x="21600" y="19318"/>
                </a:cxn>
              </a:cxnLst>
              <a:rect l="txL" t="txT" r="txR" b="txB"/>
              <a:pathLst>
                <a:path w="43200" h="40918" fill="none">
                  <a:moveTo>
                    <a:pt x="32488" y="663"/>
                  </a:moveTo>
                  <a:arcTo wR="21600" hR="21600" stAng="-3583800" swAng="18189328"/>
                </a:path>
                <a:path w="43200" h="40918" stroke="0">
                  <a:moveTo>
                    <a:pt x="32488" y="663"/>
                  </a:moveTo>
                  <a:arcTo wR="21600" hR="21600" stAng="-3583800" swAng="18189328"/>
                  <a:lnTo>
                    <a:pt x="21600" y="19318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429" name="文本框 16428"/>
            <p:cNvSpPr txBox="1"/>
            <p:nvPr/>
          </p:nvSpPr>
          <p:spPr>
            <a:xfrm rot="32321693">
              <a:off x="3408" y="864"/>
              <a:ext cx="36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6430" name="任意多边形 16429"/>
            <p:cNvSpPr/>
            <p:nvPr/>
          </p:nvSpPr>
          <p:spPr>
            <a:xfrm rot="11803202">
              <a:off x="4896" y="1056"/>
              <a:ext cx="432" cy="366"/>
            </a:xfrm>
            <a:custGeom>
              <a:avLst/>
              <a:gdLst>
                <a:gd name="txL" fmla="*/ 0 w 43200"/>
                <a:gd name="txT" fmla="*/ 0 h 40918"/>
                <a:gd name="txR" fmla="*/ 43200 w 43200"/>
                <a:gd name="txB" fmla="*/ 40918 h 40918"/>
              </a:gdLst>
              <a:ahLst/>
              <a:cxnLst>
                <a:cxn ang="0">
                  <a:pos x="32488" y="663"/>
                </a:cxn>
                <a:cxn ang="270">
                  <a:pos x="11937" y="0"/>
                </a:cxn>
                <a:cxn ang="0">
                  <a:pos x="21600" y="19318"/>
                </a:cxn>
              </a:cxnLst>
              <a:rect l="txL" t="txT" r="txR" b="txB"/>
              <a:pathLst>
                <a:path w="43200" h="40918" fill="none">
                  <a:moveTo>
                    <a:pt x="32488" y="663"/>
                  </a:moveTo>
                  <a:arcTo wR="21600" hR="21600" stAng="-3583800" swAng="18189328"/>
                </a:path>
                <a:path w="43200" h="40918" stroke="0">
                  <a:moveTo>
                    <a:pt x="32488" y="663"/>
                  </a:moveTo>
                  <a:arcTo wR="21600" hR="21600" stAng="-3583800" swAng="18189328"/>
                  <a:lnTo>
                    <a:pt x="21600" y="19318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431" name="文本框 16430"/>
            <p:cNvSpPr txBox="1"/>
            <p:nvPr/>
          </p:nvSpPr>
          <p:spPr>
            <a:xfrm rot="32321693">
              <a:off x="4992" y="816"/>
              <a:ext cx="36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6432" name="任意多边形 16431"/>
            <p:cNvSpPr/>
            <p:nvPr/>
          </p:nvSpPr>
          <p:spPr>
            <a:xfrm rot="852928">
              <a:off x="3504" y="2496"/>
              <a:ext cx="432" cy="366"/>
            </a:xfrm>
            <a:custGeom>
              <a:avLst/>
              <a:gdLst>
                <a:gd name="txL" fmla="*/ 0 w 43200"/>
                <a:gd name="txT" fmla="*/ 0 h 40918"/>
                <a:gd name="txR" fmla="*/ 43200 w 43200"/>
                <a:gd name="txB" fmla="*/ 40918 h 40918"/>
              </a:gdLst>
              <a:ahLst/>
              <a:cxnLst>
                <a:cxn ang="0">
                  <a:pos x="32488" y="663"/>
                </a:cxn>
                <a:cxn ang="270">
                  <a:pos x="11937" y="0"/>
                </a:cxn>
                <a:cxn ang="0">
                  <a:pos x="21600" y="19318"/>
                </a:cxn>
              </a:cxnLst>
              <a:rect l="txL" t="txT" r="txR" b="txB"/>
              <a:pathLst>
                <a:path w="43200" h="40918" fill="none">
                  <a:moveTo>
                    <a:pt x="32488" y="663"/>
                  </a:moveTo>
                  <a:arcTo wR="21600" hR="21600" stAng="-3583800" swAng="18189328"/>
                </a:path>
                <a:path w="43200" h="40918" stroke="0">
                  <a:moveTo>
                    <a:pt x="32488" y="663"/>
                  </a:moveTo>
                  <a:arcTo wR="21600" hR="21600" stAng="-3583800" swAng="18189328"/>
                  <a:lnTo>
                    <a:pt x="21600" y="19318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433" name="任意多边形 16432"/>
            <p:cNvSpPr/>
            <p:nvPr/>
          </p:nvSpPr>
          <p:spPr>
            <a:xfrm rot="-845196">
              <a:off x="4944" y="2496"/>
              <a:ext cx="432" cy="366"/>
            </a:xfrm>
            <a:custGeom>
              <a:avLst/>
              <a:gdLst>
                <a:gd name="txL" fmla="*/ 0 w 43200"/>
                <a:gd name="txT" fmla="*/ 0 h 40918"/>
                <a:gd name="txR" fmla="*/ 43200 w 43200"/>
                <a:gd name="txB" fmla="*/ 40918 h 40918"/>
              </a:gdLst>
              <a:ahLst/>
              <a:cxnLst>
                <a:cxn ang="0">
                  <a:pos x="32488" y="663"/>
                </a:cxn>
                <a:cxn ang="270">
                  <a:pos x="11937" y="0"/>
                </a:cxn>
                <a:cxn ang="0">
                  <a:pos x="21600" y="19318"/>
                </a:cxn>
              </a:cxnLst>
              <a:rect l="txL" t="txT" r="txR" b="txB"/>
              <a:pathLst>
                <a:path w="43200" h="40918" fill="none">
                  <a:moveTo>
                    <a:pt x="32488" y="663"/>
                  </a:moveTo>
                  <a:arcTo wR="21600" hR="21600" stAng="-3583800" swAng="18189328"/>
                </a:path>
                <a:path w="43200" h="40918" stroke="0">
                  <a:moveTo>
                    <a:pt x="32488" y="663"/>
                  </a:moveTo>
                  <a:arcTo wR="21600" hR="21600" stAng="-3583800" swAng="18189328"/>
                  <a:lnTo>
                    <a:pt x="21600" y="19318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434" name="文本框 16433"/>
            <p:cNvSpPr txBox="1"/>
            <p:nvPr/>
          </p:nvSpPr>
          <p:spPr>
            <a:xfrm rot="32321693">
              <a:off x="4992" y="2880"/>
              <a:ext cx="36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6435" name="文本框 16434"/>
            <p:cNvSpPr txBox="1"/>
            <p:nvPr/>
          </p:nvSpPr>
          <p:spPr>
            <a:xfrm rot="32321693">
              <a:off x="3504" y="2880"/>
              <a:ext cx="36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sp>
        <p:nvSpPr>
          <p:cNvPr id="16394" name="直接连接符 16393"/>
          <p:cNvSpPr/>
          <p:nvPr/>
        </p:nvSpPr>
        <p:spPr>
          <a:xfrm>
            <a:off x="8001000" y="2286000"/>
            <a:ext cx="0" cy="990600"/>
          </a:xfrm>
          <a:prstGeom prst="line">
            <a:avLst/>
          </a:prstGeom>
          <a:ln w="38100" cap="flat" cmpd="sng">
            <a:solidFill>
              <a:srgbClr val="FF00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395" name="直接连接符 16394"/>
          <p:cNvSpPr/>
          <p:nvPr/>
        </p:nvSpPr>
        <p:spPr>
          <a:xfrm flipH="1">
            <a:off x="6324600" y="3429000"/>
            <a:ext cx="1371600" cy="0"/>
          </a:xfrm>
          <a:prstGeom prst="line">
            <a:avLst/>
          </a:prstGeom>
          <a:ln w="38100" cap="flat" cmpd="sng">
            <a:solidFill>
              <a:srgbClr val="FF00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396" name="直接连接符 16395"/>
          <p:cNvSpPr/>
          <p:nvPr/>
        </p:nvSpPr>
        <p:spPr>
          <a:xfrm flipH="1" flipV="1">
            <a:off x="6096000" y="2286000"/>
            <a:ext cx="0" cy="914400"/>
          </a:xfrm>
          <a:prstGeom prst="line">
            <a:avLst/>
          </a:prstGeom>
          <a:ln w="38100" cap="flat" cmpd="sng">
            <a:solidFill>
              <a:srgbClr val="FF00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393" name="直接连接符 16392"/>
          <p:cNvSpPr/>
          <p:nvPr/>
        </p:nvSpPr>
        <p:spPr>
          <a:xfrm>
            <a:off x="6324600" y="2057400"/>
            <a:ext cx="1371600" cy="0"/>
          </a:xfrm>
          <a:prstGeom prst="line">
            <a:avLst/>
          </a:prstGeom>
          <a:ln w="38100" cap="flat" cmpd="sng">
            <a:solidFill>
              <a:srgbClr val="FF00FF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/>
      <p:bldP spid="16390" grpId="0"/>
      <p:bldP spid="16391" grpId="0"/>
      <p:bldP spid="16392" grpId="0"/>
      <p:bldP spid="16401" grpId="0"/>
      <p:bldP spid="16402" grpId="0"/>
      <p:bldP spid="16403" grpId="0"/>
      <p:bldP spid="1640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矩形 17409"/>
          <p:cNvSpPr/>
          <p:nvPr/>
        </p:nvSpPr>
        <p:spPr>
          <a:xfrm>
            <a:off x="304800" y="228600"/>
            <a:ext cx="4419600" cy="5334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9525">
            <a:noFill/>
          </a:ln>
          <a:effectLst>
            <a:outerShdw sy="50000" kx="-2453608" algn="br" rotWithShape="0">
              <a:srgbClr val="808080"/>
            </a:outerShdw>
          </a:effectLst>
        </p:spPr>
        <p:txBody>
          <a:bodyPr anchor="ctr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sz="4000" b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同步时序电路分析</a:t>
            </a:r>
            <a:endParaRPr lang="zh-CN" altLang="en-US" sz="7200" b="1">
              <a:effectLst>
                <a:outerShdw blurRad="38100" dist="38100" dir="2700000">
                  <a:srgbClr val="FFFFFF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aphicFrame>
        <p:nvGraphicFramePr>
          <p:cNvPr id="17412" name="对象 17411"/>
          <p:cNvGraphicFramePr/>
          <p:nvPr/>
        </p:nvGraphicFramePr>
        <p:xfrm>
          <a:off x="2362200" y="2527300"/>
          <a:ext cx="6400800" cy="364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3248025" imgH="1447800" progId="Paint.Picture">
                  <p:embed/>
                </p:oleObj>
              </mc:Choice>
              <mc:Fallback>
                <p:oleObj name="" r:id="rId1" imgW="3248025" imgH="1447800" progId="Paint.Picture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62200" y="2527300"/>
                        <a:ext cx="6400800" cy="3644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文本框 17412"/>
          <p:cNvSpPr txBox="1"/>
          <p:nvPr/>
        </p:nvSpPr>
        <p:spPr>
          <a:xfrm>
            <a:off x="441325" y="955675"/>
            <a:ext cx="22479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4.</a:t>
            </a:r>
            <a:r>
              <a:rPr lang="zh-CN" altLang="en-US" dirty="0">
                <a:latin typeface="Times New Roman" panose="02020603050405020304" pitchFamily="18" charset="0"/>
              </a:rPr>
              <a:t>作时序波形图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7414" name="文本框 17413"/>
          <p:cNvSpPr txBox="1"/>
          <p:nvPr/>
        </p:nvSpPr>
        <p:spPr>
          <a:xfrm>
            <a:off x="533400" y="1412875"/>
            <a:ext cx="7183438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zh-CN" altLang="en-US" dirty="0">
                <a:latin typeface="Times New Roman" panose="02020603050405020304" pitchFamily="18" charset="0"/>
              </a:rPr>
              <a:t>初始状态</a:t>
            </a:r>
            <a:r>
              <a:rPr lang="en-US" altLang="zh-CN">
                <a:latin typeface="Times New Roman" panose="02020603050405020304" pitchFamily="18" charset="0"/>
              </a:rPr>
              <a:t>Q</a:t>
            </a:r>
            <a:r>
              <a:rPr lang="en-US" altLang="zh-CN" baseline="-25000">
                <a:latin typeface="Times New Roman" panose="02020603050405020304" pitchFamily="18" charset="0"/>
              </a:rPr>
              <a:t>2n</a:t>
            </a:r>
            <a:r>
              <a:rPr lang="en-US" altLang="zh-CN">
                <a:latin typeface="Times New Roman" panose="02020603050405020304" pitchFamily="18" charset="0"/>
              </a:rPr>
              <a:t>Q</a:t>
            </a:r>
            <a:r>
              <a:rPr lang="en-US" altLang="zh-CN" baseline="-25000">
                <a:latin typeface="Times New Roman" panose="02020603050405020304" pitchFamily="18" charset="0"/>
              </a:rPr>
              <a:t>1n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>
                <a:latin typeface="Times New Roman" panose="02020603050405020304" pitchFamily="18" charset="0"/>
              </a:rPr>
              <a:t>00</a:t>
            </a:r>
            <a:r>
              <a:rPr lang="zh-CN" altLang="en-US" dirty="0">
                <a:latin typeface="Times New Roman" panose="02020603050405020304" pitchFamily="18" charset="0"/>
              </a:rPr>
              <a:t>，输入</a:t>
            </a:r>
            <a:r>
              <a:rPr lang="en-US" altLang="zh-CN">
                <a:latin typeface="Times New Roman" panose="02020603050405020304" pitchFamily="18" charset="0"/>
              </a:rPr>
              <a:t>X </a:t>
            </a:r>
            <a:r>
              <a:rPr lang="zh-CN" altLang="en-US" dirty="0">
                <a:latin typeface="Times New Roman" panose="02020603050405020304" pitchFamily="18" charset="0"/>
              </a:rPr>
              <a:t>的序列为</a:t>
            </a:r>
            <a:r>
              <a:rPr lang="en-US" altLang="zh-CN">
                <a:latin typeface="Times New Roman" panose="02020603050405020304" pitchFamily="18" charset="0"/>
              </a:rPr>
              <a:t>1111100111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7416" name="直接连接符 17415"/>
          <p:cNvSpPr/>
          <p:nvPr/>
        </p:nvSpPr>
        <p:spPr>
          <a:xfrm>
            <a:off x="2971800" y="2286000"/>
            <a:ext cx="0" cy="3810000"/>
          </a:xfrm>
          <a:prstGeom prst="line">
            <a:avLst/>
          </a:prstGeom>
          <a:ln w="38100" cap="flat" cmpd="sng">
            <a:solidFill>
              <a:srgbClr val="FF00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7421" name="直接连接符 17420"/>
          <p:cNvSpPr/>
          <p:nvPr/>
        </p:nvSpPr>
        <p:spPr>
          <a:xfrm>
            <a:off x="3505200" y="2286000"/>
            <a:ext cx="0" cy="3810000"/>
          </a:xfrm>
          <a:prstGeom prst="line">
            <a:avLst/>
          </a:prstGeom>
          <a:ln w="38100" cap="flat" cmpd="sng">
            <a:solidFill>
              <a:srgbClr val="FF00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7422" name="直接连接符 17421"/>
          <p:cNvSpPr/>
          <p:nvPr/>
        </p:nvSpPr>
        <p:spPr>
          <a:xfrm>
            <a:off x="4114800" y="2286000"/>
            <a:ext cx="0" cy="3810000"/>
          </a:xfrm>
          <a:prstGeom prst="line">
            <a:avLst/>
          </a:prstGeom>
          <a:ln w="38100" cap="flat" cmpd="sng">
            <a:solidFill>
              <a:srgbClr val="FF00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7423" name="直接连接符 17422"/>
          <p:cNvSpPr/>
          <p:nvPr/>
        </p:nvSpPr>
        <p:spPr>
          <a:xfrm>
            <a:off x="4648200" y="2286000"/>
            <a:ext cx="0" cy="3810000"/>
          </a:xfrm>
          <a:prstGeom prst="line">
            <a:avLst/>
          </a:prstGeom>
          <a:ln w="38100" cap="flat" cmpd="sng">
            <a:solidFill>
              <a:srgbClr val="FF00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7424" name="直接连接符 17423"/>
          <p:cNvSpPr/>
          <p:nvPr/>
        </p:nvSpPr>
        <p:spPr>
          <a:xfrm>
            <a:off x="5181600" y="2286000"/>
            <a:ext cx="0" cy="3810000"/>
          </a:xfrm>
          <a:prstGeom prst="line">
            <a:avLst/>
          </a:prstGeom>
          <a:ln w="38100" cap="flat" cmpd="sng">
            <a:solidFill>
              <a:srgbClr val="FF00FF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17478" name="组合 17477"/>
          <p:cNvGrpSpPr/>
          <p:nvPr/>
        </p:nvGrpSpPr>
        <p:grpSpPr>
          <a:xfrm>
            <a:off x="3652838" y="1981200"/>
            <a:ext cx="1681162" cy="1143000"/>
            <a:chOff x="2301" y="1248"/>
            <a:chExt cx="1059" cy="720"/>
          </a:xfrm>
        </p:grpSpPr>
        <p:sp>
          <p:nvSpPr>
            <p:cNvPr id="17417" name="圆角矩形标注 17416"/>
            <p:cNvSpPr/>
            <p:nvPr/>
          </p:nvSpPr>
          <p:spPr>
            <a:xfrm>
              <a:off x="2301" y="1248"/>
              <a:ext cx="1059" cy="720"/>
            </a:xfrm>
            <a:prstGeom prst="wedgeRoundRectCallout">
              <a:avLst>
                <a:gd name="adj1" fmla="val -44144"/>
                <a:gd name="adj2" fmla="val 76667"/>
                <a:gd name="adj3" fmla="val 16667"/>
              </a:avLst>
            </a:prstGeom>
            <a:solidFill>
              <a:srgbClr val="FFCC00"/>
            </a:solidFill>
            <a:ln w="38100">
              <a:noFill/>
            </a:ln>
          </p:spPr>
          <p:txBody>
            <a:bodyPr wrap="none" anchor="ctr" anchorCtr="0"/>
            <a:p>
              <a:pPr algn="ctr" eaLnBrk="1" hangingPunct="1"/>
              <a:endParaRPr dirty="0">
                <a:latin typeface="Times New Roman" panose="02020603050405020304" pitchFamily="18" charset="0"/>
              </a:endParaRPr>
            </a:p>
          </p:txBody>
        </p:sp>
        <p:sp>
          <p:nvSpPr>
            <p:cNvPr id="17427" name="文本框 17426"/>
            <p:cNvSpPr txBox="1"/>
            <p:nvPr/>
          </p:nvSpPr>
          <p:spPr>
            <a:xfrm>
              <a:off x="2400" y="1344"/>
              <a:ext cx="864" cy="518"/>
            </a:xfrm>
            <a:prstGeom prst="rect">
              <a:avLst/>
            </a:prstGeom>
            <a:solidFill>
              <a:srgbClr val="FFCC00"/>
            </a:solidFill>
            <a:ln w="38100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X=1</a:t>
              </a:r>
              <a:r>
                <a:rPr lang="zh-CN" altLang="en-US" dirty="0">
                  <a:latin typeface="Times New Roman" panose="02020603050405020304" pitchFamily="18" charset="0"/>
                </a:rPr>
                <a:t>模</a:t>
              </a:r>
              <a:r>
                <a:rPr lang="en-US" altLang="zh-CN">
                  <a:latin typeface="Times New Roman" panose="02020603050405020304" pitchFamily="18" charset="0"/>
                </a:rPr>
                <a:t>4</a:t>
              </a:r>
              <a:r>
                <a:rPr lang="zh-CN" altLang="en-US" dirty="0">
                  <a:latin typeface="Times New Roman" panose="02020603050405020304" pitchFamily="18" charset="0"/>
                </a:rPr>
                <a:t>加计数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7479" name="组合 17478"/>
          <p:cNvGrpSpPr/>
          <p:nvPr/>
        </p:nvGrpSpPr>
        <p:grpSpPr>
          <a:xfrm>
            <a:off x="5715000" y="2362200"/>
            <a:ext cx="1600200" cy="1295400"/>
            <a:chOff x="3600" y="1488"/>
            <a:chExt cx="1008" cy="816"/>
          </a:xfrm>
        </p:grpSpPr>
        <p:sp>
          <p:nvSpPr>
            <p:cNvPr id="17430" name="圆角矩形标注 17429"/>
            <p:cNvSpPr/>
            <p:nvPr/>
          </p:nvSpPr>
          <p:spPr>
            <a:xfrm>
              <a:off x="3600" y="1488"/>
              <a:ext cx="1008" cy="816"/>
            </a:xfrm>
            <a:prstGeom prst="wedgeRoundRectCallout">
              <a:avLst>
                <a:gd name="adj1" fmla="val -29463"/>
                <a:gd name="adj2" fmla="val 69977"/>
                <a:gd name="adj3" fmla="val 16667"/>
              </a:avLst>
            </a:prstGeom>
            <a:solidFill>
              <a:srgbClr val="FFCC00"/>
            </a:solidFill>
            <a:ln w="38100">
              <a:noFill/>
            </a:ln>
          </p:spPr>
          <p:txBody>
            <a:bodyPr wrap="none" anchor="ctr" anchorCtr="0"/>
            <a:p>
              <a:pPr algn="ctr" eaLnBrk="1" hangingPunct="1"/>
              <a:endParaRPr dirty="0">
                <a:latin typeface="Times New Roman" panose="02020603050405020304" pitchFamily="18" charset="0"/>
              </a:endParaRPr>
            </a:p>
          </p:txBody>
        </p:sp>
        <p:sp>
          <p:nvSpPr>
            <p:cNvPr id="17431" name="文本框 17430"/>
            <p:cNvSpPr txBox="1"/>
            <p:nvPr/>
          </p:nvSpPr>
          <p:spPr>
            <a:xfrm>
              <a:off x="3648" y="1594"/>
              <a:ext cx="922" cy="518"/>
            </a:xfrm>
            <a:prstGeom prst="rect">
              <a:avLst/>
            </a:prstGeom>
            <a:solidFill>
              <a:srgbClr val="FFCC00"/>
            </a:solidFill>
            <a:ln w="38100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X=0</a:t>
              </a:r>
              <a:endParaRPr lang="en-US" altLang="zh-CN"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保持原态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17432" name="直接连接符 17431"/>
          <p:cNvSpPr/>
          <p:nvPr/>
        </p:nvSpPr>
        <p:spPr>
          <a:xfrm>
            <a:off x="5791200" y="2362200"/>
            <a:ext cx="0" cy="3810000"/>
          </a:xfrm>
          <a:prstGeom prst="line">
            <a:avLst/>
          </a:prstGeom>
          <a:ln w="38100" cap="flat" cmpd="sng">
            <a:solidFill>
              <a:srgbClr val="FF00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7433" name="直接连接符 17432"/>
          <p:cNvSpPr/>
          <p:nvPr/>
        </p:nvSpPr>
        <p:spPr>
          <a:xfrm>
            <a:off x="6324600" y="2362200"/>
            <a:ext cx="0" cy="3810000"/>
          </a:xfrm>
          <a:prstGeom prst="line">
            <a:avLst/>
          </a:prstGeom>
          <a:ln w="38100" cap="flat" cmpd="sng">
            <a:solidFill>
              <a:srgbClr val="FF00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7434" name="直接连接符 17433"/>
          <p:cNvSpPr/>
          <p:nvPr/>
        </p:nvSpPr>
        <p:spPr>
          <a:xfrm>
            <a:off x="6934200" y="2362200"/>
            <a:ext cx="0" cy="3810000"/>
          </a:xfrm>
          <a:prstGeom prst="line">
            <a:avLst/>
          </a:prstGeom>
          <a:ln w="38100" cap="flat" cmpd="sng">
            <a:solidFill>
              <a:srgbClr val="FF00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7437" name="文本框 17436"/>
          <p:cNvSpPr txBox="1"/>
          <p:nvPr/>
        </p:nvSpPr>
        <p:spPr>
          <a:xfrm>
            <a:off x="2955925" y="5451475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17465" name="组合 17464"/>
          <p:cNvGrpSpPr/>
          <p:nvPr/>
        </p:nvGrpSpPr>
        <p:grpSpPr>
          <a:xfrm>
            <a:off x="2955925" y="4114800"/>
            <a:ext cx="336550" cy="1184275"/>
            <a:chOff x="1862" y="2592"/>
            <a:chExt cx="212" cy="746"/>
          </a:xfrm>
        </p:grpSpPr>
        <p:sp>
          <p:nvSpPr>
            <p:cNvPr id="17435" name="文本框 17434"/>
            <p:cNvSpPr txBox="1"/>
            <p:nvPr/>
          </p:nvSpPr>
          <p:spPr>
            <a:xfrm>
              <a:off x="1862" y="2592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7436" name="文本框 17435"/>
            <p:cNvSpPr txBox="1"/>
            <p:nvPr/>
          </p:nvSpPr>
          <p:spPr>
            <a:xfrm>
              <a:off x="1862" y="3050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7473" name="组合 17472"/>
          <p:cNvGrpSpPr/>
          <p:nvPr/>
        </p:nvGrpSpPr>
        <p:grpSpPr>
          <a:xfrm>
            <a:off x="3489325" y="4114800"/>
            <a:ext cx="412750" cy="1184275"/>
            <a:chOff x="2198" y="2592"/>
            <a:chExt cx="260" cy="746"/>
          </a:xfrm>
        </p:grpSpPr>
        <p:sp>
          <p:nvSpPr>
            <p:cNvPr id="17438" name="文本框 17437"/>
            <p:cNvSpPr txBox="1"/>
            <p:nvPr/>
          </p:nvSpPr>
          <p:spPr>
            <a:xfrm>
              <a:off x="2246" y="2592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7439" name="文本框 17438"/>
            <p:cNvSpPr txBox="1"/>
            <p:nvPr/>
          </p:nvSpPr>
          <p:spPr>
            <a:xfrm>
              <a:off x="2198" y="3050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sp>
        <p:nvSpPr>
          <p:cNvPr id="17440" name="文本框 17439"/>
          <p:cNvSpPr txBox="1"/>
          <p:nvPr/>
        </p:nvSpPr>
        <p:spPr>
          <a:xfrm>
            <a:off x="3489325" y="5451475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17467" name="组合 17466"/>
          <p:cNvGrpSpPr/>
          <p:nvPr/>
        </p:nvGrpSpPr>
        <p:grpSpPr>
          <a:xfrm>
            <a:off x="4098925" y="4114800"/>
            <a:ext cx="352425" cy="1143000"/>
            <a:chOff x="2582" y="2592"/>
            <a:chExt cx="222" cy="720"/>
          </a:xfrm>
        </p:grpSpPr>
        <p:sp>
          <p:nvSpPr>
            <p:cNvPr id="17443" name="文本框 17442"/>
            <p:cNvSpPr txBox="1"/>
            <p:nvPr/>
          </p:nvSpPr>
          <p:spPr>
            <a:xfrm>
              <a:off x="2592" y="3024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7444" name="文本框 17443"/>
            <p:cNvSpPr txBox="1"/>
            <p:nvPr/>
          </p:nvSpPr>
          <p:spPr>
            <a:xfrm>
              <a:off x="2582" y="2592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sp>
        <p:nvSpPr>
          <p:cNvPr id="17445" name="文本框 17444"/>
          <p:cNvSpPr txBox="1"/>
          <p:nvPr/>
        </p:nvSpPr>
        <p:spPr>
          <a:xfrm>
            <a:off x="4098925" y="5451475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17468" name="组合 17467"/>
          <p:cNvGrpSpPr/>
          <p:nvPr/>
        </p:nvGrpSpPr>
        <p:grpSpPr>
          <a:xfrm>
            <a:off x="4632325" y="4114800"/>
            <a:ext cx="336550" cy="1031875"/>
            <a:chOff x="2918" y="2592"/>
            <a:chExt cx="212" cy="650"/>
          </a:xfrm>
        </p:grpSpPr>
        <p:sp>
          <p:nvSpPr>
            <p:cNvPr id="17446" name="文本框 17445"/>
            <p:cNvSpPr txBox="1"/>
            <p:nvPr/>
          </p:nvSpPr>
          <p:spPr>
            <a:xfrm>
              <a:off x="2918" y="2592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7447" name="文本框 17446"/>
            <p:cNvSpPr txBox="1"/>
            <p:nvPr/>
          </p:nvSpPr>
          <p:spPr>
            <a:xfrm>
              <a:off x="2918" y="2954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sp>
        <p:nvSpPr>
          <p:cNvPr id="17448" name="文本框 17447"/>
          <p:cNvSpPr txBox="1"/>
          <p:nvPr/>
        </p:nvSpPr>
        <p:spPr>
          <a:xfrm>
            <a:off x="4616450" y="54864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17469" name="组合 17468"/>
          <p:cNvGrpSpPr/>
          <p:nvPr/>
        </p:nvGrpSpPr>
        <p:grpSpPr>
          <a:xfrm>
            <a:off x="5165725" y="4079875"/>
            <a:ext cx="352425" cy="1143000"/>
            <a:chOff x="3254" y="2570"/>
            <a:chExt cx="222" cy="720"/>
          </a:xfrm>
        </p:grpSpPr>
        <p:sp>
          <p:nvSpPr>
            <p:cNvPr id="17449" name="文本框 17448"/>
            <p:cNvSpPr txBox="1"/>
            <p:nvPr/>
          </p:nvSpPr>
          <p:spPr>
            <a:xfrm>
              <a:off x="3264" y="3002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7450" name="文本框 17449"/>
            <p:cNvSpPr txBox="1"/>
            <p:nvPr/>
          </p:nvSpPr>
          <p:spPr>
            <a:xfrm>
              <a:off x="3254" y="2570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sp>
        <p:nvSpPr>
          <p:cNvPr id="17451" name="文本框 17450"/>
          <p:cNvSpPr txBox="1"/>
          <p:nvPr/>
        </p:nvSpPr>
        <p:spPr>
          <a:xfrm>
            <a:off x="5181600" y="54864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17470" name="组合 17469"/>
          <p:cNvGrpSpPr/>
          <p:nvPr/>
        </p:nvGrpSpPr>
        <p:grpSpPr>
          <a:xfrm>
            <a:off x="5819775" y="4079875"/>
            <a:ext cx="352425" cy="1143000"/>
            <a:chOff x="3666" y="2570"/>
            <a:chExt cx="222" cy="720"/>
          </a:xfrm>
        </p:grpSpPr>
        <p:sp>
          <p:nvSpPr>
            <p:cNvPr id="17452" name="文本框 17451"/>
            <p:cNvSpPr txBox="1"/>
            <p:nvPr/>
          </p:nvSpPr>
          <p:spPr>
            <a:xfrm>
              <a:off x="3676" y="3002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7453" name="文本框 17452"/>
            <p:cNvSpPr txBox="1"/>
            <p:nvPr/>
          </p:nvSpPr>
          <p:spPr>
            <a:xfrm>
              <a:off x="3666" y="2570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sp>
        <p:nvSpPr>
          <p:cNvPr id="17454" name="文本框 17453"/>
          <p:cNvSpPr txBox="1"/>
          <p:nvPr/>
        </p:nvSpPr>
        <p:spPr>
          <a:xfrm>
            <a:off x="5835650" y="54864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7457" name="文本框 17456"/>
          <p:cNvSpPr txBox="1"/>
          <p:nvPr/>
        </p:nvSpPr>
        <p:spPr>
          <a:xfrm>
            <a:off x="6416675" y="54864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17471" name="组合 17470"/>
          <p:cNvGrpSpPr/>
          <p:nvPr/>
        </p:nvGrpSpPr>
        <p:grpSpPr>
          <a:xfrm>
            <a:off x="6400800" y="4079875"/>
            <a:ext cx="352425" cy="1143000"/>
            <a:chOff x="4032" y="2570"/>
            <a:chExt cx="222" cy="720"/>
          </a:xfrm>
        </p:grpSpPr>
        <p:sp>
          <p:nvSpPr>
            <p:cNvPr id="17455" name="文本框 17454"/>
            <p:cNvSpPr txBox="1"/>
            <p:nvPr/>
          </p:nvSpPr>
          <p:spPr>
            <a:xfrm>
              <a:off x="4042" y="3002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7456" name="文本框 17455"/>
            <p:cNvSpPr txBox="1"/>
            <p:nvPr/>
          </p:nvSpPr>
          <p:spPr>
            <a:xfrm>
              <a:off x="4032" y="2570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7474" name="组合 17473"/>
          <p:cNvGrpSpPr/>
          <p:nvPr/>
        </p:nvGrpSpPr>
        <p:grpSpPr>
          <a:xfrm>
            <a:off x="6934200" y="4114800"/>
            <a:ext cx="412750" cy="1184275"/>
            <a:chOff x="4368" y="2592"/>
            <a:chExt cx="260" cy="746"/>
          </a:xfrm>
        </p:grpSpPr>
        <p:sp>
          <p:nvSpPr>
            <p:cNvPr id="17458" name="文本框 17457"/>
            <p:cNvSpPr txBox="1"/>
            <p:nvPr/>
          </p:nvSpPr>
          <p:spPr>
            <a:xfrm>
              <a:off x="4416" y="2592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7459" name="文本框 17458"/>
            <p:cNvSpPr txBox="1"/>
            <p:nvPr/>
          </p:nvSpPr>
          <p:spPr>
            <a:xfrm>
              <a:off x="4368" y="3050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sp>
        <p:nvSpPr>
          <p:cNvPr id="17460" name="文本框 17459"/>
          <p:cNvSpPr txBox="1"/>
          <p:nvPr/>
        </p:nvSpPr>
        <p:spPr>
          <a:xfrm>
            <a:off x="6934200" y="5451475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7462" name="圆角矩形标注 17461"/>
          <p:cNvSpPr/>
          <p:nvPr/>
        </p:nvSpPr>
        <p:spPr>
          <a:xfrm>
            <a:off x="7372350" y="2133600"/>
            <a:ext cx="1543050" cy="1066800"/>
          </a:xfrm>
          <a:prstGeom prst="wedgeRoundRectCallout">
            <a:avLst>
              <a:gd name="adj1" fmla="val -43519"/>
              <a:gd name="adj2" fmla="val 76190"/>
              <a:gd name="adj3" fmla="val 16667"/>
            </a:avLst>
          </a:prstGeom>
          <a:solidFill>
            <a:srgbClr val="FFCC00"/>
          </a:solidFill>
          <a:ln w="38100">
            <a:noFill/>
          </a:ln>
        </p:spPr>
        <p:txBody>
          <a:bodyPr wrap="none" anchor="ctr" anchorCtr="0"/>
          <a:p>
            <a:pPr algn="just" eaLnBrk="1" hangingPunct="1"/>
            <a:r>
              <a:rPr lang="en-US" altLang="zh-CN">
                <a:latin typeface="Times New Roman" panose="02020603050405020304" pitchFamily="18" charset="0"/>
              </a:rPr>
              <a:t>X=1</a:t>
            </a:r>
            <a:r>
              <a:rPr lang="zh-CN" altLang="en-US" dirty="0">
                <a:latin typeface="Times New Roman" panose="02020603050405020304" pitchFamily="18" charset="0"/>
              </a:rPr>
              <a:t>模</a:t>
            </a:r>
            <a:r>
              <a:rPr lang="en-US" altLang="zh-CN">
                <a:latin typeface="Times New Roman" panose="02020603050405020304" pitchFamily="18" charset="0"/>
              </a:rPr>
              <a:t>4</a:t>
            </a:r>
            <a:endParaRPr lang="en-US" altLang="zh-CN"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zh-CN" altLang="en-US" dirty="0">
                <a:latin typeface="Times New Roman" panose="02020603050405020304" pitchFamily="18" charset="0"/>
              </a:rPr>
              <a:t>加计数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pic>
        <p:nvPicPr>
          <p:cNvPr id="17476" name="图片 17475" descr="wb01508_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60198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77" name="文本框 17476">
            <a:hlinkClick r:id="rId3" action="ppaction://hlinksldjump"/>
          </p:cNvPr>
          <p:cNvSpPr txBox="1"/>
          <p:nvPr/>
        </p:nvSpPr>
        <p:spPr>
          <a:xfrm>
            <a:off x="577850" y="60960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u="sng" dirty="0">
                <a:solidFill>
                  <a:schemeClr val="accent2"/>
                </a:solidFill>
                <a:latin typeface="Times New Roman" panose="02020603050405020304" pitchFamily="18" charset="0"/>
              </a:rPr>
              <a:t>返  回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7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7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7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7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7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7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7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7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174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7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7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74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74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174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17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17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174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17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17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17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17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174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17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17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/>
      <p:bldP spid="17414" grpId="0"/>
      <p:bldP spid="17437" grpId="0"/>
      <p:bldP spid="17440" grpId="0"/>
      <p:bldP spid="17445" grpId="0"/>
      <p:bldP spid="17448" grpId="0"/>
      <p:bldP spid="17451" grpId="0"/>
      <p:bldP spid="17454" grpId="0"/>
      <p:bldP spid="17457" grpId="0"/>
      <p:bldP spid="17460" grpId="0"/>
      <p:bldP spid="1746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5" name="矩形 18434"/>
          <p:cNvSpPr/>
          <p:nvPr/>
        </p:nvSpPr>
        <p:spPr>
          <a:xfrm>
            <a:off x="304800" y="228600"/>
            <a:ext cx="4419600" cy="5334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9525">
            <a:noFill/>
          </a:ln>
          <a:effectLst>
            <a:outerShdw sy="50000" kx="-2453608" algn="br" rotWithShape="0">
              <a:srgbClr val="808080"/>
            </a:outerShdw>
          </a:effectLst>
        </p:spPr>
        <p:txBody>
          <a:bodyPr anchor="ctr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sz="4000" b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同步时序电路分析</a:t>
            </a:r>
            <a:endParaRPr lang="zh-CN" altLang="en-US" sz="7200" b="1">
              <a:effectLst>
                <a:outerShdw blurRad="38100" dist="38100" dir="2700000">
                  <a:srgbClr val="FFFFFF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18437" name="组合 18436"/>
          <p:cNvGrpSpPr/>
          <p:nvPr/>
        </p:nvGrpSpPr>
        <p:grpSpPr>
          <a:xfrm>
            <a:off x="2362200" y="1447800"/>
            <a:ext cx="3733800" cy="990600"/>
            <a:chOff x="1488" y="912"/>
            <a:chExt cx="2352" cy="624"/>
          </a:xfrm>
        </p:grpSpPr>
        <p:sp>
          <p:nvSpPr>
            <p:cNvPr id="18438" name="流程图: 可选过程 18437"/>
            <p:cNvSpPr/>
            <p:nvPr/>
          </p:nvSpPr>
          <p:spPr>
            <a:xfrm>
              <a:off x="1488" y="912"/>
              <a:ext cx="2352" cy="624"/>
            </a:xfrm>
            <a:prstGeom prst="flowChartAlternateProcess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39" name="文本框 18438"/>
            <p:cNvSpPr txBox="1"/>
            <p:nvPr/>
          </p:nvSpPr>
          <p:spPr>
            <a:xfrm>
              <a:off x="1680" y="912"/>
              <a:ext cx="205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写各触发器的</a:t>
              </a:r>
              <a:r>
                <a:rPr lang="zh-CN" altLang="en-US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控制函数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8440" name="文本框 18439"/>
          <p:cNvSpPr txBox="1"/>
          <p:nvPr/>
        </p:nvSpPr>
        <p:spPr>
          <a:xfrm>
            <a:off x="2667000" y="1905000"/>
            <a:ext cx="2647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zh-CN" altLang="en-US" dirty="0">
                <a:latin typeface="Times New Roman" panose="02020603050405020304" pitchFamily="18" charset="0"/>
              </a:rPr>
              <a:t>写电路的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输出函数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8441" name="直接连接符 18440"/>
          <p:cNvSpPr/>
          <p:nvPr/>
        </p:nvSpPr>
        <p:spPr>
          <a:xfrm>
            <a:off x="4267200" y="2438400"/>
            <a:ext cx="0" cy="30480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18442" name="组合 18441"/>
          <p:cNvGrpSpPr/>
          <p:nvPr/>
        </p:nvGrpSpPr>
        <p:grpSpPr>
          <a:xfrm>
            <a:off x="2362200" y="2743200"/>
            <a:ext cx="3733800" cy="762000"/>
            <a:chOff x="1488" y="1728"/>
            <a:chExt cx="2352" cy="480"/>
          </a:xfrm>
        </p:grpSpPr>
        <p:sp>
          <p:nvSpPr>
            <p:cNvPr id="18443" name="流程图: 可选过程 18442"/>
            <p:cNvSpPr/>
            <p:nvPr/>
          </p:nvSpPr>
          <p:spPr>
            <a:xfrm>
              <a:off x="1488" y="1728"/>
              <a:ext cx="2352" cy="480"/>
            </a:xfrm>
            <a:prstGeom prst="flowChartAlternateProcess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44" name="文本框 18443"/>
            <p:cNvSpPr txBox="1"/>
            <p:nvPr/>
          </p:nvSpPr>
          <p:spPr>
            <a:xfrm>
              <a:off x="1680" y="1837"/>
              <a:ext cx="185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写触发器的</a:t>
              </a:r>
              <a:r>
                <a:rPr lang="zh-CN" altLang="en-US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状态方程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18445" name="直接连接符 18444"/>
          <p:cNvSpPr/>
          <p:nvPr/>
        </p:nvSpPr>
        <p:spPr>
          <a:xfrm>
            <a:off x="4267200" y="3505200"/>
            <a:ext cx="0" cy="30480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18446" name="组合 18445"/>
          <p:cNvGrpSpPr/>
          <p:nvPr/>
        </p:nvGrpSpPr>
        <p:grpSpPr>
          <a:xfrm>
            <a:off x="2286000" y="3810000"/>
            <a:ext cx="3886200" cy="609600"/>
            <a:chOff x="1440" y="2400"/>
            <a:chExt cx="2448" cy="384"/>
          </a:xfrm>
        </p:grpSpPr>
        <p:sp>
          <p:nvSpPr>
            <p:cNvPr id="18447" name="流程图: 可选过程 18446"/>
            <p:cNvSpPr/>
            <p:nvPr/>
          </p:nvSpPr>
          <p:spPr>
            <a:xfrm>
              <a:off x="1440" y="2400"/>
              <a:ext cx="2448" cy="384"/>
            </a:xfrm>
            <a:prstGeom prst="flowChartAlternateProcess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48" name="文本框 18447"/>
            <p:cNvSpPr txBox="1"/>
            <p:nvPr/>
          </p:nvSpPr>
          <p:spPr>
            <a:xfrm>
              <a:off x="1440" y="2448"/>
              <a:ext cx="242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作</a:t>
              </a:r>
              <a:r>
                <a:rPr lang="zh-CN" altLang="en-US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状态转换表</a:t>
              </a:r>
              <a:r>
                <a:rPr lang="zh-CN" altLang="en-US" dirty="0">
                  <a:latin typeface="Times New Roman" panose="02020603050405020304" pitchFamily="18" charset="0"/>
                </a:rPr>
                <a:t>及</a:t>
              </a:r>
              <a:r>
                <a:rPr lang="zh-CN" altLang="en-US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状态转换图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18449" name="直接连接符 18448"/>
          <p:cNvSpPr/>
          <p:nvPr/>
        </p:nvSpPr>
        <p:spPr>
          <a:xfrm>
            <a:off x="4267200" y="4419600"/>
            <a:ext cx="0" cy="30480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18450" name="组合 18449"/>
          <p:cNvGrpSpPr/>
          <p:nvPr/>
        </p:nvGrpSpPr>
        <p:grpSpPr>
          <a:xfrm>
            <a:off x="2286000" y="4724400"/>
            <a:ext cx="3886200" cy="609600"/>
            <a:chOff x="1440" y="2976"/>
            <a:chExt cx="2448" cy="384"/>
          </a:xfrm>
        </p:grpSpPr>
        <p:sp>
          <p:nvSpPr>
            <p:cNvPr id="18451" name="文本框 18450"/>
            <p:cNvSpPr txBox="1"/>
            <p:nvPr/>
          </p:nvSpPr>
          <p:spPr>
            <a:xfrm>
              <a:off x="1968" y="3024"/>
              <a:ext cx="12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作</a:t>
              </a:r>
              <a:r>
                <a:rPr lang="zh-CN" altLang="en-US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时序波形图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8452" name="流程图: 可选过程 18451"/>
            <p:cNvSpPr/>
            <p:nvPr/>
          </p:nvSpPr>
          <p:spPr>
            <a:xfrm>
              <a:off x="1440" y="2976"/>
              <a:ext cx="2448" cy="384"/>
            </a:xfrm>
            <a:prstGeom prst="flowChartAlternateProcess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8453" name="直接连接符 18452"/>
          <p:cNvSpPr/>
          <p:nvPr/>
        </p:nvSpPr>
        <p:spPr>
          <a:xfrm>
            <a:off x="4267200" y="5334000"/>
            <a:ext cx="0" cy="30480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18454" name="组合 18453"/>
          <p:cNvGrpSpPr/>
          <p:nvPr/>
        </p:nvGrpSpPr>
        <p:grpSpPr>
          <a:xfrm>
            <a:off x="2286000" y="5638800"/>
            <a:ext cx="3886200" cy="609600"/>
            <a:chOff x="1440" y="3552"/>
            <a:chExt cx="2448" cy="384"/>
          </a:xfrm>
        </p:grpSpPr>
        <p:sp>
          <p:nvSpPr>
            <p:cNvPr id="18455" name="流程图: 可选过程 18454"/>
            <p:cNvSpPr/>
            <p:nvPr/>
          </p:nvSpPr>
          <p:spPr>
            <a:xfrm>
              <a:off x="1440" y="3552"/>
              <a:ext cx="2448" cy="384"/>
            </a:xfrm>
            <a:prstGeom prst="flowChartAlternateProcess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56" name="文本框 18455"/>
            <p:cNvSpPr txBox="1"/>
            <p:nvPr/>
          </p:nvSpPr>
          <p:spPr>
            <a:xfrm>
              <a:off x="1690" y="3600"/>
              <a:ext cx="186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得到电路的逻辑功能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8457" name="组合 18456"/>
          <p:cNvGrpSpPr/>
          <p:nvPr/>
        </p:nvGrpSpPr>
        <p:grpSpPr>
          <a:xfrm>
            <a:off x="990600" y="1219200"/>
            <a:ext cx="914400" cy="5181600"/>
            <a:chOff x="624" y="768"/>
            <a:chExt cx="576" cy="3264"/>
          </a:xfrm>
        </p:grpSpPr>
        <p:sp>
          <p:nvSpPr>
            <p:cNvPr id="18458" name="椭圆 18457"/>
            <p:cNvSpPr/>
            <p:nvPr/>
          </p:nvSpPr>
          <p:spPr>
            <a:xfrm>
              <a:off x="624" y="768"/>
              <a:ext cx="576" cy="3264"/>
            </a:xfrm>
            <a:prstGeom prst="ellipse">
              <a:avLst/>
            </a:prstGeom>
            <a:gradFill rotWithShape="0">
              <a:gsLst>
                <a:gs pos="0">
                  <a:srgbClr val="FFFF99">
                    <a:gamma/>
                    <a:shade val="46275"/>
                    <a:invGamma/>
                  </a:srgbClr>
                </a:gs>
                <a:gs pos="50000">
                  <a:srgbClr val="FFFF99"/>
                </a:gs>
                <a:gs pos="100000">
                  <a:srgbClr val="FFFF99">
                    <a:gamma/>
                    <a:shade val="46275"/>
                    <a:invGamma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59" name="文本框 18458"/>
            <p:cNvSpPr txBox="1"/>
            <p:nvPr/>
          </p:nvSpPr>
          <p:spPr>
            <a:xfrm>
              <a:off x="762" y="910"/>
              <a:ext cx="342" cy="297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sz="28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同</a:t>
              </a:r>
              <a:endParaRPr lang="zh-CN" altLang="en-US" sz="2800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sz="28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步</a:t>
              </a:r>
              <a:endParaRPr lang="zh-CN" altLang="en-US" sz="2800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sz="28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时</a:t>
              </a:r>
              <a:endParaRPr lang="zh-CN" altLang="en-US" sz="2800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sz="28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序</a:t>
              </a:r>
              <a:endParaRPr lang="zh-CN" altLang="en-US" sz="2800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sz="28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电</a:t>
              </a:r>
              <a:endParaRPr lang="zh-CN" altLang="en-US" sz="2800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sz="28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路</a:t>
              </a:r>
              <a:endParaRPr lang="zh-CN" altLang="en-US" sz="2800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sz="28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的</a:t>
              </a:r>
              <a:endParaRPr lang="zh-CN" altLang="en-US" sz="2800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sz="28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分</a:t>
              </a:r>
              <a:endParaRPr lang="zh-CN" altLang="en-US" sz="2800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sz="28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析</a:t>
              </a:r>
              <a:endParaRPr lang="zh-CN" altLang="en-US" sz="2800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sz="28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方</a:t>
              </a:r>
              <a:endParaRPr lang="zh-CN" altLang="en-US" sz="2800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法</a:t>
              </a:r>
              <a:endParaRPr lang="zh-CN" altLang="en-US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8475" name="圆角矩形标注 18474"/>
          <p:cNvSpPr/>
          <p:nvPr/>
        </p:nvSpPr>
        <p:spPr>
          <a:xfrm>
            <a:off x="6096000" y="2819400"/>
            <a:ext cx="2743200" cy="1219200"/>
          </a:xfrm>
          <a:prstGeom prst="wedgeRoundRectCallout">
            <a:avLst>
              <a:gd name="adj1" fmla="val -55963"/>
              <a:gd name="adj2" fmla="val 66667"/>
              <a:gd name="adj3" fmla="val 16667"/>
            </a:avLst>
          </a:prstGeom>
          <a:solidFill>
            <a:srgbClr val="FFCC00"/>
          </a:solidFill>
          <a:ln w="38100">
            <a:noFill/>
          </a:ln>
        </p:spPr>
        <p:txBody>
          <a:bodyPr wrap="none" anchor="ctr" anchorCtr="0"/>
          <a:p>
            <a:pPr algn="just" eaLnBrk="1" hangingPunct="1"/>
            <a:r>
              <a:rPr lang="zh-CN" altLang="en-US" dirty="0">
                <a:latin typeface="Times New Roman" panose="02020603050405020304" pitchFamily="18" charset="0"/>
              </a:rPr>
              <a:t>简单的电路可直接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zh-CN" altLang="en-US" dirty="0">
                <a:latin typeface="Times New Roman" panose="02020603050405020304" pitchFamily="18" charset="0"/>
              </a:rPr>
              <a:t>绘出状态转换图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18480" name="组合 18479"/>
          <p:cNvGrpSpPr/>
          <p:nvPr/>
        </p:nvGrpSpPr>
        <p:grpSpPr>
          <a:xfrm>
            <a:off x="6172200" y="4495800"/>
            <a:ext cx="2209800" cy="838200"/>
            <a:chOff x="3888" y="2832"/>
            <a:chExt cx="1392" cy="528"/>
          </a:xfrm>
        </p:grpSpPr>
        <p:sp>
          <p:nvSpPr>
            <p:cNvPr id="18478" name="圆角矩形标注 18477"/>
            <p:cNvSpPr/>
            <p:nvPr/>
          </p:nvSpPr>
          <p:spPr>
            <a:xfrm>
              <a:off x="3888" y="2832"/>
              <a:ext cx="1392" cy="528"/>
            </a:xfrm>
            <a:prstGeom prst="wedgeRoundRectCallout">
              <a:avLst>
                <a:gd name="adj1" fmla="val -96912"/>
                <a:gd name="adj2" fmla="val 20454"/>
                <a:gd name="adj3" fmla="val 16667"/>
              </a:avLst>
            </a:prstGeom>
            <a:solidFill>
              <a:srgbClr val="FFCC00"/>
            </a:solidFill>
            <a:ln w="38100">
              <a:noFill/>
            </a:ln>
          </p:spPr>
          <p:txBody>
            <a:bodyPr wrap="none" anchor="ctr" anchorCtr="0"/>
            <a:p>
              <a:pPr algn="ctr" eaLnBrk="1" hangingPunct="1"/>
              <a:endParaRPr dirty="0">
                <a:latin typeface="Times New Roman" panose="02020603050405020304" pitchFamily="18" charset="0"/>
              </a:endParaRPr>
            </a:p>
          </p:txBody>
        </p:sp>
        <p:sp>
          <p:nvSpPr>
            <p:cNvPr id="18479" name="文本框 18478"/>
            <p:cNvSpPr txBox="1"/>
            <p:nvPr/>
          </p:nvSpPr>
          <p:spPr>
            <a:xfrm>
              <a:off x="3888" y="2928"/>
              <a:ext cx="1280" cy="288"/>
            </a:xfrm>
            <a:prstGeom prst="rect">
              <a:avLst/>
            </a:prstGeom>
            <a:solidFill>
              <a:srgbClr val="FFCC00"/>
            </a:solidFill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无要求可不画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pic>
        <p:nvPicPr>
          <p:cNvPr id="18481" name="图片 18480" descr="wb01508_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57912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82" name="文本框 18481">
            <a:hlinkClick r:id="rId1" action="ppaction://hlinksldjump"/>
          </p:cNvPr>
          <p:cNvSpPr txBox="1"/>
          <p:nvPr/>
        </p:nvSpPr>
        <p:spPr>
          <a:xfrm>
            <a:off x="7435850" y="58674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u="sng" dirty="0">
                <a:solidFill>
                  <a:schemeClr val="accent2"/>
                </a:solidFill>
                <a:latin typeface="Times New Roman" panose="02020603050405020304" pitchFamily="18" charset="0"/>
              </a:rPr>
              <a:t>返  回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8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8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0" grpId="0"/>
      <p:bldP spid="1847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矩形 49153"/>
          <p:cNvSpPr/>
          <p:nvPr/>
        </p:nvSpPr>
        <p:spPr>
          <a:xfrm>
            <a:off x="685800" y="381000"/>
            <a:ext cx="7924800" cy="9906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9525"/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 anchorCtr="0">
            <a:flatTx/>
          </a:bodyPr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sz="5400" b="1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§</a:t>
            </a:r>
            <a:r>
              <a:rPr lang="en-US" altLang="zh-CN" sz="5400" b="1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5-3 </a:t>
            </a:r>
            <a:r>
              <a:rPr lang="zh-CN" altLang="en-US" sz="5400" b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同步时序路的设计</a:t>
            </a:r>
            <a:endParaRPr lang="zh-CN" altLang="en-US" sz="7200" b="1">
              <a:effectLst>
                <a:outerShdw blurRad="38100" dist="38100" dir="2700000">
                  <a:srgbClr val="FFFFFF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9155" name="文本框 49154"/>
          <p:cNvSpPr txBox="1"/>
          <p:nvPr/>
        </p:nvSpPr>
        <p:spPr>
          <a:xfrm>
            <a:off x="1295400" y="2119313"/>
            <a:ext cx="3124200" cy="8239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sz="48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设计方法</a:t>
            </a:r>
            <a:endParaRPr lang="zh-CN" altLang="en-US" sz="36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56" name="文本框 49155"/>
          <p:cNvSpPr txBox="1"/>
          <p:nvPr/>
        </p:nvSpPr>
        <p:spPr>
          <a:xfrm>
            <a:off x="1447800" y="3124200"/>
            <a:ext cx="5181600" cy="8239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sz="48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状态转换表的简化</a:t>
            </a:r>
            <a:endParaRPr lang="zh-CN" altLang="en-US" sz="36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57" name="文本框 49156"/>
          <p:cNvSpPr txBox="1"/>
          <p:nvPr/>
        </p:nvSpPr>
        <p:spPr>
          <a:xfrm>
            <a:off x="1447800" y="4114800"/>
            <a:ext cx="6477000" cy="8239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sz="48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同步时序电路设计举例</a:t>
            </a:r>
            <a:endParaRPr lang="zh-CN" altLang="en-US" sz="36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9158" name="图片 49157" descr="ball5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62200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9159" name="图片 49158" descr="ball5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352800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9160" name="图片 49159" descr="ball5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267200"/>
            <a:ext cx="762000" cy="571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" grpId="0" animBg="1"/>
      <p:bldP spid="49155" grpId="0"/>
      <p:bldP spid="49156" grpId="0"/>
      <p:bldP spid="4915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矩形 19457"/>
          <p:cNvSpPr/>
          <p:nvPr/>
        </p:nvSpPr>
        <p:spPr>
          <a:xfrm>
            <a:off x="152400" y="152400"/>
            <a:ext cx="3581400" cy="5334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9525"/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 anchorCtr="0">
            <a:flatTx/>
          </a:bodyPr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 algn="l"/>
            <a:r>
              <a:rPr lang="zh-CN" altLang="en-US" sz="3200" b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同步时序电路设计</a:t>
            </a:r>
            <a:endParaRPr lang="zh-CN" altLang="en-US" sz="7200" b="1">
              <a:effectLst>
                <a:outerShdw blurRad="38100" dist="38100" dir="2700000">
                  <a:srgbClr val="FFFFFF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19462" name="组合 19461"/>
          <p:cNvGrpSpPr/>
          <p:nvPr/>
        </p:nvGrpSpPr>
        <p:grpSpPr>
          <a:xfrm>
            <a:off x="762000" y="2057400"/>
            <a:ext cx="1066800" cy="3505200"/>
            <a:chOff x="480" y="1296"/>
            <a:chExt cx="672" cy="2208"/>
          </a:xfrm>
        </p:grpSpPr>
        <p:sp>
          <p:nvSpPr>
            <p:cNvPr id="19460" name="椭圆 19459"/>
            <p:cNvSpPr/>
            <p:nvPr/>
          </p:nvSpPr>
          <p:spPr>
            <a:xfrm>
              <a:off x="480" y="1296"/>
              <a:ext cx="672" cy="2208"/>
            </a:xfrm>
            <a:prstGeom prst="ellipse">
              <a:avLst/>
            </a:prstGeom>
            <a:gradFill rotWithShape="0">
              <a:gsLst>
                <a:gs pos="0">
                  <a:srgbClr val="FFFF99">
                    <a:gamma/>
                    <a:shade val="46275"/>
                    <a:invGamma/>
                  </a:srgbClr>
                </a:gs>
                <a:gs pos="50000">
                  <a:srgbClr val="FFFF99"/>
                </a:gs>
                <a:gs pos="100000">
                  <a:srgbClr val="FFFF99">
                    <a:gamma/>
                    <a:shade val="46275"/>
                    <a:invGamma/>
                  </a:srgbClr>
                </a:gs>
              </a:gsLst>
              <a:lin ang="5400000" scaled="1"/>
              <a:tileRect/>
            </a:gradFill>
            <a:ln w="381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9461" name="文本框 19460"/>
            <p:cNvSpPr txBox="1"/>
            <p:nvPr/>
          </p:nvSpPr>
          <p:spPr>
            <a:xfrm>
              <a:off x="576" y="1728"/>
              <a:ext cx="374" cy="1286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sz="32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设</a:t>
              </a:r>
              <a:endParaRPr lang="zh-CN" altLang="en-US" sz="3200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sz="32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计</a:t>
              </a:r>
              <a:endParaRPr lang="zh-CN" altLang="en-US" sz="3200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sz="32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方</a:t>
              </a:r>
              <a:endParaRPr lang="zh-CN" altLang="en-US" sz="3200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sz="32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法</a:t>
              </a:r>
              <a:endParaRPr lang="zh-CN" altLang="en-US" sz="320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9488" name="组合 19487"/>
          <p:cNvGrpSpPr/>
          <p:nvPr/>
        </p:nvGrpSpPr>
        <p:grpSpPr>
          <a:xfrm>
            <a:off x="3808413" y="547688"/>
            <a:ext cx="2439987" cy="458787"/>
            <a:chOff x="2399" y="345"/>
            <a:chExt cx="1537" cy="289"/>
          </a:xfrm>
        </p:grpSpPr>
        <p:sp>
          <p:nvSpPr>
            <p:cNvPr id="19463" name="流程图: 可选过程 19462"/>
            <p:cNvSpPr/>
            <p:nvPr/>
          </p:nvSpPr>
          <p:spPr>
            <a:xfrm>
              <a:off x="2399" y="345"/>
              <a:ext cx="1537" cy="288"/>
            </a:xfrm>
            <a:prstGeom prst="flowChartAlternateProcess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9464" name="文本框 19463"/>
            <p:cNvSpPr txBox="1"/>
            <p:nvPr/>
          </p:nvSpPr>
          <p:spPr>
            <a:xfrm>
              <a:off x="2543" y="346"/>
              <a:ext cx="128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给定逻辑功能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19465" name="直接连接符 19464"/>
          <p:cNvSpPr/>
          <p:nvPr/>
        </p:nvSpPr>
        <p:spPr>
          <a:xfrm>
            <a:off x="4949825" y="1004888"/>
            <a:ext cx="0" cy="230187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19468" name="组合 19467"/>
          <p:cNvGrpSpPr/>
          <p:nvPr/>
        </p:nvGrpSpPr>
        <p:grpSpPr>
          <a:xfrm>
            <a:off x="3732213" y="1158875"/>
            <a:ext cx="2438400" cy="822325"/>
            <a:chOff x="1824" y="1296"/>
            <a:chExt cx="1536" cy="518"/>
          </a:xfrm>
        </p:grpSpPr>
        <p:sp>
          <p:nvSpPr>
            <p:cNvPr id="19466" name="流程图: 可选过程 19465"/>
            <p:cNvSpPr/>
            <p:nvPr/>
          </p:nvSpPr>
          <p:spPr>
            <a:xfrm>
              <a:off x="1824" y="1344"/>
              <a:ext cx="1536" cy="432"/>
            </a:xfrm>
            <a:prstGeom prst="flowChartAlternateProcess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9467" name="文本框 19466"/>
            <p:cNvSpPr txBox="1"/>
            <p:nvPr/>
          </p:nvSpPr>
          <p:spPr>
            <a:xfrm>
              <a:off x="1968" y="1296"/>
              <a:ext cx="1280" cy="51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lang="zh-CN" altLang="en-US" dirty="0">
                  <a:latin typeface="Times New Roman" panose="02020603050405020304" pitchFamily="18" charset="0"/>
                </a:rPr>
                <a:t>写原始状态图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zh-CN" altLang="en-US" dirty="0">
                  <a:latin typeface="Times New Roman" panose="02020603050405020304" pitchFamily="18" charset="0"/>
                </a:rPr>
                <a:t>原始状态表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19470" name="直接连接符 19469"/>
          <p:cNvSpPr/>
          <p:nvPr/>
        </p:nvSpPr>
        <p:spPr>
          <a:xfrm>
            <a:off x="4953000" y="1905000"/>
            <a:ext cx="0" cy="3048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19489" name="组合 19488"/>
          <p:cNvGrpSpPr/>
          <p:nvPr/>
        </p:nvGrpSpPr>
        <p:grpSpPr>
          <a:xfrm>
            <a:off x="3124200" y="2209800"/>
            <a:ext cx="3581400" cy="609600"/>
            <a:chOff x="1968" y="1392"/>
            <a:chExt cx="2256" cy="384"/>
          </a:xfrm>
        </p:grpSpPr>
        <p:sp>
          <p:nvSpPr>
            <p:cNvPr id="19471" name="流程图: 可选过程 19470"/>
            <p:cNvSpPr/>
            <p:nvPr/>
          </p:nvSpPr>
          <p:spPr>
            <a:xfrm>
              <a:off x="2016" y="1392"/>
              <a:ext cx="2208" cy="384"/>
            </a:xfrm>
            <a:prstGeom prst="flowChartAlternateProcess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9472" name="文本框 19471"/>
            <p:cNvSpPr txBox="1"/>
            <p:nvPr/>
          </p:nvSpPr>
          <p:spPr>
            <a:xfrm>
              <a:off x="1968" y="1440"/>
              <a:ext cx="225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状态简化得最小化状态表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19474" name="直接连接符 19473"/>
          <p:cNvSpPr/>
          <p:nvPr/>
        </p:nvSpPr>
        <p:spPr>
          <a:xfrm>
            <a:off x="4953000" y="2819400"/>
            <a:ext cx="0" cy="3048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19490" name="组合 19489"/>
          <p:cNvGrpSpPr/>
          <p:nvPr/>
        </p:nvGrpSpPr>
        <p:grpSpPr>
          <a:xfrm>
            <a:off x="4038600" y="3124200"/>
            <a:ext cx="1828800" cy="457200"/>
            <a:chOff x="2496" y="1968"/>
            <a:chExt cx="1152" cy="288"/>
          </a:xfrm>
        </p:grpSpPr>
        <p:sp>
          <p:nvSpPr>
            <p:cNvPr id="19473" name="流程图: 可选过程 19472"/>
            <p:cNvSpPr/>
            <p:nvPr/>
          </p:nvSpPr>
          <p:spPr>
            <a:xfrm>
              <a:off x="2496" y="1968"/>
              <a:ext cx="1152" cy="288"/>
            </a:xfrm>
            <a:prstGeom prst="flowChartAlternateProcess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9475" name="文本框 19474"/>
            <p:cNvSpPr txBox="1"/>
            <p:nvPr/>
          </p:nvSpPr>
          <p:spPr>
            <a:xfrm>
              <a:off x="2592" y="1968"/>
              <a:ext cx="88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状态编码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19476" name="直接连接符 19475"/>
          <p:cNvSpPr/>
          <p:nvPr/>
        </p:nvSpPr>
        <p:spPr>
          <a:xfrm>
            <a:off x="4953000" y="3581400"/>
            <a:ext cx="0" cy="3048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19484" name="组合 19483"/>
          <p:cNvGrpSpPr/>
          <p:nvPr/>
        </p:nvGrpSpPr>
        <p:grpSpPr>
          <a:xfrm>
            <a:off x="2133600" y="3886200"/>
            <a:ext cx="5638800" cy="534988"/>
            <a:chOff x="1488" y="2495"/>
            <a:chExt cx="3552" cy="337"/>
          </a:xfrm>
        </p:grpSpPr>
        <p:sp>
          <p:nvSpPr>
            <p:cNvPr id="19477" name="流程图: 可选过程 19476"/>
            <p:cNvSpPr/>
            <p:nvPr/>
          </p:nvSpPr>
          <p:spPr>
            <a:xfrm>
              <a:off x="1488" y="2496"/>
              <a:ext cx="3552" cy="336"/>
            </a:xfrm>
            <a:prstGeom prst="flowChartAlternateProcess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9478" name="文本框 19477"/>
            <p:cNvSpPr txBox="1"/>
            <p:nvPr/>
          </p:nvSpPr>
          <p:spPr>
            <a:xfrm>
              <a:off x="1578" y="2495"/>
              <a:ext cx="339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选触发器类型，求控制函数、输出函数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19481" name="直接连接符 19480"/>
          <p:cNvSpPr/>
          <p:nvPr/>
        </p:nvSpPr>
        <p:spPr>
          <a:xfrm>
            <a:off x="4953000" y="4419600"/>
            <a:ext cx="0" cy="3048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9482" name="流程图: 可选过程 19481"/>
          <p:cNvSpPr/>
          <p:nvPr/>
        </p:nvSpPr>
        <p:spPr>
          <a:xfrm>
            <a:off x="3657600" y="4724400"/>
            <a:ext cx="2514600" cy="457200"/>
          </a:xfrm>
          <a:prstGeom prst="flowChartAlternateProcess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画逻辑电路图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9483" name="直接连接符 19482"/>
          <p:cNvSpPr/>
          <p:nvPr/>
        </p:nvSpPr>
        <p:spPr>
          <a:xfrm>
            <a:off x="4953000" y="5181600"/>
            <a:ext cx="0" cy="3048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9485" name="流程图: 可选过程 19484"/>
          <p:cNvSpPr/>
          <p:nvPr/>
        </p:nvSpPr>
        <p:spPr>
          <a:xfrm>
            <a:off x="3581400" y="5486400"/>
            <a:ext cx="2743200" cy="1143000"/>
          </a:xfrm>
          <a:prstGeom prst="flowChartAlternateProcess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画出全状态图，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检查设计，如不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符合要求，重新设计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pic>
        <p:nvPicPr>
          <p:cNvPr id="19491" name="图片 19490" descr="wb01508_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60198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92" name="文本框 19491">
            <a:hlinkClick r:id="rId1" action="ppaction://hlinksldjump"/>
          </p:cNvPr>
          <p:cNvSpPr txBox="1"/>
          <p:nvPr/>
        </p:nvSpPr>
        <p:spPr>
          <a:xfrm>
            <a:off x="7518400" y="6096000"/>
            <a:ext cx="9398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u="sng" dirty="0">
                <a:solidFill>
                  <a:schemeClr val="accent2"/>
                </a:solidFill>
                <a:latin typeface="Times New Roman" panose="02020603050405020304" pitchFamily="18" charset="0"/>
              </a:rPr>
              <a:t>返  回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9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19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9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1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19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9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19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9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7" dur="500"/>
                                        <p:tgtEl>
                                          <p:spTgt spid="19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 animBg="1"/>
      <p:bldP spid="19482" grpId="0" animBg="1"/>
      <p:bldP spid="1948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3" name="矩形 20482"/>
          <p:cNvSpPr/>
          <p:nvPr/>
        </p:nvSpPr>
        <p:spPr>
          <a:xfrm>
            <a:off x="152400" y="152400"/>
            <a:ext cx="3581400" cy="5334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9525">
            <a:noFill/>
          </a:ln>
          <a:effectLst>
            <a:outerShdw dist="107763" dir="18900000" algn="ctr" rotWithShape="0">
              <a:srgbClr val="808080"/>
            </a:outerShdw>
          </a:effectLst>
        </p:spPr>
        <p:txBody>
          <a:bodyPr anchor="ctr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 algn="l"/>
            <a:r>
              <a:rPr lang="zh-CN" altLang="en-US" sz="3200" b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同步时序电路设计</a:t>
            </a:r>
            <a:endParaRPr lang="zh-CN" altLang="en-US" sz="7200" b="1">
              <a:effectLst>
                <a:outerShdw blurRad="38100" dist="38100" dir="2700000">
                  <a:srgbClr val="FFFFFF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0484" name="文本框 20483"/>
          <p:cNvSpPr txBox="1"/>
          <p:nvPr/>
        </p:nvSpPr>
        <p:spPr>
          <a:xfrm>
            <a:off x="746125" y="879475"/>
            <a:ext cx="7788275" cy="82232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algn="l" eaLnBrk="1" hangingPunct="1"/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例：</a:t>
            </a:r>
            <a:r>
              <a:rPr lang="zh-CN" altLang="en-US" dirty="0">
                <a:latin typeface="宋体" panose="02010600030101010101" pitchFamily="2" charset="-122"/>
              </a:rPr>
              <a:t>设计一“</a:t>
            </a:r>
            <a:r>
              <a:rPr lang="en-US" altLang="zh-CN">
                <a:latin typeface="宋体" panose="02010600030101010101" pitchFamily="2" charset="-122"/>
              </a:rPr>
              <a:t>011”</a:t>
            </a:r>
            <a:r>
              <a:rPr lang="zh-CN" altLang="en-US" dirty="0">
                <a:latin typeface="宋体" panose="02010600030101010101" pitchFamily="2" charset="-122"/>
              </a:rPr>
              <a:t>序列检测器，每当输入</a:t>
            </a:r>
            <a:r>
              <a:rPr lang="en-US" altLang="zh-CN">
                <a:latin typeface="宋体" panose="02010600030101010101" pitchFamily="2" charset="-122"/>
              </a:rPr>
              <a:t>011</a:t>
            </a:r>
            <a:r>
              <a:rPr lang="zh-CN" altLang="en-US" dirty="0">
                <a:latin typeface="宋体" panose="02010600030101010101" pitchFamily="2" charset="-122"/>
              </a:rPr>
              <a:t>码时，对应最后一个</a:t>
            </a:r>
            <a:r>
              <a:rPr lang="en-US" altLang="zh-CN">
                <a:latin typeface="宋体" panose="02010600030101010101" pitchFamily="2" charset="-122"/>
              </a:rPr>
              <a:t>1</a:t>
            </a:r>
            <a:r>
              <a:rPr lang="zh-CN" altLang="en-US" dirty="0">
                <a:latin typeface="宋体" panose="02010600030101010101" pitchFamily="2" charset="-122"/>
              </a:rPr>
              <a:t>，电路输出为</a:t>
            </a:r>
            <a:r>
              <a:rPr lang="en-US" altLang="zh-CN">
                <a:latin typeface="宋体" panose="02010600030101010101" pitchFamily="2" charset="-122"/>
              </a:rPr>
              <a:t>1</a:t>
            </a:r>
            <a:r>
              <a:rPr lang="zh-CN" altLang="en-US" dirty="0">
                <a:latin typeface="宋体" panose="02010600030101010101" pitchFamily="2" charset="-122"/>
              </a:rPr>
              <a:t>。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20491" name="文本框 20490"/>
          <p:cNvSpPr txBox="1"/>
          <p:nvPr/>
        </p:nvSpPr>
        <p:spPr>
          <a:xfrm>
            <a:off x="762000" y="1620838"/>
            <a:ext cx="8001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zh-CN" altLang="en-US" dirty="0">
                <a:latin typeface="Times New Roman" panose="02020603050405020304" pitchFamily="18" charset="0"/>
              </a:rPr>
              <a:t>解：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0492" name="文本框 20491"/>
          <p:cNvSpPr txBox="1"/>
          <p:nvPr/>
        </p:nvSpPr>
        <p:spPr>
          <a:xfrm>
            <a:off x="1447800" y="1600200"/>
            <a:ext cx="68040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宋体" panose="02010600030101010101" pitchFamily="2" charset="-122"/>
              </a:rPr>
              <a:t>1</a:t>
            </a:r>
            <a:r>
              <a:rPr lang="zh-CN" altLang="en-US" dirty="0">
                <a:latin typeface="宋体" panose="02010600030101010101" pitchFamily="2" charset="-122"/>
              </a:rPr>
              <a:t>、画出原始状态图（或称转移图）与原始状态表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20493" name="文本框 20492"/>
          <p:cNvSpPr txBox="1"/>
          <p:nvPr/>
        </p:nvSpPr>
        <p:spPr>
          <a:xfrm>
            <a:off x="1431925" y="2098675"/>
            <a:ext cx="1636713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zh-CN" altLang="en-US" dirty="0">
                <a:latin typeface="Times New Roman" panose="02020603050405020304" pitchFamily="18" charset="0"/>
              </a:rPr>
              <a:t>输入端</a:t>
            </a:r>
            <a:r>
              <a:rPr lang="en-US" altLang="zh-CN">
                <a:latin typeface="Times New Roman" panose="02020603050405020304" pitchFamily="18" charset="0"/>
              </a:rPr>
              <a:t>X</a:t>
            </a:r>
            <a:r>
              <a:rPr lang="zh-CN" altLang="en-US">
                <a:latin typeface="Times New Roman" panose="02020603050405020304" pitchFamily="18" charset="0"/>
              </a:rPr>
              <a:t>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0494" name="文本框 20493"/>
          <p:cNvSpPr txBox="1"/>
          <p:nvPr/>
        </p:nvSpPr>
        <p:spPr>
          <a:xfrm>
            <a:off x="3260725" y="2078038"/>
            <a:ext cx="29559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zh-CN" altLang="en-US" dirty="0">
                <a:latin typeface="Times New Roman" panose="02020603050405020304" pitchFamily="18" charset="0"/>
              </a:rPr>
              <a:t>输入一串行随机信号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0495" name="文本框 20494"/>
          <p:cNvSpPr txBox="1"/>
          <p:nvPr/>
        </p:nvSpPr>
        <p:spPr>
          <a:xfrm>
            <a:off x="1431925" y="2555875"/>
            <a:ext cx="16192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zh-CN" altLang="en-US" dirty="0">
                <a:latin typeface="Times New Roman" panose="02020603050405020304" pitchFamily="18" charset="0"/>
              </a:rPr>
              <a:t>输出端</a:t>
            </a:r>
            <a:r>
              <a:rPr lang="en-US" altLang="zh-CN">
                <a:latin typeface="Times New Roman" panose="02020603050405020304" pitchFamily="18" charset="0"/>
              </a:rPr>
              <a:t>Z</a:t>
            </a:r>
            <a:r>
              <a:rPr lang="zh-CN" altLang="en-US">
                <a:latin typeface="Times New Roman" panose="02020603050405020304" pitchFamily="18" charset="0"/>
              </a:rPr>
              <a:t>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0496" name="文本框 20495"/>
          <p:cNvSpPr txBox="1"/>
          <p:nvPr/>
        </p:nvSpPr>
        <p:spPr>
          <a:xfrm>
            <a:off x="3184525" y="2555875"/>
            <a:ext cx="4999038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zh-CN" altLang="en-US">
                <a:latin typeface="Times New Roman" panose="02020603050405020304" pitchFamily="18" charset="0"/>
              </a:rPr>
              <a:t>当</a:t>
            </a:r>
            <a:r>
              <a:rPr lang="en-US" altLang="zh-CN">
                <a:latin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</a:rPr>
              <a:t>出现</a:t>
            </a:r>
            <a:r>
              <a:rPr lang="en-US" altLang="zh-CN">
                <a:latin typeface="Times New Roman" panose="02020603050405020304" pitchFamily="18" charset="0"/>
              </a:rPr>
              <a:t>011</a:t>
            </a:r>
            <a:r>
              <a:rPr lang="zh-CN" altLang="en-US" dirty="0">
                <a:latin typeface="Times New Roman" panose="02020603050405020304" pitchFamily="18" charset="0"/>
              </a:rPr>
              <a:t>序列时，</a:t>
            </a:r>
            <a:r>
              <a:rPr lang="en-US" altLang="zh-CN">
                <a:latin typeface="Times New Roman" panose="02020603050405020304" pitchFamily="18" charset="0"/>
              </a:rPr>
              <a:t>Z=1</a:t>
            </a:r>
            <a:r>
              <a:rPr lang="zh-CN" altLang="en-US">
                <a:latin typeface="Times New Roman" panose="02020603050405020304" pitchFamily="18" charset="0"/>
              </a:rPr>
              <a:t>；</a:t>
            </a:r>
            <a:r>
              <a:rPr lang="zh-CN" altLang="en-US" dirty="0">
                <a:latin typeface="Times New Roman" panose="02020603050405020304" pitchFamily="18" charset="0"/>
              </a:rPr>
              <a:t>否则</a:t>
            </a:r>
            <a:r>
              <a:rPr lang="en-US" altLang="zh-CN">
                <a:latin typeface="Times New Roman" panose="02020603050405020304" pitchFamily="18" charset="0"/>
              </a:rPr>
              <a:t>Z=0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0497" name="椭圆 20496"/>
          <p:cNvSpPr/>
          <p:nvPr/>
        </p:nvSpPr>
        <p:spPr>
          <a:xfrm>
            <a:off x="885825" y="3733800"/>
            <a:ext cx="533400" cy="457200"/>
          </a:xfrm>
          <a:prstGeom prst="ellipse">
            <a:avLst/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A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0500" name="椭圆 20499"/>
          <p:cNvSpPr/>
          <p:nvPr/>
        </p:nvSpPr>
        <p:spPr>
          <a:xfrm>
            <a:off x="2855913" y="3733800"/>
            <a:ext cx="533400" cy="457200"/>
          </a:xfrm>
          <a:prstGeom prst="ellipse">
            <a:avLst/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B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0501" name="椭圆 20500"/>
          <p:cNvSpPr/>
          <p:nvPr/>
        </p:nvSpPr>
        <p:spPr>
          <a:xfrm>
            <a:off x="2855913" y="5334000"/>
            <a:ext cx="533400" cy="457200"/>
          </a:xfrm>
          <a:prstGeom prst="ellipse">
            <a:avLst/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C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0502" name="椭圆 20501"/>
          <p:cNvSpPr/>
          <p:nvPr/>
        </p:nvSpPr>
        <p:spPr>
          <a:xfrm>
            <a:off x="838200" y="5257800"/>
            <a:ext cx="533400" cy="457200"/>
          </a:xfrm>
          <a:prstGeom prst="ellipse">
            <a:avLst/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D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20549" name="组合 20548"/>
          <p:cNvGrpSpPr/>
          <p:nvPr/>
        </p:nvGrpSpPr>
        <p:grpSpPr>
          <a:xfrm>
            <a:off x="112713" y="3124200"/>
            <a:ext cx="925512" cy="990600"/>
            <a:chOff x="71" y="1968"/>
            <a:chExt cx="583" cy="624"/>
          </a:xfrm>
        </p:grpSpPr>
        <p:sp>
          <p:nvSpPr>
            <p:cNvPr id="20490" name="任意多边形 20489"/>
            <p:cNvSpPr/>
            <p:nvPr/>
          </p:nvSpPr>
          <p:spPr>
            <a:xfrm rot="7042125">
              <a:off x="255" y="2193"/>
              <a:ext cx="432" cy="366"/>
            </a:xfrm>
            <a:custGeom>
              <a:avLst/>
              <a:gdLst>
                <a:gd name="txL" fmla="*/ 0 w 43200"/>
                <a:gd name="txT" fmla="*/ 0 h 40918"/>
                <a:gd name="txR" fmla="*/ 43200 w 43200"/>
                <a:gd name="txB" fmla="*/ 40918 h 40918"/>
              </a:gdLst>
              <a:ahLst/>
              <a:cxnLst>
                <a:cxn ang="0">
                  <a:pos x="32488" y="663"/>
                </a:cxn>
                <a:cxn ang="270">
                  <a:pos x="11937" y="0"/>
                </a:cxn>
                <a:cxn ang="0">
                  <a:pos x="21600" y="19318"/>
                </a:cxn>
              </a:cxnLst>
              <a:rect l="txL" t="txT" r="txR" b="txB"/>
              <a:pathLst>
                <a:path w="43200" h="40918" fill="none">
                  <a:moveTo>
                    <a:pt x="32488" y="663"/>
                  </a:moveTo>
                  <a:arcTo wR="21600" hR="21600" stAng="-3583800" swAng="18189328"/>
                </a:path>
                <a:path w="43200" h="40918" stroke="0">
                  <a:moveTo>
                    <a:pt x="32488" y="663"/>
                  </a:moveTo>
                  <a:arcTo wR="21600" hR="21600" stAng="-3583800" swAng="18189328"/>
                  <a:lnTo>
                    <a:pt x="21600" y="19318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07" name="文本框 20506"/>
            <p:cNvSpPr txBox="1"/>
            <p:nvPr/>
          </p:nvSpPr>
          <p:spPr>
            <a:xfrm>
              <a:off x="71" y="1968"/>
              <a:ext cx="36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0561" name="组合 20560"/>
          <p:cNvGrpSpPr/>
          <p:nvPr/>
        </p:nvGrpSpPr>
        <p:grpSpPr>
          <a:xfrm>
            <a:off x="1447800" y="3505200"/>
            <a:ext cx="1408113" cy="457200"/>
            <a:chOff x="912" y="2208"/>
            <a:chExt cx="887" cy="288"/>
          </a:xfrm>
        </p:grpSpPr>
        <p:sp>
          <p:nvSpPr>
            <p:cNvPr id="20503" name="直接连接符 20502"/>
            <p:cNvSpPr/>
            <p:nvPr/>
          </p:nvSpPr>
          <p:spPr>
            <a:xfrm>
              <a:off x="912" y="2496"/>
              <a:ext cx="88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508" name="文本框 20507"/>
            <p:cNvSpPr txBox="1"/>
            <p:nvPr/>
          </p:nvSpPr>
          <p:spPr>
            <a:xfrm>
              <a:off x="1152" y="2208"/>
              <a:ext cx="36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0562" name="组合 20561"/>
          <p:cNvGrpSpPr/>
          <p:nvPr/>
        </p:nvGrpSpPr>
        <p:grpSpPr>
          <a:xfrm>
            <a:off x="3084513" y="3276600"/>
            <a:ext cx="1258887" cy="581025"/>
            <a:chOff x="1943" y="2064"/>
            <a:chExt cx="793" cy="366"/>
          </a:xfrm>
        </p:grpSpPr>
        <p:sp>
          <p:nvSpPr>
            <p:cNvPr id="20506" name="任意多边形 20505"/>
            <p:cNvSpPr/>
            <p:nvPr/>
          </p:nvSpPr>
          <p:spPr>
            <a:xfrm rot="-8727655">
              <a:off x="1943" y="2064"/>
              <a:ext cx="432" cy="366"/>
            </a:xfrm>
            <a:custGeom>
              <a:avLst/>
              <a:gdLst>
                <a:gd name="txL" fmla="*/ 0 w 43200"/>
                <a:gd name="txT" fmla="*/ 0 h 40918"/>
                <a:gd name="txR" fmla="*/ 43200 w 43200"/>
                <a:gd name="txB" fmla="*/ 40918 h 40918"/>
              </a:gdLst>
              <a:ahLst/>
              <a:cxnLst>
                <a:cxn ang="0">
                  <a:pos x="32488" y="663"/>
                </a:cxn>
                <a:cxn ang="270">
                  <a:pos x="11937" y="0"/>
                </a:cxn>
                <a:cxn ang="0">
                  <a:pos x="21600" y="19318"/>
                </a:cxn>
              </a:cxnLst>
              <a:rect l="txL" t="txT" r="txR" b="txB"/>
              <a:pathLst>
                <a:path w="43200" h="40918" fill="none">
                  <a:moveTo>
                    <a:pt x="32488" y="663"/>
                  </a:moveTo>
                  <a:arcTo wR="21600" hR="21600" stAng="-3583800" swAng="18189328"/>
                </a:path>
                <a:path w="43200" h="40918" stroke="0">
                  <a:moveTo>
                    <a:pt x="32488" y="663"/>
                  </a:moveTo>
                  <a:arcTo wR="21600" hR="21600" stAng="-3583800" swAng="18189328"/>
                  <a:lnTo>
                    <a:pt x="21600" y="19318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09" name="文本框 20508"/>
            <p:cNvSpPr txBox="1"/>
            <p:nvPr/>
          </p:nvSpPr>
          <p:spPr>
            <a:xfrm>
              <a:off x="2375" y="2064"/>
              <a:ext cx="36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0568" name="组合 20567"/>
          <p:cNvGrpSpPr/>
          <p:nvPr/>
        </p:nvGrpSpPr>
        <p:grpSpPr>
          <a:xfrm>
            <a:off x="1371600" y="5486400"/>
            <a:ext cx="1484313" cy="457200"/>
            <a:chOff x="864" y="3456"/>
            <a:chExt cx="935" cy="288"/>
          </a:xfrm>
        </p:grpSpPr>
        <p:sp>
          <p:nvSpPr>
            <p:cNvPr id="20514" name="直接连接符 20513"/>
            <p:cNvSpPr/>
            <p:nvPr/>
          </p:nvSpPr>
          <p:spPr>
            <a:xfrm flipH="1">
              <a:off x="864" y="3504"/>
              <a:ext cx="93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515" name="文本框 20514"/>
            <p:cNvSpPr txBox="1"/>
            <p:nvPr/>
          </p:nvSpPr>
          <p:spPr>
            <a:xfrm>
              <a:off x="1152" y="3456"/>
              <a:ext cx="36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1/1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0565" name="组合 20564"/>
          <p:cNvGrpSpPr/>
          <p:nvPr/>
        </p:nvGrpSpPr>
        <p:grpSpPr>
          <a:xfrm>
            <a:off x="1295400" y="4038600"/>
            <a:ext cx="1560513" cy="1295400"/>
            <a:chOff x="816" y="2544"/>
            <a:chExt cx="983" cy="816"/>
          </a:xfrm>
        </p:grpSpPr>
        <p:sp>
          <p:nvSpPr>
            <p:cNvPr id="20516" name="直接连接符 20515"/>
            <p:cNvSpPr/>
            <p:nvPr/>
          </p:nvSpPr>
          <p:spPr>
            <a:xfrm flipV="1">
              <a:off x="816" y="2544"/>
              <a:ext cx="983" cy="81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517" name="文本框 20516"/>
            <p:cNvSpPr txBox="1"/>
            <p:nvPr/>
          </p:nvSpPr>
          <p:spPr>
            <a:xfrm>
              <a:off x="935" y="2784"/>
              <a:ext cx="36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0567" name="组合 20566"/>
          <p:cNvGrpSpPr/>
          <p:nvPr/>
        </p:nvGrpSpPr>
        <p:grpSpPr>
          <a:xfrm>
            <a:off x="2206625" y="4038600"/>
            <a:ext cx="766763" cy="1295400"/>
            <a:chOff x="1390" y="2544"/>
            <a:chExt cx="483" cy="816"/>
          </a:xfrm>
        </p:grpSpPr>
        <p:sp>
          <p:nvSpPr>
            <p:cNvPr id="20512" name="任意多边形 20511"/>
            <p:cNvSpPr/>
            <p:nvPr/>
          </p:nvSpPr>
          <p:spPr>
            <a:xfrm flipH="1" flipV="1">
              <a:off x="1728" y="2544"/>
              <a:ext cx="145" cy="816"/>
            </a:xfrm>
            <a:custGeom>
              <a:avLst/>
              <a:gdLst>
                <a:gd name="txL" fmla="*/ 0 w 24679"/>
                <a:gd name="txT" fmla="*/ 0 h 43200"/>
                <a:gd name="txR" fmla="*/ 24679 w 24679"/>
                <a:gd name="txB" fmla="*/ 43200 h 43200"/>
              </a:gdLst>
              <a:ahLst/>
              <a:cxnLst>
                <a:cxn ang="180">
                  <a:pos x="0" y="220"/>
                </a:cxn>
                <a:cxn ang="90">
                  <a:pos x="1256" y="43122"/>
                </a:cxn>
                <a:cxn ang="90">
                  <a:pos x="3079" y="21600"/>
                </a:cxn>
              </a:cxnLst>
              <a:rect l="txL" t="txT" r="txR" b="txB"/>
              <a:pathLst>
                <a:path w="24679" h="43200" fill="none">
                  <a:moveTo>
                    <a:pt x="0" y="220"/>
                  </a:moveTo>
                  <a:arcTo wR="21600" hR="21600" stAng="-5891700" swAng="11582197"/>
                </a:path>
                <a:path w="24679" h="43200" stroke="0">
                  <a:moveTo>
                    <a:pt x="0" y="220"/>
                  </a:moveTo>
                  <a:arcTo wR="21600" hR="21600" stAng="-5891700" swAng="11582197"/>
                  <a:lnTo>
                    <a:pt x="3079" y="21600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13" name="文本框 20512"/>
            <p:cNvSpPr txBox="1"/>
            <p:nvPr/>
          </p:nvSpPr>
          <p:spPr>
            <a:xfrm>
              <a:off x="1390" y="2880"/>
              <a:ext cx="36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0563" name="组合 20562"/>
          <p:cNvGrpSpPr/>
          <p:nvPr/>
        </p:nvGrpSpPr>
        <p:grpSpPr>
          <a:xfrm>
            <a:off x="3084513" y="4191000"/>
            <a:ext cx="573087" cy="1143000"/>
            <a:chOff x="1943" y="2640"/>
            <a:chExt cx="361" cy="720"/>
          </a:xfrm>
        </p:grpSpPr>
        <p:sp>
          <p:nvSpPr>
            <p:cNvPr id="20511" name="文本框 20510"/>
            <p:cNvSpPr txBox="1"/>
            <p:nvPr/>
          </p:nvSpPr>
          <p:spPr>
            <a:xfrm>
              <a:off x="1943" y="2832"/>
              <a:ext cx="36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0518" name="直接连接符 20517"/>
            <p:cNvSpPr/>
            <p:nvPr/>
          </p:nvSpPr>
          <p:spPr>
            <a:xfrm>
              <a:off x="1968" y="2640"/>
              <a:ext cx="0" cy="72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20566" name="组合 20565"/>
          <p:cNvGrpSpPr/>
          <p:nvPr/>
        </p:nvGrpSpPr>
        <p:grpSpPr>
          <a:xfrm>
            <a:off x="533400" y="4191000"/>
            <a:ext cx="609600" cy="1066800"/>
            <a:chOff x="336" y="2640"/>
            <a:chExt cx="384" cy="672"/>
          </a:xfrm>
        </p:grpSpPr>
        <p:sp>
          <p:nvSpPr>
            <p:cNvPr id="20519" name="直接连接符 20518"/>
            <p:cNvSpPr/>
            <p:nvPr/>
          </p:nvSpPr>
          <p:spPr>
            <a:xfrm flipV="1">
              <a:off x="720" y="2640"/>
              <a:ext cx="0" cy="67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520" name="文本框 20519"/>
            <p:cNvSpPr txBox="1"/>
            <p:nvPr/>
          </p:nvSpPr>
          <p:spPr>
            <a:xfrm>
              <a:off x="336" y="2832"/>
              <a:ext cx="36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0544" name="组合 20543"/>
          <p:cNvGrpSpPr/>
          <p:nvPr/>
        </p:nvGrpSpPr>
        <p:grpSpPr>
          <a:xfrm>
            <a:off x="4876800" y="3352800"/>
            <a:ext cx="3733800" cy="2895600"/>
            <a:chOff x="3072" y="2112"/>
            <a:chExt cx="2352" cy="1824"/>
          </a:xfrm>
        </p:grpSpPr>
        <p:sp>
          <p:nvSpPr>
            <p:cNvPr id="20524" name="矩形 20523"/>
            <p:cNvSpPr/>
            <p:nvPr/>
          </p:nvSpPr>
          <p:spPr>
            <a:xfrm>
              <a:off x="3072" y="2112"/>
              <a:ext cx="2352" cy="182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25" name="直接连接符 20524"/>
            <p:cNvSpPr/>
            <p:nvPr/>
          </p:nvSpPr>
          <p:spPr>
            <a:xfrm>
              <a:off x="3072" y="2640"/>
              <a:ext cx="235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26" name="直接连接符 20525"/>
            <p:cNvSpPr/>
            <p:nvPr/>
          </p:nvSpPr>
          <p:spPr>
            <a:xfrm>
              <a:off x="4080" y="2112"/>
              <a:ext cx="0" cy="182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27" name="直接连接符 20526"/>
            <p:cNvSpPr/>
            <p:nvPr/>
          </p:nvSpPr>
          <p:spPr>
            <a:xfrm>
              <a:off x="3072" y="2112"/>
              <a:ext cx="1008" cy="52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0528" name="文本框 20527"/>
          <p:cNvSpPr txBox="1"/>
          <p:nvPr/>
        </p:nvSpPr>
        <p:spPr>
          <a:xfrm>
            <a:off x="5691188" y="3317875"/>
            <a:ext cx="404812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X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0529" name="文本框 20528"/>
          <p:cNvSpPr txBox="1"/>
          <p:nvPr/>
        </p:nvSpPr>
        <p:spPr>
          <a:xfrm>
            <a:off x="5172075" y="3622675"/>
            <a:ext cx="5429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S </a:t>
            </a:r>
            <a:r>
              <a:rPr lang="en-US" altLang="zh-CN" baseline="-25000">
                <a:latin typeface="Times New Roman" panose="02020603050405020304" pitchFamily="18" charset="0"/>
              </a:rPr>
              <a:t>n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0530" name="文本框 20529"/>
          <p:cNvSpPr txBox="1"/>
          <p:nvPr/>
        </p:nvSpPr>
        <p:spPr>
          <a:xfrm>
            <a:off x="6750050" y="35814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0531" name="文本框 20530"/>
          <p:cNvSpPr txBox="1"/>
          <p:nvPr/>
        </p:nvSpPr>
        <p:spPr>
          <a:xfrm>
            <a:off x="7680325" y="35814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0532" name="文本框 20531"/>
          <p:cNvSpPr txBox="1"/>
          <p:nvPr/>
        </p:nvSpPr>
        <p:spPr>
          <a:xfrm>
            <a:off x="5318125" y="4232275"/>
            <a:ext cx="404813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A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0533" name="文本框 20532"/>
          <p:cNvSpPr txBox="1"/>
          <p:nvPr/>
        </p:nvSpPr>
        <p:spPr>
          <a:xfrm>
            <a:off x="5327650" y="4724400"/>
            <a:ext cx="3873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B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0534" name="文本框 20533"/>
          <p:cNvSpPr txBox="1"/>
          <p:nvPr/>
        </p:nvSpPr>
        <p:spPr>
          <a:xfrm>
            <a:off x="5334000" y="5181600"/>
            <a:ext cx="404813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C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0535" name="文本框 20534"/>
          <p:cNvSpPr txBox="1"/>
          <p:nvPr/>
        </p:nvSpPr>
        <p:spPr>
          <a:xfrm>
            <a:off x="5334000" y="5638800"/>
            <a:ext cx="404813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D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0536" name="文本框 20535"/>
          <p:cNvSpPr txBox="1"/>
          <p:nvPr/>
        </p:nvSpPr>
        <p:spPr>
          <a:xfrm>
            <a:off x="6613525" y="4232275"/>
            <a:ext cx="623888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B/0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0537" name="文本框 20536"/>
          <p:cNvSpPr txBox="1"/>
          <p:nvPr/>
        </p:nvSpPr>
        <p:spPr>
          <a:xfrm>
            <a:off x="7604125" y="4232275"/>
            <a:ext cx="6413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A/0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0538" name="文本框 20537"/>
          <p:cNvSpPr txBox="1"/>
          <p:nvPr/>
        </p:nvSpPr>
        <p:spPr>
          <a:xfrm>
            <a:off x="6629400" y="4689475"/>
            <a:ext cx="623888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B/0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0539" name="文本框 20538"/>
          <p:cNvSpPr txBox="1"/>
          <p:nvPr/>
        </p:nvSpPr>
        <p:spPr>
          <a:xfrm>
            <a:off x="7620000" y="4724400"/>
            <a:ext cx="6413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C/0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0540" name="文本框 20539"/>
          <p:cNvSpPr txBox="1"/>
          <p:nvPr/>
        </p:nvSpPr>
        <p:spPr>
          <a:xfrm>
            <a:off x="6629400" y="5146675"/>
            <a:ext cx="623888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B/0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0541" name="文本框 20540"/>
          <p:cNvSpPr txBox="1"/>
          <p:nvPr/>
        </p:nvSpPr>
        <p:spPr>
          <a:xfrm>
            <a:off x="7620000" y="5181600"/>
            <a:ext cx="6413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D/1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0542" name="文本框 20541"/>
          <p:cNvSpPr txBox="1"/>
          <p:nvPr/>
        </p:nvSpPr>
        <p:spPr>
          <a:xfrm>
            <a:off x="6629400" y="5638800"/>
            <a:ext cx="623888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B/0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0543" name="文本框 20542"/>
          <p:cNvSpPr txBox="1"/>
          <p:nvPr/>
        </p:nvSpPr>
        <p:spPr>
          <a:xfrm>
            <a:off x="7620000" y="5638800"/>
            <a:ext cx="6413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A/0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0546" name="文本框 20545"/>
          <p:cNvSpPr txBox="1"/>
          <p:nvPr/>
        </p:nvSpPr>
        <p:spPr>
          <a:xfrm>
            <a:off x="6918325" y="6213475"/>
            <a:ext cx="1084263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S</a:t>
            </a:r>
            <a:r>
              <a:rPr lang="en-US" altLang="zh-CN" baseline="-25000">
                <a:latin typeface="Times New Roman" panose="02020603050405020304" pitchFamily="18" charset="0"/>
              </a:rPr>
              <a:t>n+1</a:t>
            </a:r>
            <a:r>
              <a:rPr lang="en-US" altLang="zh-CN">
                <a:latin typeface="Times New Roman" panose="02020603050405020304" pitchFamily="18" charset="0"/>
              </a:rPr>
              <a:t>/Z</a:t>
            </a:r>
            <a:r>
              <a:rPr lang="en-US" altLang="zh-CN" baseline="-25000">
                <a:latin typeface="Times New Roman" panose="02020603050405020304" pitchFamily="18" charset="0"/>
              </a:rPr>
              <a:t>n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pic>
        <p:nvPicPr>
          <p:cNvPr id="20547" name="图片 20546" descr="wb01508_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0960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48" name="文本框 20547">
            <a:hlinkClick r:id="rId1" action="ppaction://hlinksldjump"/>
          </p:cNvPr>
          <p:cNvSpPr txBox="1"/>
          <p:nvPr/>
        </p:nvSpPr>
        <p:spPr>
          <a:xfrm>
            <a:off x="806450" y="61722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u="sng" dirty="0">
                <a:solidFill>
                  <a:schemeClr val="accent2"/>
                </a:solidFill>
                <a:latin typeface="Times New Roman" panose="02020603050405020304" pitchFamily="18" charset="0"/>
              </a:rPr>
              <a:t>返  回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0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0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0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0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20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0" dur="500"/>
                                        <p:tgtEl>
                                          <p:spTgt spid="20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20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05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05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0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0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20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205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/>
      <p:bldP spid="20491" grpId="0"/>
      <p:bldP spid="20492" grpId="0"/>
      <p:bldP spid="20493" grpId="0"/>
      <p:bldP spid="20494" grpId="0"/>
      <p:bldP spid="20495" grpId="0"/>
      <p:bldP spid="20496" grpId="0"/>
      <p:bldP spid="20497" grpId="0" animBg="1"/>
      <p:bldP spid="20500" grpId="0" animBg="1"/>
      <p:bldP spid="20501" grpId="0" animBg="1"/>
      <p:bldP spid="20502" grpId="0" animBg="1"/>
      <p:bldP spid="20528" grpId="0"/>
      <p:bldP spid="20529" grpId="0"/>
      <p:bldP spid="20530" grpId="0"/>
      <p:bldP spid="20531" grpId="0"/>
      <p:bldP spid="20532" grpId="0"/>
      <p:bldP spid="20533" grpId="0"/>
      <p:bldP spid="20534" grpId="0"/>
      <p:bldP spid="20535" grpId="0"/>
      <p:bldP spid="20536" grpId="0"/>
      <p:bldP spid="20537" grpId="0"/>
      <p:bldP spid="20538" grpId="0"/>
      <p:bldP spid="20539" grpId="0"/>
      <p:bldP spid="20540" grpId="0"/>
      <p:bldP spid="20541" grpId="0"/>
      <p:bldP spid="20542" grpId="0"/>
      <p:bldP spid="20543" grpId="0"/>
      <p:bldP spid="2054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矩形 21505"/>
          <p:cNvSpPr/>
          <p:nvPr/>
        </p:nvSpPr>
        <p:spPr>
          <a:xfrm>
            <a:off x="152400" y="152400"/>
            <a:ext cx="3581400" cy="5334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9525">
            <a:noFill/>
          </a:ln>
          <a:effectLst>
            <a:outerShdw dist="107763" dir="18900000" algn="ctr" rotWithShape="0">
              <a:srgbClr val="808080"/>
            </a:outerShdw>
          </a:effectLst>
        </p:spPr>
        <p:txBody>
          <a:bodyPr anchor="ctr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 algn="l"/>
            <a:r>
              <a:rPr lang="zh-CN" altLang="en-US" sz="3200" b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同步时序电路设计</a:t>
            </a:r>
            <a:endParaRPr lang="zh-CN" altLang="en-US" sz="7200" b="1">
              <a:effectLst>
                <a:outerShdw blurRad="38100" dist="38100" dir="2700000">
                  <a:srgbClr val="FFFFFF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1507" name="文本框 21506"/>
          <p:cNvSpPr txBox="1"/>
          <p:nvPr/>
        </p:nvSpPr>
        <p:spPr>
          <a:xfrm>
            <a:off x="593725" y="990600"/>
            <a:ext cx="18764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、状态简化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21632" name="组合 21631"/>
          <p:cNvGrpSpPr/>
          <p:nvPr/>
        </p:nvGrpSpPr>
        <p:grpSpPr>
          <a:xfrm>
            <a:off x="4953000" y="228600"/>
            <a:ext cx="3733800" cy="3810000"/>
            <a:chOff x="3120" y="144"/>
            <a:chExt cx="2352" cy="2400"/>
          </a:xfrm>
        </p:grpSpPr>
        <p:grpSp>
          <p:nvGrpSpPr>
            <p:cNvPr id="21530" name="组合 21529"/>
            <p:cNvGrpSpPr/>
            <p:nvPr/>
          </p:nvGrpSpPr>
          <p:grpSpPr>
            <a:xfrm>
              <a:off x="3120" y="432"/>
              <a:ext cx="2352" cy="2112"/>
              <a:chOff x="3072" y="2090"/>
              <a:chExt cx="2352" cy="2112"/>
            </a:xfrm>
          </p:grpSpPr>
          <p:grpSp>
            <p:nvGrpSpPr>
              <p:cNvPr id="21508" name="组合 21507"/>
              <p:cNvGrpSpPr/>
              <p:nvPr/>
            </p:nvGrpSpPr>
            <p:grpSpPr>
              <a:xfrm>
                <a:off x="3072" y="2112"/>
                <a:ext cx="2352" cy="1824"/>
                <a:chOff x="3072" y="2112"/>
                <a:chExt cx="2352" cy="1824"/>
              </a:xfrm>
            </p:grpSpPr>
            <p:sp>
              <p:nvSpPr>
                <p:cNvPr id="21509" name="矩形 21508"/>
                <p:cNvSpPr/>
                <p:nvPr/>
              </p:nvSpPr>
              <p:spPr>
                <a:xfrm>
                  <a:off x="3072" y="2112"/>
                  <a:ext cx="2352" cy="1824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1510" name="直接连接符 21509"/>
                <p:cNvSpPr/>
                <p:nvPr/>
              </p:nvSpPr>
              <p:spPr>
                <a:xfrm>
                  <a:off x="3072" y="2640"/>
                  <a:ext cx="235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511" name="直接连接符 21510"/>
                <p:cNvSpPr/>
                <p:nvPr/>
              </p:nvSpPr>
              <p:spPr>
                <a:xfrm>
                  <a:off x="4080" y="2112"/>
                  <a:ext cx="0" cy="182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512" name="直接连接符 21511"/>
                <p:cNvSpPr/>
                <p:nvPr/>
              </p:nvSpPr>
              <p:spPr>
                <a:xfrm>
                  <a:off x="3072" y="2112"/>
                  <a:ext cx="1008" cy="528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1513" name="文本框 21512"/>
              <p:cNvSpPr txBox="1"/>
              <p:nvPr/>
            </p:nvSpPr>
            <p:spPr>
              <a:xfrm>
                <a:off x="3585" y="2090"/>
                <a:ext cx="255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X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14" name="文本框 21513"/>
              <p:cNvSpPr txBox="1"/>
              <p:nvPr/>
            </p:nvSpPr>
            <p:spPr>
              <a:xfrm>
                <a:off x="3258" y="2282"/>
                <a:ext cx="34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S 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n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15" name="文本框 21514"/>
              <p:cNvSpPr txBox="1"/>
              <p:nvPr/>
            </p:nvSpPr>
            <p:spPr>
              <a:xfrm>
                <a:off x="4252" y="2256"/>
                <a:ext cx="21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16" name="文本框 21515"/>
              <p:cNvSpPr txBox="1"/>
              <p:nvPr/>
            </p:nvSpPr>
            <p:spPr>
              <a:xfrm>
                <a:off x="4838" y="2256"/>
                <a:ext cx="21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17" name="文本框 21516"/>
              <p:cNvSpPr txBox="1"/>
              <p:nvPr/>
            </p:nvSpPr>
            <p:spPr>
              <a:xfrm>
                <a:off x="3350" y="2666"/>
                <a:ext cx="255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A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18" name="文本框 21517"/>
              <p:cNvSpPr txBox="1"/>
              <p:nvPr/>
            </p:nvSpPr>
            <p:spPr>
              <a:xfrm>
                <a:off x="3356" y="2976"/>
                <a:ext cx="24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B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19" name="文本框 21518"/>
              <p:cNvSpPr txBox="1"/>
              <p:nvPr/>
            </p:nvSpPr>
            <p:spPr>
              <a:xfrm>
                <a:off x="3360" y="3264"/>
                <a:ext cx="255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C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20" name="文本框 21519"/>
              <p:cNvSpPr txBox="1"/>
              <p:nvPr/>
            </p:nvSpPr>
            <p:spPr>
              <a:xfrm>
                <a:off x="3360" y="3552"/>
                <a:ext cx="255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D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21" name="文本框 21520"/>
              <p:cNvSpPr txBox="1"/>
              <p:nvPr/>
            </p:nvSpPr>
            <p:spPr>
              <a:xfrm>
                <a:off x="4166" y="2666"/>
                <a:ext cx="39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B/0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22" name="文本框 21521"/>
              <p:cNvSpPr txBox="1"/>
              <p:nvPr/>
            </p:nvSpPr>
            <p:spPr>
              <a:xfrm>
                <a:off x="4790" y="2666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A/0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23" name="文本框 21522"/>
              <p:cNvSpPr txBox="1"/>
              <p:nvPr/>
            </p:nvSpPr>
            <p:spPr>
              <a:xfrm>
                <a:off x="4176" y="2954"/>
                <a:ext cx="39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B/0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24" name="文本框 21523"/>
              <p:cNvSpPr txBox="1"/>
              <p:nvPr/>
            </p:nvSpPr>
            <p:spPr>
              <a:xfrm>
                <a:off x="4800" y="2976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C/0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25" name="文本框 21524"/>
              <p:cNvSpPr txBox="1"/>
              <p:nvPr/>
            </p:nvSpPr>
            <p:spPr>
              <a:xfrm>
                <a:off x="4176" y="3242"/>
                <a:ext cx="39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B/0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26" name="文本框 21525"/>
              <p:cNvSpPr txBox="1"/>
              <p:nvPr/>
            </p:nvSpPr>
            <p:spPr>
              <a:xfrm>
                <a:off x="4800" y="3264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D/1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27" name="文本框 21526"/>
              <p:cNvSpPr txBox="1"/>
              <p:nvPr/>
            </p:nvSpPr>
            <p:spPr>
              <a:xfrm>
                <a:off x="4176" y="3552"/>
                <a:ext cx="39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B/0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28" name="文本框 21527"/>
              <p:cNvSpPr txBox="1"/>
              <p:nvPr/>
            </p:nvSpPr>
            <p:spPr>
              <a:xfrm>
                <a:off x="4800" y="3552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A/0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29" name="文本框 21528"/>
              <p:cNvSpPr txBox="1"/>
              <p:nvPr/>
            </p:nvSpPr>
            <p:spPr>
              <a:xfrm>
                <a:off x="4358" y="3914"/>
                <a:ext cx="68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S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n+1</a:t>
                </a:r>
                <a:r>
                  <a:rPr lang="en-US" altLang="zh-CN">
                    <a:latin typeface="Times New Roman" panose="02020603050405020304" pitchFamily="18" charset="0"/>
                  </a:rPr>
                  <a:t>/Z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n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1531" name="文本框 21530"/>
            <p:cNvSpPr txBox="1"/>
            <p:nvPr/>
          </p:nvSpPr>
          <p:spPr>
            <a:xfrm>
              <a:off x="3696" y="144"/>
              <a:ext cx="1086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原始状态表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21533" name="文本框 21532"/>
          <p:cNvSpPr txBox="1"/>
          <p:nvPr/>
        </p:nvSpPr>
        <p:spPr>
          <a:xfrm>
            <a:off x="669925" y="1524000"/>
            <a:ext cx="41878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等价状态</a:t>
            </a:r>
            <a:r>
              <a:rPr lang="zh-CN" altLang="en-US" dirty="0">
                <a:latin typeface="Times New Roman" panose="02020603050405020304" pitchFamily="18" charset="0"/>
              </a:rPr>
              <a:t>可以合并为一个状态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1539" name="文本框 21538"/>
          <p:cNvSpPr txBox="1"/>
          <p:nvPr/>
        </p:nvSpPr>
        <p:spPr>
          <a:xfrm>
            <a:off x="1660525" y="4017963"/>
            <a:ext cx="1841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endParaRPr dirty="0">
              <a:latin typeface="Times New Roman" panose="02020603050405020304" pitchFamily="18" charset="0"/>
            </a:endParaRPr>
          </a:p>
        </p:txBody>
      </p:sp>
      <p:grpSp>
        <p:nvGrpSpPr>
          <p:cNvPr id="21541" name="组合 21540"/>
          <p:cNvGrpSpPr/>
          <p:nvPr/>
        </p:nvGrpSpPr>
        <p:grpSpPr>
          <a:xfrm>
            <a:off x="1447800" y="533400"/>
            <a:ext cx="2667000" cy="990600"/>
            <a:chOff x="912" y="288"/>
            <a:chExt cx="1680" cy="624"/>
          </a:xfrm>
        </p:grpSpPr>
        <p:sp>
          <p:nvSpPr>
            <p:cNvPr id="21534" name="圆角矩形标注 21533"/>
            <p:cNvSpPr/>
            <p:nvPr/>
          </p:nvSpPr>
          <p:spPr>
            <a:xfrm>
              <a:off x="960" y="288"/>
              <a:ext cx="1632" cy="624"/>
            </a:xfrm>
            <a:prstGeom prst="wedgeRoundRectCallout">
              <a:avLst>
                <a:gd name="adj1" fmla="val -45954"/>
                <a:gd name="adj2" fmla="val 63782"/>
                <a:gd name="adj3" fmla="val 16667"/>
              </a:avLst>
            </a:prstGeom>
            <a:solidFill>
              <a:srgbClr val="FFCC00"/>
            </a:solidFill>
            <a:ln w="38100">
              <a:noFill/>
            </a:ln>
          </p:spPr>
          <p:txBody>
            <a:bodyPr wrap="none" anchor="ctr" anchorCtr="0"/>
            <a:p>
              <a:pPr algn="ctr" eaLnBrk="1" hangingPunct="1"/>
              <a:endParaRPr dirty="0">
                <a:latin typeface="Times New Roman" panose="02020603050405020304" pitchFamily="18" charset="0"/>
              </a:endParaRPr>
            </a:p>
          </p:txBody>
        </p:sp>
        <p:sp>
          <p:nvSpPr>
            <p:cNvPr id="21540" name="文本框 21539"/>
            <p:cNvSpPr txBox="1"/>
            <p:nvPr/>
          </p:nvSpPr>
          <p:spPr>
            <a:xfrm>
              <a:off x="912" y="336"/>
              <a:ext cx="1578" cy="518"/>
            </a:xfrm>
            <a:prstGeom prst="rect">
              <a:avLst/>
            </a:prstGeom>
            <a:solidFill>
              <a:srgbClr val="FFCC00"/>
            </a:solidFill>
            <a:ln w="38100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对任意输入，相应的输出都相同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21542" name="矩形 21541"/>
          <p:cNvSpPr/>
          <p:nvPr/>
        </p:nvSpPr>
        <p:spPr>
          <a:xfrm>
            <a:off x="5181600" y="1676400"/>
            <a:ext cx="3276600" cy="304800"/>
          </a:xfrm>
          <a:prstGeom prst="rect">
            <a:avLst/>
          </a:prstGeom>
          <a:noFill/>
          <a:ln w="38100" cap="flat" cmpd="sng">
            <a:solidFill>
              <a:srgbClr val="A5002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1543" name="矩形 21542"/>
          <p:cNvSpPr/>
          <p:nvPr/>
        </p:nvSpPr>
        <p:spPr>
          <a:xfrm>
            <a:off x="5257800" y="3048000"/>
            <a:ext cx="3276600" cy="304800"/>
          </a:xfrm>
          <a:prstGeom prst="rect">
            <a:avLst/>
          </a:prstGeom>
          <a:noFill/>
          <a:ln w="38100" cap="flat" cmpd="sng">
            <a:solidFill>
              <a:srgbClr val="A5002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1544" name="直接连接符 21543"/>
          <p:cNvSpPr/>
          <p:nvPr/>
        </p:nvSpPr>
        <p:spPr>
          <a:xfrm>
            <a:off x="6858000" y="3657600"/>
            <a:ext cx="0" cy="3810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21631" name="组合 21630"/>
          <p:cNvGrpSpPr/>
          <p:nvPr/>
        </p:nvGrpSpPr>
        <p:grpSpPr>
          <a:xfrm>
            <a:off x="5105400" y="3962400"/>
            <a:ext cx="3733800" cy="2667000"/>
            <a:chOff x="3168" y="2544"/>
            <a:chExt cx="2352" cy="1680"/>
          </a:xfrm>
        </p:grpSpPr>
        <p:grpSp>
          <p:nvGrpSpPr>
            <p:cNvPr id="21546" name="组合 21545"/>
            <p:cNvGrpSpPr/>
            <p:nvPr/>
          </p:nvGrpSpPr>
          <p:grpSpPr>
            <a:xfrm>
              <a:off x="3168" y="2566"/>
              <a:ext cx="2352" cy="1418"/>
              <a:chOff x="3072" y="2112"/>
              <a:chExt cx="2352" cy="1824"/>
            </a:xfrm>
          </p:grpSpPr>
          <p:sp>
            <p:nvSpPr>
              <p:cNvPr id="21547" name="矩形 21546"/>
              <p:cNvSpPr/>
              <p:nvPr/>
            </p:nvSpPr>
            <p:spPr>
              <a:xfrm>
                <a:off x="3072" y="2112"/>
                <a:ext cx="2352" cy="182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1548" name="直接连接符 21547"/>
              <p:cNvSpPr/>
              <p:nvPr/>
            </p:nvSpPr>
            <p:spPr>
              <a:xfrm>
                <a:off x="3072" y="2640"/>
                <a:ext cx="235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49" name="直接连接符 21548"/>
              <p:cNvSpPr/>
              <p:nvPr/>
            </p:nvSpPr>
            <p:spPr>
              <a:xfrm>
                <a:off x="4080" y="2112"/>
                <a:ext cx="0" cy="182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50" name="直接连接符 21549"/>
              <p:cNvSpPr/>
              <p:nvPr/>
            </p:nvSpPr>
            <p:spPr>
              <a:xfrm>
                <a:off x="3072" y="2112"/>
                <a:ext cx="1008" cy="5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1551" name="文本框 21550"/>
            <p:cNvSpPr txBox="1"/>
            <p:nvPr/>
          </p:nvSpPr>
          <p:spPr>
            <a:xfrm>
              <a:off x="3681" y="2544"/>
              <a:ext cx="255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X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1552" name="文本框 21551"/>
            <p:cNvSpPr txBox="1"/>
            <p:nvPr/>
          </p:nvSpPr>
          <p:spPr>
            <a:xfrm>
              <a:off x="3354" y="2688"/>
              <a:ext cx="34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S 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n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1553" name="文本框 21552"/>
            <p:cNvSpPr txBox="1"/>
            <p:nvPr/>
          </p:nvSpPr>
          <p:spPr>
            <a:xfrm>
              <a:off x="4348" y="2640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1554" name="文本框 21553"/>
            <p:cNvSpPr txBox="1"/>
            <p:nvPr/>
          </p:nvSpPr>
          <p:spPr>
            <a:xfrm>
              <a:off x="4934" y="2640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1555" name="文本框 21554"/>
            <p:cNvSpPr txBox="1"/>
            <p:nvPr/>
          </p:nvSpPr>
          <p:spPr>
            <a:xfrm>
              <a:off x="3446" y="3024"/>
              <a:ext cx="255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A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1556" name="文本框 21555"/>
            <p:cNvSpPr txBox="1"/>
            <p:nvPr/>
          </p:nvSpPr>
          <p:spPr>
            <a:xfrm>
              <a:off x="3452" y="3312"/>
              <a:ext cx="24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B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1557" name="文本框 21556"/>
            <p:cNvSpPr txBox="1"/>
            <p:nvPr/>
          </p:nvSpPr>
          <p:spPr>
            <a:xfrm>
              <a:off x="3456" y="3600"/>
              <a:ext cx="255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C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1559" name="文本框 21558"/>
            <p:cNvSpPr txBox="1"/>
            <p:nvPr/>
          </p:nvSpPr>
          <p:spPr>
            <a:xfrm>
              <a:off x="4262" y="3024"/>
              <a:ext cx="39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B/0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1560" name="文本框 21559"/>
            <p:cNvSpPr txBox="1"/>
            <p:nvPr/>
          </p:nvSpPr>
          <p:spPr>
            <a:xfrm>
              <a:off x="4886" y="3024"/>
              <a:ext cx="40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A/0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1561" name="文本框 21560"/>
            <p:cNvSpPr txBox="1"/>
            <p:nvPr/>
          </p:nvSpPr>
          <p:spPr>
            <a:xfrm>
              <a:off x="4272" y="3312"/>
              <a:ext cx="39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B/0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1562" name="文本框 21561"/>
            <p:cNvSpPr txBox="1"/>
            <p:nvPr/>
          </p:nvSpPr>
          <p:spPr>
            <a:xfrm>
              <a:off x="4896" y="3312"/>
              <a:ext cx="40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C/0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1563" name="文本框 21562"/>
            <p:cNvSpPr txBox="1"/>
            <p:nvPr/>
          </p:nvSpPr>
          <p:spPr>
            <a:xfrm>
              <a:off x="4272" y="3600"/>
              <a:ext cx="39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B/0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1564" name="文本框 21563"/>
            <p:cNvSpPr txBox="1"/>
            <p:nvPr/>
          </p:nvSpPr>
          <p:spPr>
            <a:xfrm>
              <a:off x="4896" y="3600"/>
              <a:ext cx="40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A/1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1567" name="文本框 21566"/>
            <p:cNvSpPr txBox="1"/>
            <p:nvPr/>
          </p:nvSpPr>
          <p:spPr>
            <a:xfrm>
              <a:off x="4454" y="3936"/>
              <a:ext cx="68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S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n+1</a:t>
              </a:r>
              <a:r>
                <a:rPr lang="en-US" altLang="zh-CN">
                  <a:latin typeface="Times New Roman" panose="02020603050405020304" pitchFamily="18" charset="0"/>
                </a:rPr>
                <a:t>/Z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n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sp>
        <p:nvSpPr>
          <p:cNvPr id="21591" name="文本框 21590"/>
          <p:cNvSpPr txBox="1"/>
          <p:nvPr/>
        </p:nvSpPr>
        <p:spPr>
          <a:xfrm>
            <a:off x="609600" y="2057400"/>
            <a:ext cx="18764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状态编码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21633" name="组合 21632"/>
          <p:cNvGrpSpPr/>
          <p:nvPr/>
        </p:nvGrpSpPr>
        <p:grpSpPr>
          <a:xfrm>
            <a:off x="822325" y="2479675"/>
            <a:ext cx="2790825" cy="457200"/>
            <a:chOff x="518" y="1562"/>
            <a:chExt cx="1758" cy="288"/>
          </a:xfrm>
        </p:grpSpPr>
        <p:sp>
          <p:nvSpPr>
            <p:cNvPr id="21593" name="文本框 21592"/>
            <p:cNvSpPr txBox="1"/>
            <p:nvPr/>
          </p:nvSpPr>
          <p:spPr>
            <a:xfrm>
              <a:off x="518" y="1562"/>
              <a:ext cx="30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1594" name="文本框 21593"/>
            <p:cNvSpPr txBox="1"/>
            <p:nvPr/>
          </p:nvSpPr>
          <p:spPr>
            <a:xfrm>
              <a:off x="998" y="1562"/>
              <a:ext cx="30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1595" name="文本框 21594"/>
            <p:cNvSpPr txBox="1"/>
            <p:nvPr/>
          </p:nvSpPr>
          <p:spPr>
            <a:xfrm>
              <a:off x="1478" y="1562"/>
              <a:ext cx="30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1596" name="文本框 21595"/>
            <p:cNvSpPr txBox="1"/>
            <p:nvPr/>
          </p:nvSpPr>
          <p:spPr>
            <a:xfrm>
              <a:off x="1968" y="1562"/>
              <a:ext cx="30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1599" name="组合 21598"/>
          <p:cNvGrpSpPr/>
          <p:nvPr/>
        </p:nvGrpSpPr>
        <p:grpSpPr>
          <a:xfrm>
            <a:off x="1981200" y="990600"/>
            <a:ext cx="1752600" cy="1066800"/>
            <a:chOff x="1200" y="2400"/>
            <a:chExt cx="1104" cy="672"/>
          </a:xfrm>
        </p:grpSpPr>
        <p:sp>
          <p:nvSpPr>
            <p:cNvPr id="21597" name="圆角矩形标注 21596"/>
            <p:cNvSpPr/>
            <p:nvPr/>
          </p:nvSpPr>
          <p:spPr>
            <a:xfrm>
              <a:off x="1200" y="2400"/>
              <a:ext cx="1104" cy="672"/>
            </a:xfrm>
            <a:prstGeom prst="wedgeRoundRectCallout">
              <a:avLst>
                <a:gd name="adj1" fmla="val -43750"/>
                <a:gd name="adj2" fmla="val 61458"/>
                <a:gd name="adj3" fmla="val 16667"/>
              </a:avLst>
            </a:prstGeom>
            <a:solidFill>
              <a:srgbClr val="FFCC00"/>
            </a:solidFill>
            <a:ln w="38100">
              <a:noFill/>
            </a:ln>
          </p:spPr>
          <p:txBody>
            <a:bodyPr wrap="none" anchor="ctr" anchorCtr="0"/>
            <a:p>
              <a:pPr algn="ctr" eaLnBrk="1" hangingPunct="1"/>
              <a:endParaRPr dirty="0">
                <a:latin typeface="Times New Roman" panose="02020603050405020304" pitchFamily="18" charset="0"/>
              </a:endParaRPr>
            </a:p>
          </p:txBody>
        </p:sp>
        <p:sp>
          <p:nvSpPr>
            <p:cNvPr id="21598" name="文本框 21597"/>
            <p:cNvSpPr txBox="1"/>
            <p:nvPr/>
          </p:nvSpPr>
          <p:spPr>
            <a:xfrm>
              <a:off x="1286" y="2448"/>
              <a:ext cx="1018" cy="518"/>
            </a:xfrm>
            <a:prstGeom prst="rect">
              <a:avLst/>
            </a:prstGeom>
            <a:solidFill>
              <a:srgbClr val="FFCC00"/>
            </a:solidFill>
            <a:ln w="38100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尽量采用相邻代码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1603" name="组合 21602"/>
          <p:cNvGrpSpPr/>
          <p:nvPr/>
        </p:nvGrpSpPr>
        <p:grpSpPr>
          <a:xfrm>
            <a:off x="890588" y="2819400"/>
            <a:ext cx="404812" cy="838200"/>
            <a:chOff x="561" y="1776"/>
            <a:chExt cx="255" cy="528"/>
          </a:xfrm>
        </p:grpSpPr>
        <p:sp>
          <p:nvSpPr>
            <p:cNvPr id="21601" name="文本框 21600"/>
            <p:cNvSpPr txBox="1"/>
            <p:nvPr/>
          </p:nvSpPr>
          <p:spPr>
            <a:xfrm>
              <a:off x="561" y="2016"/>
              <a:ext cx="255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A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1602" name="直接连接符 21601"/>
            <p:cNvSpPr/>
            <p:nvPr/>
          </p:nvSpPr>
          <p:spPr>
            <a:xfrm>
              <a:off x="672" y="1776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21604" name="组合 21603"/>
          <p:cNvGrpSpPr/>
          <p:nvPr/>
        </p:nvGrpSpPr>
        <p:grpSpPr>
          <a:xfrm>
            <a:off x="1652588" y="2819400"/>
            <a:ext cx="387350" cy="838200"/>
            <a:chOff x="561" y="1776"/>
            <a:chExt cx="244" cy="528"/>
          </a:xfrm>
        </p:grpSpPr>
        <p:sp>
          <p:nvSpPr>
            <p:cNvPr id="21605" name="文本框 21604"/>
            <p:cNvSpPr txBox="1"/>
            <p:nvPr/>
          </p:nvSpPr>
          <p:spPr>
            <a:xfrm>
              <a:off x="561" y="2016"/>
              <a:ext cx="24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B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1606" name="直接连接符 21605"/>
            <p:cNvSpPr/>
            <p:nvPr/>
          </p:nvSpPr>
          <p:spPr>
            <a:xfrm>
              <a:off x="672" y="1776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21607" name="组合 21606"/>
          <p:cNvGrpSpPr/>
          <p:nvPr/>
        </p:nvGrpSpPr>
        <p:grpSpPr>
          <a:xfrm>
            <a:off x="2414588" y="2819400"/>
            <a:ext cx="404812" cy="838200"/>
            <a:chOff x="561" y="1776"/>
            <a:chExt cx="255" cy="528"/>
          </a:xfrm>
        </p:grpSpPr>
        <p:sp>
          <p:nvSpPr>
            <p:cNvPr id="21608" name="文本框 21607"/>
            <p:cNvSpPr txBox="1"/>
            <p:nvPr/>
          </p:nvSpPr>
          <p:spPr>
            <a:xfrm>
              <a:off x="561" y="2016"/>
              <a:ext cx="255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C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1609" name="直接连接符 21608"/>
            <p:cNvSpPr/>
            <p:nvPr/>
          </p:nvSpPr>
          <p:spPr>
            <a:xfrm>
              <a:off x="672" y="1776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21611" name="文本框 21610"/>
          <p:cNvSpPr txBox="1"/>
          <p:nvPr/>
        </p:nvSpPr>
        <p:spPr>
          <a:xfrm>
            <a:off x="669925" y="3505200"/>
            <a:ext cx="32194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Q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Q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r>
              <a:rPr lang="en-US" altLang="zh-CN">
                <a:latin typeface="Times New Roman" panose="02020603050405020304" pitchFamily="18" charset="0"/>
              </a:rPr>
              <a:t>--</a:t>
            </a:r>
            <a:r>
              <a:rPr lang="zh-CN" altLang="en-US" dirty="0">
                <a:latin typeface="Times New Roman" panose="02020603050405020304" pitchFamily="18" charset="0"/>
              </a:rPr>
              <a:t>两个触发器状态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21612" name="组合 21611"/>
          <p:cNvGrpSpPr/>
          <p:nvPr/>
        </p:nvGrpSpPr>
        <p:grpSpPr>
          <a:xfrm>
            <a:off x="609600" y="3997325"/>
            <a:ext cx="3733800" cy="2251075"/>
            <a:chOff x="3072" y="2112"/>
            <a:chExt cx="2352" cy="1824"/>
          </a:xfrm>
        </p:grpSpPr>
        <p:sp>
          <p:nvSpPr>
            <p:cNvPr id="21613" name="矩形 21612"/>
            <p:cNvSpPr/>
            <p:nvPr/>
          </p:nvSpPr>
          <p:spPr>
            <a:xfrm>
              <a:off x="3072" y="2112"/>
              <a:ext cx="2352" cy="182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614" name="直接连接符 21613"/>
            <p:cNvSpPr/>
            <p:nvPr/>
          </p:nvSpPr>
          <p:spPr>
            <a:xfrm>
              <a:off x="3072" y="2640"/>
              <a:ext cx="235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615" name="直接连接符 21614"/>
            <p:cNvSpPr/>
            <p:nvPr/>
          </p:nvSpPr>
          <p:spPr>
            <a:xfrm>
              <a:off x="4080" y="2112"/>
              <a:ext cx="0" cy="182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616" name="直接连接符 21615"/>
            <p:cNvSpPr/>
            <p:nvPr/>
          </p:nvSpPr>
          <p:spPr>
            <a:xfrm>
              <a:off x="3072" y="2112"/>
              <a:ext cx="1008" cy="52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1617" name="文本框 21616"/>
          <p:cNvSpPr txBox="1"/>
          <p:nvPr/>
        </p:nvSpPr>
        <p:spPr>
          <a:xfrm>
            <a:off x="1508125" y="3962400"/>
            <a:ext cx="404813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X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1619" name="文本框 21618"/>
          <p:cNvSpPr txBox="1"/>
          <p:nvPr/>
        </p:nvSpPr>
        <p:spPr>
          <a:xfrm>
            <a:off x="533400" y="4225925"/>
            <a:ext cx="10858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Q</a:t>
            </a:r>
            <a:r>
              <a:rPr lang="en-US" altLang="zh-CN" baseline="-25000">
                <a:latin typeface="Times New Roman" panose="02020603050405020304" pitchFamily="18" charset="0"/>
              </a:rPr>
              <a:t>1n</a:t>
            </a:r>
            <a:r>
              <a:rPr lang="en-US" altLang="zh-CN">
                <a:latin typeface="Times New Roman" panose="02020603050405020304" pitchFamily="18" charset="0"/>
              </a:rPr>
              <a:t>Q</a:t>
            </a:r>
            <a:r>
              <a:rPr lang="en-US" altLang="zh-CN" baseline="-25000">
                <a:latin typeface="Times New Roman" panose="02020603050405020304" pitchFamily="18" charset="0"/>
              </a:rPr>
              <a:t>0n</a:t>
            </a:r>
            <a:endParaRPr lang="en-US" altLang="zh-CN" baseline="-25000">
              <a:latin typeface="Times New Roman" panose="02020603050405020304" pitchFamily="18" charset="0"/>
            </a:endParaRPr>
          </a:p>
        </p:txBody>
      </p:sp>
      <p:sp>
        <p:nvSpPr>
          <p:cNvPr id="21620" name="文本框 21619"/>
          <p:cNvSpPr txBox="1"/>
          <p:nvPr/>
        </p:nvSpPr>
        <p:spPr>
          <a:xfrm>
            <a:off x="2343150" y="6248400"/>
            <a:ext cx="19208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Q</a:t>
            </a:r>
            <a:r>
              <a:rPr lang="en-US" altLang="zh-CN" baseline="-25000">
                <a:latin typeface="Times New Roman" panose="02020603050405020304" pitchFamily="18" charset="0"/>
              </a:rPr>
              <a:t>1n+1</a:t>
            </a:r>
            <a:r>
              <a:rPr lang="en-US" altLang="zh-CN">
                <a:latin typeface="Times New Roman" panose="02020603050405020304" pitchFamily="18" charset="0"/>
              </a:rPr>
              <a:t>Q</a:t>
            </a:r>
            <a:r>
              <a:rPr lang="en-US" altLang="zh-CN" baseline="-25000">
                <a:latin typeface="Times New Roman" panose="02020603050405020304" pitchFamily="18" charset="0"/>
              </a:rPr>
              <a:t>0n+1</a:t>
            </a:r>
            <a:r>
              <a:rPr lang="en-US" altLang="zh-CN">
                <a:latin typeface="Times New Roman" panose="02020603050405020304" pitchFamily="18" charset="0"/>
              </a:rPr>
              <a:t>/Z</a:t>
            </a:r>
            <a:r>
              <a:rPr lang="en-US" altLang="zh-CN" baseline="-25000">
                <a:latin typeface="Times New Roman" panose="02020603050405020304" pitchFamily="18" charset="0"/>
              </a:rPr>
              <a:t>n</a:t>
            </a:r>
            <a:endParaRPr lang="en-US" altLang="zh-CN" baseline="-25000">
              <a:latin typeface="Times New Roman" panose="02020603050405020304" pitchFamily="18" charset="0"/>
            </a:endParaRPr>
          </a:p>
        </p:txBody>
      </p:sp>
      <p:sp>
        <p:nvSpPr>
          <p:cNvPr id="21621" name="文本框 21620"/>
          <p:cNvSpPr txBox="1"/>
          <p:nvPr/>
        </p:nvSpPr>
        <p:spPr>
          <a:xfrm>
            <a:off x="669925" y="4724400"/>
            <a:ext cx="717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0   0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1622" name="文本框 21621"/>
          <p:cNvSpPr txBox="1"/>
          <p:nvPr/>
        </p:nvSpPr>
        <p:spPr>
          <a:xfrm>
            <a:off x="2498725" y="4079875"/>
            <a:ext cx="1479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0             1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1623" name="文本框 21622"/>
          <p:cNvSpPr txBox="1"/>
          <p:nvPr/>
        </p:nvSpPr>
        <p:spPr>
          <a:xfrm>
            <a:off x="685800" y="5181600"/>
            <a:ext cx="717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0   1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1624" name="文本框 21623"/>
          <p:cNvSpPr txBox="1"/>
          <p:nvPr/>
        </p:nvSpPr>
        <p:spPr>
          <a:xfrm>
            <a:off x="685800" y="5638800"/>
            <a:ext cx="717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1   0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1625" name="文本框 21624"/>
          <p:cNvSpPr txBox="1"/>
          <p:nvPr/>
        </p:nvSpPr>
        <p:spPr>
          <a:xfrm>
            <a:off x="2346325" y="4689475"/>
            <a:ext cx="725488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01/0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1626" name="文本框 21625"/>
          <p:cNvSpPr txBox="1"/>
          <p:nvPr/>
        </p:nvSpPr>
        <p:spPr>
          <a:xfrm>
            <a:off x="3489325" y="4724400"/>
            <a:ext cx="725488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00/0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1627" name="文本框 21626"/>
          <p:cNvSpPr txBox="1"/>
          <p:nvPr/>
        </p:nvSpPr>
        <p:spPr>
          <a:xfrm>
            <a:off x="2322513" y="5181600"/>
            <a:ext cx="725487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01/0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1628" name="文本框 21627"/>
          <p:cNvSpPr txBox="1"/>
          <p:nvPr/>
        </p:nvSpPr>
        <p:spPr>
          <a:xfrm>
            <a:off x="3505200" y="5181600"/>
            <a:ext cx="725488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10/0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1629" name="文本框 21628"/>
          <p:cNvSpPr txBox="1"/>
          <p:nvPr/>
        </p:nvSpPr>
        <p:spPr>
          <a:xfrm>
            <a:off x="2322513" y="5638800"/>
            <a:ext cx="725487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01/0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1630" name="文本框 21629"/>
          <p:cNvSpPr txBox="1"/>
          <p:nvPr/>
        </p:nvSpPr>
        <p:spPr>
          <a:xfrm>
            <a:off x="3541713" y="5638800"/>
            <a:ext cx="725487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00/1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1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1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1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1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1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1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1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16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16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1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1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2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21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21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1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1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1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1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21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21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21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21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/>
      <p:bldP spid="21533" grpId="0"/>
      <p:bldP spid="21591" grpId="0"/>
      <p:bldP spid="21611" grpId="0"/>
      <p:bldP spid="21617" grpId="0"/>
      <p:bldP spid="21619" grpId="0"/>
      <p:bldP spid="21620" grpId="0"/>
      <p:bldP spid="21621" grpId="0"/>
      <p:bldP spid="21622" grpId="0"/>
      <p:bldP spid="21623" grpId="0"/>
      <p:bldP spid="21624" grpId="0"/>
      <p:bldP spid="21625" grpId="0"/>
      <p:bldP spid="21626" grpId="0"/>
      <p:bldP spid="21627" grpId="0"/>
      <p:bldP spid="21628" grpId="0"/>
      <p:bldP spid="21629" grpId="0"/>
      <p:bldP spid="2163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矩形 22529"/>
          <p:cNvSpPr/>
          <p:nvPr/>
        </p:nvSpPr>
        <p:spPr>
          <a:xfrm>
            <a:off x="152400" y="152400"/>
            <a:ext cx="3581400" cy="5334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9525">
            <a:noFill/>
          </a:ln>
          <a:effectLst>
            <a:outerShdw dist="107763" dir="18900000" algn="ctr" rotWithShape="0">
              <a:srgbClr val="808080"/>
            </a:outerShdw>
          </a:effectLst>
        </p:spPr>
        <p:txBody>
          <a:bodyPr anchor="ctr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 algn="l"/>
            <a:r>
              <a:rPr lang="zh-CN" altLang="en-US" sz="3200" b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同步时序电路设计</a:t>
            </a:r>
            <a:endParaRPr lang="zh-CN" altLang="en-US" sz="7200" b="1">
              <a:effectLst>
                <a:outerShdw blurRad="38100" dist="38100" dir="2700000">
                  <a:srgbClr val="FFFFFF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2531" name="文本框 22530"/>
          <p:cNvSpPr txBox="1"/>
          <p:nvPr/>
        </p:nvSpPr>
        <p:spPr>
          <a:xfrm>
            <a:off x="441325" y="879475"/>
            <a:ext cx="83439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</a:rPr>
              <a:t>、确定触发器类型，编写状态表，求控制函数及输出函数。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2532" name="文本框 22531"/>
          <p:cNvSpPr txBox="1"/>
          <p:nvPr/>
        </p:nvSpPr>
        <p:spPr>
          <a:xfrm>
            <a:off x="593725" y="1447800"/>
            <a:ext cx="2401888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</a:rPr>
              <a:t>触发器类型：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2533" name="文本框 22532"/>
          <p:cNvSpPr txBox="1"/>
          <p:nvPr/>
        </p:nvSpPr>
        <p:spPr>
          <a:xfrm>
            <a:off x="3032125" y="1447800"/>
            <a:ext cx="16192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zh-CN" altLang="en-US">
                <a:latin typeface="Times New Roman" panose="02020603050405020304" pitchFamily="18" charset="0"/>
              </a:rPr>
              <a:t>选</a:t>
            </a:r>
            <a:r>
              <a:rPr lang="en-US" altLang="zh-CN">
                <a:latin typeface="Times New Roman" panose="02020603050405020304" pitchFamily="18" charset="0"/>
              </a:rPr>
              <a:t>T</a:t>
            </a:r>
            <a:r>
              <a:rPr lang="zh-CN" altLang="en-US" dirty="0">
                <a:latin typeface="Times New Roman" panose="02020603050405020304" pitchFamily="18" charset="0"/>
              </a:rPr>
              <a:t>触发器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2534" name="文本框 22533"/>
          <p:cNvSpPr txBox="1"/>
          <p:nvPr/>
        </p:nvSpPr>
        <p:spPr>
          <a:xfrm>
            <a:off x="609600" y="1905000"/>
            <a:ext cx="2325688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  </a:t>
            </a:r>
            <a:r>
              <a:rPr lang="zh-CN" altLang="en-US" dirty="0">
                <a:latin typeface="Times New Roman" panose="02020603050405020304" pitchFamily="18" charset="0"/>
              </a:rPr>
              <a:t>编写状态表：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22544" name="组合 22543"/>
          <p:cNvGrpSpPr/>
          <p:nvPr/>
        </p:nvGrpSpPr>
        <p:grpSpPr>
          <a:xfrm>
            <a:off x="3429000" y="2154238"/>
            <a:ext cx="876300" cy="893762"/>
            <a:chOff x="1488" y="1165"/>
            <a:chExt cx="638" cy="563"/>
          </a:xfrm>
        </p:grpSpPr>
        <p:sp>
          <p:nvSpPr>
            <p:cNvPr id="22545" name="文本框 22544"/>
            <p:cNvSpPr txBox="1"/>
            <p:nvPr/>
          </p:nvSpPr>
          <p:spPr>
            <a:xfrm>
              <a:off x="1488" y="1165"/>
              <a:ext cx="63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现 入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2546" name="文本框 22545"/>
            <p:cNvSpPr txBox="1"/>
            <p:nvPr/>
          </p:nvSpPr>
          <p:spPr>
            <a:xfrm>
              <a:off x="1631" y="1440"/>
              <a:ext cx="37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 err="1">
                  <a:latin typeface="Times New Roman" panose="02020603050405020304" pitchFamily="18" charset="0"/>
                </a:rPr>
                <a:t>X</a:t>
              </a:r>
              <a:r>
                <a:rPr lang="en-US" altLang="zh-CN" baseline="-25000" err="1">
                  <a:latin typeface="Times New Roman" panose="02020603050405020304" pitchFamily="18" charset="0"/>
                </a:rPr>
                <a:t>n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2547" name="组合 22546"/>
          <p:cNvGrpSpPr/>
          <p:nvPr/>
        </p:nvGrpSpPr>
        <p:grpSpPr>
          <a:xfrm>
            <a:off x="4286250" y="2154238"/>
            <a:ext cx="1238250" cy="893762"/>
            <a:chOff x="2112" y="1165"/>
            <a:chExt cx="902" cy="563"/>
          </a:xfrm>
        </p:grpSpPr>
        <p:sp>
          <p:nvSpPr>
            <p:cNvPr id="22548" name="文本框 22547"/>
            <p:cNvSpPr txBox="1"/>
            <p:nvPr/>
          </p:nvSpPr>
          <p:spPr>
            <a:xfrm>
              <a:off x="2208" y="1165"/>
              <a:ext cx="63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现 态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2549" name="文本框 22548"/>
            <p:cNvSpPr txBox="1"/>
            <p:nvPr/>
          </p:nvSpPr>
          <p:spPr>
            <a:xfrm>
              <a:off x="2112" y="1440"/>
              <a:ext cx="90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Q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1n</a:t>
              </a:r>
              <a:r>
                <a:rPr lang="en-US" altLang="zh-CN">
                  <a:latin typeface="Times New Roman" panose="02020603050405020304" pitchFamily="18" charset="0"/>
                </a:rPr>
                <a:t>  Q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0n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2550" name="组合 22549"/>
          <p:cNvGrpSpPr/>
          <p:nvPr/>
        </p:nvGrpSpPr>
        <p:grpSpPr>
          <a:xfrm>
            <a:off x="6584950" y="2133600"/>
            <a:ext cx="1416050" cy="914400"/>
            <a:chOff x="2929" y="1152"/>
            <a:chExt cx="1031" cy="576"/>
          </a:xfrm>
        </p:grpSpPr>
        <p:sp>
          <p:nvSpPr>
            <p:cNvPr id="22551" name="文本框 22550"/>
            <p:cNvSpPr txBox="1"/>
            <p:nvPr/>
          </p:nvSpPr>
          <p:spPr>
            <a:xfrm>
              <a:off x="2929" y="1152"/>
              <a:ext cx="103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现控制入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2552" name="文本框 22551"/>
            <p:cNvSpPr txBox="1"/>
            <p:nvPr/>
          </p:nvSpPr>
          <p:spPr>
            <a:xfrm>
              <a:off x="2976" y="1440"/>
              <a:ext cx="8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T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>
                  <a:latin typeface="Times New Roman" panose="02020603050405020304" pitchFamily="18" charset="0"/>
                </a:rPr>
                <a:t>    T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2553" name="组合 22552"/>
          <p:cNvGrpSpPr/>
          <p:nvPr/>
        </p:nvGrpSpPr>
        <p:grpSpPr>
          <a:xfrm>
            <a:off x="5257800" y="2133600"/>
            <a:ext cx="1520825" cy="893763"/>
            <a:chOff x="3842" y="1165"/>
            <a:chExt cx="1108" cy="563"/>
          </a:xfrm>
        </p:grpSpPr>
        <p:sp>
          <p:nvSpPr>
            <p:cNvPr id="22554" name="文本框 22553"/>
            <p:cNvSpPr txBox="1"/>
            <p:nvPr/>
          </p:nvSpPr>
          <p:spPr>
            <a:xfrm>
              <a:off x="3987" y="1165"/>
              <a:ext cx="69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次  态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2555" name="文本框 22554"/>
            <p:cNvSpPr txBox="1"/>
            <p:nvPr/>
          </p:nvSpPr>
          <p:spPr>
            <a:xfrm>
              <a:off x="3842" y="1440"/>
              <a:ext cx="11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Q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1n+1</a:t>
              </a:r>
              <a:r>
                <a:rPr lang="en-US" altLang="zh-CN">
                  <a:latin typeface="Times New Roman" panose="02020603050405020304" pitchFamily="18" charset="0"/>
                </a:rPr>
                <a:t>Q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0n+1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2556" name="组合 22555"/>
          <p:cNvGrpSpPr/>
          <p:nvPr/>
        </p:nvGrpSpPr>
        <p:grpSpPr>
          <a:xfrm>
            <a:off x="7924800" y="2133600"/>
            <a:ext cx="1108075" cy="914400"/>
            <a:chOff x="4803" y="1152"/>
            <a:chExt cx="807" cy="576"/>
          </a:xfrm>
        </p:grpSpPr>
        <p:sp>
          <p:nvSpPr>
            <p:cNvPr id="22557" name="文本框 22556"/>
            <p:cNvSpPr txBox="1"/>
            <p:nvPr/>
          </p:nvSpPr>
          <p:spPr>
            <a:xfrm>
              <a:off x="4803" y="1152"/>
              <a:ext cx="80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现输出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2558" name="文本框 22557"/>
            <p:cNvSpPr txBox="1"/>
            <p:nvPr/>
          </p:nvSpPr>
          <p:spPr>
            <a:xfrm>
              <a:off x="4991" y="1440"/>
              <a:ext cx="3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Z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n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2607" name="组合 22606"/>
          <p:cNvGrpSpPr/>
          <p:nvPr/>
        </p:nvGrpSpPr>
        <p:grpSpPr>
          <a:xfrm>
            <a:off x="3625850" y="2971800"/>
            <a:ext cx="336550" cy="1219200"/>
            <a:chOff x="528" y="1920"/>
            <a:chExt cx="212" cy="768"/>
          </a:xfrm>
        </p:grpSpPr>
        <p:sp>
          <p:nvSpPr>
            <p:cNvPr id="22563" name="文本框 22562"/>
            <p:cNvSpPr txBox="1"/>
            <p:nvPr/>
          </p:nvSpPr>
          <p:spPr>
            <a:xfrm>
              <a:off x="528" y="192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2564" name="文本框 22563"/>
            <p:cNvSpPr txBox="1"/>
            <p:nvPr/>
          </p:nvSpPr>
          <p:spPr>
            <a:xfrm>
              <a:off x="528" y="216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2565" name="文本框 22564"/>
            <p:cNvSpPr txBox="1"/>
            <p:nvPr/>
          </p:nvSpPr>
          <p:spPr>
            <a:xfrm>
              <a:off x="528" y="240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2640" name="组合 22639"/>
          <p:cNvGrpSpPr/>
          <p:nvPr/>
        </p:nvGrpSpPr>
        <p:grpSpPr>
          <a:xfrm>
            <a:off x="4343400" y="3048000"/>
            <a:ext cx="946150" cy="1143000"/>
            <a:chOff x="2736" y="1920"/>
            <a:chExt cx="596" cy="720"/>
          </a:xfrm>
        </p:grpSpPr>
        <p:sp>
          <p:nvSpPr>
            <p:cNvPr id="22560" name="文本框 22559"/>
            <p:cNvSpPr txBox="1"/>
            <p:nvPr/>
          </p:nvSpPr>
          <p:spPr>
            <a:xfrm>
              <a:off x="2736" y="1920"/>
              <a:ext cx="5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0      0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2561" name="文本框 22560"/>
            <p:cNvSpPr txBox="1"/>
            <p:nvPr/>
          </p:nvSpPr>
          <p:spPr>
            <a:xfrm>
              <a:off x="2736" y="2112"/>
              <a:ext cx="5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0      1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2567" name="文本框 22566"/>
            <p:cNvSpPr txBox="1"/>
            <p:nvPr/>
          </p:nvSpPr>
          <p:spPr>
            <a:xfrm>
              <a:off x="2736" y="2352"/>
              <a:ext cx="5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1      0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2639" name="组合 22638"/>
          <p:cNvGrpSpPr/>
          <p:nvPr/>
        </p:nvGrpSpPr>
        <p:grpSpPr>
          <a:xfrm>
            <a:off x="3625850" y="4114800"/>
            <a:ext cx="338138" cy="1295400"/>
            <a:chOff x="2284" y="2592"/>
            <a:chExt cx="213" cy="816"/>
          </a:xfrm>
        </p:grpSpPr>
        <p:sp>
          <p:nvSpPr>
            <p:cNvPr id="22570" name="文本框 22569"/>
            <p:cNvSpPr txBox="1"/>
            <p:nvPr/>
          </p:nvSpPr>
          <p:spPr>
            <a:xfrm>
              <a:off x="2284" y="259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2571" name="文本框 22570"/>
            <p:cNvSpPr txBox="1"/>
            <p:nvPr/>
          </p:nvSpPr>
          <p:spPr>
            <a:xfrm>
              <a:off x="2285" y="283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2572" name="文本框 22571"/>
            <p:cNvSpPr txBox="1"/>
            <p:nvPr/>
          </p:nvSpPr>
          <p:spPr>
            <a:xfrm>
              <a:off x="2285" y="312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sp>
        <p:nvSpPr>
          <p:cNvPr id="22574" name="文本框 22573"/>
          <p:cNvSpPr txBox="1"/>
          <p:nvPr/>
        </p:nvSpPr>
        <p:spPr>
          <a:xfrm>
            <a:off x="4352925" y="4114800"/>
            <a:ext cx="946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0      0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2575" name="文本框 22574"/>
          <p:cNvSpPr txBox="1"/>
          <p:nvPr/>
        </p:nvSpPr>
        <p:spPr>
          <a:xfrm>
            <a:off x="4352925" y="4572000"/>
            <a:ext cx="946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0      1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2576" name="文本框 22575"/>
          <p:cNvSpPr txBox="1"/>
          <p:nvPr/>
        </p:nvSpPr>
        <p:spPr>
          <a:xfrm>
            <a:off x="4352925" y="4953000"/>
            <a:ext cx="946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1      0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2582" name="文本框 22581"/>
          <p:cNvSpPr txBox="1"/>
          <p:nvPr/>
        </p:nvSpPr>
        <p:spPr>
          <a:xfrm>
            <a:off x="8280400" y="45720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22642" name="组合 22641"/>
          <p:cNvGrpSpPr/>
          <p:nvPr/>
        </p:nvGrpSpPr>
        <p:grpSpPr>
          <a:xfrm>
            <a:off x="8305800" y="3048000"/>
            <a:ext cx="304800" cy="1219200"/>
            <a:chOff x="5232" y="1920"/>
            <a:chExt cx="192" cy="768"/>
          </a:xfrm>
        </p:grpSpPr>
        <p:sp>
          <p:nvSpPr>
            <p:cNvPr id="22579" name="文本框 22578"/>
            <p:cNvSpPr txBox="1"/>
            <p:nvPr/>
          </p:nvSpPr>
          <p:spPr>
            <a:xfrm>
              <a:off x="5232" y="1920"/>
              <a:ext cx="19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2586" name="文本框 22585"/>
            <p:cNvSpPr txBox="1"/>
            <p:nvPr/>
          </p:nvSpPr>
          <p:spPr>
            <a:xfrm>
              <a:off x="5232" y="2160"/>
              <a:ext cx="19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2590" name="文本框 22589"/>
            <p:cNvSpPr txBox="1"/>
            <p:nvPr/>
          </p:nvSpPr>
          <p:spPr>
            <a:xfrm>
              <a:off x="5233" y="2400"/>
              <a:ext cx="19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sp>
        <p:nvSpPr>
          <p:cNvPr id="22594" name="文本框 22593"/>
          <p:cNvSpPr txBox="1"/>
          <p:nvPr/>
        </p:nvSpPr>
        <p:spPr>
          <a:xfrm>
            <a:off x="8307388" y="41910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2598" name="文本框 22597"/>
          <p:cNvSpPr txBox="1"/>
          <p:nvPr/>
        </p:nvSpPr>
        <p:spPr>
          <a:xfrm>
            <a:off x="8307388" y="49530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2608" name="文本框 22607"/>
          <p:cNvSpPr txBox="1"/>
          <p:nvPr/>
        </p:nvSpPr>
        <p:spPr>
          <a:xfrm>
            <a:off x="5530850" y="4114800"/>
            <a:ext cx="1022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0       0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2610" name="文本框 22609"/>
          <p:cNvSpPr txBox="1"/>
          <p:nvPr/>
        </p:nvSpPr>
        <p:spPr>
          <a:xfrm>
            <a:off x="5562600" y="4953000"/>
            <a:ext cx="946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en-US" altLang="zh-CN">
                <a:latin typeface="Times New Roman" panose="02020603050405020304" pitchFamily="18" charset="0"/>
              </a:rPr>
              <a:t>0      0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2613" name="文本框 22612"/>
          <p:cNvSpPr txBox="1"/>
          <p:nvPr/>
        </p:nvSpPr>
        <p:spPr>
          <a:xfrm>
            <a:off x="5513388" y="4572000"/>
            <a:ext cx="111601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/>
            <a:r>
              <a:rPr lang="en-US" altLang="zh-CN">
                <a:latin typeface="Times New Roman" panose="02020603050405020304" pitchFamily="18" charset="0"/>
              </a:rPr>
              <a:t>1       0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22641" name="组合 22640"/>
          <p:cNvGrpSpPr/>
          <p:nvPr/>
        </p:nvGrpSpPr>
        <p:grpSpPr>
          <a:xfrm>
            <a:off x="5530850" y="3048000"/>
            <a:ext cx="1022350" cy="1143000"/>
            <a:chOff x="3484" y="1920"/>
            <a:chExt cx="644" cy="720"/>
          </a:xfrm>
        </p:grpSpPr>
        <p:sp>
          <p:nvSpPr>
            <p:cNvPr id="22609" name="文本框 22608"/>
            <p:cNvSpPr txBox="1"/>
            <p:nvPr/>
          </p:nvSpPr>
          <p:spPr>
            <a:xfrm>
              <a:off x="3484" y="1920"/>
              <a:ext cx="6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0       1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2616" name="文本框 22615"/>
            <p:cNvSpPr txBox="1"/>
            <p:nvPr/>
          </p:nvSpPr>
          <p:spPr>
            <a:xfrm>
              <a:off x="3484" y="2112"/>
              <a:ext cx="6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0       1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2617" name="文本框 22616"/>
            <p:cNvSpPr txBox="1"/>
            <p:nvPr/>
          </p:nvSpPr>
          <p:spPr>
            <a:xfrm>
              <a:off x="3484" y="2352"/>
              <a:ext cx="6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0       1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sp>
        <p:nvSpPr>
          <p:cNvPr id="22624" name="文本框 22623"/>
          <p:cNvSpPr txBox="1"/>
          <p:nvPr/>
        </p:nvSpPr>
        <p:spPr>
          <a:xfrm>
            <a:off x="6765925" y="3013075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2625" name="文本框 22624"/>
          <p:cNvSpPr txBox="1"/>
          <p:nvPr/>
        </p:nvSpPr>
        <p:spPr>
          <a:xfrm>
            <a:off x="7375525" y="3013075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2626" name="文本框 22625"/>
          <p:cNvSpPr txBox="1"/>
          <p:nvPr/>
        </p:nvSpPr>
        <p:spPr>
          <a:xfrm>
            <a:off x="6750050" y="33528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2627" name="文本框 22626"/>
          <p:cNvSpPr txBox="1"/>
          <p:nvPr/>
        </p:nvSpPr>
        <p:spPr>
          <a:xfrm>
            <a:off x="7375525" y="33528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22659" name="组合 22658"/>
          <p:cNvGrpSpPr/>
          <p:nvPr/>
        </p:nvGrpSpPr>
        <p:grpSpPr>
          <a:xfrm>
            <a:off x="6750050" y="3698875"/>
            <a:ext cx="1327150" cy="2549525"/>
            <a:chOff x="4252" y="2330"/>
            <a:chExt cx="836" cy="1606"/>
          </a:xfrm>
        </p:grpSpPr>
        <p:sp>
          <p:nvSpPr>
            <p:cNvPr id="22592" name="文本框 22591"/>
            <p:cNvSpPr txBox="1"/>
            <p:nvPr/>
          </p:nvSpPr>
          <p:spPr>
            <a:xfrm>
              <a:off x="4272" y="2880"/>
              <a:ext cx="8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/>
              <a:r>
                <a:rPr lang="en-US" altLang="zh-CN">
                  <a:latin typeface="Times New Roman" panose="02020603050405020304" pitchFamily="18" charset="0"/>
                </a:rPr>
                <a:t>1      1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grpSp>
          <p:nvGrpSpPr>
            <p:cNvPr id="22658" name="组合 22657"/>
            <p:cNvGrpSpPr/>
            <p:nvPr/>
          </p:nvGrpSpPr>
          <p:grpSpPr>
            <a:xfrm>
              <a:off x="4252" y="2330"/>
              <a:ext cx="836" cy="1606"/>
              <a:chOff x="4252" y="2330"/>
              <a:chExt cx="836" cy="1606"/>
            </a:xfrm>
          </p:grpSpPr>
          <p:sp>
            <p:nvSpPr>
              <p:cNvPr id="22631" name="文本框 22630"/>
              <p:cNvSpPr txBox="1"/>
              <p:nvPr/>
            </p:nvSpPr>
            <p:spPr>
              <a:xfrm>
                <a:off x="4272" y="3648"/>
                <a:ext cx="81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l"/>
                <a:endParaRPr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2656" name="组合 22655"/>
              <p:cNvGrpSpPr/>
              <p:nvPr/>
            </p:nvGrpSpPr>
            <p:grpSpPr>
              <a:xfrm>
                <a:off x="4252" y="2330"/>
                <a:ext cx="616" cy="1401"/>
                <a:chOff x="4252" y="2330"/>
                <a:chExt cx="616" cy="1401"/>
              </a:xfrm>
            </p:grpSpPr>
            <p:sp>
              <p:nvSpPr>
                <p:cNvPr id="22580" name="文本框 22579"/>
                <p:cNvSpPr txBox="1"/>
                <p:nvPr/>
              </p:nvSpPr>
              <p:spPr>
                <a:xfrm>
                  <a:off x="4272" y="2592"/>
                  <a:ext cx="596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 algn="l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0      0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2588" name="文本框 22587"/>
                <p:cNvSpPr txBox="1"/>
                <p:nvPr/>
              </p:nvSpPr>
              <p:spPr>
                <a:xfrm>
                  <a:off x="4272" y="3120"/>
                  <a:ext cx="596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 algn="l"/>
                  <a:r>
                    <a:rPr lang="en-US" altLang="zh-CN">
                      <a:latin typeface="Times New Roman" panose="02020603050405020304" pitchFamily="18" charset="0"/>
                    </a:rPr>
                    <a:t>1      0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2628" name="文本框 22627"/>
                <p:cNvSpPr txBox="1"/>
                <p:nvPr/>
              </p:nvSpPr>
              <p:spPr>
                <a:xfrm>
                  <a:off x="4262" y="2330"/>
                  <a:ext cx="212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t" anchorCtr="0">
                  <a:spAutoFit/>
                </a:bodyPr>
                <a:p>
                  <a:pPr algn="l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1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2630" name="文本框 22629"/>
                <p:cNvSpPr txBox="1"/>
                <p:nvPr/>
              </p:nvSpPr>
              <p:spPr>
                <a:xfrm>
                  <a:off x="4646" y="2330"/>
                  <a:ext cx="212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t" anchorCtr="0">
                  <a:spAutoFit/>
                </a:bodyPr>
                <a:p>
                  <a:pPr algn="l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1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2632" name="文本框 22631"/>
                <p:cNvSpPr txBox="1"/>
                <p:nvPr/>
              </p:nvSpPr>
              <p:spPr>
                <a:xfrm>
                  <a:off x="4252" y="3443"/>
                  <a:ext cx="116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 algn="l"/>
                  <a:endParaRPr dirty="0">
                    <a:latin typeface="Times New Roman" panose="02020603050405020304" pitchFamily="18" charset="0"/>
                  </a:endParaRPr>
                </a:p>
              </p:txBody>
            </p:sp>
          </p:grpSp>
        </p:grpSp>
      </p:grpSp>
      <p:sp>
        <p:nvSpPr>
          <p:cNvPr id="22633" name="文本框 22632"/>
          <p:cNvSpPr txBox="1"/>
          <p:nvPr/>
        </p:nvSpPr>
        <p:spPr>
          <a:xfrm>
            <a:off x="468313" y="2276475"/>
            <a:ext cx="2682875" cy="15525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）填</a:t>
            </a:r>
            <a:r>
              <a:rPr lang="en-US" altLang="zh-CN">
                <a:latin typeface="Times New Roman" panose="02020603050405020304" pitchFamily="18" charset="0"/>
              </a:rPr>
              <a:t>X=0</a:t>
            </a:r>
            <a:r>
              <a:rPr lang="zh-CN" altLang="en-US">
                <a:latin typeface="Times New Roman" panose="02020603050405020304" pitchFamily="18" charset="0"/>
              </a:rPr>
              <a:t>与</a:t>
            </a:r>
            <a:r>
              <a:rPr lang="en-US" altLang="zh-CN">
                <a:latin typeface="Times New Roman" panose="02020603050405020304" pitchFamily="18" charset="0"/>
              </a:rPr>
              <a:t>X=1</a:t>
            </a:r>
            <a:r>
              <a:rPr lang="zh-CN" altLang="en-US" dirty="0">
                <a:latin typeface="Times New Roman" panose="02020603050405020304" pitchFamily="18" charset="0"/>
              </a:rPr>
              <a:t>时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l" eaLnBrk="1" hangingPunct="1"/>
            <a:r>
              <a:rPr lang="zh-CN" altLang="en-US" dirty="0">
                <a:latin typeface="Times New Roman" panose="02020603050405020304" pitchFamily="18" charset="0"/>
              </a:rPr>
              <a:t>电路的现态与次态，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l" eaLnBrk="1" hangingPunct="1"/>
            <a:r>
              <a:rPr lang="zh-CN" altLang="en-US" dirty="0">
                <a:latin typeface="Times New Roman" panose="02020603050405020304" pitchFamily="18" charset="0"/>
              </a:rPr>
              <a:t>及相应的现输出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2634" name="文本框 22633"/>
          <p:cNvSpPr txBox="1"/>
          <p:nvPr/>
        </p:nvSpPr>
        <p:spPr>
          <a:xfrm>
            <a:off x="468313" y="3716338"/>
            <a:ext cx="2682875" cy="82232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）填写相应的Ｔ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、Ｔ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</a:rPr>
              <a:t>的状态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2635" name="文本框 22634"/>
          <p:cNvSpPr txBox="1"/>
          <p:nvPr/>
        </p:nvSpPr>
        <p:spPr>
          <a:xfrm>
            <a:off x="611188" y="4365625"/>
            <a:ext cx="2317750" cy="822325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根据现态与次态</a:t>
            </a:r>
            <a:endParaRPr lang="zh-CN" altLang="en-US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algn="l" eaLnBrk="1" hangingPunct="1"/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决定</a:t>
            </a:r>
            <a:r>
              <a:rPr lang="en-US" altLang="zh-CN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r>
              <a:rPr lang="zh-CN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值</a:t>
            </a:r>
            <a:endParaRPr lang="zh-CN" altLang="en-US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2638" name="组合 22637"/>
          <p:cNvGrpSpPr/>
          <p:nvPr/>
        </p:nvGrpSpPr>
        <p:grpSpPr>
          <a:xfrm>
            <a:off x="1524000" y="3124200"/>
            <a:ext cx="1636713" cy="1066800"/>
            <a:chOff x="960" y="1968"/>
            <a:chExt cx="1031" cy="672"/>
          </a:xfrm>
        </p:grpSpPr>
        <p:sp>
          <p:nvSpPr>
            <p:cNvPr id="22636" name="圆角矩形标注 22635"/>
            <p:cNvSpPr/>
            <p:nvPr/>
          </p:nvSpPr>
          <p:spPr>
            <a:xfrm>
              <a:off x="1008" y="1968"/>
              <a:ext cx="960" cy="672"/>
            </a:xfrm>
            <a:prstGeom prst="wedgeRoundRectCallout">
              <a:avLst>
                <a:gd name="adj1" fmla="val -45310"/>
                <a:gd name="adj2" fmla="val 78569"/>
                <a:gd name="adj3" fmla="val 16667"/>
              </a:avLst>
            </a:prstGeom>
            <a:solidFill>
              <a:srgbClr val="FFCC00"/>
            </a:solidFill>
            <a:ln w="38100">
              <a:noFill/>
            </a:ln>
          </p:spPr>
          <p:txBody>
            <a:bodyPr wrap="none" anchor="ctr" anchorCtr="0"/>
            <a:p>
              <a:pPr algn="ctr" eaLnBrk="1" hangingPunct="1"/>
              <a:endParaRPr dirty="0">
                <a:latin typeface="Times New Roman" panose="02020603050405020304" pitchFamily="18" charset="0"/>
              </a:endParaRPr>
            </a:p>
          </p:txBody>
        </p:sp>
        <p:sp>
          <p:nvSpPr>
            <p:cNvPr id="22637" name="文本框 22636"/>
            <p:cNvSpPr txBox="1"/>
            <p:nvPr/>
          </p:nvSpPr>
          <p:spPr>
            <a:xfrm>
              <a:off x="960" y="2016"/>
              <a:ext cx="1031" cy="518"/>
            </a:xfrm>
            <a:prstGeom prst="rect">
              <a:avLst/>
            </a:prstGeom>
            <a:solidFill>
              <a:srgbClr val="FFCC00"/>
            </a:solidFill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同：</a:t>
              </a:r>
              <a:r>
                <a:rPr lang="en-US" altLang="zh-CN">
                  <a:latin typeface="Times New Roman" panose="02020603050405020304" pitchFamily="18" charset="0"/>
                </a:rPr>
                <a:t>T=0</a:t>
              </a:r>
              <a:endParaRPr lang="en-US" altLang="zh-CN"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不同：</a:t>
              </a:r>
              <a:r>
                <a:rPr lang="en-US" altLang="zh-CN">
                  <a:latin typeface="Times New Roman" panose="02020603050405020304" pitchFamily="18" charset="0"/>
                </a:rPr>
                <a:t>T=1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sp>
        <p:nvSpPr>
          <p:cNvPr id="22643" name="矩形 22642"/>
          <p:cNvSpPr/>
          <p:nvPr/>
        </p:nvSpPr>
        <p:spPr>
          <a:xfrm>
            <a:off x="4343400" y="3124200"/>
            <a:ext cx="304800" cy="304800"/>
          </a:xfrm>
          <a:prstGeom prst="rect">
            <a:avLst/>
          </a:prstGeom>
          <a:noFill/>
          <a:ln w="38100" cap="flat" cmpd="sng">
            <a:solidFill>
              <a:srgbClr val="A5002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2644" name="矩形 22643"/>
          <p:cNvSpPr/>
          <p:nvPr/>
        </p:nvSpPr>
        <p:spPr>
          <a:xfrm>
            <a:off x="5562600" y="3124200"/>
            <a:ext cx="304800" cy="304800"/>
          </a:xfrm>
          <a:prstGeom prst="rect">
            <a:avLst/>
          </a:prstGeom>
          <a:noFill/>
          <a:ln w="38100" cap="flat" cmpd="sng">
            <a:solidFill>
              <a:srgbClr val="A5002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2646" name="矩形 22645"/>
          <p:cNvSpPr/>
          <p:nvPr/>
        </p:nvSpPr>
        <p:spPr>
          <a:xfrm>
            <a:off x="4876800" y="3124200"/>
            <a:ext cx="381000" cy="304800"/>
          </a:xfrm>
          <a:prstGeom prst="rect">
            <a:avLst/>
          </a:prstGeom>
          <a:noFill/>
          <a:ln w="38100" cap="flat" cmpd="sng">
            <a:solidFill>
              <a:srgbClr val="00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2648" name="矩形 22647"/>
          <p:cNvSpPr/>
          <p:nvPr/>
        </p:nvSpPr>
        <p:spPr>
          <a:xfrm>
            <a:off x="6248400" y="3124200"/>
            <a:ext cx="304800" cy="304800"/>
          </a:xfrm>
          <a:prstGeom prst="rect">
            <a:avLst/>
          </a:prstGeom>
          <a:noFill/>
          <a:ln w="38100" cap="flat" cmpd="sng">
            <a:solidFill>
              <a:srgbClr val="00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2650" name="矩形 22649"/>
          <p:cNvSpPr/>
          <p:nvPr/>
        </p:nvSpPr>
        <p:spPr>
          <a:xfrm>
            <a:off x="4343400" y="3429000"/>
            <a:ext cx="304800" cy="304800"/>
          </a:xfrm>
          <a:prstGeom prst="rect">
            <a:avLst/>
          </a:prstGeom>
          <a:noFill/>
          <a:ln w="38100" cap="flat" cmpd="sng">
            <a:solidFill>
              <a:srgbClr val="A5002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2651" name="矩形 22650"/>
          <p:cNvSpPr/>
          <p:nvPr/>
        </p:nvSpPr>
        <p:spPr>
          <a:xfrm>
            <a:off x="5562600" y="3429000"/>
            <a:ext cx="304800" cy="304800"/>
          </a:xfrm>
          <a:prstGeom prst="rect">
            <a:avLst/>
          </a:prstGeom>
          <a:noFill/>
          <a:ln w="38100" cap="flat" cmpd="sng">
            <a:solidFill>
              <a:srgbClr val="A5002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2653" name="矩形 22652"/>
          <p:cNvSpPr/>
          <p:nvPr/>
        </p:nvSpPr>
        <p:spPr>
          <a:xfrm>
            <a:off x="4953000" y="3429000"/>
            <a:ext cx="381000" cy="304800"/>
          </a:xfrm>
          <a:prstGeom prst="rect">
            <a:avLst/>
          </a:prstGeom>
          <a:noFill/>
          <a:ln w="38100" cap="flat" cmpd="sng">
            <a:solidFill>
              <a:srgbClr val="00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2654" name="矩形 22653"/>
          <p:cNvSpPr/>
          <p:nvPr/>
        </p:nvSpPr>
        <p:spPr>
          <a:xfrm>
            <a:off x="6248400" y="3429000"/>
            <a:ext cx="304800" cy="304800"/>
          </a:xfrm>
          <a:prstGeom prst="rect">
            <a:avLst/>
          </a:prstGeom>
          <a:noFill/>
          <a:ln w="38100" cap="flat" cmpd="sng">
            <a:solidFill>
              <a:srgbClr val="00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2660" name="文本框 22659"/>
          <p:cNvSpPr txBox="1"/>
          <p:nvPr/>
        </p:nvSpPr>
        <p:spPr>
          <a:xfrm>
            <a:off x="444500" y="5105400"/>
            <a:ext cx="3003550" cy="822325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）填Ｔ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、Ｔ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</a:rPr>
              <a:t>的卡诺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l" eaLnBrk="1" hangingPunct="1"/>
            <a:r>
              <a:rPr lang="zh-CN" altLang="en-US" dirty="0">
                <a:latin typeface="Times New Roman" panose="02020603050405020304" pitchFamily="18" charset="0"/>
              </a:rPr>
              <a:t>图，求函数的表达式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22662" name="组合 22661"/>
          <p:cNvGrpSpPr/>
          <p:nvPr/>
        </p:nvGrpSpPr>
        <p:grpSpPr>
          <a:xfrm>
            <a:off x="3419475" y="1557338"/>
            <a:ext cx="5486400" cy="4800600"/>
            <a:chOff x="2160" y="960"/>
            <a:chExt cx="3456" cy="3024"/>
          </a:xfrm>
        </p:grpSpPr>
        <p:grpSp>
          <p:nvGrpSpPr>
            <p:cNvPr id="22657" name="组合 22656"/>
            <p:cNvGrpSpPr/>
            <p:nvPr/>
          </p:nvGrpSpPr>
          <p:grpSpPr>
            <a:xfrm>
              <a:off x="2160" y="1296"/>
              <a:ext cx="3456" cy="2688"/>
              <a:chOff x="2160" y="1296"/>
              <a:chExt cx="3456" cy="2688"/>
            </a:xfrm>
          </p:grpSpPr>
          <p:grpSp>
            <p:nvGrpSpPr>
              <p:cNvPr id="22536" name="组合 22535"/>
              <p:cNvGrpSpPr/>
              <p:nvPr/>
            </p:nvGrpSpPr>
            <p:grpSpPr>
              <a:xfrm>
                <a:off x="2160" y="1296"/>
                <a:ext cx="3446" cy="2688"/>
                <a:chOff x="1488" y="1152"/>
                <a:chExt cx="3984" cy="2688"/>
              </a:xfrm>
            </p:grpSpPr>
            <p:sp>
              <p:nvSpPr>
                <p:cNvPr id="22537" name="矩形 22536"/>
                <p:cNvSpPr/>
                <p:nvPr/>
              </p:nvSpPr>
              <p:spPr>
                <a:xfrm>
                  <a:off x="1488" y="1152"/>
                  <a:ext cx="3984" cy="2688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2538" name="直接连接符 22537"/>
                <p:cNvSpPr/>
                <p:nvPr/>
              </p:nvSpPr>
              <p:spPr>
                <a:xfrm>
                  <a:off x="1488" y="1440"/>
                  <a:ext cx="3984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2539" name="直接连接符 22538"/>
                <p:cNvSpPr/>
                <p:nvPr/>
              </p:nvSpPr>
              <p:spPr>
                <a:xfrm>
                  <a:off x="1488" y="1728"/>
                  <a:ext cx="3984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2540" name="直接连接符 22539"/>
                <p:cNvSpPr/>
                <p:nvPr/>
              </p:nvSpPr>
              <p:spPr>
                <a:xfrm>
                  <a:off x="2049" y="1152"/>
                  <a:ext cx="0" cy="268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2541" name="直接连接符 22540"/>
                <p:cNvSpPr/>
                <p:nvPr/>
              </p:nvSpPr>
              <p:spPr>
                <a:xfrm>
                  <a:off x="2891" y="1152"/>
                  <a:ext cx="0" cy="268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2542" name="直接连接符 22541"/>
                <p:cNvSpPr/>
                <p:nvPr/>
              </p:nvSpPr>
              <p:spPr>
                <a:xfrm>
                  <a:off x="3840" y="1152"/>
                  <a:ext cx="0" cy="268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2543" name="直接连接符 22542"/>
                <p:cNvSpPr/>
                <p:nvPr/>
              </p:nvSpPr>
              <p:spPr>
                <a:xfrm>
                  <a:off x="4800" y="1152"/>
                  <a:ext cx="0" cy="268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2618" name="直接连接符 22617"/>
              <p:cNvSpPr/>
              <p:nvPr/>
            </p:nvSpPr>
            <p:spPr>
              <a:xfrm>
                <a:off x="2160" y="3408"/>
                <a:ext cx="345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2661" name="文本框 22660"/>
            <p:cNvSpPr txBox="1"/>
            <p:nvPr/>
          </p:nvSpPr>
          <p:spPr>
            <a:xfrm>
              <a:off x="3451" y="960"/>
              <a:ext cx="1076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zh-CN" altLang="en-US" dirty="0">
                  <a:latin typeface="Times New Roman" panose="02020603050405020304" pitchFamily="18" charset="0"/>
                </a:rPr>
                <a:t>状态转换表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pic>
        <p:nvPicPr>
          <p:cNvPr id="22675" name="图片 22674" descr="wb01508_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0960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676" name="文本框 22675">
            <a:hlinkClick r:id="rId1" action="ppaction://hlinksldjump"/>
          </p:cNvPr>
          <p:cNvSpPr txBox="1"/>
          <p:nvPr/>
        </p:nvSpPr>
        <p:spPr>
          <a:xfrm>
            <a:off x="806450" y="61722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u="sng" dirty="0">
                <a:solidFill>
                  <a:schemeClr val="accent2"/>
                </a:solidFill>
                <a:latin typeface="Times New Roman" panose="02020603050405020304" pitchFamily="18" charset="0"/>
              </a:rPr>
              <a:t>返  回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5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5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5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2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26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2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2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2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226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26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22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22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226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226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22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22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500"/>
                            </p:stCondLst>
                            <p:childTnLst>
                              <p:par>
                                <p:cTn id="156" presetID="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226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22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226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226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22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22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500"/>
                            </p:stCondLst>
                            <p:childTnLst>
                              <p:par>
                                <p:cTn id="173" presetID="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22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22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22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22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22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22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500"/>
                            </p:stCondLst>
                            <p:childTnLst>
                              <p:par>
                                <p:cTn id="190" presetID="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22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22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22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22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22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/>
      <p:bldP spid="22532" grpId="0"/>
      <p:bldP spid="22533" grpId="0"/>
      <p:bldP spid="22534" grpId="0"/>
      <p:bldP spid="22574" grpId="0"/>
      <p:bldP spid="22575" grpId="0"/>
      <p:bldP spid="22576" grpId="0"/>
      <p:bldP spid="22582" grpId="0"/>
      <p:bldP spid="22594" grpId="0"/>
      <p:bldP spid="22598" grpId="0"/>
      <p:bldP spid="22608" grpId="0"/>
      <p:bldP spid="22610" grpId="0"/>
      <p:bldP spid="22613" grpId="0"/>
      <p:bldP spid="22624" grpId="0"/>
      <p:bldP spid="22625" grpId="0"/>
      <p:bldP spid="22626" grpId="0"/>
      <p:bldP spid="22627" grpId="0"/>
      <p:bldP spid="22633" grpId="0"/>
      <p:bldP spid="22634" grpId="0"/>
      <p:bldP spid="22635" grpId="0"/>
      <p:bldP spid="2266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矩形 24577"/>
          <p:cNvSpPr/>
          <p:nvPr/>
        </p:nvSpPr>
        <p:spPr>
          <a:xfrm>
            <a:off x="152400" y="152400"/>
            <a:ext cx="3581400" cy="5334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9525">
            <a:noFill/>
          </a:ln>
          <a:effectLst>
            <a:outerShdw dist="107763" dir="18900000" algn="ctr" rotWithShape="0">
              <a:srgbClr val="808080"/>
            </a:outerShdw>
          </a:effectLst>
        </p:spPr>
        <p:txBody>
          <a:bodyPr anchor="ctr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 algn="l"/>
            <a:r>
              <a:rPr lang="zh-CN" altLang="en-US" sz="3200" b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同步时序电路设计</a:t>
            </a:r>
            <a:endParaRPr lang="zh-CN" altLang="en-US" sz="7200" b="1">
              <a:effectLst>
                <a:outerShdw blurRad="38100" dist="38100" dir="2700000">
                  <a:srgbClr val="FFFFFF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4579" name="文本框 24578"/>
          <p:cNvSpPr txBox="1"/>
          <p:nvPr/>
        </p:nvSpPr>
        <p:spPr>
          <a:xfrm>
            <a:off x="685800" y="3733800"/>
            <a:ext cx="17113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zh-CN" altLang="en-US" dirty="0">
                <a:latin typeface="Times New Roman" panose="02020603050405020304" pitchFamily="18" charset="0"/>
              </a:rPr>
              <a:t>表达式为：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24580" name="对象 24579"/>
          <p:cNvGraphicFramePr/>
          <p:nvPr/>
        </p:nvGraphicFramePr>
        <p:xfrm>
          <a:off x="2597150" y="3251200"/>
          <a:ext cx="22034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901065" imgH="228600" progId="Equation.3">
                  <p:embed/>
                </p:oleObj>
              </mc:Choice>
              <mc:Fallback>
                <p:oleObj name="" r:id="rId1" imgW="901065" imgH="2286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97150" y="3251200"/>
                        <a:ext cx="2203450" cy="55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1" name="对象 24580"/>
          <p:cNvGraphicFramePr/>
          <p:nvPr/>
        </p:nvGraphicFramePr>
        <p:xfrm>
          <a:off x="2514600" y="3717925"/>
          <a:ext cx="2578100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3" imgW="1040765" imgH="254000" progId="Equation.3">
                  <p:embed/>
                </p:oleObj>
              </mc:Choice>
              <mc:Fallback>
                <p:oleObj name="" r:id="rId3" imgW="1040765" imgH="2540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14600" y="3717925"/>
                        <a:ext cx="2578100" cy="625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2" name="对象 24581"/>
          <p:cNvGraphicFramePr/>
          <p:nvPr/>
        </p:nvGraphicFramePr>
        <p:xfrm>
          <a:off x="2590800" y="4237038"/>
          <a:ext cx="1968500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5" imgW="735965" imgH="241300" progId="Equation.3">
                  <p:embed/>
                </p:oleObj>
              </mc:Choice>
              <mc:Fallback>
                <p:oleObj name="" r:id="rId5" imgW="735965" imgH="2413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90800" y="4237038"/>
                        <a:ext cx="1968500" cy="639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4" name="左大括号 24583"/>
          <p:cNvSpPr/>
          <p:nvPr/>
        </p:nvSpPr>
        <p:spPr>
          <a:xfrm>
            <a:off x="2209800" y="3505200"/>
            <a:ext cx="304800" cy="1066800"/>
          </a:xfrm>
          <a:prstGeom prst="leftBrace">
            <a:avLst>
              <a:gd name="adj1" fmla="val 29166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24586" name="对象 24585"/>
          <p:cNvGraphicFramePr/>
          <p:nvPr/>
        </p:nvGraphicFramePr>
        <p:xfrm>
          <a:off x="762000" y="1252538"/>
          <a:ext cx="7543800" cy="202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7" imgW="3895725" imgH="1304925" progId="Paint.Picture">
                  <p:embed/>
                </p:oleObj>
              </mc:Choice>
              <mc:Fallback>
                <p:oleObj name="" r:id="rId7" imgW="3895725" imgH="1304925" progId="Paint.Picture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62000" y="1252538"/>
                        <a:ext cx="7543800" cy="2024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8" name="文本框 24587"/>
          <p:cNvSpPr txBox="1"/>
          <p:nvPr/>
        </p:nvSpPr>
        <p:spPr>
          <a:xfrm>
            <a:off x="762000" y="762000"/>
            <a:ext cx="75946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Q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Q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r>
              <a:rPr lang="zh-CN" altLang="en-US">
                <a:latin typeface="Times New Roman" panose="02020603050405020304" pitchFamily="18" charset="0"/>
              </a:rPr>
              <a:t>取</a:t>
            </a:r>
            <a:r>
              <a:rPr lang="en-US" altLang="zh-CN">
                <a:latin typeface="Times New Roman" panose="02020603050405020304" pitchFamily="18" charset="0"/>
              </a:rPr>
              <a:t>11</a:t>
            </a:r>
            <a:r>
              <a:rPr lang="zh-CN" altLang="en-US" dirty="0">
                <a:latin typeface="Times New Roman" panose="02020603050405020304" pitchFamily="18" charset="0"/>
              </a:rPr>
              <a:t>组合的态未使用，在卡诺图中暂按无关项处理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4589" name="文本框 24588"/>
          <p:cNvSpPr txBox="1"/>
          <p:nvPr/>
        </p:nvSpPr>
        <p:spPr>
          <a:xfrm>
            <a:off x="685800" y="4876800"/>
            <a:ext cx="78327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根据化简时约束项的使用情况，反填状态表，得全状态表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4590" name="文本框 24589"/>
          <p:cNvSpPr txBox="1"/>
          <p:nvPr/>
        </p:nvSpPr>
        <p:spPr>
          <a:xfrm>
            <a:off x="762000" y="5486400"/>
            <a:ext cx="7905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T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r>
              <a:rPr lang="zh-CN" altLang="en-US">
                <a:latin typeface="Times New Roman" panose="02020603050405020304" pitchFamily="18" charset="0"/>
              </a:rPr>
              <a:t>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4591" name="文本框 24590"/>
          <p:cNvSpPr txBox="1"/>
          <p:nvPr/>
        </p:nvSpPr>
        <p:spPr>
          <a:xfrm>
            <a:off x="1524000" y="5486400"/>
            <a:ext cx="3538538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Q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Q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r>
              <a:rPr lang="en-US" altLang="zh-CN">
                <a:latin typeface="Times New Roman" panose="02020603050405020304" pitchFamily="18" charset="0"/>
              </a:rPr>
              <a:t>X</a:t>
            </a:r>
            <a:r>
              <a:rPr lang="zh-CN" altLang="en-US">
                <a:latin typeface="Times New Roman" panose="02020603050405020304" pitchFamily="18" charset="0"/>
              </a:rPr>
              <a:t>为</a:t>
            </a:r>
            <a:r>
              <a:rPr lang="en-US" altLang="zh-CN">
                <a:latin typeface="Times New Roman" panose="02020603050405020304" pitchFamily="18" charset="0"/>
              </a:rPr>
              <a:t>111</a:t>
            </a:r>
            <a:r>
              <a:rPr lang="zh-CN" altLang="en-US" dirty="0">
                <a:latin typeface="Times New Roman" panose="02020603050405020304" pitchFamily="18" charset="0"/>
              </a:rPr>
              <a:t>时，以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对待</a:t>
            </a:r>
            <a:endParaRPr lang="zh-CN" altLang="en-US" baseline="-25000">
              <a:latin typeface="Times New Roman" panose="02020603050405020304" pitchFamily="18" charset="0"/>
            </a:endParaRPr>
          </a:p>
        </p:txBody>
      </p:sp>
      <p:sp>
        <p:nvSpPr>
          <p:cNvPr id="24592" name="文本框 24591"/>
          <p:cNvSpPr txBox="1"/>
          <p:nvPr/>
        </p:nvSpPr>
        <p:spPr>
          <a:xfrm>
            <a:off x="1566863" y="5867400"/>
            <a:ext cx="3538537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Q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Q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r>
              <a:rPr lang="en-US" altLang="zh-CN">
                <a:latin typeface="Times New Roman" panose="02020603050405020304" pitchFamily="18" charset="0"/>
              </a:rPr>
              <a:t>X</a:t>
            </a:r>
            <a:r>
              <a:rPr lang="zh-CN" altLang="en-US">
                <a:latin typeface="Times New Roman" panose="02020603050405020304" pitchFamily="18" charset="0"/>
              </a:rPr>
              <a:t>为</a:t>
            </a:r>
            <a:r>
              <a:rPr lang="en-US" altLang="zh-CN">
                <a:latin typeface="Times New Roman" panose="02020603050405020304" pitchFamily="18" charset="0"/>
              </a:rPr>
              <a:t>110</a:t>
            </a:r>
            <a:r>
              <a:rPr lang="zh-CN" altLang="en-US" dirty="0">
                <a:latin typeface="Times New Roman" panose="02020603050405020304" pitchFamily="18" charset="0"/>
              </a:rPr>
              <a:t>时，以</a:t>
            </a:r>
            <a:r>
              <a:rPr lang="en-US" altLang="zh-CN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</a:rPr>
              <a:t>对待</a:t>
            </a:r>
            <a:endParaRPr lang="zh-CN" altLang="en-US" baseline="-25000">
              <a:latin typeface="Times New Roman" panose="02020603050405020304" pitchFamily="18" charset="0"/>
            </a:endParaRPr>
          </a:p>
        </p:txBody>
      </p:sp>
      <p:pic>
        <p:nvPicPr>
          <p:cNvPr id="24593" name="图片 24592" descr="wb01508_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0" y="57912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594" name="文本框 24593">
            <a:hlinkClick r:id="rId9" action="ppaction://hlinksldjump"/>
          </p:cNvPr>
          <p:cNvSpPr txBox="1"/>
          <p:nvPr/>
        </p:nvSpPr>
        <p:spPr>
          <a:xfrm>
            <a:off x="7435850" y="58674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u="sng" dirty="0">
                <a:solidFill>
                  <a:schemeClr val="accent2"/>
                </a:solidFill>
                <a:latin typeface="Times New Roman" panose="02020603050405020304" pitchFamily="18" charset="0"/>
              </a:rPr>
              <a:t>返  回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4596" name="圆角矩形 24595"/>
          <p:cNvSpPr/>
          <p:nvPr/>
        </p:nvSpPr>
        <p:spPr>
          <a:xfrm>
            <a:off x="2667000" y="1905000"/>
            <a:ext cx="914400" cy="838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A5002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4597" name="矩形 24596"/>
          <p:cNvSpPr/>
          <p:nvPr/>
        </p:nvSpPr>
        <p:spPr>
          <a:xfrm>
            <a:off x="2057400" y="2362200"/>
            <a:ext cx="914400" cy="381000"/>
          </a:xfrm>
          <a:prstGeom prst="rect">
            <a:avLst/>
          </a:prstGeom>
          <a:noFill/>
          <a:ln w="38100" cap="flat" cmpd="sng">
            <a:solidFill>
              <a:srgbClr val="00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4598" name="矩形 24597"/>
          <p:cNvSpPr/>
          <p:nvPr/>
        </p:nvSpPr>
        <p:spPr>
          <a:xfrm>
            <a:off x="6553200" y="2362200"/>
            <a:ext cx="914400" cy="304800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24605" name="组合 24604"/>
          <p:cNvGrpSpPr/>
          <p:nvPr/>
        </p:nvGrpSpPr>
        <p:grpSpPr>
          <a:xfrm>
            <a:off x="5943600" y="1905000"/>
            <a:ext cx="2209800" cy="304800"/>
            <a:chOff x="3744" y="1200"/>
            <a:chExt cx="1392" cy="192"/>
          </a:xfrm>
        </p:grpSpPr>
        <p:sp>
          <p:nvSpPr>
            <p:cNvPr id="24599" name="右中括号 24598"/>
            <p:cNvSpPr/>
            <p:nvPr/>
          </p:nvSpPr>
          <p:spPr>
            <a:xfrm flipH="1">
              <a:off x="4848" y="1200"/>
              <a:ext cx="288" cy="192"/>
            </a:xfrm>
            <a:prstGeom prst="rightBracket">
              <a:avLst>
                <a:gd name="adj" fmla="val 8333"/>
              </a:avLst>
            </a:prstGeom>
            <a:noFill/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600" name="右中括号 24599"/>
            <p:cNvSpPr/>
            <p:nvPr/>
          </p:nvSpPr>
          <p:spPr>
            <a:xfrm>
              <a:off x="3744" y="1200"/>
              <a:ext cx="288" cy="192"/>
            </a:xfrm>
            <a:prstGeom prst="rightBracket">
              <a:avLst>
                <a:gd name="adj" fmla="val 8333"/>
              </a:avLst>
            </a:prstGeom>
            <a:noFill/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4603" name="椭圆 24602"/>
          <p:cNvSpPr/>
          <p:nvPr/>
        </p:nvSpPr>
        <p:spPr>
          <a:xfrm>
            <a:off x="7162800" y="1905000"/>
            <a:ext cx="304800" cy="304800"/>
          </a:xfrm>
          <a:prstGeom prst="ellipse">
            <a:avLst/>
          </a:prstGeom>
          <a:noFill/>
          <a:ln w="38100" cap="flat" cmpd="sng">
            <a:solidFill>
              <a:srgbClr val="A5002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4604" name="椭圆 24603"/>
          <p:cNvSpPr/>
          <p:nvPr/>
        </p:nvSpPr>
        <p:spPr>
          <a:xfrm>
            <a:off x="7086600" y="2362200"/>
            <a:ext cx="381000" cy="3048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4607" name="动作按钮: 前进或下一项 24606">
            <a:hlinkClick r:id="" action="ppaction://hlinkshowjump?jump=nextslide"/>
          </p:cNvPr>
          <p:cNvSpPr/>
          <p:nvPr/>
        </p:nvSpPr>
        <p:spPr>
          <a:xfrm>
            <a:off x="838200" y="4267200"/>
            <a:ext cx="609600" cy="457200"/>
          </a:xfrm>
          <a:prstGeom prst="actionButtonForwardNext">
            <a:avLst/>
          </a:prstGeom>
          <a:solidFill>
            <a:srgbClr val="FFFF00"/>
          </a:solidFill>
          <a:ln w="19050" cap="flat" cmpd="sng">
            <a:solidFill>
              <a:srgbClr val="A5002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4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4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4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4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0" dur="500"/>
                                        <p:tgtEl>
                                          <p:spTgt spid="2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4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4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46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46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4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46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46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4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/>
      <p:bldP spid="24588" grpId="0"/>
      <p:bldP spid="24589" grpId="0"/>
      <p:bldP spid="24590" grpId="0"/>
      <p:bldP spid="24591" grpId="0"/>
      <p:bldP spid="2459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pSp>
        <p:nvGrpSpPr>
          <p:cNvPr id="51292" name="组合 51291"/>
          <p:cNvGrpSpPr/>
          <p:nvPr/>
        </p:nvGrpSpPr>
        <p:grpSpPr>
          <a:xfrm>
            <a:off x="1420813" y="1143000"/>
            <a:ext cx="5603875" cy="4800600"/>
            <a:chOff x="895" y="720"/>
            <a:chExt cx="3530" cy="3024"/>
          </a:xfrm>
        </p:grpSpPr>
        <p:grpSp>
          <p:nvGrpSpPr>
            <p:cNvPr id="51214" name="组合 51213"/>
            <p:cNvGrpSpPr/>
            <p:nvPr/>
          </p:nvGrpSpPr>
          <p:grpSpPr>
            <a:xfrm>
              <a:off x="895" y="1117"/>
              <a:ext cx="552" cy="563"/>
              <a:chOff x="1488" y="1165"/>
              <a:chExt cx="638" cy="563"/>
            </a:xfrm>
          </p:grpSpPr>
          <p:sp>
            <p:nvSpPr>
              <p:cNvPr id="51215" name="文本框 51214"/>
              <p:cNvSpPr txBox="1"/>
              <p:nvPr/>
            </p:nvSpPr>
            <p:spPr>
              <a:xfrm>
                <a:off x="1488" y="1165"/>
                <a:ext cx="63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zh-CN" altLang="en-US" dirty="0">
                    <a:latin typeface="Times New Roman" panose="02020603050405020304" pitchFamily="18" charset="0"/>
                  </a:rPr>
                  <a:t>现 入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216" name="文本框 51215"/>
              <p:cNvSpPr txBox="1"/>
              <p:nvPr/>
            </p:nvSpPr>
            <p:spPr>
              <a:xfrm>
                <a:off x="1631" y="1440"/>
                <a:ext cx="377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 err="1">
                    <a:latin typeface="Times New Roman" panose="02020603050405020304" pitchFamily="18" charset="0"/>
                  </a:rPr>
                  <a:t>X</a:t>
                </a:r>
                <a:r>
                  <a:rPr lang="en-US" altLang="zh-CN" baseline="-25000" err="1">
                    <a:latin typeface="Times New Roman" panose="02020603050405020304" pitchFamily="18" charset="0"/>
                  </a:rPr>
                  <a:t>n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1217" name="组合 51216"/>
            <p:cNvGrpSpPr/>
            <p:nvPr/>
          </p:nvGrpSpPr>
          <p:grpSpPr>
            <a:xfrm>
              <a:off x="1435" y="1117"/>
              <a:ext cx="780" cy="563"/>
              <a:chOff x="2112" y="1165"/>
              <a:chExt cx="902" cy="563"/>
            </a:xfrm>
          </p:grpSpPr>
          <p:sp>
            <p:nvSpPr>
              <p:cNvPr id="51218" name="文本框 51217"/>
              <p:cNvSpPr txBox="1"/>
              <p:nvPr/>
            </p:nvSpPr>
            <p:spPr>
              <a:xfrm>
                <a:off x="2208" y="1165"/>
                <a:ext cx="63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zh-CN" altLang="en-US" dirty="0">
                    <a:latin typeface="Times New Roman" panose="02020603050405020304" pitchFamily="18" charset="0"/>
                  </a:rPr>
                  <a:t>现 态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219" name="文本框 51218"/>
              <p:cNvSpPr txBox="1"/>
              <p:nvPr/>
            </p:nvSpPr>
            <p:spPr>
              <a:xfrm>
                <a:off x="2112" y="1440"/>
                <a:ext cx="90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Q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1n</a:t>
                </a:r>
                <a:r>
                  <a:rPr lang="en-US" altLang="zh-CN">
                    <a:latin typeface="Times New Roman" panose="02020603050405020304" pitchFamily="18" charset="0"/>
                  </a:rPr>
                  <a:t>  Q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0n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1220" name="组合 51219"/>
            <p:cNvGrpSpPr/>
            <p:nvPr/>
          </p:nvGrpSpPr>
          <p:grpSpPr>
            <a:xfrm>
              <a:off x="2883" y="1104"/>
              <a:ext cx="892" cy="576"/>
              <a:chOff x="2929" y="1152"/>
              <a:chExt cx="1031" cy="576"/>
            </a:xfrm>
          </p:grpSpPr>
          <p:sp>
            <p:nvSpPr>
              <p:cNvPr id="51221" name="文本框 51220"/>
              <p:cNvSpPr txBox="1"/>
              <p:nvPr/>
            </p:nvSpPr>
            <p:spPr>
              <a:xfrm>
                <a:off x="2929" y="1152"/>
                <a:ext cx="103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zh-CN" altLang="en-US" dirty="0">
                    <a:latin typeface="Times New Roman" panose="02020603050405020304" pitchFamily="18" charset="0"/>
                  </a:rPr>
                  <a:t>现控制入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222" name="文本框 51221"/>
              <p:cNvSpPr txBox="1"/>
              <p:nvPr/>
            </p:nvSpPr>
            <p:spPr>
              <a:xfrm>
                <a:off x="2976" y="1440"/>
                <a:ext cx="80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T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1</a:t>
                </a:r>
                <a:r>
                  <a:rPr lang="en-US" altLang="zh-CN">
                    <a:latin typeface="Times New Roman" panose="02020603050405020304" pitchFamily="18" charset="0"/>
                  </a:rPr>
                  <a:t>    T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1223" name="组合 51222"/>
            <p:cNvGrpSpPr/>
            <p:nvPr/>
          </p:nvGrpSpPr>
          <p:grpSpPr>
            <a:xfrm>
              <a:off x="2047" y="1104"/>
              <a:ext cx="958" cy="563"/>
              <a:chOff x="3842" y="1165"/>
              <a:chExt cx="1108" cy="563"/>
            </a:xfrm>
          </p:grpSpPr>
          <p:sp>
            <p:nvSpPr>
              <p:cNvPr id="51224" name="文本框 51223"/>
              <p:cNvSpPr txBox="1"/>
              <p:nvPr/>
            </p:nvSpPr>
            <p:spPr>
              <a:xfrm>
                <a:off x="3987" y="1165"/>
                <a:ext cx="693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zh-CN" altLang="en-US" dirty="0">
                    <a:latin typeface="Times New Roman" panose="02020603050405020304" pitchFamily="18" charset="0"/>
                  </a:rPr>
                  <a:t>次  态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225" name="文本框 51224"/>
              <p:cNvSpPr txBox="1"/>
              <p:nvPr/>
            </p:nvSpPr>
            <p:spPr>
              <a:xfrm>
                <a:off x="3842" y="1440"/>
                <a:ext cx="110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Q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1n+1</a:t>
                </a:r>
                <a:r>
                  <a:rPr lang="en-US" altLang="zh-CN">
                    <a:latin typeface="Times New Roman" panose="02020603050405020304" pitchFamily="18" charset="0"/>
                  </a:rPr>
                  <a:t>Q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0n+1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1226" name="组合 51225"/>
            <p:cNvGrpSpPr/>
            <p:nvPr/>
          </p:nvGrpSpPr>
          <p:grpSpPr>
            <a:xfrm>
              <a:off x="3727" y="1104"/>
              <a:ext cx="698" cy="576"/>
              <a:chOff x="4803" y="1152"/>
              <a:chExt cx="807" cy="576"/>
            </a:xfrm>
          </p:grpSpPr>
          <p:sp>
            <p:nvSpPr>
              <p:cNvPr id="51227" name="文本框 51226"/>
              <p:cNvSpPr txBox="1"/>
              <p:nvPr/>
            </p:nvSpPr>
            <p:spPr>
              <a:xfrm>
                <a:off x="4803" y="1152"/>
                <a:ext cx="807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zh-CN" altLang="en-US" dirty="0">
                    <a:latin typeface="Times New Roman" panose="02020603050405020304" pitchFamily="18" charset="0"/>
                  </a:rPr>
                  <a:t>现输出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228" name="文本框 51227"/>
              <p:cNvSpPr txBox="1"/>
              <p:nvPr/>
            </p:nvSpPr>
            <p:spPr>
              <a:xfrm>
                <a:off x="4991" y="1440"/>
                <a:ext cx="3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Z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n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1229" name="组合 51228"/>
            <p:cNvGrpSpPr/>
            <p:nvPr/>
          </p:nvGrpSpPr>
          <p:grpSpPr>
            <a:xfrm>
              <a:off x="1019" y="1632"/>
              <a:ext cx="212" cy="768"/>
              <a:chOff x="528" y="1920"/>
              <a:chExt cx="212" cy="768"/>
            </a:xfrm>
          </p:grpSpPr>
          <p:sp>
            <p:nvSpPr>
              <p:cNvPr id="51230" name="文本框 51229"/>
              <p:cNvSpPr txBox="1"/>
              <p:nvPr/>
            </p:nvSpPr>
            <p:spPr>
              <a:xfrm>
                <a:off x="528" y="1920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231" name="文本框 51230"/>
              <p:cNvSpPr txBox="1"/>
              <p:nvPr/>
            </p:nvSpPr>
            <p:spPr>
              <a:xfrm>
                <a:off x="528" y="2160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232" name="文本框 51231"/>
              <p:cNvSpPr txBox="1"/>
              <p:nvPr/>
            </p:nvSpPr>
            <p:spPr>
              <a:xfrm>
                <a:off x="528" y="2400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1233" name="组合 51232"/>
            <p:cNvGrpSpPr/>
            <p:nvPr/>
          </p:nvGrpSpPr>
          <p:grpSpPr>
            <a:xfrm>
              <a:off x="1471" y="1680"/>
              <a:ext cx="596" cy="720"/>
              <a:chOff x="2736" y="1920"/>
              <a:chExt cx="596" cy="720"/>
            </a:xfrm>
          </p:grpSpPr>
          <p:sp>
            <p:nvSpPr>
              <p:cNvPr id="51234" name="文本框 51233"/>
              <p:cNvSpPr txBox="1"/>
              <p:nvPr/>
            </p:nvSpPr>
            <p:spPr>
              <a:xfrm>
                <a:off x="2736" y="1920"/>
                <a:ext cx="59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0      0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235" name="文本框 51234"/>
              <p:cNvSpPr txBox="1"/>
              <p:nvPr/>
            </p:nvSpPr>
            <p:spPr>
              <a:xfrm>
                <a:off x="2736" y="2112"/>
                <a:ext cx="59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0      1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236" name="文本框 51235"/>
              <p:cNvSpPr txBox="1"/>
              <p:nvPr/>
            </p:nvSpPr>
            <p:spPr>
              <a:xfrm>
                <a:off x="2736" y="2352"/>
                <a:ext cx="59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1      0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1237" name="组合 51236"/>
            <p:cNvGrpSpPr/>
            <p:nvPr/>
          </p:nvGrpSpPr>
          <p:grpSpPr>
            <a:xfrm>
              <a:off x="1019" y="2352"/>
              <a:ext cx="213" cy="816"/>
              <a:chOff x="2284" y="2592"/>
              <a:chExt cx="213" cy="816"/>
            </a:xfrm>
          </p:grpSpPr>
          <p:sp>
            <p:nvSpPr>
              <p:cNvPr id="51238" name="文本框 51237"/>
              <p:cNvSpPr txBox="1"/>
              <p:nvPr/>
            </p:nvSpPr>
            <p:spPr>
              <a:xfrm>
                <a:off x="2284" y="2592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239" name="文本框 51238"/>
              <p:cNvSpPr txBox="1"/>
              <p:nvPr/>
            </p:nvSpPr>
            <p:spPr>
              <a:xfrm>
                <a:off x="2285" y="2832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240" name="文本框 51239"/>
              <p:cNvSpPr txBox="1"/>
              <p:nvPr/>
            </p:nvSpPr>
            <p:spPr>
              <a:xfrm>
                <a:off x="2285" y="3120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1241" name="文本框 51240"/>
            <p:cNvSpPr txBox="1"/>
            <p:nvPr/>
          </p:nvSpPr>
          <p:spPr>
            <a:xfrm>
              <a:off x="1477" y="2352"/>
              <a:ext cx="5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0      0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1242" name="文本框 51241"/>
            <p:cNvSpPr txBox="1"/>
            <p:nvPr/>
          </p:nvSpPr>
          <p:spPr>
            <a:xfrm>
              <a:off x="1477" y="2640"/>
              <a:ext cx="5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0      1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1243" name="文本框 51242"/>
            <p:cNvSpPr txBox="1"/>
            <p:nvPr/>
          </p:nvSpPr>
          <p:spPr>
            <a:xfrm>
              <a:off x="1477" y="2880"/>
              <a:ext cx="5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1      0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1244" name="文本框 51243"/>
            <p:cNvSpPr txBox="1"/>
            <p:nvPr/>
          </p:nvSpPr>
          <p:spPr>
            <a:xfrm>
              <a:off x="3951" y="26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grpSp>
          <p:nvGrpSpPr>
            <p:cNvPr id="51245" name="组合 51244"/>
            <p:cNvGrpSpPr/>
            <p:nvPr/>
          </p:nvGrpSpPr>
          <p:grpSpPr>
            <a:xfrm>
              <a:off x="3967" y="1680"/>
              <a:ext cx="192" cy="768"/>
              <a:chOff x="5232" y="1920"/>
              <a:chExt cx="192" cy="768"/>
            </a:xfrm>
          </p:grpSpPr>
          <p:sp>
            <p:nvSpPr>
              <p:cNvPr id="51246" name="文本框 51245"/>
              <p:cNvSpPr txBox="1"/>
              <p:nvPr/>
            </p:nvSpPr>
            <p:spPr>
              <a:xfrm>
                <a:off x="5232" y="1920"/>
                <a:ext cx="19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247" name="文本框 51246"/>
              <p:cNvSpPr txBox="1"/>
              <p:nvPr/>
            </p:nvSpPr>
            <p:spPr>
              <a:xfrm>
                <a:off x="5232" y="2160"/>
                <a:ext cx="19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248" name="文本框 51247"/>
              <p:cNvSpPr txBox="1"/>
              <p:nvPr/>
            </p:nvSpPr>
            <p:spPr>
              <a:xfrm>
                <a:off x="5233" y="2400"/>
                <a:ext cx="19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1249" name="文本框 51248"/>
            <p:cNvSpPr txBox="1"/>
            <p:nvPr/>
          </p:nvSpPr>
          <p:spPr>
            <a:xfrm>
              <a:off x="3968" y="240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1250" name="文本框 51249"/>
            <p:cNvSpPr txBox="1"/>
            <p:nvPr/>
          </p:nvSpPr>
          <p:spPr>
            <a:xfrm>
              <a:off x="3968" y="288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1251" name="文本框 51250"/>
            <p:cNvSpPr txBox="1"/>
            <p:nvPr/>
          </p:nvSpPr>
          <p:spPr>
            <a:xfrm>
              <a:off x="2219" y="2352"/>
              <a:ext cx="6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0       0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1252" name="文本框 51251"/>
            <p:cNvSpPr txBox="1"/>
            <p:nvPr/>
          </p:nvSpPr>
          <p:spPr>
            <a:xfrm>
              <a:off x="2239" y="2880"/>
              <a:ext cx="5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/>
              <a:r>
                <a:rPr lang="en-US" altLang="zh-CN">
                  <a:latin typeface="Times New Roman" panose="02020603050405020304" pitchFamily="18" charset="0"/>
                </a:rPr>
                <a:t>0      0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1253" name="文本框 51252"/>
            <p:cNvSpPr txBox="1"/>
            <p:nvPr/>
          </p:nvSpPr>
          <p:spPr>
            <a:xfrm>
              <a:off x="2208" y="2640"/>
              <a:ext cx="70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/>
              <a:r>
                <a:rPr lang="en-US" altLang="zh-CN">
                  <a:latin typeface="Times New Roman" panose="02020603050405020304" pitchFamily="18" charset="0"/>
                </a:rPr>
                <a:t>1       0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grpSp>
          <p:nvGrpSpPr>
            <p:cNvPr id="51254" name="组合 51253"/>
            <p:cNvGrpSpPr/>
            <p:nvPr/>
          </p:nvGrpSpPr>
          <p:grpSpPr>
            <a:xfrm>
              <a:off x="2219" y="1680"/>
              <a:ext cx="644" cy="720"/>
              <a:chOff x="3484" y="1920"/>
              <a:chExt cx="644" cy="720"/>
            </a:xfrm>
          </p:grpSpPr>
          <p:sp>
            <p:nvSpPr>
              <p:cNvPr id="51255" name="文本框 51254"/>
              <p:cNvSpPr txBox="1"/>
              <p:nvPr/>
            </p:nvSpPr>
            <p:spPr>
              <a:xfrm>
                <a:off x="3484" y="1920"/>
                <a:ext cx="64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0       1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256" name="文本框 51255"/>
              <p:cNvSpPr txBox="1"/>
              <p:nvPr/>
            </p:nvSpPr>
            <p:spPr>
              <a:xfrm>
                <a:off x="3484" y="2112"/>
                <a:ext cx="64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0       1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257" name="文本框 51256"/>
              <p:cNvSpPr txBox="1"/>
              <p:nvPr/>
            </p:nvSpPr>
            <p:spPr>
              <a:xfrm>
                <a:off x="3484" y="2352"/>
                <a:ext cx="64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0       1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1258" name="文本框 51257"/>
            <p:cNvSpPr txBox="1"/>
            <p:nvPr/>
          </p:nvSpPr>
          <p:spPr>
            <a:xfrm>
              <a:off x="2997" y="1658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1259" name="文本框 51258"/>
            <p:cNvSpPr txBox="1"/>
            <p:nvPr/>
          </p:nvSpPr>
          <p:spPr>
            <a:xfrm>
              <a:off x="3381" y="1658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1260" name="文本框 51259"/>
            <p:cNvSpPr txBox="1"/>
            <p:nvPr/>
          </p:nvSpPr>
          <p:spPr>
            <a:xfrm>
              <a:off x="2987" y="1872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1261" name="文本框 51260"/>
            <p:cNvSpPr txBox="1"/>
            <p:nvPr/>
          </p:nvSpPr>
          <p:spPr>
            <a:xfrm>
              <a:off x="3381" y="1872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grpSp>
          <p:nvGrpSpPr>
            <p:cNvPr id="51262" name="组合 51261"/>
            <p:cNvGrpSpPr/>
            <p:nvPr/>
          </p:nvGrpSpPr>
          <p:grpSpPr>
            <a:xfrm>
              <a:off x="2987" y="2090"/>
              <a:ext cx="836" cy="1606"/>
              <a:chOff x="4252" y="2330"/>
              <a:chExt cx="836" cy="1606"/>
            </a:xfrm>
          </p:grpSpPr>
          <p:sp>
            <p:nvSpPr>
              <p:cNvPr id="51263" name="文本框 51262"/>
              <p:cNvSpPr txBox="1"/>
              <p:nvPr/>
            </p:nvSpPr>
            <p:spPr>
              <a:xfrm>
                <a:off x="4272" y="2880"/>
                <a:ext cx="81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l"/>
                <a:r>
                  <a:rPr lang="en-US" altLang="zh-CN">
                    <a:latin typeface="Times New Roman" panose="02020603050405020304" pitchFamily="18" charset="0"/>
                  </a:rPr>
                  <a:t>1      1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51264" name="组合 51263"/>
              <p:cNvGrpSpPr/>
              <p:nvPr/>
            </p:nvGrpSpPr>
            <p:grpSpPr>
              <a:xfrm>
                <a:off x="4252" y="2330"/>
                <a:ext cx="836" cy="1606"/>
                <a:chOff x="4252" y="2330"/>
                <a:chExt cx="836" cy="1606"/>
              </a:xfrm>
            </p:grpSpPr>
            <p:sp>
              <p:nvSpPr>
                <p:cNvPr id="51265" name="文本框 51264"/>
                <p:cNvSpPr txBox="1"/>
                <p:nvPr/>
              </p:nvSpPr>
              <p:spPr>
                <a:xfrm>
                  <a:off x="4272" y="3648"/>
                  <a:ext cx="816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 algn="l"/>
                  <a:endParaRPr dirty="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51266" name="组合 51265"/>
                <p:cNvGrpSpPr/>
                <p:nvPr/>
              </p:nvGrpSpPr>
              <p:grpSpPr>
                <a:xfrm>
                  <a:off x="4252" y="2330"/>
                  <a:ext cx="616" cy="1401"/>
                  <a:chOff x="4252" y="2330"/>
                  <a:chExt cx="616" cy="1401"/>
                </a:xfrm>
              </p:grpSpPr>
              <p:sp>
                <p:nvSpPr>
                  <p:cNvPr id="51267" name="文本框 51266"/>
                  <p:cNvSpPr txBox="1"/>
                  <p:nvPr/>
                </p:nvSpPr>
                <p:spPr>
                  <a:xfrm>
                    <a:off x="4272" y="2592"/>
                    <a:ext cx="596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 anchorCtr="0">
                    <a:spAutoFit/>
                  </a:bodyPr>
                  <a:p>
                    <a:pPr algn="l" eaLnBrk="1" hangingPunct="1"/>
                    <a:r>
                      <a:rPr lang="en-US" altLang="zh-CN">
                        <a:latin typeface="Times New Roman" panose="02020603050405020304" pitchFamily="18" charset="0"/>
                      </a:rPr>
                      <a:t>0      0</a:t>
                    </a:r>
                    <a:endParaRPr lang="en-US" altLang="zh-CN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1268" name="文本框 51267"/>
                  <p:cNvSpPr txBox="1"/>
                  <p:nvPr/>
                </p:nvSpPr>
                <p:spPr>
                  <a:xfrm>
                    <a:off x="4272" y="3120"/>
                    <a:ext cx="596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 anchorCtr="0">
                    <a:spAutoFit/>
                  </a:bodyPr>
                  <a:p>
                    <a:pPr algn="l"/>
                    <a:r>
                      <a:rPr lang="en-US" altLang="zh-CN">
                        <a:latin typeface="Times New Roman" panose="02020603050405020304" pitchFamily="18" charset="0"/>
                      </a:rPr>
                      <a:t>1      0</a:t>
                    </a:r>
                    <a:endParaRPr lang="en-US" altLang="zh-CN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1269" name="文本框 51268"/>
                  <p:cNvSpPr txBox="1"/>
                  <p:nvPr/>
                </p:nvSpPr>
                <p:spPr>
                  <a:xfrm>
                    <a:off x="4262" y="2330"/>
                    <a:ext cx="212" cy="288"/>
                  </a:xfrm>
                  <a:prstGeom prst="rect">
                    <a:avLst/>
                  </a:prstGeom>
                  <a:noFill/>
                  <a:ln w="38100">
                    <a:noFill/>
                  </a:ln>
                </p:spPr>
                <p:txBody>
                  <a:bodyPr wrap="none" anchor="t" anchorCtr="0">
                    <a:spAutoFit/>
                  </a:bodyPr>
                  <a:p>
                    <a:pPr algn="l" eaLnBrk="1" hangingPunct="1"/>
                    <a:r>
                      <a:rPr lang="en-US" altLang="zh-CN">
                        <a:latin typeface="Times New Roman" panose="02020603050405020304" pitchFamily="18" charset="0"/>
                      </a:rPr>
                      <a:t>1</a:t>
                    </a:r>
                    <a:endParaRPr lang="en-US" altLang="zh-CN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1270" name="文本框 51269"/>
                  <p:cNvSpPr txBox="1"/>
                  <p:nvPr/>
                </p:nvSpPr>
                <p:spPr>
                  <a:xfrm>
                    <a:off x="4646" y="2330"/>
                    <a:ext cx="212" cy="288"/>
                  </a:xfrm>
                  <a:prstGeom prst="rect">
                    <a:avLst/>
                  </a:prstGeom>
                  <a:noFill/>
                  <a:ln w="38100">
                    <a:noFill/>
                  </a:ln>
                </p:spPr>
                <p:txBody>
                  <a:bodyPr wrap="none" anchor="t" anchorCtr="0">
                    <a:spAutoFit/>
                  </a:bodyPr>
                  <a:p>
                    <a:pPr algn="l" eaLnBrk="1" hangingPunct="1"/>
                    <a:r>
                      <a:rPr lang="en-US" altLang="zh-CN">
                        <a:latin typeface="Times New Roman" panose="02020603050405020304" pitchFamily="18" charset="0"/>
                      </a:rPr>
                      <a:t>1</a:t>
                    </a:r>
                    <a:endParaRPr lang="en-US" altLang="zh-CN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1271" name="文本框 51270"/>
                  <p:cNvSpPr txBox="1"/>
                  <p:nvPr/>
                </p:nvSpPr>
                <p:spPr>
                  <a:xfrm>
                    <a:off x="4252" y="3443"/>
                    <a:ext cx="116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 anchorCtr="0">
                    <a:spAutoFit/>
                  </a:bodyPr>
                  <a:p>
                    <a:pPr algn="l"/>
                    <a:endParaRPr dirty="0"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</p:grpSp>
        <p:grpSp>
          <p:nvGrpSpPr>
            <p:cNvPr id="51280" name="组合 51279"/>
            <p:cNvGrpSpPr/>
            <p:nvPr/>
          </p:nvGrpSpPr>
          <p:grpSpPr>
            <a:xfrm>
              <a:off x="895" y="720"/>
              <a:ext cx="3456" cy="3024"/>
              <a:chOff x="2160" y="960"/>
              <a:chExt cx="3456" cy="3024"/>
            </a:xfrm>
          </p:grpSpPr>
          <p:grpSp>
            <p:nvGrpSpPr>
              <p:cNvPr id="51281" name="组合 51280"/>
              <p:cNvGrpSpPr/>
              <p:nvPr/>
            </p:nvGrpSpPr>
            <p:grpSpPr>
              <a:xfrm>
                <a:off x="2160" y="1296"/>
                <a:ext cx="3456" cy="2688"/>
                <a:chOff x="2160" y="1296"/>
                <a:chExt cx="3456" cy="2688"/>
              </a:xfrm>
            </p:grpSpPr>
            <p:grpSp>
              <p:nvGrpSpPr>
                <p:cNvPr id="51282" name="组合 51281"/>
                <p:cNvGrpSpPr/>
                <p:nvPr/>
              </p:nvGrpSpPr>
              <p:grpSpPr>
                <a:xfrm>
                  <a:off x="2160" y="1296"/>
                  <a:ext cx="3446" cy="2688"/>
                  <a:chOff x="1488" y="1152"/>
                  <a:chExt cx="3984" cy="2688"/>
                </a:xfrm>
              </p:grpSpPr>
              <p:sp>
                <p:nvSpPr>
                  <p:cNvPr id="51283" name="矩形 51282"/>
                  <p:cNvSpPr/>
                  <p:nvPr/>
                </p:nvSpPr>
                <p:spPr>
                  <a:xfrm>
                    <a:off x="1488" y="1152"/>
                    <a:ext cx="3984" cy="2688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51284" name="直接连接符 51283"/>
                  <p:cNvSpPr/>
                  <p:nvPr/>
                </p:nvSpPr>
                <p:spPr>
                  <a:xfrm>
                    <a:off x="1488" y="1440"/>
                    <a:ext cx="3984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1285" name="直接连接符 51284"/>
                  <p:cNvSpPr/>
                  <p:nvPr/>
                </p:nvSpPr>
                <p:spPr>
                  <a:xfrm>
                    <a:off x="1488" y="1728"/>
                    <a:ext cx="3984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1286" name="直接连接符 51285"/>
                  <p:cNvSpPr/>
                  <p:nvPr/>
                </p:nvSpPr>
                <p:spPr>
                  <a:xfrm>
                    <a:off x="2049" y="1152"/>
                    <a:ext cx="0" cy="2688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1287" name="直接连接符 51286"/>
                  <p:cNvSpPr/>
                  <p:nvPr/>
                </p:nvSpPr>
                <p:spPr>
                  <a:xfrm>
                    <a:off x="2891" y="1152"/>
                    <a:ext cx="0" cy="2688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1288" name="直接连接符 51287"/>
                  <p:cNvSpPr/>
                  <p:nvPr/>
                </p:nvSpPr>
                <p:spPr>
                  <a:xfrm>
                    <a:off x="3840" y="1152"/>
                    <a:ext cx="0" cy="2688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1289" name="直接连接符 51288"/>
                  <p:cNvSpPr/>
                  <p:nvPr/>
                </p:nvSpPr>
                <p:spPr>
                  <a:xfrm>
                    <a:off x="4800" y="1152"/>
                    <a:ext cx="0" cy="2688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51290" name="直接连接符 51289"/>
                <p:cNvSpPr/>
                <p:nvPr/>
              </p:nvSpPr>
              <p:spPr>
                <a:xfrm>
                  <a:off x="2160" y="3408"/>
                  <a:ext cx="3456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1291" name="文本框 51290"/>
              <p:cNvSpPr txBox="1"/>
              <p:nvPr/>
            </p:nvSpPr>
            <p:spPr>
              <a:xfrm>
                <a:off x="3446" y="960"/>
                <a:ext cx="1086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zh-CN" altLang="en-US" dirty="0">
                    <a:latin typeface="Times New Roman" panose="02020603050405020304" pitchFamily="18" charset="0"/>
                  </a:rPr>
                  <a:t>状态转换表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51294" name="动作按钮: 后退或前一项 51293">
            <a:hlinkClick r:id="" action="ppaction://hlinkshowjump?jump=previousslide"/>
          </p:cNvPr>
          <p:cNvSpPr/>
          <p:nvPr/>
        </p:nvSpPr>
        <p:spPr>
          <a:xfrm>
            <a:off x="3886200" y="6019800"/>
            <a:ext cx="762000" cy="609600"/>
          </a:xfrm>
          <a:prstGeom prst="actionButtonBackPrevious">
            <a:avLst/>
          </a:prstGeom>
          <a:solidFill>
            <a:srgbClr val="FFFF00"/>
          </a:solidFill>
          <a:ln w="38100" cap="flat" cmpd="sng">
            <a:solidFill>
              <a:srgbClr val="A5002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1295" name="矩形 51294"/>
          <p:cNvSpPr/>
          <p:nvPr/>
        </p:nvSpPr>
        <p:spPr>
          <a:xfrm>
            <a:off x="1447800" y="4572000"/>
            <a:ext cx="5410200" cy="381000"/>
          </a:xfrm>
          <a:prstGeom prst="rect">
            <a:avLst/>
          </a:prstGeom>
          <a:noFill/>
          <a:ln w="38100" cap="flat" cmpd="sng">
            <a:solidFill>
              <a:srgbClr val="A5002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标题 55297"/>
          <p:cNvSpPr>
            <a:spLocks noGrp="1"/>
          </p:cNvSpPr>
          <p:nvPr>
            <p:ph type="title"/>
          </p:nvPr>
        </p:nvSpPr>
        <p:spPr>
          <a:ln/>
        </p:spPr>
        <p:txBody>
          <a:bodyPr anchor="ctr" anchorCtr="0"/>
          <a:p>
            <a:endParaRPr dirty="0"/>
          </a:p>
        </p:txBody>
      </p:sp>
      <p:sp>
        <p:nvSpPr>
          <p:cNvPr id="55299" name="文本占位符 55298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p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矩形 25601"/>
          <p:cNvSpPr/>
          <p:nvPr/>
        </p:nvSpPr>
        <p:spPr>
          <a:xfrm>
            <a:off x="152400" y="152400"/>
            <a:ext cx="3581400" cy="5334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9525">
            <a:noFill/>
          </a:ln>
          <a:effectLst>
            <a:outerShdw dist="107763" dir="18900000" algn="ctr" rotWithShape="0">
              <a:srgbClr val="808080"/>
            </a:outerShdw>
          </a:effectLst>
        </p:spPr>
        <p:txBody>
          <a:bodyPr anchor="ctr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 algn="l"/>
            <a:r>
              <a:rPr lang="zh-CN" altLang="en-US" sz="3200" b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同步时序电路设计</a:t>
            </a:r>
            <a:endParaRPr lang="zh-CN" altLang="en-US" sz="7200" b="1">
              <a:effectLst>
                <a:outerShdw blurRad="38100" dist="38100" dir="2700000">
                  <a:srgbClr val="FFFFFF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aphicFrame>
        <p:nvGraphicFramePr>
          <p:cNvPr id="25603" name="对象 25602"/>
          <p:cNvGraphicFramePr/>
          <p:nvPr/>
        </p:nvGraphicFramePr>
        <p:xfrm>
          <a:off x="920750" y="1219200"/>
          <a:ext cx="22034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901065" imgH="228600" progId="Equation.3">
                  <p:embed/>
                </p:oleObj>
              </mc:Choice>
              <mc:Fallback>
                <p:oleObj name="" r:id="rId1" imgW="901065" imgH="2286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20750" y="1219200"/>
                        <a:ext cx="2203450" cy="55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4" name="对象 25603"/>
          <p:cNvGraphicFramePr/>
          <p:nvPr/>
        </p:nvGraphicFramePr>
        <p:xfrm>
          <a:off x="3276600" y="1143000"/>
          <a:ext cx="2578100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1040765" imgH="254000" progId="Equation.3">
                  <p:embed/>
                </p:oleObj>
              </mc:Choice>
              <mc:Fallback>
                <p:oleObj name="" r:id="rId3" imgW="1040765" imgH="2540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76600" y="1143000"/>
                        <a:ext cx="2578100" cy="625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对象 25604"/>
          <p:cNvGraphicFramePr/>
          <p:nvPr/>
        </p:nvGraphicFramePr>
        <p:xfrm>
          <a:off x="6172200" y="1143000"/>
          <a:ext cx="1968500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5" imgW="735965" imgH="241300" progId="Equation.3">
                  <p:embed/>
                </p:oleObj>
              </mc:Choice>
              <mc:Fallback>
                <p:oleObj name="" r:id="rId5" imgW="735965" imgH="2413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72200" y="1143000"/>
                        <a:ext cx="1968500" cy="639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7" name="文本框 25606"/>
          <p:cNvSpPr txBox="1"/>
          <p:nvPr/>
        </p:nvSpPr>
        <p:spPr>
          <a:xfrm>
            <a:off x="533400" y="838200"/>
            <a:ext cx="24669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5</a:t>
            </a:r>
            <a:r>
              <a:rPr lang="zh-CN" altLang="en-US" dirty="0">
                <a:latin typeface="Times New Roman" panose="02020603050405020304" pitchFamily="18" charset="0"/>
              </a:rPr>
              <a:t>、画逻辑电路图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25612" name="对象 25611"/>
          <p:cNvGraphicFramePr/>
          <p:nvPr/>
        </p:nvGraphicFramePr>
        <p:xfrm>
          <a:off x="533400" y="1981200"/>
          <a:ext cx="7924800" cy="352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7" imgW="5200650" imgH="1914525" progId="Paint.Picture">
                  <p:embed/>
                </p:oleObj>
              </mc:Choice>
              <mc:Fallback>
                <p:oleObj name="" r:id="rId7" imgW="5200650" imgH="1914525" progId="Paint.Picture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3400" y="1981200"/>
                        <a:ext cx="7924800" cy="3525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619" name="组合 25618"/>
          <p:cNvGrpSpPr/>
          <p:nvPr/>
        </p:nvGrpSpPr>
        <p:grpSpPr>
          <a:xfrm>
            <a:off x="3124200" y="3886200"/>
            <a:ext cx="4724400" cy="1143000"/>
            <a:chOff x="1968" y="2448"/>
            <a:chExt cx="2976" cy="720"/>
          </a:xfrm>
        </p:grpSpPr>
        <p:sp>
          <p:nvSpPr>
            <p:cNvPr id="25614" name="直接连接符 25613"/>
            <p:cNvSpPr/>
            <p:nvPr/>
          </p:nvSpPr>
          <p:spPr>
            <a:xfrm>
              <a:off x="1968" y="2448"/>
              <a:ext cx="144" cy="0"/>
            </a:xfrm>
            <a:prstGeom prst="line">
              <a:avLst/>
            </a:prstGeom>
            <a:ln w="38100" cap="flat" cmpd="sng">
              <a:solidFill>
                <a:srgbClr val="A5002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15" name="直接连接符 25614"/>
            <p:cNvSpPr/>
            <p:nvPr/>
          </p:nvSpPr>
          <p:spPr>
            <a:xfrm>
              <a:off x="2112" y="2448"/>
              <a:ext cx="0" cy="720"/>
            </a:xfrm>
            <a:prstGeom prst="line">
              <a:avLst/>
            </a:prstGeom>
            <a:ln w="38100" cap="flat" cmpd="sng">
              <a:solidFill>
                <a:srgbClr val="A5002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16" name="直接连接符 25615"/>
            <p:cNvSpPr/>
            <p:nvPr/>
          </p:nvSpPr>
          <p:spPr>
            <a:xfrm>
              <a:off x="2112" y="3168"/>
              <a:ext cx="2832" cy="0"/>
            </a:xfrm>
            <a:prstGeom prst="line">
              <a:avLst/>
            </a:prstGeom>
            <a:ln w="38100" cap="flat" cmpd="sng">
              <a:solidFill>
                <a:srgbClr val="A5002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17" name="直接连接符 25616"/>
            <p:cNvSpPr/>
            <p:nvPr/>
          </p:nvSpPr>
          <p:spPr>
            <a:xfrm>
              <a:off x="3984" y="2496"/>
              <a:ext cx="0" cy="672"/>
            </a:xfrm>
            <a:prstGeom prst="line">
              <a:avLst/>
            </a:prstGeom>
            <a:ln w="38100" cap="flat" cmpd="sng">
              <a:solidFill>
                <a:srgbClr val="A5002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18" name="直接连接符 25617"/>
            <p:cNvSpPr/>
            <p:nvPr/>
          </p:nvSpPr>
          <p:spPr>
            <a:xfrm>
              <a:off x="3840" y="2496"/>
              <a:ext cx="144" cy="0"/>
            </a:xfrm>
            <a:prstGeom prst="line">
              <a:avLst/>
            </a:prstGeom>
            <a:ln w="38100" cap="flat" cmpd="sng">
              <a:solidFill>
                <a:srgbClr val="A50021"/>
              </a:solidFill>
              <a:prstDash val="solid"/>
              <a:headEnd type="none" w="med" len="med"/>
              <a:tailEnd type="none" w="med" len="med"/>
            </a:ln>
          </p:spPr>
        </p:sp>
      </p:grpSp>
      <p:pic>
        <p:nvPicPr>
          <p:cNvPr id="25620" name="图片 25619" descr="wb01508_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62800" y="58674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621" name="文本框 25620">
            <a:hlinkClick r:id="rId9" action="ppaction://hlinksldjump"/>
          </p:cNvPr>
          <p:cNvSpPr txBox="1"/>
          <p:nvPr/>
        </p:nvSpPr>
        <p:spPr>
          <a:xfrm>
            <a:off x="7359650" y="59436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u="sng" dirty="0">
                <a:solidFill>
                  <a:schemeClr val="accent2"/>
                </a:solidFill>
                <a:latin typeface="Times New Roman" panose="02020603050405020304" pitchFamily="18" charset="0"/>
              </a:rPr>
              <a:t>返  回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1" dur="500"/>
                                        <p:tgtEl>
                                          <p:spTgt spid="25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矩形 26625"/>
          <p:cNvSpPr/>
          <p:nvPr/>
        </p:nvSpPr>
        <p:spPr>
          <a:xfrm>
            <a:off x="152400" y="152400"/>
            <a:ext cx="3581400" cy="5334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9525">
            <a:noFill/>
          </a:ln>
          <a:effectLst>
            <a:outerShdw dist="107763" dir="18900000" algn="ctr" rotWithShape="0">
              <a:srgbClr val="808080"/>
            </a:outerShdw>
          </a:effectLst>
        </p:spPr>
        <p:txBody>
          <a:bodyPr anchor="ctr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 algn="l"/>
            <a:r>
              <a:rPr lang="zh-CN" altLang="en-US" sz="3200" b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同步时序电路设计</a:t>
            </a:r>
            <a:endParaRPr lang="zh-CN" altLang="en-US" sz="7200" b="1">
              <a:effectLst>
                <a:outerShdw blurRad="38100" dist="38100" dir="2700000">
                  <a:srgbClr val="FFFFFF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6627" name="文本框 26626"/>
          <p:cNvSpPr txBox="1"/>
          <p:nvPr/>
        </p:nvSpPr>
        <p:spPr>
          <a:xfrm>
            <a:off x="533400" y="838200"/>
            <a:ext cx="21590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</a:rPr>
              <a:t>、画全状态图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26715" name="组合 26714"/>
          <p:cNvGrpSpPr/>
          <p:nvPr/>
        </p:nvGrpSpPr>
        <p:grpSpPr>
          <a:xfrm>
            <a:off x="3427413" y="762000"/>
            <a:ext cx="5640387" cy="4876800"/>
            <a:chOff x="2159" y="480"/>
            <a:chExt cx="3553" cy="3072"/>
          </a:xfrm>
        </p:grpSpPr>
        <p:grpSp>
          <p:nvGrpSpPr>
            <p:cNvPr id="26628" name="组合 26627"/>
            <p:cNvGrpSpPr/>
            <p:nvPr/>
          </p:nvGrpSpPr>
          <p:grpSpPr>
            <a:xfrm>
              <a:off x="5231" y="2976"/>
              <a:ext cx="212" cy="528"/>
              <a:chOff x="4079" y="3024"/>
              <a:chExt cx="212" cy="528"/>
            </a:xfrm>
          </p:grpSpPr>
          <p:sp>
            <p:nvSpPr>
              <p:cNvPr id="26629" name="文本框 26628"/>
              <p:cNvSpPr txBox="1"/>
              <p:nvPr/>
            </p:nvSpPr>
            <p:spPr>
              <a:xfrm>
                <a:off x="4079" y="302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30" name="文本框 26629"/>
              <p:cNvSpPr txBox="1"/>
              <p:nvPr/>
            </p:nvSpPr>
            <p:spPr>
              <a:xfrm>
                <a:off x="4079" y="32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6631" name="组合 26630"/>
            <p:cNvGrpSpPr/>
            <p:nvPr/>
          </p:nvGrpSpPr>
          <p:grpSpPr>
            <a:xfrm>
              <a:off x="2303" y="2976"/>
              <a:ext cx="1053" cy="528"/>
              <a:chOff x="2285" y="3408"/>
              <a:chExt cx="1053" cy="528"/>
            </a:xfrm>
          </p:grpSpPr>
          <p:sp>
            <p:nvSpPr>
              <p:cNvPr id="26632" name="文本框 26631"/>
              <p:cNvSpPr txBox="1"/>
              <p:nvPr/>
            </p:nvSpPr>
            <p:spPr>
              <a:xfrm>
                <a:off x="2285" y="3648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33" name="文本框 26632"/>
              <p:cNvSpPr txBox="1"/>
              <p:nvPr/>
            </p:nvSpPr>
            <p:spPr>
              <a:xfrm>
                <a:off x="2742" y="3648"/>
                <a:ext cx="59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1      1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34" name="文本框 26633"/>
              <p:cNvSpPr txBox="1"/>
              <p:nvPr/>
            </p:nvSpPr>
            <p:spPr>
              <a:xfrm>
                <a:off x="2294" y="3408"/>
                <a:ext cx="21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35" name="文本框 26634"/>
              <p:cNvSpPr txBox="1"/>
              <p:nvPr/>
            </p:nvSpPr>
            <p:spPr>
              <a:xfrm>
                <a:off x="2736" y="3408"/>
                <a:ext cx="59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1      1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6636" name="组合 26635"/>
            <p:cNvGrpSpPr/>
            <p:nvPr/>
          </p:nvGrpSpPr>
          <p:grpSpPr>
            <a:xfrm>
              <a:off x="2159" y="864"/>
              <a:ext cx="3553" cy="2688"/>
              <a:chOff x="2160" y="720"/>
              <a:chExt cx="3553" cy="2688"/>
            </a:xfrm>
          </p:grpSpPr>
          <p:grpSp>
            <p:nvGrpSpPr>
              <p:cNvPr id="26637" name="组合 26636"/>
              <p:cNvGrpSpPr/>
              <p:nvPr/>
            </p:nvGrpSpPr>
            <p:grpSpPr>
              <a:xfrm>
                <a:off x="2160" y="720"/>
                <a:ext cx="3553" cy="2592"/>
                <a:chOff x="2160" y="720"/>
                <a:chExt cx="3553" cy="2592"/>
              </a:xfrm>
            </p:grpSpPr>
            <p:grpSp>
              <p:nvGrpSpPr>
                <p:cNvPr id="26638" name="组合 26637"/>
                <p:cNvGrpSpPr/>
                <p:nvPr/>
              </p:nvGrpSpPr>
              <p:grpSpPr>
                <a:xfrm>
                  <a:off x="2160" y="733"/>
                  <a:ext cx="544" cy="563"/>
                  <a:chOff x="1488" y="1165"/>
                  <a:chExt cx="629" cy="563"/>
                </a:xfrm>
              </p:grpSpPr>
              <p:sp>
                <p:nvSpPr>
                  <p:cNvPr id="26639" name="文本框 26638"/>
                  <p:cNvSpPr txBox="1"/>
                  <p:nvPr/>
                </p:nvSpPr>
                <p:spPr>
                  <a:xfrm>
                    <a:off x="1488" y="1165"/>
                    <a:ext cx="629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 anchorCtr="0">
                    <a:spAutoFit/>
                  </a:bodyPr>
                  <a:p>
                    <a:pPr algn="l" eaLnBrk="1" hangingPunct="1"/>
                    <a:r>
                      <a:rPr lang="zh-CN" altLang="en-US" dirty="0">
                        <a:latin typeface="Times New Roman" panose="02020603050405020304" pitchFamily="18" charset="0"/>
                      </a:rPr>
                      <a:t>现 入</a:t>
                    </a:r>
                    <a:endParaRPr lang="zh-CN" altLang="en-US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6640" name="文本框 26639"/>
                  <p:cNvSpPr txBox="1"/>
                  <p:nvPr/>
                </p:nvSpPr>
                <p:spPr>
                  <a:xfrm>
                    <a:off x="1631" y="1440"/>
                    <a:ext cx="377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 anchorCtr="0">
                    <a:spAutoFit/>
                  </a:bodyPr>
                  <a:p>
                    <a:pPr algn="l" eaLnBrk="1" hangingPunct="1"/>
                    <a:r>
                      <a:rPr lang="en-US" altLang="zh-CN" err="1">
                        <a:latin typeface="Times New Roman" panose="02020603050405020304" pitchFamily="18" charset="0"/>
                      </a:rPr>
                      <a:t>X</a:t>
                    </a:r>
                    <a:r>
                      <a:rPr lang="en-US" altLang="zh-CN" baseline="-25000" err="1">
                        <a:latin typeface="Times New Roman" panose="02020603050405020304" pitchFamily="18" charset="0"/>
                      </a:rPr>
                      <a:t>n</a:t>
                    </a:r>
                    <a:endParaRPr lang="en-US" altLang="zh-CN"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26641" name="组合 26640"/>
                <p:cNvGrpSpPr/>
                <p:nvPr/>
              </p:nvGrpSpPr>
              <p:grpSpPr>
                <a:xfrm>
                  <a:off x="2700" y="733"/>
                  <a:ext cx="780" cy="563"/>
                  <a:chOff x="2112" y="1165"/>
                  <a:chExt cx="902" cy="563"/>
                </a:xfrm>
              </p:grpSpPr>
              <p:sp>
                <p:nvSpPr>
                  <p:cNvPr id="26642" name="文本框 26641"/>
                  <p:cNvSpPr txBox="1"/>
                  <p:nvPr/>
                </p:nvSpPr>
                <p:spPr>
                  <a:xfrm>
                    <a:off x="2208" y="1165"/>
                    <a:ext cx="629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 anchorCtr="0">
                    <a:spAutoFit/>
                  </a:bodyPr>
                  <a:p>
                    <a:pPr algn="l" eaLnBrk="1" hangingPunct="1"/>
                    <a:r>
                      <a:rPr lang="zh-CN" altLang="en-US" dirty="0">
                        <a:latin typeface="Times New Roman" panose="02020603050405020304" pitchFamily="18" charset="0"/>
                      </a:rPr>
                      <a:t>现 态</a:t>
                    </a:r>
                    <a:endParaRPr lang="zh-CN" altLang="en-US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6643" name="文本框 26642"/>
                  <p:cNvSpPr txBox="1"/>
                  <p:nvPr/>
                </p:nvSpPr>
                <p:spPr>
                  <a:xfrm>
                    <a:off x="2112" y="1440"/>
                    <a:ext cx="902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 anchorCtr="0">
                    <a:spAutoFit/>
                  </a:bodyPr>
                  <a:p>
                    <a:pPr algn="l" eaLnBrk="1" hangingPunct="1"/>
                    <a:r>
                      <a:rPr lang="en-US" altLang="zh-CN">
                        <a:latin typeface="Times New Roman" panose="02020603050405020304" pitchFamily="18" charset="0"/>
                      </a:rPr>
                      <a:t>Q</a:t>
                    </a:r>
                    <a:r>
                      <a:rPr lang="en-US" altLang="zh-CN" baseline="-25000">
                        <a:latin typeface="Times New Roman" panose="02020603050405020304" pitchFamily="18" charset="0"/>
                      </a:rPr>
                      <a:t>1n</a:t>
                    </a:r>
                    <a:r>
                      <a:rPr lang="en-US" altLang="zh-CN">
                        <a:latin typeface="Times New Roman" panose="02020603050405020304" pitchFamily="18" charset="0"/>
                      </a:rPr>
                      <a:t>  Q</a:t>
                    </a:r>
                    <a:r>
                      <a:rPr lang="en-US" altLang="zh-CN" baseline="-25000">
                        <a:latin typeface="Times New Roman" panose="02020603050405020304" pitchFamily="18" charset="0"/>
                      </a:rPr>
                      <a:t>0n</a:t>
                    </a:r>
                    <a:endParaRPr lang="en-US" altLang="zh-CN"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26644" name="组合 26643"/>
                <p:cNvGrpSpPr/>
                <p:nvPr/>
              </p:nvGrpSpPr>
              <p:grpSpPr>
                <a:xfrm>
                  <a:off x="4148" y="720"/>
                  <a:ext cx="876" cy="576"/>
                  <a:chOff x="2929" y="1152"/>
                  <a:chExt cx="1013" cy="576"/>
                </a:xfrm>
              </p:grpSpPr>
              <p:sp>
                <p:nvSpPr>
                  <p:cNvPr id="26645" name="文本框 26644"/>
                  <p:cNvSpPr txBox="1"/>
                  <p:nvPr/>
                </p:nvSpPr>
                <p:spPr>
                  <a:xfrm>
                    <a:off x="2929" y="1152"/>
                    <a:ext cx="1013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 anchorCtr="0">
                    <a:spAutoFit/>
                  </a:bodyPr>
                  <a:p>
                    <a:pPr algn="l" eaLnBrk="1" hangingPunct="1"/>
                    <a:r>
                      <a:rPr lang="zh-CN" altLang="en-US" dirty="0">
                        <a:latin typeface="Times New Roman" panose="02020603050405020304" pitchFamily="18" charset="0"/>
                      </a:rPr>
                      <a:t>现控制入</a:t>
                    </a:r>
                    <a:endParaRPr lang="zh-CN" altLang="en-US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6646" name="文本框 26645"/>
                  <p:cNvSpPr txBox="1"/>
                  <p:nvPr/>
                </p:nvSpPr>
                <p:spPr>
                  <a:xfrm>
                    <a:off x="2976" y="1440"/>
                    <a:ext cx="801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 anchorCtr="0">
                    <a:spAutoFit/>
                  </a:bodyPr>
                  <a:p>
                    <a:pPr algn="l" eaLnBrk="1" hangingPunct="1"/>
                    <a:r>
                      <a:rPr lang="en-US" altLang="zh-CN">
                        <a:latin typeface="Times New Roman" panose="02020603050405020304" pitchFamily="18" charset="0"/>
                      </a:rPr>
                      <a:t>T</a:t>
                    </a:r>
                    <a:r>
                      <a:rPr lang="en-US" altLang="zh-CN" baseline="-25000">
                        <a:latin typeface="Times New Roman" panose="02020603050405020304" pitchFamily="18" charset="0"/>
                      </a:rPr>
                      <a:t>1</a:t>
                    </a:r>
                    <a:r>
                      <a:rPr lang="en-US" altLang="zh-CN">
                        <a:latin typeface="Times New Roman" panose="02020603050405020304" pitchFamily="18" charset="0"/>
                      </a:rPr>
                      <a:t>    T</a:t>
                    </a:r>
                    <a:r>
                      <a:rPr lang="en-US" altLang="zh-CN" baseline="-25000">
                        <a:latin typeface="Times New Roman" panose="02020603050405020304" pitchFamily="18" charset="0"/>
                      </a:rPr>
                      <a:t>0</a:t>
                    </a:r>
                    <a:endParaRPr lang="en-US" altLang="zh-CN"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26647" name="组合 26646"/>
                <p:cNvGrpSpPr/>
                <p:nvPr/>
              </p:nvGrpSpPr>
              <p:grpSpPr>
                <a:xfrm>
                  <a:off x="3312" y="720"/>
                  <a:ext cx="958" cy="563"/>
                  <a:chOff x="3842" y="1165"/>
                  <a:chExt cx="1108" cy="563"/>
                </a:xfrm>
              </p:grpSpPr>
              <p:sp>
                <p:nvSpPr>
                  <p:cNvPr id="26648" name="文本框 26647"/>
                  <p:cNvSpPr txBox="1"/>
                  <p:nvPr/>
                </p:nvSpPr>
                <p:spPr>
                  <a:xfrm>
                    <a:off x="3987" y="1165"/>
                    <a:ext cx="684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 anchorCtr="0">
                    <a:spAutoFit/>
                  </a:bodyPr>
                  <a:p>
                    <a:pPr algn="l" eaLnBrk="1" hangingPunct="1"/>
                    <a:r>
                      <a:rPr lang="zh-CN" altLang="en-US" dirty="0">
                        <a:latin typeface="Times New Roman" panose="02020603050405020304" pitchFamily="18" charset="0"/>
                      </a:rPr>
                      <a:t>次  态</a:t>
                    </a:r>
                    <a:endParaRPr lang="zh-CN" altLang="en-US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6649" name="文本框 26648"/>
                  <p:cNvSpPr txBox="1"/>
                  <p:nvPr/>
                </p:nvSpPr>
                <p:spPr>
                  <a:xfrm>
                    <a:off x="3842" y="1440"/>
                    <a:ext cx="1108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 anchorCtr="0">
                    <a:spAutoFit/>
                  </a:bodyPr>
                  <a:p>
                    <a:pPr algn="l" eaLnBrk="1" hangingPunct="1"/>
                    <a:r>
                      <a:rPr lang="en-US" altLang="zh-CN">
                        <a:latin typeface="Times New Roman" panose="02020603050405020304" pitchFamily="18" charset="0"/>
                      </a:rPr>
                      <a:t>Q</a:t>
                    </a:r>
                    <a:r>
                      <a:rPr lang="en-US" altLang="zh-CN" baseline="-25000">
                        <a:latin typeface="Times New Roman" panose="02020603050405020304" pitchFamily="18" charset="0"/>
                      </a:rPr>
                      <a:t>1n+1</a:t>
                    </a:r>
                    <a:r>
                      <a:rPr lang="en-US" altLang="zh-CN">
                        <a:latin typeface="Times New Roman" panose="02020603050405020304" pitchFamily="18" charset="0"/>
                      </a:rPr>
                      <a:t>Q</a:t>
                    </a:r>
                    <a:r>
                      <a:rPr lang="en-US" altLang="zh-CN" baseline="-25000">
                        <a:latin typeface="Times New Roman" panose="02020603050405020304" pitchFamily="18" charset="0"/>
                      </a:rPr>
                      <a:t>0n+1</a:t>
                    </a:r>
                    <a:endParaRPr lang="en-US" altLang="zh-CN"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26650" name="组合 26649"/>
                <p:cNvGrpSpPr/>
                <p:nvPr/>
              </p:nvGrpSpPr>
              <p:grpSpPr>
                <a:xfrm>
                  <a:off x="5027" y="720"/>
                  <a:ext cx="686" cy="576"/>
                  <a:chOff x="4803" y="1152"/>
                  <a:chExt cx="793" cy="576"/>
                </a:xfrm>
              </p:grpSpPr>
              <p:sp>
                <p:nvSpPr>
                  <p:cNvPr id="26651" name="文本框 26650"/>
                  <p:cNvSpPr txBox="1"/>
                  <p:nvPr/>
                </p:nvSpPr>
                <p:spPr>
                  <a:xfrm>
                    <a:off x="4803" y="1152"/>
                    <a:ext cx="793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 anchorCtr="0">
                    <a:spAutoFit/>
                  </a:bodyPr>
                  <a:p>
                    <a:pPr algn="l" eaLnBrk="1" hangingPunct="1"/>
                    <a:r>
                      <a:rPr lang="zh-CN" altLang="en-US" dirty="0">
                        <a:latin typeface="Times New Roman" panose="02020603050405020304" pitchFamily="18" charset="0"/>
                      </a:rPr>
                      <a:t>现输出</a:t>
                    </a:r>
                    <a:endParaRPr lang="zh-CN" altLang="en-US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6652" name="文本框 26651"/>
                  <p:cNvSpPr txBox="1"/>
                  <p:nvPr/>
                </p:nvSpPr>
                <p:spPr>
                  <a:xfrm>
                    <a:off x="4991" y="1440"/>
                    <a:ext cx="365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 anchorCtr="0">
                    <a:spAutoFit/>
                  </a:bodyPr>
                  <a:p>
                    <a:pPr algn="l" eaLnBrk="1" hangingPunct="1"/>
                    <a:r>
                      <a:rPr lang="en-US" altLang="zh-CN">
                        <a:latin typeface="Times New Roman" panose="02020603050405020304" pitchFamily="18" charset="0"/>
                      </a:rPr>
                      <a:t>Z</a:t>
                    </a:r>
                    <a:r>
                      <a:rPr lang="en-US" altLang="zh-CN" baseline="-25000">
                        <a:latin typeface="Times New Roman" panose="02020603050405020304" pitchFamily="18" charset="0"/>
                      </a:rPr>
                      <a:t>n</a:t>
                    </a:r>
                    <a:endParaRPr lang="en-US" altLang="zh-CN"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26653" name="组合 26652"/>
                <p:cNvGrpSpPr/>
                <p:nvPr/>
              </p:nvGrpSpPr>
              <p:grpSpPr>
                <a:xfrm>
                  <a:off x="2284" y="1248"/>
                  <a:ext cx="212" cy="768"/>
                  <a:chOff x="528" y="1920"/>
                  <a:chExt cx="212" cy="768"/>
                </a:xfrm>
              </p:grpSpPr>
              <p:sp>
                <p:nvSpPr>
                  <p:cNvPr id="26654" name="文本框 26653"/>
                  <p:cNvSpPr txBox="1"/>
                  <p:nvPr/>
                </p:nvSpPr>
                <p:spPr>
                  <a:xfrm>
                    <a:off x="528" y="1920"/>
                    <a:ext cx="212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 anchorCtr="0">
                    <a:spAutoFit/>
                  </a:bodyPr>
                  <a:p>
                    <a:pPr algn="l" eaLnBrk="1" hangingPunct="1"/>
                    <a:r>
                      <a:rPr lang="en-US" altLang="zh-CN">
                        <a:latin typeface="Times New Roman" panose="02020603050405020304" pitchFamily="18" charset="0"/>
                      </a:rPr>
                      <a:t>0</a:t>
                    </a:r>
                    <a:endParaRPr lang="en-US" altLang="zh-CN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6655" name="文本框 26654"/>
                  <p:cNvSpPr txBox="1"/>
                  <p:nvPr/>
                </p:nvSpPr>
                <p:spPr>
                  <a:xfrm>
                    <a:off x="528" y="2160"/>
                    <a:ext cx="212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 anchorCtr="0">
                    <a:spAutoFit/>
                  </a:bodyPr>
                  <a:p>
                    <a:pPr algn="l" eaLnBrk="1" hangingPunct="1"/>
                    <a:r>
                      <a:rPr lang="en-US" altLang="zh-CN">
                        <a:latin typeface="Times New Roman" panose="02020603050405020304" pitchFamily="18" charset="0"/>
                      </a:rPr>
                      <a:t>0</a:t>
                    </a:r>
                    <a:endParaRPr lang="en-US" altLang="zh-CN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6656" name="文本框 26655"/>
                  <p:cNvSpPr txBox="1"/>
                  <p:nvPr/>
                </p:nvSpPr>
                <p:spPr>
                  <a:xfrm>
                    <a:off x="528" y="2400"/>
                    <a:ext cx="212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 anchorCtr="0">
                    <a:spAutoFit/>
                  </a:bodyPr>
                  <a:p>
                    <a:pPr algn="l" eaLnBrk="1" hangingPunct="1"/>
                    <a:r>
                      <a:rPr lang="en-US" altLang="zh-CN">
                        <a:latin typeface="Times New Roman" panose="02020603050405020304" pitchFamily="18" charset="0"/>
                      </a:rPr>
                      <a:t>0</a:t>
                    </a:r>
                    <a:endParaRPr lang="en-US" altLang="zh-CN"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26657" name="组合 26656"/>
                <p:cNvGrpSpPr/>
                <p:nvPr/>
              </p:nvGrpSpPr>
              <p:grpSpPr>
                <a:xfrm>
                  <a:off x="2736" y="1296"/>
                  <a:ext cx="596" cy="720"/>
                  <a:chOff x="2736" y="1920"/>
                  <a:chExt cx="596" cy="720"/>
                </a:xfrm>
              </p:grpSpPr>
              <p:sp>
                <p:nvSpPr>
                  <p:cNvPr id="26658" name="文本框 26657"/>
                  <p:cNvSpPr txBox="1"/>
                  <p:nvPr/>
                </p:nvSpPr>
                <p:spPr>
                  <a:xfrm>
                    <a:off x="2736" y="1920"/>
                    <a:ext cx="596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 anchorCtr="0">
                    <a:spAutoFit/>
                  </a:bodyPr>
                  <a:p>
                    <a:pPr algn="l" eaLnBrk="1" hangingPunct="1"/>
                    <a:r>
                      <a:rPr lang="en-US" altLang="zh-CN">
                        <a:latin typeface="Times New Roman" panose="02020603050405020304" pitchFamily="18" charset="0"/>
                      </a:rPr>
                      <a:t>0      0</a:t>
                    </a:r>
                    <a:endParaRPr lang="en-US" altLang="zh-CN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6659" name="文本框 26658"/>
                  <p:cNvSpPr txBox="1"/>
                  <p:nvPr/>
                </p:nvSpPr>
                <p:spPr>
                  <a:xfrm>
                    <a:off x="2736" y="2112"/>
                    <a:ext cx="596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 anchorCtr="0">
                    <a:spAutoFit/>
                  </a:bodyPr>
                  <a:p>
                    <a:pPr algn="l" eaLnBrk="1" hangingPunct="1"/>
                    <a:r>
                      <a:rPr lang="en-US" altLang="zh-CN">
                        <a:latin typeface="Times New Roman" panose="02020603050405020304" pitchFamily="18" charset="0"/>
                      </a:rPr>
                      <a:t>0      1</a:t>
                    </a:r>
                    <a:endParaRPr lang="en-US" altLang="zh-CN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6660" name="文本框 26659"/>
                  <p:cNvSpPr txBox="1"/>
                  <p:nvPr/>
                </p:nvSpPr>
                <p:spPr>
                  <a:xfrm>
                    <a:off x="2736" y="2352"/>
                    <a:ext cx="596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 anchorCtr="0">
                    <a:spAutoFit/>
                  </a:bodyPr>
                  <a:p>
                    <a:pPr algn="l" eaLnBrk="1" hangingPunct="1"/>
                    <a:r>
                      <a:rPr lang="en-US" altLang="zh-CN">
                        <a:latin typeface="Times New Roman" panose="02020603050405020304" pitchFamily="18" charset="0"/>
                      </a:rPr>
                      <a:t>1      0</a:t>
                    </a:r>
                    <a:endParaRPr lang="en-US" altLang="zh-CN"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26661" name="组合 26660"/>
                <p:cNvGrpSpPr/>
                <p:nvPr/>
              </p:nvGrpSpPr>
              <p:grpSpPr>
                <a:xfrm>
                  <a:off x="2284" y="1968"/>
                  <a:ext cx="213" cy="816"/>
                  <a:chOff x="2284" y="2592"/>
                  <a:chExt cx="213" cy="816"/>
                </a:xfrm>
              </p:grpSpPr>
              <p:sp>
                <p:nvSpPr>
                  <p:cNvPr id="26662" name="文本框 26661"/>
                  <p:cNvSpPr txBox="1"/>
                  <p:nvPr/>
                </p:nvSpPr>
                <p:spPr>
                  <a:xfrm>
                    <a:off x="2284" y="2592"/>
                    <a:ext cx="212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 anchorCtr="0">
                    <a:spAutoFit/>
                  </a:bodyPr>
                  <a:p>
                    <a:pPr algn="l" eaLnBrk="1" hangingPunct="1"/>
                    <a:r>
                      <a:rPr lang="en-US" altLang="zh-CN">
                        <a:latin typeface="Times New Roman" panose="02020603050405020304" pitchFamily="18" charset="0"/>
                      </a:rPr>
                      <a:t>1</a:t>
                    </a:r>
                    <a:endParaRPr lang="en-US" altLang="zh-CN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6663" name="文本框 26662"/>
                  <p:cNvSpPr txBox="1"/>
                  <p:nvPr/>
                </p:nvSpPr>
                <p:spPr>
                  <a:xfrm>
                    <a:off x="2285" y="2832"/>
                    <a:ext cx="212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 anchorCtr="0">
                    <a:spAutoFit/>
                  </a:bodyPr>
                  <a:p>
                    <a:pPr algn="l" eaLnBrk="1" hangingPunct="1"/>
                    <a:r>
                      <a:rPr lang="en-US" altLang="zh-CN">
                        <a:latin typeface="Times New Roman" panose="02020603050405020304" pitchFamily="18" charset="0"/>
                      </a:rPr>
                      <a:t>1</a:t>
                    </a:r>
                    <a:endParaRPr lang="en-US" altLang="zh-CN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6664" name="文本框 26663"/>
                  <p:cNvSpPr txBox="1"/>
                  <p:nvPr/>
                </p:nvSpPr>
                <p:spPr>
                  <a:xfrm>
                    <a:off x="2285" y="3120"/>
                    <a:ext cx="212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 anchorCtr="0">
                    <a:spAutoFit/>
                  </a:bodyPr>
                  <a:p>
                    <a:pPr algn="l" eaLnBrk="1" hangingPunct="1"/>
                    <a:r>
                      <a:rPr lang="en-US" altLang="zh-CN">
                        <a:latin typeface="Times New Roman" panose="02020603050405020304" pitchFamily="18" charset="0"/>
                      </a:rPr>
                      <a:t>1</a:t>
                    </a:r>
                    <a:endParaRPr lang="en-US" altLang="zh-CN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6665" name="文本框 26664"/>
                <p:cNvSpPr txBox="1"/>
                <p:nvPr/>
              </p:nvSpPr>
              <p:spPr>
                <a:xfrm>
                  <a:off x="2742" y="1968"/>
                  <a:ext cx="596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 algn="l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0      0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666" name="文本框 26665"/>
                <p:cNvSpPr txBox="1"/>
                <p:nvPr/>
              </p:nvSpPr>
              <p:spPr>
                <a:xfrm>
                  <a:off x="2742" y="2256"/>
                  <a:ext cx="596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 algn="l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0      1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667" name="文本框 26666"/>
                <p:cNvSpPr txBox="1"/>
                <p:nvPr/>
              </p:nvSpPr>
              <p:spPr>
                <a:xfrm>
                  <a:off x="2742" y="2496"/>
                  <a:ext cx="596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 algn="l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1      0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668" name="文本框 26667"/>
                <p:cNvSpPr txBox="1"/>
                <p:nvPr/>
              </p:nvSpPr>
              <p:spPr>
                <a:xfrm>
                  <a:off x="5216" y="2256"/>
                  <a:ext cx="21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 algn="l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0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26669" name="组合 26668"/>
                <p:cNvGrpSpPr/>
                <p:nvPr/>
              </p:nvGrpSpPr>
              <p:grpSpPr>
                <a:xfrm>
                  <a:off x="5232" y="1296"/>
                  <a:ext cx="192" cy="768"/>
                  <a:chOff x="5232" y="1920"/>
                  <a:chExt cx="192" cy="768"/>
                </a:xfrm>
              </p:grpSpPr>
              <p:sp>
                <p:nvSpPr>
                  <p:cNvPr id="26670" name="文本框 26669"/>
                  <p:cNvSpPr txBox="1"/>
                  <p:nvPr/>
                </p:nvSpPr>
                <p:spPr>
                  <a:xfrm>
                    <a:off x="5232" y="1920"/>
                    <a:ext cx="191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p>
                    <a:pPr algn="l" eaLnBrk="1" hangingPunct="1"/>
                    <a:r>
                      <a:rPr lang="en-US" altLang="zh-CN">
                        <a:latin typeface="Times New Roman" panose="02020603050405020304" pitchFamily="18" charset="0"/>
                      </a:rPr>
                      <a:t>0</a:t>
                    </a:r>
                    <a:endParaRPr lang="en-US" altLang="zh-CN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6671" name="文本框 26670"/>
                  <p:cNvSpPr txBox="1"/>
                  <p:nvPr/>
                </p:nvSpPr>
                <p:spPr>
                  <a:xfrm>
                    <a:off x="5232" y="2160"/>
                    <a:ext cx="191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p>
                    <a:pPr algn="l" eaLnBrk="1" hangingPunct="1"/>
                    <a:r>
                      <a:rPr lang="en-US" altLang="zh-CN">
                        <a:latin typeface="Times New Roman" panose="02020603050405020304" pitchFamily="18" charset="0"/>
                      </a:rPr>
                      <a:t>0</a:t>
                    </a:r>
                    <a:endParaRPr lang="en-US" altLang="zh-CN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6672" name="文本框 26671"/>
                  <p:cNvSpPr txBox="1"/>
                  <p:nvPr/>
                </p:nvSpPr>
                <p:spPr>
                  <a:xfrm>
                    <a:off x="5233" y="2400"/>
                    <a:ext cx="191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p>
                    <a:pPr algn="l" eaLnBrk="1" hangingPunct="1"/>
                    <a:r>
                      <a:rPr lang="en-US" altLang="zh-CN">
                        <a:latin typeface="Times New Roman" panose="02020603050405020304" pitchFamily="18" charset="0"/>
                      </a:rPr>
                      <a:t>0</a:t>
                    </a:r>
                    <a:endParaRPr lang="en-US" altLang="zh-CN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6673" name="文本框 26672"/>
                <p:cNvSpPr txBox="1"/>
                <p:nvPr/>
              </p:nvSpPr>
              <p:spPr>
                <a:xfrm>
                  <a:off x="5233" y="2016"/>
                  <a:ext cx="21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 algn="l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0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674" name="文本框 26673"/>
                <p:cNvSpPr txBox="1"/>
                <p:nvPr/>
              </p:nvSpPr>
              <p:spPr>
                <a:xfrm>
                  <a:off x="5233" y="2496"/>
                  <a:ext cx="21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 algn="l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1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675" name="文本框 26674"/>
                <p:cNvSpPr txBox="1"/>
                <p:nvPr/>
              </p:nvSpPr>
              <p:spPr>
                <a:xfrm>
                  <a:off x="3484" y="1968"/>
                  <a:ext cx="644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 algn="l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0       0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676" name="文本框 26675"/>
                <p:cNvSpPr txBox="1"/>
                <p:nvPr/>
              </p:nvSpPr>
              <p:spPr>
                <a:xfrm>
                  <a:off x="3504" y="2496"/>
                  <a:ext cx="644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 algn="l"/>
                  <a:r>
                    <a:rPr lang="en-US" altLang="zh-CN">
                      <a:latin typeface="Times New Roman" panose="02020603050405020304" pitchFamily="18" charset="0"/>
                    </a:rPr>
                    <a:t>0       0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677" name="文本框 26676"/>
                <p:cNvSpPr txBox="1"/>
                <p:nvPr/>
              </p:nvSpPr>
              <p:spPr>
                <a:xfrm>
                  <a:off x="3473" y="2256"/>
                  <a:ext cx="703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 algn="l"/>
                  <a:r>
                    <a:rPr lang="en-US" altLang="zh-CN">
                      <a:latin typeface="Times New Roman" panose="02020603050405020304" pitchFamily="18" charset="0"/>
                    </a:rPr>
                    <a:t>1       0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26678" name="组合 26677"/>
                <p:cNvGrpSpPr/>
                <p:nvPr/>
              </p:nvGrpSpPr>
              <p:grpSpPr>
                <a:xfrm>
                  <a:off x="3484" y="1296"/>
                  <a:ext cx="644" cy="720"/>
                  <a:chOff x="3484" y="1920"/>
                  <a:chExt cx="644" cy="720"/>
                </a:xfrm>
              </p:grpSpPr>
              <p:sp>
                <p:nvSpPr>
                  <p:cNvPr id="26679" name="文本框 26678"/>
                  <p:cNvSpPr txBox="1"/>
                  <p:nvPr/>
                </p:nvSpPr>
                <p:spPr>
                  <a:xfrm>
                    <a:off x="3484" y="1920"/>
                    <a:ext cx="644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 anchorCtr="0">
                    <a:spAutoFit/>
                  </a:bodyPr>
                  <a:p>
                    <a:pPr algn="l" eaLnBrk="1" hangingPunct="1"/>
                    <a:r>
                      <a:rPr lang="en-US" altLang="zh-CN">
                        <a:latin typeface="Times New Roman" panose="02020603050405020304" pitchFamily="18" charset="0"/>
                      </a:rPr>
                      <a:t>0       1</a:t>
                    </a:r>
                    <a:endParaRPr lang="en-US" altLang="zh-CN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6680" name="文本框 26679"/>
                  <p:cNvSpPr txBox="1"/>
                  <p:nvPr/>
                </p:nvSpPr>
                <p:spPr>
                  <a:xfrm>
                    <a:off x="3484" y="2112"/>
                    <a:ext cx="644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 anchorCtr="0">
                    <a:spAutoFit/>
                  </a:bodyPr>
                  <a:p>
                    <a:pPr algn="l" eaLnBrk="1" hangingPunct="1"/>
                    <a:r>
                      <a:rPr lang="en-US" altLang="zh-CN">
                        <a:latin typeface="Times New Roman" panose="02020603050405020304" pitchFamily="18" charset="0"/>
                      </a:rPr>
                      <a:t>0       1</a:t>
                    </a:r>
                    <a:endParaRPr lang="en-US" altLang="zh-CN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6681" name="文本框 26680"/>
                  <p:cNvSpPr txBox="1"/>
                  <p:nvPr/>
                </p:nvSpPr>
                <p:spPr>
                  <a:xfrm>
                    <a:off x="3484" y="2352"/>
                    <a:ext cx="644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 anchorCtr="0">
                    <a:spAutoFit/>
                  </a:bodyPr>
                  <a:p>
                    <a:pPr algn="l" eaLnBrk="1" hangingPunct="1"/>
                    <a:r>
                      <a:rPr lang="en-US" altLang="zh-CN">
                        <a:latin typeface="Times New Roman" panose="02020603050405020304" pitchFamily="18" charset="0"/>
                      </a:rPr>
                      <a:t>0       1</a:t>
                    </a:r>
                    <a:endParaRPr lang="en-US" altLang="zh-CN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6682" name="文本框 26681"/>
                <p:cNvSpPr txBox="1"/>
                <p:nvPr/>
              </p:nvSpPr>
              <p:spPr>
                <a:xfrm>
                  <a:off x="4262" y="1274"/>
                  <a:ext cx="212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t" anchorCtr="0">
                  <a:spAutoFit/>
                </a:bodyPr>
                <a:p>
                  <a:pPr algn="l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0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683" name="文本框 26682"/>
                <p:cNvSpPr txBox="1"/>
                <p:nvPr/>
              </p:nvSpPr>
              <p:spPr>
                <a:xfrm>
                  <a:off x="4646" y="1274"/>
                  <a:ext cx="212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t" anchorCtr="0">
                  <a:spAutoFit/>
                </a:bodyPr>
                <a:p>
                  <a:pPr algn="l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1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684" name="文本框 26683"/>
                <p:cNvSpPr txBox="1"/>
                <p:nvPr/>
              </p:nvSpPr>
              <p:spPr>
                <a:xfrm>
                  <a:off x="4252" y="1488"/>
                  <a:ext cx="212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t" anchorCtr="0">
                  <a:spAutoFit/>
                </a:bodyPr>
                <a:p>
                  <a:pPr algn="l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0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685" name="文本框 26684"/>
                <p:cNvSpPr txBox="1"/>
                <p:nvPr/>
              </p:nvSpPr>
              <p:spPr>
                <a:xfrm>
                  <a:off x="4646" y="1488"/>
                  <a:ext cx="212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t" anchorCtr="0">
                  <a:spAutoFit/>
                </a:bodyPr>
                <a:p>
                  <a:pPr algn="l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0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26686" name="组合 26685"/>
                <p:cNvGrpSpPr/>
                <p:nvPr/>
              </p:nvGrpSpPr>
              <p:grpSpPr>
                <a:xfrm>
                  <a:off x="4252" y="1706"/>
                  <a:ext cx="836" cy="1606"/>
                  <a:chOff x="4252" y="2330"/>
                  <a:chExt cx="836" cy="1606"/>
                </a:xfrm>
              </p:grpSpPr>
              <p:sp>
                <p:nvSpPr>
                  <p:cNvPr id="26687" name="文本框 26686"/>
                  <p:cNvSpPr txBox="1"/>
                  <p:nvPr/>
                </p:nvSpPr>
                <p:spPr>
                  <a:xfrm>
                    <a:off x="4272" y="2880"/>
                    <a:ext cx="816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p>
                    <a:pPr algn="l"/>
                    <a:r>
                      <a:rPr lang="en-US" altLang="zh-CN">
                        <a:latin typeface="Times New Roman" panose="02020603050405020304" pitchFamily="18" charset="0"/>
                      </a:rPr>
                      <a:t>1      1</a:t>
                    </a:r>
                    <a:endParaRPr lang="en-US" altLang="zh-CN">
                      <a:latin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26688" name="组合 26687"/>
                  <p:cNvGrpSpPr/>
                  <p:nvPr/>
                </p:nvGrpSpPr>
                <p:grpSpPr>
                  <a:xfrm>
                    <a:off x="4252" y="2330"/>
                    <a:ext cx="836" cy="1606"/>
                    <a:chOff x="4252" y="2330"/>
                    <a:chExt cx="836" cy="1606"/>
                  </a:xfrm>
                </p:grpSpPr>
                <p:sp>
                  <p:nvSpPr>
                    <p:cNvPr id="26689" name="文本框 26688"/>
                    <p:cNvSpPr txBox="1"/>
                    <p:nvPr/>
                  </p:nvSpPr>
                  <p:spPr>
                    <a:xfrm>
                      <a:off x="4272" y="3648"/>
                      <a:ext cx="816" cy="288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p>
                      <a:pPr algn="l"/>
                      <a:endParaRPr dirty="0">
                        <a:latin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26690" name="组合 26689"/>
                    <p:cNvGrpSpPr/>
                    <p:nvPr/>
                  </p:nvGrpSpPr>
                  <p:grpSpPr>
                    <a:xfrm>
                      <a:off x="4252" y="2330"/>
                      <a:ext cx="616" cy="1401"/>
                      <a:chOff x="4252" y="2330"/>
                      <a:chExt cx="616" cy="1401"/>
                    </a:xfrm>
                  </p:grpSpPr>
                  <p:sp>
                    <p:nvSpPr>
                      <p:cNvPr id="26691" name="文本框 26690"/>
                      <p:cNvSpPr txBox="1"/>
                      <p:nvPr/>
                    </p:nvSpPr>
                    <p:spPr>
                      <a:xfrm>
                        <a:off x="4272" y="2592"/>
                        <a:ext cx="596" cy="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wrap="none" anchor="t" anchorCtr="0">
                        <a:spAutoFit/>
                      </a:bodyPr>
                      <a:p>
                        <a:pPr algn="l" eaLnBrk="1" hangingPunct="1"/>
                        <a:r>
                          <a:rPr lang="en-US" altLang="zh-CN">
                            <a:latin typeface="Times New Roman" panose="02020603050405020304" pitchFamily="18" charset="0"/>
                          </a:rPr>
                          <a:t>0      0</a:t>
                        </a:r>
                        <a:endParaRPr lang="en-US" altLang="zh-CN">
                          <a:latin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6692" name="文本框 26691"/>
                      <p:cNvSpPr txBox="1"/>
                      <p:nvPr/>
                    </p:nvSpPr>
                    <p:spPr>
                      <a:xfrm>
                        <a:off x="4272" y="3120"/>
                        <a:ext cx="596" cy="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wrap="none" anchor="t" anchorCtr="0">
                        <a:spAutoFit/>
                      </a:bodyPr>
                      <a:p>
                        <a:pPr algn="l"/>
                        <a:r>
                          <a:rPr lang="en-US" altLang="zh-CN">
                            <a:latin typeface="Times New Roman" panose="02020603050405020304" pitchFamily="18" charset="0"/>
                          </a:rPr>
                          <a:t>1      0</a:t>
                        </a:r>
                        <a:endParaRPr lang="en-US" altLang="zh-CN">
                          <a:latin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6693" name="文本框 26692"/>
                      <p:cNvSpPr txBox="1"/>
                      <p:nvPr/>
                    </p:nvSpPr>
                    <p:spPr>
                      <a:xfrm>
                        <a:off x="4262" y="2330"/>
                        <a:ext cx="212" cy="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  <p:txBody>
                      <a:bodyPr wrap="none" anchor="t" anchorCtr="0">
                        <a:spAutoFit/>
                      </a:bodyPr>
                      <a:p>
                        <a:pPr algn="l" eaLnBrk="1" hangingPunct="1"/>
                        <a:r>
                          <a:rPr lang="en-US" altLang="zh-CN">
                            <a:latin typeface="Times New Roman" panose="02020603050405020304" pitchFamily="18" charset="0"/>
                          </a:rPr>
                          <a:t>1</a:t>
                        </a:r>
                        <a:endParaRPr lang="en-US" altLang="zh-CN">
                          <a:latin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6694" name="文本框 26693"/>
                      <p:cNvSpPr txBox="1"/>
                      <p:nvPr/>
                    </p:nvSpPr>
                    <p:spPr>
                      <a:xfrm>
                        <a:off x="4646" y="2330"/>
                        <a:ext cx="212" cy="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  <p:txBody>
                      <a:bodyPr wrap="none" anchor="t" anchorCtr="0">
                        <a:spAutoFit/>
                      </a:bodyPr>
                      <a:p>
                        <a:pPr algn="l" eaLnBrk="1" hangingPunct="1"/>
                        <a:r>
                          <a:rPr lang="en-US" altLang="zh-CN">
                            <a:latin typeface="Times New Roman" panose="02020603050405020304" pitchFamily="18" charset="0"/>
                          </a:rPr>
                          <a:t>1</a:t>
                        </a:r>
                        <a:endParaRPr lang="en-US" altLang="zh-CN">
                          <a:latin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6695" name="文本框 26694"/>
                      <p:cNvSpPr txBox="1"/>
                      <p:nvPr/>
                    </p:nvSpPr>
                    <p:spPr>
                      <a:xfrm>
                        <a:off x="4252" y="3443"/>
                        <a:ext cx="116" cy="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wrap="none" anchor="t" anchorCtr="0">
                        <a:spAutoFit/>
                      </a:bodyPr>
                      <a:p>
                        <a:pPr algn="l"/>
                        <a:endParaRPr dirty="0">
                          <a:latin typeface="Times New Roman" panose="02020603050405020304" pitchFamily="18" charset="0"/>
                        </a:endParaRPr>
                      </a:p>
                    </p:txBody>
                  </p:sp>
                </p:grpSp>
              </p:grpSp>
            </p:grpSp>
          </p:grpSp>
          <p:grpSp>
            <p:nvGrpSpPr>
              <p:cNvPr id="26696" name="组合 26695"/>
              <p:cNvGrpSpPr/>
              <p:nvPr/>
            </p:nvGrpSpPr>
            <p:grpSpPr>
              <a:xfrm>
                <a:off x="2208" y="720"/>
                <a:ext cx="3456" cy="2688"/>
                <a:chOff x="2160" y="1296"/>
                <a:chExt cx="3456" cy="2688"/>
              </a:xfrm>
            </p:grpSpPr>
            <p:grpSp>
              <p:nvGrpSpPr>
                <p:cNvPr id="26697" name="组合 26696"/>
                <p:cNvGrpSpPr/>
                <p:nvPr/>
              </p:nvGrpSpPr>
              <p:grpSpPr>
                <a:xfrm>
                  <a:off x="2160" y="1296"/>
                  <a:ext cx="3446" cy="2688"/>
                  <a:chOff x="1488" y="1152"/>
                  <a:chExt cx="3984" cy="2688"/>
                </a:xfrm>
              </p:grpSpPr>
              <p:sp>
                <p:nvSpPr>
                  <p:cNvPr id="26698" name="矩形 26697"/>
                  <p:cNvSpPr/>
                  <p:nvPr/>
                </p:nvSpPr>
                <p:spPr>
                  <a:xfrm>
                    <a:off x="1488" y="1152"/>
                    <a:ext cx="3984" cy="2688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26699" name="直接连接符 26698"/>
                  <p:cNvSpPr/>
                  <p:nvPr/>
                </p:nvSpPr>
                <p:spPr>
                  <a:xfrm>
                    <a:off x="1488" y="1440"/>
                    <a:ext cx="3984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6700" name="直接连接符 26699"/>
                  <p:cNvSpPr/>
                  <p:nvPr/>
                </p:nvSpPr>
                <p:spPr>
                  <a:xfrm>
                    <a:off x="1488" y="1728"/>
                    <a:ext cx="3984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6701" name="直接连接符 26700"/>
                  <p:cNvSpPr/>
                  <p:nvPr/>
                </p:nvSpPr>
                <p:spPr>
                  <a:xfrm>
                    <a:off x="2049" y="1152"/>
                    <a:ext cx="0" cy="2688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6702" name="直接连接符 26701"/>
                  <p:cNvSpPr/>
                  <p:nvPr/>
                </p:nvSpPr>
                <p:spPr>
                  <a:xfrm>
                    <a:off x="2891" y="1152"/>
                    <a:ext cx="0" cy="2688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6703" name="直接连接符 26702"/>
                  <p:cNvSpPr/>
                  <p:nvPr/>
                </p:nvSpPr>
                <p:spPr>
                  <a:xfrm>
                    <a:off x="3840" y="1152"/>
                    <a:ext cx="0" cy="2688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6704" name="直接连接符 26703"/>
                  <p:cNvSpPr/>
                  <p:nvPr/>
                </p:nvSpPr>
                <p:spPr>
                  <a:xfrm>
                    <a:off x="4800" y="1152"/>
                    <a:ext cx="0" cy="2688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6705" name="直接连接符 26704"/>
                <p:cNvSpPr/>
                <p:nvPr/>
              </p:nvSpPr>
              <p:spPr>
                <a:xfrm>
                  <a:off x="2160" y="3408"/>
                  <a:ext cx="3456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26706" name="文本框 26705"/>
            <p:cNvSpPr txBox="1"/>
            <p:nvPr/>
          </p:nvSpPr>
          <p:spPr>
            <a:xfrm>
              <a:off x="3024" y="480"/>
              <a:ext cx="164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zh-CN" altLang="en-US" dirty="0">
                  <a:latin typeface="Times New Roman" panose="02020603050405020304" pitchFamily="18" charset="0"/>
                </a:rPr>
                <a:t>全功能状态转换表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6707" name="文本框 26706"/>
            <p:cNvSpPr txBox="1"/>
            <p:nvPr/>
          </p:nvSpPr>
          <p:spPr>
            <a:xfrm>
              <a:off x="4271" y="2976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6708" name="文本框 26707"/>
            <p:cNvSpPr txBox="1"/>
            <p:nvPr/>
          </p:nvSpPr>
          <p:spPr>
            <a:xfrm>
              <a:off x="4271" y="3216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6709" name="文本框 26708"/>
            <p:cNvSpPr txBox="1"/>
            <p:nvPr/>
          </p:nvSpPr>
          <p:spPr>
            <a:xfrm>
              <a:off x="4655" y="3216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6710" name="文本框 26709"/>
            <p:cNvSpPr txBox="1"/>
            <p:nvPr/>
          </p:nvSpPr>
          <p:spPr>
            <a:xfrm>
              <a:off x="4655" y="2976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6711" name="文本框 26710"/>
            <p:cNvSpPr txBox="1"/>
            <p:nvPr/>
          </p:nvSpPr>
          <p:spPr>
            <a:xfrm>
              <a:off x="3503" y="2976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6712" name="文本框 26711"/>
            <p:cNvSpPr txBox="1"/>
            <p:nvPr/>
          </p:nvSpPr>
          <p:spPr>
            <a:xfrm>
              <a:off x="3925" y="2976"/>
              <a:ext cx="25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6713" name="文本框 26712"/>
            <p:cNvSpPr txBox="1"/>
            <p:nvPr/>
          </p:nvSpPr>
          <p:spPr>
            <a:xfrm>
              <a:off x="3493" y="3216"/>
              <a:ext cx="25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6714" name="文本框 26713"/>
            <p:cNvSpPr txBox="1"/>
            <p:nvPr/>
          </p:nvSpPr>
          <p:spPr>
            <a:xfrm>
              <a:off x="3935" y="3216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sp>
        <p:nvSpPr>
          <p:cNvPr id="26717" name="椭圆 26716"/>
          <p:cNvSpPr/>
          <p:nvPr/>
        </p:nvSpPr>
        <p:spPr>
          <a:xfrm>
            <a:off x="657225" y="3048000"/>
            <a:ext cx="533400" cy="457200"/>
          </a:xfrm>
          <a:prstGeom prst="ellipse">
            <a:avLst/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6718" name="椭圆 26717"/>
          <p:cNvSpPr/>
          <p:nvPr/>
        </p:nvSpPr>
        <p:spPr>
          <a:xfrm>
            <a:off x="2627313" y="3048000"/>
            <a:ext cx="533400" cy="457200"/>
          </a:xfrm>
          <a:prstGeom prst="ellipse">
            <a:avLst/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6719" name="椭圆 26718"/>
          <p:cNvSpPr/>
          <p:nvPr/>
        </p:nvSpPr>
        <p:spPr>
          <a:xfrm>
            <a:off x="2627313" y="4648200"/>
            <a:ext cx="533400" cy="457200"/>
          </a:xfrm>
          <a:prstGeom prst="ellipse">
            <a:avLst/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10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6720" name="椭圆 26719"/>
          <p:cNvSpPr/>
          <p:nvPr/>
        </p:nvSpPr>
        <p:spPr>
          <a:xfrm>
            <a:off x="609600" y="4572000"/>
            <a:ext cx="533400" cy="457200"/>
          </a:xfrm>
          <a:prstGeom prst="ellipse">
            <a:avLst/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11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26741" name="组合 26740"/>
          <p:cNvGrpSpPr/>
          <p:nvPr/>
        </p:nvGrpSpPr>
        <p:grpSpPr>
          <a:xfrm>
            <a:off x="1219200" y="2819400"/>
            <a:ext cx="1408113" cy="457200"/>
            <a:chOff x="768" y="1776"/>
            <a:chExt cx="887" cy="288"/>
          </a:xfrm>
        </p:grpSpPr>
        <p:sp>
          <p:nvSpPr>
            <p:cNvPr id="26721" name="直接连接符 26720"/>
            <p:cNvSpPr/>
            <p:nvPr/>
          </p:nvSpPr>
          <p:spPr>
            <a:xfrm>
              <a:off x="768" y="2064"/>
              <a:ext cx="88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6723" name="文本框 26722"/>
            <p:cNvSpPr txBox="1"/>
            <p:nvPr/>
          </p:nvSpPr>
          <p:spPr>
            <a:xfrm>
              <a:off x="1008" y="1776"/>
              <a:ext cx="36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6742" name="组合 26741"/>
          <p:cNvGrpSpPr/>
          <p:nvPr/>
        </p:nvGrpSpPr>
        <p:grpSpPr>
          <a:xfrm>
            <a:off x="2743200" y="2133600"/>
            <a:ext cx="798513" cy="1038225"/>
            <a:chOff x="1728" y="1344"/>
            <a:chExt cx="503" cy="654"/>
          </a:xfrm>
        </p:grpSpPr>
        <p:sp>
          <p:nvSpPr>
            <p:cNvPr id="26722" name="任意多边形 26721"/>
            <p:cNvSpPr/>
            <p:nvPr/>
          </p:nvSpPr>
          <p:spPr>
            <a:xfrm rot="-8727655">
              <a:off x="1799" y="1632"/>
              <a:ext cx="432" cy="366"/>
            </a:xfrm>
            <a:custGeom>
              <a:avLst/>
              <a:gdLst>
                <a:gd name="txL" fmla="*/ 0 w 43200"/>
                <a:gd name="txT" fmla="*/ 0 h 40918"/>
                <a:gd name="txR" fmla="*/ 43200 w 43200"/>
                <a:gd name="txB" fmla="*/ 40918 h 40918"/>
              </a:gdLst>
              <a:ahLst/>
              <a:cxnLst>
                <a:cxn ang="0">
                  <a:pos x="32488" y="663"/>
                </a:cxn>
                <a:cxn ang="270">
                  <a:pos x="11937" y="0"/>
                </a:cxn>
                <a:cxn ang="0">
                  <a:pos x="21600" y="19318"/>
                </a:cxn>
              </a:cxnLst>
              <a:rect l="txL" t="txT" r="txR" b="txB"/>
              <a:pathLst>
                <a:path w="43200" h="40918" fill="none">
                  <a:moveTo>
                    <a:pt x="32488" y="663"/>
                  </a:moveTo>
                  <a:arcTo wR="21600" hR="21600" stAng="-3583800" swAng="18189328"/>
                </a:path>
                <a:path w="43200" h="40918" stroke="0">
                  <a:moveTo>
                    <a:pt x="32488" y="663"/>
                  </a:moveTo>
                  <a:arcTo wR="21600" hR="21600" stAng="-3583800" swAng="18189328"/>
                  <a:lnTo>
                    <a:pt x="21600" y="19318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724" name="文本框 26723"/>
            <p:cNvSpPr txBox="1"/>
            <p:nvPr/>
          </p:nvSpPr>
          <p:spPr>
            <a:xfrm>
              <a:off x="1728" y="1344"/>
              <a:ext cx="36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6744" name="组合 26743"/>
          <p:cNvGrpSpPr/>
          <p:nvPr/>
        </p:nvGrpSpPr>
        <p:grpSpPr>
          <a:xfrm>
            <a:off x="1978025" y="3352800"/>
            <a:ext cx="766763" cy="1295400"/>
            <a:chOff x="1246" y="2112"/>
            <a:chExt cx="483" cy="816"/>
          </a:xfrm>
        </p:grpSpPr>
        <p:sp>
          <p:nvSpPr>
            <p:cNvPr id="26726" name="任意多边形 26725"/>
            <p:cNvSpPr/>
            <p:nvPr/>
          </p:nvSpPr>
          <p:spPr>
            <a:xfrm flipH="1" flipV="1">
              <a:off x="1584" y="2112"/>
              <a:ext cx="145" cy="816"/>
            </a:xfrm>
            <a:custGeom>
              <a:avLst/>
              <a:gdLst>
                <a:gd name="txL" fmla="*/ 0 w 24679"/>
                <a:gd name="txT" fmla="*/ 0 h 43200"/>
                <a:gd name="txR" fmla="*/ 24679 w 24679"/>
                <a:gd name="txB" fmla="*/ 43200 h 43200"/>
              </a:gdLst>
              <a:ahLst/>
              <a:cxnLst>
                <a:cxn ang="180">
                  <a:pos x="0" y="220"/>
                </a:cxn>
                <a:cxn ang="90">
                  <a:pos x="1256" y="43122"/>
                </a:cxn>
                <a:cxn ang="90">
                  <a:pos x="3079" y="21600"/>
                </a:cxn>
              </a:cxnLst>
              <a:rect l="txL" t="txT" r="txR" b="txB"/>
              <a:pathLst>
                <a:path w="24679" h="43200" fill="none">
                  <a:moveTo>
                    <a:pt x="0" y="220"/>
                  </a:moveTo>
                  <a:arcTo wR="21600" hR="21600" stAng="-5891700" swAng="11582197"/>
                </a:path>
                <a:path w="24679" h="43200" stroke="0">
                  <a:moveTo>
                    <a:pt x="0" y="220"/>
                  </a:moveTo>
                  <a:arcTo wR="21600" hR="21600" stAng="-5891700" swAng="11582197"/>
                  <a:lnTo>
                    <a:pt x="3079" y="21600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727" name="文本框 26726"/>
            <p:cNvSpPr txBox="1"/>
            <p:nvPr/>
          </p:nvSpPr>
          <p:spPr>
            <a:xfrm>
              <a:off x="1246" y="2448"/>
              <a:ext cx="36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6746" name="组合 26745"/>
          <p:cNvGrpSpPr/>
          <p:nvPr/>
        </p:nvGrpSpPr>
        <p:grpSpPr>
          <a:xfrm>
            <a:off x="1066800" y="3352800"/>
            <a:ext cx="1560513" cy="1295400"/>
            <a:chOff x="672" y="2112"/>
            <a:chExt cx="983" cy="816"/>
          </a:xfrm>
        </p:grpSpPr>
        <p:sp>
          <p:nvSpPr>
            <p:cNvPr id="26730" name="直接连接符 26729"/>
            <p:cNvSpPr/>
            <p:nvPr/>
          </p:nvSpPr>
          <p:spPr>
            <a:xfrm flipV="1">
              <a:off x="672" y="2112"/>
              <a:ext cx="983" cy="81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6731" name="文本框 26730"/>
            <p:cNvSpPr txBox="1"/>
            <p:nvPr/>
          </p:nvSpPr>
          <p:spPr>
            <a:xfrm>
              <a:off x="1056" y="2112"/>
              <a:ext cx="36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6743" name="组合 26742"/>
          <p:cNvGrpSpPr/>
          <p:nvPr/>
        </p:nvGrpSpPr>
        <p:grpSpPr>
          <a:xfrm>
            <a:off x="2855913" y="3505200"/>
            <a:ext cx="573087" cy="1143000"/>
            <a:chOff x="1799" y="2208"/>
            <a:chExt cx="361" cy="720"/>
          </a:xfrm>
        </p:grpSpPr>
        <p:sp>
          <p:nvSpPr>
            <p:cNvPr id="26725" name="文本框 26724"/>
            <p:cNvSpPr txBox="1"/>
            <p:nvPr/>
          </p:nvSpPr>
          <p:spPr>
            <a:xfrm>
              <a:off x="1799" y="2400"/>
              <a:ext cx="36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6732" name="直接连接符 26731"/>
            <p:cNvSpPr/>
            <p:nvPr/>
          </p:nvSpPr>
          <p:spPr>
            <a:xfrm>
              <a:off x="1824" y="2208"/>
              <a:ext cx="0" cy="72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26747" name="组合 26746"/>
          <p:cNvGrpSpPr/>
          <p:nvPr/>
        </p:nvGrpSpPr>
        <p:grpSpPr>
          <a:xfrm>
            <a:off x="304800" y="3505200"/>
            <a:ext cx="609600" cy="1066800"/>
            <a:chOff x="192" y="2208"/>
            <a:chExt cx="384" cy="672"/>
          </a:xfrm>
        </p:grpSpPr>
        <p:sp>
          <p:nvSpPr>
            <p:cNvPr id="26733" name="直接连接符 26732"/>
            <p:cNvSpPr/>
            <p:nvPr/>
          </p:nvSpPr>
          <p:spPr>
            <a:xfrm flipV="1">
              <a:off x="576" y="2208"/>
              <a:ext cx="0" cy="67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6734" name="文本框 26733"/>
            <p:cNvSpPr txBox="1"/>
            <p:nvPr/>
          </p:nvSpPr>
          <p:spPr>
            <a:xfrm>
              <a:off x="192" y="2400"/>
              <a:ext cx="36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6740" name="组合 26739"/>
          <p:cNvGrpSpPr/>
          <p:nvPr/>
        </p:nvGrpSpPr>
        <p:grpSpPr>
          <a:xfrm>
            <a:off x="188913" y="2362200"/>
            <a:ext cx="620712" cy="1066800"/>
            <a:chOff x="119" y="1488"/>
            <a:chExt cx="391" cy="672"/>
          </a:xfrm>
        </p:grpSpPr>
        <p:sp>
          <p:nvSpPr>
            <p:cNvPr id="26716" name="任意多边形 26715"/>
            <p:cNvSpPr/>
            <p:nvPr/>
          </p:nvSpPr>
          <p:spPr>
            <a:xfrm rot="7042125">
              <a:off x="111" y="1761"/>
              <a:ext cx="432" cy="366"/>
            </a:xfrm>
            <a:custGeom>
              <a:avLst/>
              <a:gdLst>
                <a:gd name="txL" fmla="*/ 0 w 43200"/>
                <a:gd name="txT" fmla="*/ 0 h 40918"/>
                <a:gd name="txR" fmla="*/ 43200 w 43200"/>
                <a:gd name="txB" fmla="*/ 40918 h 40918"/>
              </a:gdLst>
              <a:ahLst/>
              <a:cxnLst>
                <a:cxn ang="0">
                  <a:pos x="32488" y="663"/>
                </a:cxn>
                <a:cxn ang="270">
                  <a:pos x="11937" y="0"/>
                </a:cxn>
                <a:cxn ang="0">
                  <a:pos x="21600" y="19318"/>
                </a:cxn>
              </a:cxnLst>
              <a:rect l="txL" t="txT" r="txR" b="txB"/>
              <a:pathLst>
                <a:path w="43200" h="40918" fill="none">
                  <a:moveTo>
                    <a:pt x="32488" y="663"/>
                  </a:moveTo>
                  <a:arcTo wR="21600" hR="21600" stAng="-3583800" swAng="18189328"/>
                </a:path>
                <a:path w="43200" h="40918" stroke="0">
                  <a:moveTo>
                    <a:pt x="32488" y="663"/>
                  </a:moveTo>
                  <a:arcTo wR="21600" hR="21600" stAng="-3583800" swAng="18189328"/>
                  <a:lnTo>
                    <a:pt x="21600" y="19318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735" name="文本框 26734"/>
            <p:cNvSpPr txBox="1"/>
            <p:nvPr/>
          </p:nvSpPr>
          <p:spPr>
            <a:xfrm>
              <a:off x="119" y="1488"/>
              <a:ext cx="36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6745" name="组合 26744"/>
          <p:cNvGrpSpPr/>
          <p:nvPr/>
        </p:nvGrpSpPr>
        <p:grpSpPr>
          <a:xfrm>
            <a:off x="1066800" y="3429000"/>
            <a:ext cx="1600200" cy="1371600"/>
            <a:chOff x="672" y="2160"/>
            <a:chExt cx="1008" cy="864"/>
          </a:xfrm>
        </p:grpSpPr>
        <p:sp>
          <p:nvSpPr>
            <p:cNvPr id="26736" name="直接连接符 26735"/>
            <p:cNvSpPr/>
            <p:nvPr/>
          </p:nvSpPr>
          <p:spPr>
            <a:xfrm flipH="1" flipV="1">
              <a:off x="672" y="2160"/>
              <a:ext cx="1008" cy="86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6737" name="文本框 26736"/>
            <p:cNvSpPr txBox="1"/>
            <p:nvPr/>
          </p:nvSpPr>
          <p:spPr>
            <a:xfrm>
              <a:off x="1031" y="2736"/>
              <a:ext cx="36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1/1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pic>
        <p:nvPicPr>
          <p:cNvPr id="26738" name="图片 26737" descr="wb01508_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00" y="60198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739" name="文本框 26738">
            <a:hlinkClick r:id="rId1" action="ppaction://hlinksldjump"/>
          </p:cNvPr>
          <p:cNvSpPr txBox="1"/>
          <p:nvPr/>
        </p:nvSpPr>
        <p:spPr>
          <a:xfrm>
            <a:off x="7664450" y="60960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u="sng" dirty="0">
                <a:solidFill>
                  <a:schemeClr val="accent2"/>
                </a:solidFill>
                <a:latin typeface="Times New Roman" panose="02020603050405020304" pitchFamily="18" charset="0"/>
              </a:rPr>
              <a:t>返  回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6748" name="直接连接符 26747"/>
          <p:cNvSpPr/>
          <p:nvPr/>
        </p:nvSpPr>
        <p:spPr>
          <a:xfrm>
            <a:off x="1219200" y="3276600"/>
            <a:ext cx="1447800" cy="0"/>
          </a:xfrm>
          <a:prstGeom prst="line">
            <a:avLst/>
          </a:prstGeom>
          <a:ln w="38100" cap="flat" cmpd="sng">
            <a:solidFill>
              <a:srgbClr val="FF00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6749" name="直接连接符 26748"/>
          <p:cNvSpPr/>
          <p:nvPr/>
        </p:nvSpPr>
        <p:spPr>
          <a:xfrm>
            <a:off x="2895600" y="3505200"/>
            <a:ext cx="0" cy="1143000"/>
          </a:xfrm>
          <a:prstGeom prst="line">
            <a:avLst/>
          </a:prstGeom>
          <a:ln w="38100" cap="flat" cmpd="sng">
            <a:solidFill>
              <a:srgbClr val="FF00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6750" name="直接连接符 26749"/>
          <p:cNvSpPr/>
          <p:nvPr/>
        </p:nvSpPr>
        <p:spPr>
          <a:xfrm flipH="1" flipV="1">
            <a:off x="1066800" y="3429000"/>
            <a:ext cx="1600200" cy="1371600"/>
          </a:xfrm>
          <a:prstGeom prst="line">
            <a:avLst/>
          </a:prstGeom>
          <a:ln w="38100" cap="flat" cmpd="sng">
            <a:solidFill>
              <a:srgbClr val="FF00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6751" name="椭圆 26750"/>
          <p:cNvSpPr/>
          <p:nvPr/>
        </p:nvSpPr>
        <p:spPr>
          <a:xfrm>
            <a:off x="609600" y="4572000"/>
            <a:ext cx="533400" cy="4572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6752" name="直接连接符 26751"/>
          <p:cNvSpPr/>
          <p:nvPr/>
        </p:nvSpPr>
        <p:spPr>
          <a:xfrm flipV="1">
            <a:off x="914400" y="3505200"/>
            <a:ext cx="0" cy="10668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6753" name="直接连接符 26752"/>
          <p:cNvSpPr/>
          <p:nvPr/>
        </p:nvSpPr>
        <p:spPr>
          <a:xfrm flipV="1">
            <a:off x="1066800" y="3352800"/>
            <a:ext cx="1600200" cy="12954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3" dur="500"/>
                                        <p:tgtEl>
                                          <p:spTgt spid="2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2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2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46" dur="500"/>
                                        <p:tgtEl>
                                          <p:spTgt spid="26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5" dur="500"/>
                                        <p:tgtEl>
                                          <p:spTgt spid="26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6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6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6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5" dur="500"/>
                                        <p:tgtEl>
                                          <p:spTgt spid="26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67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67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6" dur="500"/>
                                        <p:tgtEl>
                                          <p:spTgt spid="26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1" dur="500"/>
                                        <p:tgtEl>
                                          <p:spTgt spid="26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17" grpId="0" animBg="1"/>
      <p:bldP spid="26718" grpId="0" animBg="1"/>
      <p:bldP spid="26719" grpId="0" animBg="1"/>
      <p:bldP spid="2672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矩形 27649"/>
          <p:cNvSpPr/>
          <p:nvPr/>
        </p:nvSpPr>
        <p:spPr>
          <a:xfrm>
            <a:off x="152400" y="152400"/>
            <a:ext cx="3581400" cy="5334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9525">
            <a:noFill/>
          </a:ln>
          <a:effectLst>
            <a:outerShdw dist="107763" dir="18900000" algn="ctr" rotWithShape="0">
              <a:srgbClr val="808080"/>
            </a:outerShdw>
          </a:effectLst>
        </p:spPr>
        <p:txBody>
          <a:bodyPr anchor="ctr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 algn="l"/>
            <a:r>
              <a:rPr lang="zh-CN" altLang="en-US" sz="3200" b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同步时序电路设计</a:t>
            </a:r>
            <a:endParaRPr lang="zh-CN" altLang="en-US" sz="7200" b="1">
              <a:effectLst>
                <a:outerShdw blurRad="38100" dist="38100" dir="2700000">
                  <a:srgbClr val="FFFFFF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7651" name="矩形 27650"/>
          <p:cNvSpPr/>
          <p:nvPr/>
        </p:nvSpPr>
        <p:spPr>
          <a:xfrm>
            <a:off x="152400" y="152400"/>
            <a:ext cx="3581400" cy="5334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9525"/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 anchorCtr="0">
            <a:flatTx/>
          </a:bodyPr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 algn="l"/>
            <a:r>
              <a:rPr lang="zh-CN" altLang="en-US" sz="3200" b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同步时序电路设计</a:t>
            </a:r>
            <a:endParaRPr lang="zh-CN" altLang="en-US" sz="7200" b="1">
              <a:effectLst>
                <a:outerShdw blurRad="38100" dist="38100" dir="2700000">
                  <a:srgbClr val="FFFFFF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27652" name="组合 27651"/>
          <p:cNvGrpSpPr/>
          <p:nvPr/>
        </p:nvGrpSpPr>
        <p:grpSpPr>
          <a:xfrm>
            <a:off x="762000" y="2057400"/>
            <a:ext cx="1066800" cy="3505200"/>
            <a:chOff x="480" y="1296"/>
            <a:chExt cx="672" cy="2208"/>
          </a:xfrm>
        </p:grpSpPr>
        <p:sp>
          <p:nvSpPr>
            <p:cNvPr id="27653" name="椭圆 27652"/>
            <p:cNvSpPr/>
            <p:nvPr/>
          </p:nvSpPr>
          <p:spPr>
            <a:xfrm>
              <a:off x="480" y="1296"/>
              <a:ext cx="672" cy="2208"/>
            </a:xfrm>
            <a:prstGeom prst="ellipse">
              <a:avLst/>
            </a:prstGeom>
            <a:gradFill rotWithShape="0">
              <a:gsLst>
                <a:gs pos="0">
                  <a:srgbClr val="FFFF99">
                    <a:gamma/>
                    <a:shade val="46275"/>
                    <a:invGamma/>
                  </a:srgbClr>
                </a:gs>
                <a:gs pos="50000">
                  <a:srgbClr val="FFFF99"/>
                </a:gs>
                <a:gs pos="100000">
                  <a:srgbClr val="FFFF99">
                    <a:gamma/>
                    <a:shade val="46275"/>
                    <a:invGamma/>
                  </a:srgbClr>
                </a:gs>
              </a:gsLst>
              <a:lin ang="5400000" scaled="1"/>
              <a:tileRect/>
            </a:gradFill>
            <a:ln w="381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54" name="文本框 27653"/>
            <p:cNvSpPr txBox="1"/>
            <p:nvPr/>
          </p:nvSpPr>
          <p:spPr>
            <a:xfrm>
              <a:off x="576" y="1728"/>
              <a:ext cx="374" cy="1286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sz="32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设</a:t>
              </a:r>
              <a:endParaRPr lang="zh-CN" altLang="en-US" sz="3200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sz="32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计</a:t>
              </a:r>
              <a:endParaRPr lang="zh-CN" altLang="en-US" sz="3200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sz="32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方</a:t>
              </a:r>
              <a:endParaRPr lang="zh-CN" altLang="en-US" sz="3200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sz="32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法</a:t>
              </a:r>
              <a:endParaRPr lang="zh-CN" altLang="en-US" sz="320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7655" name="组合 27654"/>
          <p:cNvGrpSpPr/>
          <p:nvPr/>
        </p:nvGrpSpPr>
        <p:grpSpPr>
          <a:xfrm>
            <a:off x="3808413" y="547688"/>
            <a:ext cx="2439987" cy="458787"/>
            <a:chOff x="2399" y="345"/>
            <a:chExt cx="1537" cy="289"/>
          </a:xfrm>
        </p:grpSpPr>
        <p:sp>
          <p:nvSpPr>
            <p:cNvPr id="27656" name="流程图: 可选过程 27655"/>
            <p:cNvSpPr/>
            <p:nvPr/>
          </p:nvSpPr>
          <p:spPr>
            <a:xfrm>
              <a:off x="2399" y="345"/>
              <a:ext cx="1537" cy="288"/>
            </a:xfrm>
            <a:prstGeom prst="flowChartAlternateProcess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57" name="文本框 27656"/>
            <p:cNvSpPr txBox="1"/>
            <p:nvPr/>
          </p:nvSpPr>
          <p:spPr>
            <a:xfrm>
              <a:off x="2543" y="346"/>
              <a:ext cx="128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给定逻辑功能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27658" name="直接连接符 27657"/>
          <p:cNvSpPr/>
          <p:nvPr/>
        </p:nvSpPr>
        <p:spPr>
          <a:xfrm>
            <a:off x="4949825" y="1004888"/>
            <a:ext cx="0" cy="230187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27659" name="组合 27658"/>
          <p:cNvGrpSpPr/>
          <p:nvPr/>
        </p:nvGrpSpPr>
        <p:grpSpPr>
          <a:xfrm>
            <a:off x="3732213" y="1158875"/>
            <a:ext cx="2438400" cy="822325"/>
            <a:chOff x="1824" y="1296"/>
            <a:chExt cx="1536" cy="518"/>
          </a:xfrm>
        </p:grpSpPr>
        <p:sp>
          <p:nvSpPr>
            <p:cNvPr id="27660" name="流程图: 可选过程 27659"/>
            <p:cNvSpPr/>
            <p:nvPr/>
          </p:nvSpPr>
          <p:spPr>
            <a:xfrm>
              <a:off x="1824" y="1344"/>
              <a:ext cx="1536" cy="432"/>
            </a:xfrm>
            <a:prstGeom prst="flowChartAlternateProcess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61" name="文本框 27660"/>
            <p:cNvSpPr txBox="1"/>
            <p:nvPr/>
          </p:nvSpPr>
          <p:spPr>
            <a:xfrm>
              <a:off x="1968" y="1296"/>
              <a:ext cx="1280" cy="51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lang="zh-CN" altLang="en-US" dirty="0">
                  <a:latin typeface="Times New Roman" panose="02020603050405020304" pitchFamily="18" charset="0"/>
                </a:rPr>
                <a:t>写原始状态图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zh-CN" altLang="en-US" dirty="0">
                  <a:latin typeface="Times New Roman" panose="02020603050405020304" pitchFamily="18" charset="0"/>
                </a:rPr>
                <a:t>原始状态表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27662" name="直接连接符 27661"/>
          <p:cNvSpPr/>
          <p:nvPr/>
        </p:nvSpPr>
        <p:spPr>
          <a:xfrm>
            <a:off x="4953000" y="1905000"/>
            <a:ext cx="0" cy="3048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27663" name="组合 27662"/>
          <p:cNvGrpSpPr/>
          <p:nvPr/>
        </p:nvGrpSpPr>
        <p:grpSpPr>
          <a:xfrm>
            <a:off x="3124200" y="2209800"/>
            <a:ext cx="3581400" cy="609600"/>
            <a:chOff x="1968" y="1392"/>
            <a:chExt cx="2256" cy="384"/>
          </a:xfrm>
        </p:grpSpPr>
        <p:sp>
          <p:nvSpPr>
            <p:cNvPr id="27664" name="流程图: 可选过程 27663"/>
            <p:cNvSpPr/>
            <p:nvPr/>
          </p:nvSpPr>
          <p:spPr>
            <a:xfrm>
              <a:off x="2016" y="1392"/>
              <a:ext cx="2208" cy="384"/>
            </a:xfrm>
            <a:prstGeom prst="flowChartAlternateProcess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65" name="文本框 27664"/>
            <p:cNvSpPr txBox="1"/>
            <p:nvPr/>
          </p:nvSpPr>
          <p:spPr>
            <a:xfrm>
              <a:off x="1968" y="1440"/>
              <a:ext cx="225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状态简化得最小化状态表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27666" name="直接连接符 27665"/>
          <p:cNvSpPr/>
          <p:nvPr/>
        </p:nvSpPr>
        <p:spPr>
          <a:xfrm>
            <a:off x="4953000" y="2819400"/>
            <a:ext cx="0" cy="3048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27667" name="组合 27666"/>
          <p:cNvGrpSpPr/>
          <p:nvPr/>
        </p:nvGrpSpPr>
        <p:grpSpPr>
          <a:xfrm>
            <a:off x="4038600" y="3124200"/>
            <a:ext cx="1828800" cy="457200"/>
            <a:chOff x="2496" y="1968"/>
            <a:chExt cx="1152" cy="288"/>
          </a:xfrm>
        </p:grpSpPr>
        <p:sp>
          <p:nvSpPr>
            <p:cNvPr id="27668" name="流程图: 可选过程 27667"/>
            <p:cNvSpPr/>
            <p:nvPr/>
          </p:nvSpPr>
          <p:spPr>
            <a:xfrm>
              <a:off x="2496" y="1968"/>
              <a:ext cx="1152" cy="288"/>
            </a:xfrm>
            <a:prstGeom prst="flowChartAlternateProcess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69" name="文本框 27668"/>
            <p:cNvSpPr txBox="1"/>
            <p:nvPr/>
          </p:nvSpPr>
          <p:spPr>
            <a:xfrm>
              <a:off x="2592" y="1968"/>
              <a:ext cx="89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状态编码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27670" name="直接连接符 27669"/>
          <p:cNvSpPr/>
          <p:nvPr/>
        </p:nvSpPr>
        <p:spPr>
          <a:xfrm>
            <a:off x="4953000" y="3581400"/>
            <a:ext cx="0" cy="3048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27671" name="组合 27670"/>
          <p:cNvGrpSpPr/>
          <p:nvPr/>
        </p:nvGrpSpPr>
        <p:grpSpPr>
          <a:xfrm>
            <a:off x="2133600" y="3886200"/>
            <a:ext cx="5638800" cy="534988"/>
            <a:chOff x="1488" y="2495"/>
            <a:chExt cx="3552" cy="337"/>
          </a:xfrm>
        </p:grpSpPr>
        <p:sp>
          <p:nvSpPr>
            <p:cNvPr id="27672" name="流程图: 可选过程 27671"/>
            <p:cNvSpPr/>
            <p:nvPr/>
          </p:nvSpPr>
          <p:spPr>
            <a:xfrm>
              <a:off x="1488" y="2496"/>
              <a:ext cx="3552" cy="336"/>
            </a:xfrm>
            <a:prstGeom prst="flowChartAlternateProcess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73" name="文本框 27672"/>
            <p:cNvSpPr txBox="1"/>
            <p:nvPr/>
          </p:nvSpPr>
          <p:spPr>
            <a:xfrm>
              <a:off x="1578" y="2495"/>
              <a:ext cx="341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选触发器类型，求控制函数、输出函数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27674" name="直接连接符 27673"/>
          <p:cNvSpPr/>
          <p:nvPr/>
        </p:nvSpPr>
        <p:spPr>
          <a:xfrm>
            <a:off x="4953000" y="4419600"/>
            <a:ext cx="0" cy="3048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7675" name="流程图: 可选过程 27674"/>
          <p:cNvSpPr/>
          <p:nvPr/>
        </p:nvSpPr>
        <p:spPr>
          <a:xfrm>
            <a:off x="3657600" y="4724400"/>
            <a:ext cx="2514600" cy="457200"/>
          </a:xfrm>
          <a:prstGeom prst="flowChartAlternateProcess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画逻辑电路图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7676" name="直接连接符 27675"/>
          <p:cNvSpPr/>
          <p:nvPr/>
        </p:nvSpPr>
        <p:spPr>
          <a:xfrm>
            <a:off x="4953000" y="5181600"/>
            <a:ext cx="0" cy="3048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7677" name="流程图: 可选过程 27676"/>
          <p:cNvSpPr/>
          <p:nvPr/>
        </p:nvSpPr>
        <p:spPr>
          <a:xfrm>
            <a:off x="3581400" y="5486400"/>
            <a:ext cx="2743200" cy="1143000"/>
          </a:xfrm>
          <a:prstGeom prst="flowChartAlternateProcess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画出全状态图，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检查设计，如不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符合要求，重新设计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pic>
        <p:nvPicPr>
          <p:cNvPr id="27678" name="图片 27677" descr="wb01508_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00" y="60198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679" name="文本框 27678">
            <a:hlinkClick r:id="rId1" action="ppaction://hlinksldjump"/>
          </p:cNvPr>
          <p:cNvSpPr txBox="1"/>
          <p:nvPr/>
        </p:nvSpPr>
        <p:spPr>
          <a:xfrm>
            <a:off x="7588250" y="60960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u="sng" dirty="0">
                <a:solidFill>
                  <a:schemeClr val="accent2"/>
                </a:solidFill>
                <a:latin typeface="Times New Roman" panose="02020603050405020304" pitchFamily="18" charset="0"/>
              </a:rPr>
              <a:t>返  回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2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7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27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7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27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7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27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7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7" dur="500"/>
                                        <p:tgtEl>
                                          <p:spTgt spid="27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animBg="1"/>
      <p:bldP spid="27675" grpId="0" animBg="1"/>
      <p:bldP spid="2767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矩形 28673"/>
          <p:cNvSpPr/>
          <p:nvPr/>
        </p:nvSpPr>
        <p:spPr>
          <a:xfrm>
            <a:off x="1066800" y="304800"/>
            <a:ext cx="6629400" cy="4572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9525"/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 anchorCtr="0">
            <a:flatTx/>
          </a:bodyPr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sz="4000" b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状态转换表的简化</a:t>
            </a:r>
            <a:endParaRPr lang="zh-CN" altLang="en-US" sz="7200" b="1">
              <a:effectLst>
                <a:outerShdw blurRad="38100" dist="38100" dir="2700000">
                  <a:srgbClr val="FFFFFF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8701" name="文本框 28700"/>
          <p:cNvSpPr txBox="1"/>
          <p:nvPr/>
        </p:nvSpPr>
        <p:spPr>
          <a:xfrm>
            <a:off x="534988" y="990600"/>
            <a:ext cx="23368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、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观察法简化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8707" name="文本框 28706"/>
          <p:cNvSpPr txBox="1"/>
          <p:nvPr/>
        </p:nvSpPr>
        <p:spPr>
          <a:xfrm>
            <a:off x="457200" y="1447800"/>
            <a:ext cx="32258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状态等价的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判别方法：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28820" name="组合 28819"/>
          <p:cNvGrpSpPr/>
          <p:nvPr/>
        </p:nvGrpSpPr>
        <p:grpSpPr>
          <a:xfrm>
            <a:off x="4876800" y="2057400"/>
            <a:ext cx="3733800" cy="3276600"/>
            <a:chOff x="3072" y="1296"/>
            <a:chExt cx="2352" cy="2064"/>
          </a:xfrm>
        </p:grpSpPr>
        <p:sp>
          <p:nvSpPr>
            <p:cNvPr id="28785" name="文本框 28784"/>
            <p:cNvSpPr txBox="1"/>
            <p:nvPr/>
          </p:nvSpPr>
          <p:spPr>
            <a:xfrm>
              <a:off x="4416" y="3072"/>
              <a:ext cx="68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S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n+1</a:t>
              </a:r>
              <a:r>
                <a:rPr lang="en-US" altLang="zh-CN">
                  <a:latin typeface="Times New Roman" panose="02020603050405020304" pitchFamily="18" charset="0"/>
                </a:rPr>
                <a:t>/Z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n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grpSp>
          <p:nvGrpSpPr>
            <p:cNvPr id="28819" name="组合 28818"/>
            <p:cNvGrpSpPr/>
            <p:nvPr/>
          </p:nvGrpSpPr>
          <p:grpSpPr>
            <a:xfrm>
              <a:off x="3072" y="1296"/>
              <a:ext cx="2352" cy="1824"/>
              <a:chOff x="3072" y="1200"/>
              <a:chExt cx="2352" cy="1824"/>
            </a:xfrm>
          </p:grpSpPr>
          <p:sp>
            <p:nvSpPr>
              <p:cNvPr id="28769" name="文本框 28768"/>
              <p:cNvSpPr txBox="1"/>
              <p:nvPr/>
            </p:nvSpPr>
            <p:spPr>
              <a:xfrm>
                <a:off x="3585" y="1200"/>
                <a:ext cx="255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X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70" name="文本框 28769"/>
              <p:cNvSpPr txBox="1"/>
              <p:nvPr/>
            </p:nvSpPr>
            <p:spPr>
              <a:xfrm>
                <a:off x="3258" y="1296"/>
                <a:ext cx="34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S 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n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71" name="文本框 28770"/>
              <p:cNvSpPr txBox="1"/>
              <p:nvPr/>
            </p:nvSpPr>
            <p:spPr>
              <a:xfrm>
                <a:off x="4252" y="1248"/>
                <a:ext cx="21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72" name="文本框 28771"/>
              <p:cNvSpPr txBox="1"/>
              <p:nvPr/>
            </p:nvSpPr>
            <p:spPr>
              <a:xfrm>
                <a:off x="4838" y="1248"/>
                <a:ext cx="21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73" name="文本框 28772"/>
              <p:cNvSpPr txBox="1"/>
              <p:nvPr/>
            </p:nvSpPr>
            <p:spPr>
              <a:xfrm>
                <a:off x="3350" y="1536"/>
                <a:ext cx="255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A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74" name="文本框 28773"/>
              <p:cNvSpPr txBox="1"/>
              <p:nvPr/>
            </p:nvSpPr>
            <p:spPr>
              <a:xfrm>
                <a:off x="3356" y="1728"/>
                <a:ext cx="24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B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75" name="文本框 28774"/>
              <p:cNvSpPr txBox="1"/>
              <p:nvPr/>
            </p:nvSpPr>
            <p:spPr>
              <a:xfrm>
                <a:off x="3360" y="1920"/>
                <a:ext cx="255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C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76" name="文本框 28775"/>
              <p:cNvSpPr txBox="1"/>
              <p:nvPr/>
            </p:nvSpPr>
            <p:spPr>
              <a:xfrm>
                <a:off x="3360" y="2112"/>
                <a:ext cx="255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D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77" name="文本框 28776"/>
              <p:cNvSpPr txBox="1"/>
              <p:nvPr/>
            </p:nvSpPr>
            <p:spPr>
              <a:xfrm>
                <a:off x="4166" y="1536"/>
                <a:ext cx="39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B/0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78" name="文本框 28777"/>
              <p:cNvSpPr txBox="1"/>
              <p:nvPr/>
            </p:nvSpPr>
            <p:spPr>
              <a:xfrm>
                <a:off x="4790" y="1536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C/0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79" name="文本框 28778"/>
              <p:cNvSpPr txBox="1"/>
              <p:nvPr/>
            </p:nvSpPr>
            <p:spPr>
              <a:xfrm>
                <a:off x="4167" y="1728"/>
                <a:ext cx="39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E/1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80" name="文本框 28779"/>
              <p:cNvSpPr txBox="1"/>
              <p:nvPr/>
            </p:nvSpPr>
            <p:spPr>
              <a:xfrm>
                <a:off x="4800" y="1728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C/0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81" name="文本框 28780"/>
              <p:cNvSpPr txBox="1"/>
              <p:nvPr/>
            </p:nvSpPr>
            <p:spPr>
              <a:xfrm>
                <a:off x="4176" y="1920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D/0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82" name="文本框 28781"/>
              <p:cNvSpPr txBox="1"/>
              <p:nvPr/>
            </p:nvSpPr>
            <p:spPr>
              <a:xfrm>
                <a:off x="4800" y="1920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A/0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83" name="文本框 28782"/>
              <p:cNvSpPr txBox="1"/>
              <p:nvPr/>
            </p:nvSpPr>
            <p:spPr>
              <a:xfrm>
                <a:off x="4176" y="2112"/>
                <a:ext cx="39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E/1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84" name="文本框 28783"/>
              <p:cNvSpPr txBox="1"/>
              <p:nvPr/>
            </p:nvSpPr>
            <p:spPr>
              <a:xfrm>
                <a:off x="4800" y="2112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A/0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8787" name="组合 28786"/>
              <p:cNvGrpSpPr/>
              <p:nvPr/>
            </p:nvGrpSpPr>
            <p:grpSpPr>
              <a:xfrm>
                <a:off x="3072" y="1200"/>
                <a:ext cx="2352" cy="1824"/>
                <a:chOff x="3072" y="1488"/>
                <a:chExt cx="2352" cy="2448"/>
              </a:xfrm>
            </p:grpSpPr>
            <p:sp>
              <p:nvSpPr>
                <p:cNvPr id="28765" name="矩形 28764"/>
                <p:cNvSpPr/>
                <p:nvPr/>
              </p:nvSpPr>
              <p:spPr>
                <a:xfrm>
                  <a:off x="3072" y="1510"/>
                  <a:ext cx="2352" cy="2426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8766" name="直接连接符 28765"/>
                <p:cNvSpPr/>
                <p:nvPr/>
              </p:nvSpPr>
              <p:spPr>
                <a:xfrm>
                  <a:off x="3072" y="1968"/>
                  <a:ext cx="235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767" name="直接连接符 28766"/>
                <p:cNvSpPr/>
                <p:nvPr/>
              </p:nvSpPr>
              <p:spPr>
                <a:xfrm>
                  <a:off x="4080" y="1510"/>
                  <a:ext cx="0" cy="242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786" name="直接连接符 28785"/>
                <p:cNvSpPr/>
                <p:nvPr/>
              </p:nvSpPr>
              <p:spPr>
                <a:xfrm>
                  <a:off x="3072" y="1488"/>
                  <a:ext cx="1008" cy="48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8788" name="文本框 28787"/>
              <p:cNvSpPr txBox="1"/>
              <p:nvPr/>
            </p:nvSpPr>
            <p:spPr>
              <a:xfrm>
                <a:off x="3360" y="2304"/>
                <a:ext cx="24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E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89" name="文本框 28788"/>
              <p:cNvSpPr txBox="1"/>
              <p:nvPr/>
            </p:nvSpPr>
            <p:spPr>
              <a:xfrm>
                <a:off x="4176" y="2304"/>
                <a:ext cx="39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E/1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90" name="文本框 28789"/>
              <p:cNvSpPr txBox="1"/>
              <p:nvPr/>
            </p:nvSpPr>
            <p:spPr>
              <a:xfrm>
                <a:off x="4780" y="2304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C/0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91" name="文本框 28790"/>
              <p:cNvSpPr txBox="1"/>
              <p:nvPr/>
            </p:nvSpPr>
            <p:spPr>
              <a:xfrm>
                <a:off x="3367" y="2496"/>
                <a:ext cx="23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F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92" name="文本框 28791"/>
              <p:cNvSpPr txBox="1"/>
              <p:nvPr/>
            </p:nvSpPr>
            <p:spPr>
              <a:xfrm>
                <a:off x="4194" y="2496"/>
                <a:ext cx="41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G/1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93" name="文本框 28792"/>
              <p:cNvSpPr txBox="1"/>
              <p:nvPr/>
            </p:nvSpPr>
            <p:spPr>
              <a:xfrm>
                <a:off x="4791" y="2496"/>
                <a:ext cx="39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E/0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94" name="文本框 28793"/>
              <p:cNvSpPr txBox="1"/>
              <p:nvPr/>
            </p:nvSpPr>
            <p:spPr>
              <a:xfrm>
                <a:off x="3335" y="2736"/>
                <a:ext cx="265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G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95" name="文本框 28794"/>
              <p:cNvSpPr txBox="1"/>
              <p:nvPr/>
            </p:nvSpPr>
            <p:spPr>
              <a:xfrm>
                <a:off x="4226" y="2736"/>
                <a:ext cx="38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F/1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96" name="文本框 28795"/>
              <p:cNvSpPr txBox="1"/>
              <p:nvPr/>
            </p:nvSpPr>
            <p:spPr>
              <a:xfrm>
                <a:off x="4791" y="2736"/>
                <a:ext cx="39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E/0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8800" name="组合 28799"/>
          <p:cNvGrpSpPr/>
          <p:nvPr/>
        </p:nvGrpSpPr>
        <p:grpSpPr>
          <a:xfrm>
            <a:off x="2743200" y="533400"/>
            <a:ext cx="1981200" cy="838200"/>
            <a:chOff x="1824" y="960"/>
            <a:chExt cx="1248" cy="528"/>
          </a:xfrm>
        </p:grpSpPr>
        <p:sp>
          <p:nvSpPr>
            <p:cNvPr id="28798" name="圆角矩形标注 28797"/>
            <p:cNvSpPr/>
            <p:nvPr/>
          </p:nvSpPr>
          <p:spPr>
            <a:xfrm>
              <a:off x="1824" y="960"/>
              <a:ext cx="1248" cy="528"/>
            </a:xfrm>
            <a:prstGeom prst="wedgeRoundRectCallout">
              <a:avLst>
                <a:gd name="adj1" fmla="val -43750"/>
                <a:gd name="adj2" fmla="val 70000"/>
                <a:gd name="adj3" fmla="val 16667"/>
              </a:avLst>
            </a:prstGeom>
            <a:gradFill rotWithShape="0">
              <a:gsLst>
                <a:gs pos="0">
                  <a:srgbClr val="FFFF99">
                    <a:gamma/>
                    <a:shade val="46275"/>
                    <a:invGamma/>
                  </a:srgbClr>
                </a:gs>
                <a:gs pos="50000">
                  <a:srgbClr val="FFFF99"/>
                </a:gs>
                <a:gs pos="100000">
                  <a:srgbClr val="FFFF99">
                    <a:gamma/>
                    <a:shade val="46275"/>
                    <a:invGamma/>
                  </a:srgbClr>
                </a:gs>
              </a:gsLst>
              <a:lin ang="54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 eaLnBrk="1" hangingPunct="1"/>
              <a:endParaRPr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99" name="文本框 28798"/>
            <p:cNvSpPr txBox="1"/>
            <p:nvPr/>
          </p:nvSpPr>
          <p:spPr>
            <a:xfrm>
              <a:off x="1920" y="960"/>
              <a:ext cx="972" cy="518"/>
            </a:xfrm>
            <a:prstGeom prst="rect">
              <a:avLst/>
            </a:prstGeom>
            <a:gradFill rotWithShape="0">
              <a:gsLst>
                <a:gs pos="0">
                  <a:srgbClr val="FFFF99">
                    <a:gamma/>
                    <a:shade val="46275"/>
                    <a:invGamma/>
                  </a:srgbClr>
                </a:gs>
                <a:gs pos="50000">
                  <a:srgbClr val="FFFF99"/>
                </a:gs>
                <a:gs pos="100000">
                  <a:srgbClr val="FFFF99">
                    <a:gamma/>
                    <a:shade val="46275"/>
                    <a:invGamma/>
                  </a:srgbClr>
                </a:gs>
              </a:gsLst>
              <a:lin ang="5400000" scaled="1"/>
              <a:tileRect/>
            </a:gradFill>
            <a:ln w="381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zh-CN" altLang="en-US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同样输入的条件下</a:t>
              </a:r>
              <a:endParaRPr lang="zh-CN" altLang="en-US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8801" name="文本框 28800"/>
          <p:cNvSpPr txBox="1"/>
          <p:nvPr/>
        </p:nvSpPr>
        <p:spPr>
          <a:xfrm>
            <a:off x="685800" y="1828800"/>
            <a:ext cx="3860800" cy="82232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just" eaLnBrk="1" hangingPunct="1"/>
            <a:r>
              <a:rPr lang="zh-CN" altLang="en-US" dirty="0">
                <a:latin typeface="Times New Roman" panose="02020603050405020304" pitchFamily="18" charset="0"/>
              </a:rPr>
              <a:t>前提条件：输出必须相同，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zh-CN" altLang="en-US" dirty="0">
                <a:latin typeface="Times New Roman" panose="02020603050405020304" pitchFamily="18" charset="0"/>
              </a:rPr>
              <a:t>然后看次态是否等价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8802" name="矩形 28801"/>
          <p:cNvSpPr/>
          <p:nvPr/>
        </p:nvSpPr>
        <p:spPr>
          <a:xfrm>
            <a:off x="5029200" y="2971800"/>
            <a:ext cx="3505200" cy="304800"/>
          </a:xfrm>
          <a:prstGeom prst="rect">
            <a:avLst/>
          </a:prstGeom>
          <a:noFill/>
          <a:ln w="38100" cap="flat" cmpd="sng">
            <a:solidFill>
              <a:srgbClr val="A5002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8803" name="矩形 28802"/>
          <p:cNvSpPr/>
          <p:nvPr/>
        </p:nvSpPr>
        <p:spPr>
          <a:xfrm>
            <a:off x="5029200" y="3886200"/>
            <a:ext cx="3505200" cy="304800"/>
          </a:xfrm>
          <a:prstGeom prst="rect">
            <a:avLst/>
          </a:prstGeom>
          <a:noFill/>
          <a:ln w="38100" cap="flat" cmpd="sng">
            <a:solidFill>
              <a:srgbClr val="A5002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8805" name="文本框 28804"/>
          <p:cNvSpPr txBox="1"/>
          <p:nvPr/>
        </p:nvSpPr>
        <p:spPr>
          <a:xfrm>
            <a:off x="493713" y="2667000"/>
            <a:ext cx="4078287" cy="822325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）次态相同或某些次态和各自的现态相同；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8806" name="文本框 28805"/>
          <p:cNvSpPr txBox="1"/>
          <p:nvPr/>
        </p:nvSpPr>
        <p:spPr>
          <a:xfrm>
            <a:off x="533400" y="3886200"/>
            <a:ext cx="18637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）次态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交错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8807" name="矩形 28806"/>
          <p:cNvSpPr/>
          <p:nvPr/>
        </p:nvSpPr>
        <p:spPr>
          <a:xfrm>
            <a:off x="5029200" y="4191000"/>
            <a:ext cx="3505200" cy="304800"/>
          </a:xfrm>
          <a:prstGeom prst="rect">
            <a:avLst/>
          </a:prstGeom>
          <a:noFill/>
          <a:ln w="38100" cap="flat" cmpd="sng">
            <a:solidFill>
              <a:srgbClr val="00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8808" name="矩形 28807"/>
          <p:cNvSpPr/>
          <p:nvPr/>
        </p:nvSpPr>
        <p:spPr>
          <a:xfrm>
            <a:off x="5029200" y="4572000"/>
            <a:ext cx="3505200" cy="304800"/>
          </a:xfrm>
          <a:prstGeom prst="rect">
            <a:avLst/>
          </a:prstGeom>
          <a:noFill/>
          <a:ln w="38100" cap="flat" cmpd="sng">
            <a:solidFill>
              <a:srgbClr val="00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8809" name="文本框 28808"/>
          <p:cNvSpPr txBox="1"/>
          <p:nvPr/>
        </p:nvSpPr>
        <p:spPr>
          <a:xfrm>
            <a:off x="1066800" y="4267200"/>
            <a:ext cx="30797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>
                <a:latin typeface="Times New Roman" panose="02020603050405020304" pitchFamily="18" charset="0"/>
              </a:rPr>
              <a:t>如</a:t>
            </a:r>
            <a:r>
              <a:rPr lang="en-US" altLang="zh-CN">
                <a:latin typeface="Times New Roman" panose="02020603050405020304" pitchFamily="18" charset="0"/>
              </a:rPr>
              <a:t>F</a:t>
            </a:r>
            <a:r>
              <a:rPr lang="zh-CN" altLang="en-US">
                <a:latin typeface="Times New Roman" panose="02020603050405020304" pitchFamily="18" charset="0"/>
              </a:rPr>
              <a:t>和</a:t>
            </a:r>
            <a:r>
              <a:rPr lang="en-US" altLang="zh-CN">
                <a:latin typeface="Times New Roman" panose="02020603050405020304" pitchFamily="18" charset="0"/>
              </a:rPr>
              <a:t>G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</a:rPr>
              <a:t>记为</a:t>
            </a:r>
            <a:r>
              <a:rPr lang="en-US" altLang="zh-CN">
                <a:latin typeface="Times New Roman" panose="02020603050405020304" pitchFamily="18" charset="0"/>
              </a:rPr>
              <a:t>[F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</a:rPr>
              <a:t>G]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8810" name="文本框 28809"/>
          <p:cNvSpPr txBox="1"/>
          <p:nvPr/>
        </p:nvSpPr>
        <p:spPr>
          <a:xfrm>
            <a:off x="533400" y="4724400"/>
            <a:ext cx="30956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）次态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互为隐含</a:t>
            </a:r>
            <a:r>
              <a:rPr lang="zh-CN" altLang="en-US" dirty="0">
                <a:latin typeface="Times New Roman" panose="02020603050405020304" pitchFamily="18" charset="0"/>
              </a:rPr>
              <a:t>条件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8811" name="矩形 28810"/>
          <p:cNvSpPr/>
          <p:nvPr/>
        </p:nvSpPr>
        <p:spPr>
          <a:xfrm>
            <a:off x="4953000" y="2667000"/>
            <a:ext cx="3581400" cy="304800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8813" name="矩形 28812"/>
          <p:cNvSpPr/>
          <p:nvPr/>
        </p:nvSpPr>
        <p:spPr>
          <a:xfrm>
            <a:off x="4953000" y="3276600"/>
            <a:ext cx="3581400" cy="304800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8814" name="文本框 28813"/>
          <p:cNvSpPr txBox="1"/>
          <p:nvPr/>
        </p:nvSpPr>
        <p:spPr>
          <a:xfrm>
            <a:off x="457200" y="5257800"/>
            <a:ext cx="8374063" cy="457200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、</a:t>
            </a:r>
            <a:r>
              <a:rPr lang="en-US" altLang="zh-CN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等价取决</a:t>
            </a:r>
            <a:r>
              <a:rPr lang="en-US" altLang="zh-CN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、</a:t>
            </a:r>
            <a:r>
              <a:rPr lang="en-US" altLang="zh-CN">
                <a:latin typeface="Times New Roman" panose="02020603050405020304" pitchFamily="18" charset="0"/>
              </a:rPr>
              <a:t>D</a:t>
            </a:r>
            <a:r>
              <a:rPr lang="zh-CN" altLang="en-US">
                <a:latin typeface="Times New Roman" panose="02020603050405020304" pitchFamily="18" charset="0"/>
              </a:rPr>
              <a:t>，称</a:t>
            </a:r>
            <a:r>
              <a:rPr lang="en-US" altLang="zh-CN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、</a:t>
            </a:r>
            <a:r>
              <a:rPr lang="en-US" altLang="zh-CN"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latin typeface="Times New Roman" panose="02020603050405020304" pitchFamily="18" charset="0"/>
              </a:rPr>
              <a:t>等价是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、</a:t>
            </a:r>
            <a:r>
              <a:rPr lang="en-US" altLang="zh-CN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等价的隐含条件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8815" name="文本框 28814"/>
          <p:cNvSpPr txBox="1"/>
          <p:nvPr/>
        </p:nvSpPr>
        <p:spPr>
          <a:xfrm>
            <a:off x="609600" y="5638800"/>
            <a:ext cx="5726113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同理， 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、</a:t>
            </a:r>
            <a:r>
              <a:rPr lang="en-US" altLang="zh-CN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等价是</a:t>
            </a:r>
            <a:r>
              <a:rPr lang="en-US" altLang="zh-CN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、</a:t>
            </a:r>
            <a:r>
              <a:rPr lang="en-US" altLang="zh-CN"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latin typeface="Times New Roman" panose="02020603050405020304" pitchFamily="18" charset="0"/>
              </a:rPr>
              <a:t>等价的隐含条件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8817" name="文本框 28816"/>
          <p:cNvSpPr txBox="1"/>
          <p:nvPr/>
        </p:nvSpPr>
        <p:spPr>
          <a:xfrm>
            <a:off x="531813" y="6096000"/>
            <a:ext cx="8383587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、</a:t>
            </a:r>
            <a:r>
              <a:rPr lang="en-US" altLang="zh-CN">
                <a:latin typeface="Times New Roman" panose="02020603050405020304" pitchFamily="18" charset="0"/>
              </a:rPr>
              <a:t>C</a:t>
            </a:r>
            <a:r>
              <a:rPr lang="zh-CN" altLang="en-US">
                <a:latin typeface="Times New Roman" panose="02020603050405020304" pitchFamily="18" charset="0"/>
              </a:rPr>
              <a:t>和</a:t>
            </a:r>
            <a:r>
              <a:rPr lang="en-US" altLang="zh-CN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、</a:t>
            </a:r>
            <a:r>
              <a:rPr lang="en-US" altLang="zh-CN"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latin typeface="Times New Roman" panose="02020603050405020304" pitchFamily="18" charset="0"/>
              </a:rPr>
              <a:t>互为隐含，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与</a:t>
            </a:r>
            <a:r>
              <a:rPr lang="en-US" altLang="zh-CN">
                <a:latin typeface="Times New Roman" panose="02020603050405020304" pitchFamily="18" charset="0"/>
              </a:rPr>
              <a:t>C</a:t>
            </a:r>
            <a:r>
              <a:rPr lang="zh-CN" altLang="en-US">
                <a:latin typeface="Times New Roman" panose="02020603050405020304" pitchFamily="18" charset="0"/>
              </a:rPr>
              <a:t>、</a:t>
            </a:r>
            <a:r>
              <a:rPr lang="en-US" altLang="zh-CN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与</a:t>
            </a:r>
            <a:r>
              <a:rPr lang="en-US" altLang="zh-CN"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latin typeface="Times New Roman" panose="02020603050405020304" pitchFamily="18" charset="0"/>
              </a:rPr>
              <a:t>等价即</a:t>
            </a:r>
            <a:r>
              <a:rPr lang="en-US" altLang="zh-CN">
                <a:latin typeface="Times New Roman" panose="02020603050405020304" pitchFamily="18" charset="0"/>
              </a:rPr>
              <a:t>[A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</a:rPr>
              <a:t>C]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</a:rPr>
              <a:t>[B</a:t>
            </a:r>
            <a:r>
              <a:rPr lang="zh-CN" altLang="en-US">
                <a:latin typeface="Times New Roman" panose="02020603050405020304" pitchFamily="18" charset="0"/>
              </a:rPr>
              <a:t>、</a:t>
            </a:r>
            <a:r>
              <a:rPr lang="en-US" altLang="zh-CN">
                <a:latin typeface="Times New Roman" panose="02020603050405020304" pitchFamily="18" charset="0"/>
              </a:rPr>
              <a:t>D]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8818" name="文本框 28817"/>
          <p:cNvSpPr txBox="1"/>
          <p:nvPr/>
        </p:nvSpPr>
        <p:spPr>
          <a:xfrm>
            <a:off x="609600" y="3429000"/>
            <a:ext cx="33432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、</a:t>
            </a:r>
            <a:r>
              <a:rPr lang="en-US" altLang="zh-CN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等价，记为</a:t>
            </a:r>
            <a:r>
              <a:rPr lang="en-US" altLang="zh-CN">
                <a:latin typeface="Times New Roman" panose="02020603050405020304" pitchFamily="18" charset="0"/>
              </a:rPr>
              <a:t>[B</a:t>
            </a:r>
            <a:r>
              <a:rPr lang="zh-CN" altLang="en-US">
                <a:latin typeface="Times New Roman" panose="02020603050405020304" pitchFamily="18" charset="0"/>
              </a:rPr>
              <a:t>、</a:t>
            </a:r>
            <a:r>
              <a:rPr lang="en-US" altLang="zh-CN">
                <a:latin typeface="Times New Roman" panose="02020603050405020304" pitchFamily="18" charset="0"/>
              </a:rPr>
              <a:t>E]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8821" name="矩形 28820"/>
          <p:cNvSpPr/>
          <p:nvPr/>
        </p:nvSpPr>
        <p:spPr>
          <a:xfrm>
            <a:off x="5029200" y="2971800"/>
            <a:ext cx="3505200" cy="304800"/>
          </a:xfrm>
          <a:prstGeom prst="rect">
            <a:avLst/>
          </a:prstGeom>
          <a:noFill/>
          <a:ln w="3810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8822" name="矩形 28821"/>
          <p:cNvSpPr/>
          <p:nvPr/>
        </p:nvSpPr>
        <p:spPr>
          <a:xfrm>
            <a:off x="5029200" y="3581400"/>
            <a:ext cx="3505200" cy="304800"/>
          </a:xfrm>
          <a:prstGeom prst="rect">
            <a:avLst/>
          </a:prstGeom>
          <a:noFill/>
          <a:ln w="3810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8823" name="圆角矩形标注 28822"/>
          <p:cNvSpPr/>
          <p:nvPr/>
        </p:nvSpPr>
        <p:spPr>
          <a:xfrm>
            <a:off x="2209800" y="381000"/>
            <a:ext cx="2362200" cy="533400"/>
          </a:xfrm>
          <a:prstGeom prst="wedgeRoundRectCallout">
            <a:avLst>
              <a:gd name="adj1" fmla="val -54907"/>
              <a:gd name="adj2" fmla="val 81546"/>
              <a:gd name="adj3" fmla="val 16667"/>
            </a:avLst>
          </a:prstGeom>
          <a:gradFill rotWithShape="0">
            <a:gsLst>
              <a:gs pos="0">
                <a:srgbClr val="FFFF99">
                  <a:gamma/>
                  <a:shade val="46275"/>
                  <a:invGamma/>
                </a:srgbClr>
              </a:gs>
              <a:gs pos="50000">
                <a:srgbClr val="FFFF99"/>
              </a:gs>
              <a:gs pos="100000">
                <a:srgbClr val="FFFF99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38100">
            <a:noFill/>
          </a:ln>
        </p:spPr>
        <p:txBody>
          <a:bodyPr wrap="none" anchor="ctr" anchorCtr="0"/>
          <a:p>
            <a:pPr algn="just"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关键找等价态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8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8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8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8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8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88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8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88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88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8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8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88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88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88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88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8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8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88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88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88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88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8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8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8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8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8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8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8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 animBg="1"/>
      <p:bldP spid="28701" grpId="0"/>
      <p:bldP spid="28707" grpId="0"/>
      <p:bldP spid="28801" grpId="0"/>
      <p:bldP spid="28805" grpId="0"/>
      <p:bldP spid="28806" grpId="0"/>
      <p:bldP spid="28809" grpId="0"/>
      <p:bldP spid="28810" grpId="0"/>
      <p:bldP spid="28814" grpId="0"/>
      <p:bldP spid="28815" grpId="0"/>
      <p:bldP spid="28817" grpId="0"/>
      <p:bldP spid="28818" grpId="0"/>
      <p:bldP spid="2882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矩形 30721"/>
          <p:cNvSpPr/>
          <p:nvPr/>
        </p:nvSpPr>
        <p:spPr>
          <a:xfrm>
            <a:off x="533400" y="304800"/>
            <a:ext cx="4343400" cy="4572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9525">
            <a:noFill/>
          </a:ln>
          <a:effectLst>
            <a:outerShdw dist="107763" dir="18900000" algn="ctr" rotWithShape="0">
              <a:srgbClr val="808080"/>
            </a:outerShdw>
          </a:effectLst>
        </p:spPr>
        <p:txBody>
          <a:bodyPr anchor="ctr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sz="4000" b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状态转换表的简化</a:t>
            </a:r>
            <a:endParaRPr lang="zh-CN" altLang="en-US" sz="7200" b="1">
              <a:effectLst>
                <a:outerShdw blurRad="38100" dist="38100" dir="2700000">
                  <a:srgbClr val="FFFFFF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0723" name="文本框 30722"/>
          <p:cNvSpPr txBox="1"/>
          <p:nvPr/>
        </p:nvSpPr>
        <p:spPr>
          <a:xfrm>
            <a:off x="381000" y="990600"/>
            <a:ext cx="51276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由于</a:t>
            </a:r>
            <a:r>
              <a:rPr lang="en-US" altLang="zh-CN">
                <a:latin typeface="Times New Roman" panose="02020603050405020304" pitchFamily="18" charset="0"/>
              </a:rPr>
              <a:t>[B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</a:rPr>
              <a:t>E]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</a:rPr>
              <a:t>而</a:t>
            </a:r>
            <a:r>
              <a:rPr lang="en-US" altLang="zh-CN">
                <a:latin typeface="Times New Roman" panose="02020603050405020304" pitchFamily="18" charset="0"/>
              </a:rPr>
              <a:t>[B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</a:rPr>
              <a:t>D]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>
                <a:latin typeface="Times New Roman" panose="02020603050405020304" pitchFamily="18" charset="0"/>
              </a:rPr>
              <a:t>[D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</a:rPr>
              <a:t>E]</a:t>
            </a:r>
            <a:r>
              <a:rPr lang="zh-CN" altLang="en-US">
                <a:latin typeface="Times New Roman" panose="02020603050405020304" pitchFamily="18" charset="0"/>
              </a:rPr>
              <a:t>。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0725" name="文本框 30724"/>
          <p:cNvSpPr txBox="1"/>
          <p:nvPr/>
        </p:nvSpPr>
        <p:spPr>
          <a:xfrm>
            <a:off x="5410200" y="990600"/>
            <a:ext cx="23399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称它们为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等价类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30728" name="组合 30727"/>
          <p:cNvGrpSpPr/>
          <p:nvPr/>
        </p:nvGrpSpPr>
        <p:grpSpPr>
          <a:xfrm>
            <a:off x="5257800" y="0"/>
            <a:ext cx="2209800" cy="914400"/>
            <a:chOff x="3312" y="0"/>
            <a:chExt cx="1392" cy="576"/>
          </a:xfrm>
        </p:grpSpPr>
        <p:sp>
          <p:nvSpPr>
            <p:cNvPr id="30726" name="圆角矩形标注 30725"/>
            <p:cNvSpPr/>
            <p:nvPr/>
          </p:nvSpPr>
          <p:spPr>
            <a:xfrm>
              <a:off x="3312" y="0"/>
              <a:ext cx="1392" cy="576"/>
            </a:xfrm>
            <a:prstGeom prst="wedgeRoundRectCallout">
              <a:avLst>
                <a:gd name="adj1" fmla="val 34194"/>
                <a:gd name="adj2" fmla="val 69273"/>
                <a:gd name="adj3" fmla="val 16667"/>
              </a:avLst>
            </a:prstGeom>
            <a:solidFill>
              <a:srgbClr val="FFCC00"/>
            </a:solidFill>
            <a:ln w="38100">
              <a:noFill/>
            </a:ln>
          </p:spPr>
          <p:txBody>
            <a:bodyPr wrap="none" anchor="ctr" anchorCtr="0"/>
            <a:p>
              <a:pPr algn="ctr" eaLnBrk="1" hangingPunct="1"/>
              <a:endParaRPr dirty="0">
                <a:latin typeface="Times New Roman" panose="02020603050405020304" pitchFamily="18" charset="0"/>
              </a:endParaRPr>
            </a:p>
          </p:txBody>
        </p:sp>
        <p:sp>
          <p:nvSpPr>
            <p:cNvPr id="30727" name="文本框 30726"/>
            <p:cNvSpPr txBox="1"/>
            <p:nvPr/>
          </p:nvSpPr>
          <p:spPr>
            <a:xfrm>
              <a:off x="3408" y="0"/>
              <a:ext cx="1119" cy="518"/>
            </a:xfrm>
            <a:prstGeom prst="rect">
              <a:avLst/>
            </a:prstGeom>
            <a:solidFill>
              <a:srgbClr val="FFCC00"/>
            </a:solidFill>
            <a:ln w="381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zh-CN" altLang="en-US" dirty="0">
                  <a:latin typeface="Times New Roman" panose="02020603050405020304" pitchFamily="18" charset="0"/>
                </a:rPr>
                <a:t>相互等价状态的</a:t>
              </a:r>
              <a:r>
                <a:rPr lang="zh-CN" altLang="en-US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集合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30729" name="文本框 30728"/>
          <p:cNvSpPr txBox="1"/>
          <p:nvPr/>
        </p:nvSpPr>
        <p:spPr>
          <a:xfrm>
            <a:off x="246063" y="1524000"/>
            <a:ext cx="4402137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将</a:t>
            </a:r>
            <a:r>
              <a:rPr lang="en-US" altLang="zh-CN">
                <a:latin typeface="Times New Roman" panose="02020603050405020304" pitchFamily="18" charset="0"/>
              </a:rPr>
              <a:t>[B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</a:rPr>
              <a:t>D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</a:rPr>
              <a:t>E]</a:t>
            </a:r>
            <a:r>
              <a:rPr lang="zh-CN" altLang="en-US" dirty="0">
                <a:latin typeface="Times New Roman" panose="02020603050405020304" pitchFamily="18" charset="0"/>
              </a:rPr>
              <a:t>称为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最大等价类。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0730" name="圆角矩形标注 30729"/>
          <p:cNvSpPr/>
          <p:nvPr/>
        </p:nvSpPr>
        <p:spPr>
          <a:xfrm>
            <a:off x="3048000" y="609600"/>
            <a:ext cx="3657600" cy="762000"/>
          </a:xfrm>
          <a:prstGeom prst="wedgeRoundRectCallout">
            <a:avLst>
              <a:gd name="adj1" fmla="val -50954"/>
              <a:gd name="adj2" fmla="val 77917"/>
              <a:gd name="adj3" fmla="val 16667"/>
            </a:avLst>
          </a:prstGeom>
          <a:solidFill>
            <a:srgbClr val="FFCC00"/>
          </a:solidFill>
          <a:ln w="38100">
            <a:noFill/>
          </a:ln>
        </p:spPr>
        <p:txBody>
          <a:bodyPr wrap="none" anchor="ctr" anchorCtr="0"/>
          <a:p>
            <a:pPr algn="just" eaLnBrk="1" hangingPunct="1"/>
            <a:r>
              <a:rPr lang="zh-CN" altLang="en-US" dirty="0">
                <a:latin typeface="Times New Roman" panose="02020603050405020304" pitchFamily="18" charset="0"/>
              </a:rPr>
              <a:t>不被其它等价类所包含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30731" name="组合 30730"/>
          <p:cNvGrpSpPr/>
          <p:nvPr/>
        </p:nvGrpSpPr>
        <p:grpSpPr>
          <a:xfrm>
            <a:off x="381000" y="2057400"/>
            <a:ext cx="3733800" cy="3276600"/>
            <a:chOff x="3072" y="1296"/>
            <a:chExt cx="2352" cy="2064"/>
          </a:xfrm>
        </p:grpSpPr>
        <p:sp>
          <p:nvSpPr>
            <p:cNvPr id="30732" name="文本框 30731"/>
            <p:cNvSpPr txBox="1"/>
            <p:nvPr/>
          </p:nvSpPr>
          <p:spPr>
            <a:xfrm>
              <a:off x="4416" y="3072"/>
              <a:ext cx="68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S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n+1</a:t>
              </a:r>
              <a:r>
                <a:rPr lang="en-US" altLang="zh-CN">
                  <a:latin typeface="Times New Roman" panose="02020603050405020304" pitchFamily="18" charset="0"/>
                </a:rPr>
                <a:t>/Z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n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grpSp>
          <p:nvGrpSpPr>
            <p:cNvPr id="30733" name="组合 30732"/>
            <p:cNvGrpSpPr/>
            <p:nvPr/>
          </p:nvGrpSpPr>
          <p:grpSpPr>
            <a:xfrm>
              <a:off x="3072" y="1296"/>
              <a:ext cx="2352" cy="1824"/>
              <a:chOff x="3072" y="1200"/>
              <a:chExt cx="2352" cy="1824"/>
            </a:xfrm>
          </p:grpSpPr>
          <p:sp>
            <p:nvSpPr>
              <p:cNvPr id="30734" name="文本框 30733"/>
              <p:cNvSpPr txBox="1"/>
              <p:nvPr/>
            </p:nvSpPr>
            <p:spPr>
              <a:xfrm>
                <a:off x="3585" y="1200"/>
                <a:ext cx="255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X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35" name="文本框 30734"/>
              <p:cNvSpPr txBox="1"/>
              <p:nvPr/>
            </p:nvSpPr>
            <p:spPr>
              <a:xfrm>
                <a:off x="3258" y="1296"/>
                <a:ext cx="34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S 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n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36" name="文本框 30735"/>
              <p:cNvSpPr txBox="1"/>
              <p:nvPr/>
            </p:nvSpPr>
            <p:spPr>
              <a:xfrm>
                <a:off x="4252" y="1248"/>
                <a:ext cx="21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37" name="文本框 30736"/>
              <p:cNvSpPr txBox="1"/>
              <p:nvPr/>
            </p:nvSpPr>
            <p:spPr>
              <a:xfrm>
                <a:off x="4838" y="1248"/>
                <a:ext cx="21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38" name="文本框 30737"/>
              <p:cNvSpPr txBox="1"/>
              <p:nvPr/>
            </p:nvSpPr>
            <p:spPr>
              <a:xfrm>
                <a:off x="3350" y="1536"/>
                <a:ext cx="255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A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39" name="文本框 30738"/>
              <p:cNvSpPr txBox="1"/>
              <p:nvPr/>
            </p:nvSpPr>
            <p:spPr>
              <a:xfrm>
                <a:off x="3356" y="1728"/>
                <a:ext cx="24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B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40" name="文本框 30739"/>
              <p:cNvSpPr txBox="1"/>
              <p:nvPr/>
            </p:nvSpPr>
            <p:spPr>
              <a:xfrm>
                <a:off x="3360" y="1920"/>
                <a:ext cx="255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C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41" name="文本框 30740"/>
              <p:cNvSpPr txBox="1"/>
              <p:nvPr/>
            </p:nvSpPr>
            <p:spPr>
              <a:xfrm>
                <a:off x="3360" y="2112"/>
                <a:ext cx="255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D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42" name="文本框 30741"/>
              <p:cNvSpPr txBox="1"/>
              <p:nvPr/>
            </p:nvSpPr>
            <p:spPr>
              <a:xfrm>
                <a:off x="4166" y="1536"/>
                <a:ext cx="39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B/0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43" name="文本框 30742"/>
              <p:cNvSpPr txBox="1"/>
              <p:nvPr/>
            </p:nvSpPr>
            <p:spPr>
              <a:xfrm>
                <a:off x="4790" y="1536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C/0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44" name="文本框 30743"/>
              <p:cNvSpPr txBox="1"/>
              <p:nvPr/>
            </p:nvSpPr>
            <p:spPr>
              <a:xfrm>
                <a:off x="4167" y="1728"/>
                <a:ext cx="39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E/1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45" name="文本框 30744"/>
              <p:cNvSpPr txBox="1"/>
              <p:nvPr/>
            </p:nvSpPr>
            <p:spPr>
              <a:xfrm>
                <a:off x="4800" y="1728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C/0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46" name="文本框 30745"/>
              <p:cNvSpPr txBox="1"/>
              <p:nvPr/>
            </p:nvSpPr>
            <p:spPr>
              <a:xfrm>
                <a:off x="4176" y="1920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D/0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47" name="文本框 30746"/>
              <p:cNvSpPr txBox="1"/>
              <p:nvPr/>
            </p:nvSpPr>
            <p:spPr>
              <a:xfrm>
                <a:off x="4800" y="1920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A/0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48" name="文本框 30747"/>
              <p:cNvSpPr txBox="1"/>
              <p:nvPr/>
            </p:nvSpPr>
            <p:spPr>
              <a:xfrm>
                <a:off x="4176" y="2112"/>
                <a:ext cx="39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E/1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49" name="文本框 30748"/>
              <p:cNvSpPr txBox="1"/>
              <p:nvPr/>
            </p:nvSpPr>
            <p:spPr>
              <a:xfrm>
                <a:off x="4800" y="2112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A/0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0750" name="组合 30749"/>
              <p:cNvGrpSpPr/>
              <p:nvPr/>
            </p:nvGrpSpPr>
            <p:grpSpPr>
              <a:xfrm>
                <a:off x="3072" y="1200"/>
                <a:ext cx="2352" cy="1824"/>
                <a:chOff x="3072" y="1488"/>
                <a:chExt cx="2352" cy="2448"/>
              </a:xfrm>
            </p:grpSpPr>
            <p:sp>
              <p:nvSpPr>
                <p:cNvPr id="30751" name="矩形 30750"/>
                <p:cNvSpPr/>
                <p:nvPr/>
              </p:nvSpPr>
              <p:spPr>
                <a:xfrm>
                  <a:off x="3072" y="1510"/>
                  <a:ext cx="2352" cy="2426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0752" name="直接连接符 30751"/>
                <p:cNvSpPr/>
                <p:nvPr/>
              </p:nvSpPr>
              <p:spPr>
                <a:xfrm>
                  <a:off x="3072" y="1968"/>
                  <a:ext cx="235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0753" name="直接连接符 30752"/>
                <p:cNvSpPr/>
                <p:nvPr/>
              </p:nvSpPr>
              <p:spPr>
                <a:xfrm>
                  <a:off x="4080" y="1510"/>
                  <a:ext cx="0" cy="242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0754" name="直接连接符 30753"/>
                <p:cNvSpPr/>
                <p:nvPr/>
              </p:nvSpPr>
              <p:spPr>
                <a:xfrm>
                  <a:off x="3072" y="1488"/>
                  <a:ext cx="1008" cy="48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0755" name="文本框 30754"/>
              <p:cNvSpPr txBox="1"/>
              <p:nvPr/>
            </p:nvSpPr>
            <p:spPr>
              <a:xfrm>
                <a:off x="3360" y="2304"/>
                <a:ext cx="24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E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56" name="文本框 30755"/>
              <p:cNvSpPr txBox="1"/>
              <p:nvPr/>
            </p:nvSpPr>
            <p:spPr>
              <a:xfrm>
                <a:off x="4176" y="2304"/>
                <a:ext cx="39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E/1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57" name="文本框 30756"/>
              <p:cNvSpPr txBox="1"/>
              <p:nvPr/>
            </p:nvSpPr>
            <p:spPr>
              <a:xfrm>
                <a:off x="4780" y="2304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C/0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58" name="文本框 30757"/>
              <p:cNvSpPr txBox="1"/>
              <p:nvPr/>
            </p:nvSpPr>
            <p:spPr>
              <a:xfrm>
                <a:off x="3367" y="2496"/>
                <a:ext cx="23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F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59" name="文本框 30758"/>
              <p:cNvSpPr txBox="1"/>
              <p:nvPr/>
            </p:nvSpPr>
            <p:spPr>
              <a:xfrm>
                <a:off x="4194" y="2496"/>
                <a:ext cx="41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G/1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60" name="文本框 30759"/>
              <p:cNvSpPr txBox="1"/>
              <p:nvPr/>
            </p:nvSpPr>
            <p:spPr>
              <a:xfrm>
                <a:off x="4791" y="2496"/>
                <a:ext cx="39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E/0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61" name="文本框 30760"/>
              <p:cNvSpPr txBox="1"/>
              <p:nvPr/>
            </p:nvSpPr>
            <p:spPr>
              <a:xfrm>
                <a:off x="3335" y="2736"/>
                <a:ext cx="265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G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62" name="文本框 30761"/>
              <p:cNvSpPr txBox="1"/>
              <p:nvPr/>
            </p:nvSpPr>
            <p:spPr>
              <a:xfrm>
                <a:off x="4226" y="2736"/>
                <a:ext cx="38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F/1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63" name="文本框 30762"/>
              <p:cNvSpPr txBox="1"/>
              <p:nvPr/>
            </p:nvSpPr>
            <p:spPr>
              <a:xfrm>
                <a:off x="4791" y="2736"/>
                <a:ext cx="39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E/0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0805" name="组合 30804"/>
          <p:cNvGrpSpPr/>
          <p:nvPr/>
        </p:nvGrpSpPr>
        <p:grpSpPr>
          <a:xfrm>
            <a:off x="4114800" y="3048000"/>
            <a:ext cx="1066800" cy="838200"/>
            <a:chOff x="2592" y="1920"/>
            <a:chExt cx="672" cy="528"/>
          </a:xfrm>
        </p:grpSpPr>
        <p:sp>
          <p:nvSpPr>
            <p:cNvPr id="30765" name="右箭头 30764"/>
            <p:cNvSpPr/>
            <p:nvPr/>
          </p:nvSpPr>
          <p:spPr>
            <a:xfrm>
              <a:off x="2592" y="2208"/>
              <a:ext cx="672" cy="240"/>
            </a:xfrm>
            <a:prstGeom prst="rightArrow">
              <a:avLst>
                <a:gd name="adj1" fmla="val 50000"/>
                <a:gd name="adj2" fmla="val 7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0766" name="文本框 30765"/>
            <p:cNvSpPr txBox="1"/>
            <p:nvPr/>
          </p:nvSpPr>
          <p:spPr>
            <a:xfrm>
              <a:off x="2592" y="1920"/>
              <a:ext cx="50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zh-CN" altLang="en-US" dirty="0">
                  <a:latin typeface="Times New Roman" panose="02020603050405020304" pitchFamily="18" charset="0"/>
                </a:rPr>
                <a:t>简化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0802" name="组合 30801"/>
          <p:cNvGrpSpPr/>
          <p:nvPr/>
        </p:nvGrpSpPr>
        <p:grpSpPr>
          <a:xfrm>
            <a:off x="5181600" y="2514600"/>
            <a:ext cx="3733800" cy="2362200"/>
            <a:chOff x="3264" y="1584"/>
            <a:chExt cx="2352" cy="1488"/>
          </a:xfrm>
        </p:grpSpPr>
        <p:sp>
          <p:nvSpPr>
            <p:cNvPr id="30768" name="文本框 30767"/>
            <p:cNvSpPr txBox="1"/>
            <p:nvPr/>
          </p:nvSpPr>
          <p:spPr>
            <a:xfrm>
              <a:off x="4608" y="2784"/>
              <a:ext cx="68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S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n+1</a:t>
              </a:r>
              <a:r>
                <a:rPr lang="en-US" altLang="zh-CN">
                  <a:latin typeface="Times New Roman" panose="02020603050405020304" pitchFamily="18" charset="0"/>
                </a:rPr>
                <a:t>/Z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n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grpSp>
          <p:nvGrpSpPr>
            <p:cNvPr id="30801" name="组合 30800"/>
            <p:cNvGrpSpPr/>
            <p:nvPr/>
          </p:nvGrpSpPr>
          <p:grpSpPr>
            <a:xfrm>
              <a:off x="3264" y="1584"/>
              <a:ext cx="2352" cy="1104"/>
              <a:chOff x="3264" y="1296"/>
              <a:chExt cx="2352" cy="1104"/>
            </a:xfrm>
          </p:grpSpPr>
          <p:sp>
            <p:nvSpPr>
              <p:cNvPr id="30770" name="文本框 30769"/>
              <p:cNvSpPr txBox="1"/>
              <p:nvPr/>
            </p:nvSpPr>
            <p:spPr>
              <a:xfrm>
                <a:off x="3777" y="1296"/>
                <a:ext cx="255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X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71" name="文本框 30770"/>
              <p:cNvSpPr txBox="1"/>
              <p:nvPr/>
            </p:nvSpPr>
            <p:spPr>
              <a:xfrm>
                <a:off x="3450" y="1392"/>
                <a:ext cx="34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S 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n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72" name="文本框 30771"/>
              <p:cNvSpPr txBox="1"/>
              <p:nvPr/>
            </p:nvSpPr>
            <p:spPr>
              <a:xfrm>
                <a:off x="4444" y="1344"/>
                <a:ext cx="21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73" name="文本框 30772"/>
              <p:cNvSpPr txBox="1"/>
              <p:nvPr/>
            </p:nvSpPr>
            <p:spPr>
              <a:xfrm>
                <a:off x="5030" y="1344"/>
                <a:ext cx="21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74" name="文本框 30773"/>
              <p:cNvSpPr txBox="1"/>
              <p:nvPr/>
            </p:nvSpPr>
            <p:spPr>
              <a:xfrm>
                <a:off x="3542" y="1632"/>
                <a:ext cx="255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A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75" name="文本框 30774"/>
              <p:cNvSpPr txBox="1"/>
              <p:nvPr/>
            </p:nvSpPr>
            <p:spPr>
              <a:xfrm>
                <a:off x="3548" y="1824"/>
                <a:ext cx="24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B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78" name="文本框 30777"/>
              <p:cNvSpPr txBox="1"/>
              <p:nvPr/>
            </p:nvSpPr>
            <p:spPr>
              <a:xfrm>
                <a:off x="4358" y="1632"/>
                <a:ext cx="39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B/0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79" name="文本框 30778"/>
              <p:cNvSpPr txBox="1"/>
              <p:nvPr/>
            </p:nvSpPr>
            <p:spPr>
              <a:xfrm>
                <a:off x="4982" y="1632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A/0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80" name="文本框 30779"/>
              <p:cNvSpPr txBox="1"/>
              <p:nvPr/>
            </p:nvSpPr>
            <p:spPr>
              <a:xfrm>
                <a:off x="4359" y="1824"/>
                <a:ext cx="39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B/1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81" name="文本框 30780"/>
              <p:cNvSpPr txBox="1"/>
              <p:nvPr/>
            </p:nvSpPr>
            <p:spPr>
              <a:xfrm>
                <a:off x="4992" y="1824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A/0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87" name="矩形 30786"/>
              <p:cNvSpPr/>
              <p:nvPr/>
            </p:nvSpPr>
            <p:spPr>
              <a:xfrm>
                <a:off x="3264" y="1306"/>
                <a:ext cx="2352" cy="109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88" name="直接连接符 30787"/>
              <p:cNvSpPr/>
              <p:nvPr/>
            </p:nvSpPr>
            <p:spPr>
              <a:xfrm>
                <a:off x="3264" y="1680"/>
                <a:ext cx="235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89" name="直接连接符 30788"/>
              <p:cNvSpPr/>
              <p:nvPr/>
            </p:nvSpPr>
            <p:spPr>
              <a:xfrm>
                <a:off x="4272" y="1306"/>
                <a:ext cx="0" cy="109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90" name="直接连接符 30789"/>
              <p:cNvSpPr/>
              <p:nvPr/>
            </p:nvSpPr>
            <p:spPr>
              <a:xfrm>
                <a:off x="3264" y="1296"/>
                <a:ext cx="1008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94" name="文本框 30793"/>
              <p:cNvSpPr txBox="1"/>
              <p:nvPr/>
            </p:nvSpPr>
            <p:spPr>
              <a:xfrm>
                <a:off x="3559" y="2064"/>
                <a:ext cx="23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F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95" name="文本框 30794"/>
              <p:cNvSpPr txBox="1"/>
              <p:nvPr/>
            </p:nvSpPr>
            <p:spPr>
              <a:xfrm>
                <a:off x="4402" y="2064"/>
                <a:ext cx="38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F/1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96" name="文本框 30795"/>
              <p:cNvSpPr txBox="1"/>
              <p:nvPr/>
            </p:nvSpPr>
            <p:spPr>
              <a:xfrm>
                <a:off x="4983" y="2064"/>
                <a:ext cx="39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B/0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30800" name="文本框 30799"/>
          <p:cNvSpPr txBox="1"/>
          <p:nvPr/>
        </p:nvSpPr>
        <p:spPr>
          <a:xfrm>
            <a:off x="4419600" y="1524000"/>
            <a:ext cx="4440238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得</a:t>
            </a:r>
            <a:r>
              <a:rPr lang="en-US" altLang="zh-CN">
                <a:latin typeface="Times New Roman" panose="02020603050405020304" pitchFamily="18" charset="0"/>
              </a:rPr>
              <a:t>[A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</a:rPr>
              <a:t>C]</a:t>
            </a:r>
            <a:r>
              <a:rPr lang="zh-CN" altLang="en-US">
                <a:latin typeface="Times New Roman" panose="02020603050405020304" pitchFamily="18" charset="0"/>
              </a:rPr>
              <a:t>、</a:t>
            </a:r>
            <a:r>
              <a:rPr lang="en-US" altLang="zh-CN">
                <a:latin typeface="Times New Roman" panose="02020603050405020304" pitchFamily="18" charset="0"/>
              </a:rPr>
              <a:t>[F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</a:rPr>
              <a:t>G]</a:t>
            </a:r>
            <a:r>
              <a:rPr lang="zh-CN" altLang="en-US">
                <a:latin typeface="Times New Roman" panose="02020603050405020304" pitchFamily="18" charset="0"/>
              </a:rPr>
              <a:t>、</a:t>
            </a:r>
            <a:r>
              <a:rPr lang="en-US" altLang="zh-CN">
                <a:latin typeface="Times New Roman" panose="02020603050405020304" pitchFamily="18" charset="0"/>
              </a:rPr>
              <a:t>[B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</a:rPr>
              <a:t>D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</a:rPr>
              <a:t>E]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0803" name="文本框 30802"/>
          <p:cNvSpPr txBox="1"/>
          <p:nvPr/>
        </p:nvSpPr>
        <p:spPr>
          <a:xfrm>
            <a:off x="381000" y="5334000"/>
            <a:ext cx="2209800" cy="457200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简化的实质：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804" name="文本框 30803"/>
          <p:cNvSpPr txBox="1"/>
          <p:nvPr/>
        </p:nvSpPr>
        <p:spPr>
          <a:xfrm>
            <a:off x="2133600" y="5334000"/>
            <a:ext cx="5846763" cy="822325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p>
            <a:pPr algn="just" eaLnBrk="1" hangingPunct="1"/>
            <a:r>
              <a:rPr lang="zh-CN" altLang="en-US" dirty="0">
                <a:latin typeface="Times New Roman" panose="02020603050405020304" pitchFamily="18" charset="0"/>
              </a:rPr>
              <a:t>寻找所有的最大等价类，将等价态合并，得最简状态表，以使设计电路最简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pic>
        <p:nvPicPr>
          <p:cNvPr id="30806" name="图片 30805" descr="wb01508_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58674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807" name="文本框 30806">
            <a:hlinkClick r:id="rId1" action="ppaction://hlinksldjump"/>
          </p:cNvPr>
          <p:cNvSpPr txBox="1"/>
          <p:nvPr/>
        </p:nvSpPr>
        <p:spPr>
          <a:xfrm>
            <a:off x="7740650" y="59436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u="sng" dirty="0">
                <a:solidFill>
                  <a:schemeClr val="accent2"/>
                </a:solidFill>
                <a:latin typeface="Times New Roman" panose="02020603050405020304" pitchFamily="18" charset="0"/>
              </a:rPr>
              <a:t>返  回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0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0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30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0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0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/>
      <p:bldP spid="30725" grpId="0"/>
      <p:bldP spid="30729" grpId="0"/>
      <p:bldP spid="30730" grpId="0" animBg="1"/>
      <p:bldP spid="30800" grpId="0"/>
      <p:bldP spid="30803" grpId="0"/>
      <p:bldP spid="3080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871" name="图片 29870" descr="wb01508_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0" y="60198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872" name="文本框 29871">
            <a:hlinkClick r:id="rId1" action="ppaction://hlinksldjump"/>
          </p:cNvPr>
          <p:cNvSpPr txBox="1"/>
          <p:nvPr/>
        </p:nvSpPr>
        <p:spPr>
          <a:xfrm>
            <a:off x="7893050" y="60960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u="sng" dirty="0">
                <a:solidFill>
                  <a:schemeClr val="accent2"/>
                </a:solidFill>
                <a:latin typeface="Times New Roman" panose="02020603050405020304" pitchFamily="18" charset="0"/>
              </a:rPr>
              <a:t>返  回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9698" name="矩形 29697"/>
          <p:cNvSpPr/>
          <p:nvPr/>
        </p:nvSpPr>
        <p:spPr>
          <a:xfrm>
            <a:off x="457200" y="304800"/>
            <a:ext cx="2743200" cy="4572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9525">
            <a:noFill/>
          </a:ln>
          <a:effectLst>
            <a:outerShdw dist="107763" dir="13499999" algn="ctr" rotWithShape="0">
              <a:srgbClr val="808080"/>
            </a:outerShdw>
          </a:effectLst>
        </p:spPr>
        <p:txBody>
          <a:bodyPr anchor="ctr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sz="4000" b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状态简化</a:t>
            </a:r>
            <a:endParaRPr lang="zh-CN" altLang="en-US" sz="7200" b="1" dirty="0">
              <a:effectLst>
                <a:outerShdw blurRad="38100" dist="38100" dir="2700000">
                  <a:srgbClr val="FFFFFF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9711" name="文本框 29710"/>
          <p:cNvSpPr txBox="1"/>
          <p:nvPr/>
        </p:nvSpPr>
        <p:spPr>
          <a:xfrm>
            <a:off x="457200" y="990600"/>
            <a:ext cx="25622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、 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隐含表法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简化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9712" name="圆角矩形标注 29711"/>
          <p:cNvSpPr/>
          <p:nvPr/>
        </p:nvSpPr>
        <p:spPr>
          <a:xfrm>
            <a:off x="1828800" y="381000"/>
            <a:ext cx="2438400" cy="533400"/>
          </a:xfrm>
          <a:prstGeom prst="wedgeRoundRectCallout">
            <a:avLst>
              <a:gd name="adj1" fmla="val -59505"/>
              <a:gd name="adj2" fmla="val 77380"/>
              <a:gd name="adj3" fmla="val 16667"/>
            </a:avLst>
          </a:prstGeom>
          <a:gradFill rotWithShape="0">
            <a:gsLst>
              <a:gs pos="0">
                <a:srgbClr val="FFFF99">
                  <a:gamma/>
                  <a:shade val="46275"/>
                  <a:invGamma/>
                </a:srgbClr>
              </a:gs>
              <a:gs pos="50000">
                <a:srgbClr val="FFFF99"/>
              </a:gs>
              <a:gs pos="100000">
                <a:srgbClr val="FFFF99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38100">
            <a:noFill/>
          </a:ln>
        </p:spPr>
        <p:txBody>
          <a:bodyPr wrap="none" anchor="ctr" anchorCtr="0"/>
          <a:p>
            <a:pPr algn="just"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系统的比较方法</a:t>
            </a:r>
            <a:endParaRPr lang="zh-CN" altLang="en-US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9770" name="组合 29769"/>
          <p:cNvGrpSpPr/>
          <p:nvPr/>
        </p:nvGrpSpPr>
        <p:grpSpPr>
          <a:xfrm>
            <a:off x="381000" y="1524000"/>
            <a:ext cx="4191000" cy="4267200"/>
            <a:chOff x="2880" y="528"/>
            <a:chExt cx="2640" cy="2688"/>
          </a:xfrm>
        </p:grpSpPr>
        <p:sp>
          <p:nvSpPr>
            <p:cNvPr id="29714" name="直接连接符 29713"/>
            <p:cNvSpPr/>
            <p:nvPr/>
          </p:nvSpPr>
          <p:spPr>
            <a:xfrm>
              <a:off x="2880" y="864"/>
              <a:ext cx="25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15" name="直接连接符 29714"/>
            <p:cNvSpPr/>
            <p:nvPr/>
          </p:nvSpPr>
          <p:spPr>
            <a:xfrm>
              <a:off x="2880" y="1296"/>
              <a:ext cx="25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16" name="直接连接符 29715"/>
            <p:cNvSpPr/>
            <p:nvPr/>
          </p:nvSpPr>
          <p:spPr>
            <a:xfrm>
              <a:off x="2928" y="2928"/>
              <a:ext cx="25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17" name="直接连接符 29716"/>
            <p:cNvSpPr/>
            <p:nvPr/>
          </p:nvSpPr>
          <p:spPr>
            <a:xfrm>
              <a:off x="4992" y="864"/>
              <a:ext cx="0" cy="206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18" name="直接连接符 29717"/>
            <p:cNvSpPr/>
            <p:nvPr/>
          </p:nvSpPr>
          <p:spPr>
            <a:xfrm>
              <a:off x="4560" y="864"/>
              <a:ext cx="0" cy="206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19" name="直接连接符 29718"/>
            <p:cNvSpPr/>
            <p:nvPr/>
          </p:nvSpPr>
          <p:spPr>
            <a:xfrm>
              <a:off x="4080" y="864"/>
              <a:ext cx="0" cy="206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20" name="直接连接符 29719"/>
            <p:cNvSpPr/>
            <p:nvPr/>
          </p:nvSpPr>
          <p:spPr>
            <a:xfrm>
              <a:off x="3648" y="864"/>
              <a:ext cx="0" cy="206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21" name="直接连接符 29720"/>
            <p:cNvSpPr/>
            <p:nvPr/>
          </p:nvSpPr>
          <p:spPr>
            <a:xfrm>
              <a:off x="2880" y="864"/>
              <a:ext cx="768" cy="43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22" name="文本框 29721"/>
            <p:cNvSpPr txBox="1"/>
            <p:nvPr/>
          </p:nvSpPr>
          <p:spPr>
            <a:xfrm>
              <a:off x="3142" y="816"/>
              <a:ext cx="52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X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>
                  <a:latin typeface="Times New Roman" panose="02020603050405020304" pitchFamily="18" charset="0"/>
                </a:rPr>
                <a:t>X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2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23" name="文本框 29722"/>
            <p:cNvSpPr txBox="1"/>
            <p:nvPr/>
          </p:nvSpPr>
          <p:spPr>
            <a:xfrm>
              <a:off x="2976" y="1008"/>
              <a:ext cx="29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err="1">
                  <a:latin typeface="Times New Roman" panose="02020603050405020304" pitchFamily="18" charset="0"/>
                </a:rPr>
                <a:t>S</a:t>
              </a:r>
              <a:r>
                <a:rPr lang="en-US" altLang="zh-CN" baseline="-25000" err="1">
                  <a:latin typeface="Times New Roman" panose="02020603050405020304" pitchFamily="18" charset="0"/>
                </a:rPr>
                <a:t>n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24" name="文本框 29723"/>
            <p:cNvSpPr txBox="1"/>
            <p:nvPr/>
          </p:nvSpPr>
          <p:spPr>
            <a:xfrm>
              <a:off x="3120" y="1248"/>
              <a:ext cx="255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A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25" name="文本框 29724"/>
            <p:cNvSpPr txBox="1"/>
            <p:nvPr/>
          </p:nvSpPr>
          <p:spPr>
            <a:xfrm>
              <a:off x="3696" y="960"/>
              <a:ext cx="30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00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26" name="文本框 29725"/>
            <p:cNvSpPr txBox="1"/>
            <p:nvPr/>
          </p:nvSpPr>
          <p:spPr>
            <a:xfrm>
              <a:off x="4156" y="960"/>
              <a:ext cx="30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01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27" name="文本框 29726"/>
            <p:cNvSpPr txBox="1"/>
            <p:nvPr/>
          </p:nvSpPr>
          <p:spPr>
            <a:xfrm>
              <a:off x="4636" y="960"/>
              <a:ext cx="30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11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28" name="文本框 29727"/>
            <p:cNvSpPr txBox="1"/>
            <p:nvPr/>
          </p:nvSpPr>
          <p:spPr>
            <a:xfrm>
              <a:off x="5068" y="960"/>
              <a:ext cx="30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10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29" name="文本框 29728"/>
            <p:cNvSpPr txBox="1"/>
            <p:nvPr/>
          </p:nvSpPr>
          <p:spPr>
            <a:xfrm>
              <a:off x="3125" y="1440"/>
              <a:ext cx="24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B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30" name="文本框 29729"/>
            <p:cNvSpPr txBox="1"/>
            <p:nvPr/>
          </p:nvSpPr>
          <p:spPr>
            <a:xfrm>
              <a:off x="3115" y="1632"/>
              <a:ext cx="255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C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31" name="文本框 29730"/>
            <p:cNvSpPr txBox="1"/>
            <p:nvPr/>
          </p:nvSpPr>
          <p:spPr>
            <a:xfrm>
              <a:off x="3120" y="1824"/>
              <a:ext cx="255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D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32" name="文本框 29731"/>
            <p:cNvSpPr txBox="1"/>
            <p:nvPr/>
          </p:nvSpPr>
          <p:spPr>
            <a:xfrm>
              <a:off x="3125" y="2016"/>
              <a:ext cx="24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E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33" name="文本框 29732"/>
            <p:cNvSpPr txBox="1"/>
            <p:nvPr/>
          </p:nvSpPr>
          <p:spPr>
            <a:xfrm>
              <a:off x="3125" y="2208"/>
              <a:ext cx="23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F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34" name="文本框 29733"/>
            <p:cNvSpPr txBox="1"/>
            <p:nvPr/>
          </p:nvSpPr>
          <p:spPr>
            <a:xfrm>
              <a:off x="3104" y="2400"/>
              <a:ext cx="265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G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35" name="文本框 29734"/>
            <p:cNvSpPr txBox="1"/>
            <p:nvPr/>
          </p:nvSpPr>
          <p:spPr>
            <a:xfrm>
              <a:off x="3104" y="2640"/>
              <a:ext cx="265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H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36" name="文本框 29735"/>
            <p:cNvSpPr txBox="1"/>
            <p:nvPr/>
          </p:nvSpPr>
          <p:spPr>
            <a:xfrm>
              <a:off x="3628" y="1248"/>
              <a:ext cx="40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D/0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37" name="文本框 29736"/>
            <p:cNvSpPr txBox="1"/>
            <p:nvPr/>
          </p:nvSpPr>
          <p:spPr>
            <a:xfrm>
              <a:off x="4108" y="1248"/>
              <a:ext cx="40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D/0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38" name="文本框 29737"/>
            <p:cNvSpPr txBox="1"/>
            <p:nvPr/>
          </p:nvSpPr>
          <p:spPr>
            <a:xfrm>
              <a:off x="4599" y="1248"/>
              <a:ext cx="38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F/0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39" name="文本框 29738"/>
            <p:cNvSpPr txBox="1"/>
            <p:nvPr/>
          </p:nvSpPr>
          <p:spPr>
            <a:xfrm>
              <a:off x="5031" y="1248"/>
              <a:ext cx="40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A/0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40" name="文本框 29739"/>
            <p:cNvSpPr txBox="1"/>
            <p:nvPr/>
          </p:nvSpPr>
          <p:spPr>
            <a:xfrm>
              <a:off x="3648" y="1440"/>
              <a:ext cx="40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C/1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41" name="文本框 29740"/>
            <p:cNvSpPr txBox="1"/>
            <p:nvPr/>
          </p:nvSpPr>
          <p:spPr>
            <a:xfrm>
              <a:off x="4128" y="1440"/>
              <a:ext cx="40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D/0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42" name="文本框 29741"/>
            <p:cNvSpPr txBox="1"/>
            <p:nvPr/>
          </p:nvSpPr>
          <p:spPr>
            <a:xfrm>
              <a:off x="4603" y="1440"/>
              <a:ext cx="39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E/1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43" name="文本框 29742"/>
            <p:cNvSpPr txBox="1"/>
            <p:nvPr/>
          </p:nvSpPr>
          <p:spPr>
            <a:xfrm>
              <a:off x="5042" y="1440"/>
              <a:ext cx="38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F/0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44" name="文本框 29743"/>
            <p:cNvSpPr txBox="1"/>
            <p:nvPr/>
          </p:nvSpPr>
          <p:spPr>
            <a:xfrm>
              <a:off x="3648" y="1680"/>
              <a:ext cx="40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C/1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45" name="文本框 29744"/>
            <p:cNvSpPr txBox="1"/>
            <p:nvPr/>
          </p:nvSpPr>
          <p:spPr>
            <a:xfrm>
              <a:off x="4128" y="1680"/>
              <a:ext cx="40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D/0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46" name="文本框 29745"/>
            <p:cNvSpPr txBox="1"/>
            <p:nvPr/>
          </p:nvSpPr>
          <p:spPr>
            <a:xfrm>
              <a:off x="4608" y="1680"/>
              <a:ext cx="39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E/1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47" name="文本框 29746"/>
            <p:cNvSpPr txBox="1"/>
            <p:nvPr/>
          </p:nvSpPr>
          <p:spPr>
            <a:xfrm>
              <a:off x="5040" y="1680"/>
              <a:ext cx="40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A/0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48" name="文本框 29747"/>
            <p:cNvSpPr txBox="1"/>
            <p:nvPr/>
          </p:nvSpPr>
          <p:spPr>
            <a:xfrm>
              <a:off x="3648" y="1872"/>
              <a:ext cx="40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D/0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49" name="文本框 29748"/>
            <p:cNvSpPr txBox="1"/>
            <p:nvPr/>
          </p:nvSpPr>
          <p:spPr>
            <a:xfrm>
              <a:off x="4133" y="1872"/>
              <a:ext cx="39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B/0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50" name="文本框 29749"/>
            <p:cNvSpPr txBox="1"/>
            <p:nvPr/>
          </p:nvSpPr>
          <p:spPr>
            <a:xfrm>
              <a:off x="4608" y="1872"/>
              <a:ext cx="40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A/0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51" name="文本框 29750"/>
            <p:cNvSpPr txBox="1"/>
            <p:nvPr/>
          </p:nvSpPr>
          <p:spPr>
            <a:xfrm>
              <a:off x="5040" y="1872"/>
              <a:ext cx="38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F/0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52" name="文本框 29751"/>
            <p:cNvSpPr txBox="1"/>
            <p:nvPr/>
          </p:nvSpPr>
          <p:spPr>
            <a:xfrm>
              <a:off x="3648" y="2064"/>
              <a:ext cx="40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C/1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53" name="文本框 29752"/>
            <p:cNvSpPr txBox="1"/>
            <p:nvPr/>
          </p:nvSpPr>
          <p:spPr>
            <a:xfrm>
              <a:off x="4128" y="2064"/>
              <a:ext cx="38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F/0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54" name="文本框 29753"/>
            <p:cNvSpPr txBox="1"/>
            <p:nvPr/>
          </p:nvSpPr>
          <p:spPr>
            <a:xfrm>
              <a:off x="4599" y="2064"/>
              <a:ext cx="39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E/1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55" name="文本框 29754"/>
            <p:cNvSpPr txBox="1"/>
            <p:nvPr/>
          </p:nvSpPr>
          <p:spPr>
            <a:xfrm>
              <a:off x="5020" y="2064"/>
              <a:ext cx="40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A/0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56" name="文本框 29755"/>
            <p:cNvSpPr txBox="1"/>
            <p:nvPr/>
          </p:nvSpPr>
          <p:spPr>
            <a:xfrm>
              <a:off x="3648" y="2256"/>
              <a:ext cx="40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D/0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57" name="文本框 29756"/>
            <p:cNvSpPr txBox="1"/>
            <p:nvPr/>
          </p:nvSpPr>
          <p:spPr>
            <a:xfrm>
              <a:off x="4128" y="2256"/>
              <a:ext cx="40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D/0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58" name="文本框 29757"/>
            <p:cNvSpPr txBox="1"/>
            <p:nvPr/>
          </p:nvSpPr>
          <p:spPr>
            <a:xfrm>
              <a:off x="4588" y="2256"/>
              <a:ext cx="40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A/0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59" name="文本框 29758"/>
            <p:cNvSpPr txBox="1"/>
            <p:nvPr/>
          </p:nvSpPr>
          <p:spPr>
            <a:xfrm>
              <a:off x="5042" y="2256"/>
              <a:ext cx="38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F/0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60" name="文本框 29759"/>
            <p:cNvSpPr txBox="1"/>
            <p:nvPr/>
          </p:nvSpPr>
          <p:spPr>
            <a:xfrm>
              <a:off x="3643" y="2448"/>
              <a:ext cx="41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G/0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61" name="文本框 29760"/>
            <p:cNvSpPr txBox="1"/>
            <p:nvPr/>
          </p:nvSpPr>
          <p:spPr>
            <a:xfrm>
              <a:off x="4146" y="2448"/>
              <a:ext cx="41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G/0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62" name="文本框 29761"/>
            <p:cNvSpPr txBox="1"/>
            <p:nvPr/>
          </p:nvSpPr>
          <p:spPr>
            <a:xfrm>
              <a:off x="4588" y="2448"/>
              <a:ext cx="40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A/0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63" name="文本框 29762"/>
            <p:cNvSpPr txBox="1"/>
            <p:nvPr/>
          </p:nvSpPr>
          <p:spPr>
            <a:xfrm>
              <a:off x="5040" y="2448"/>
              <a:ext cx="40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A/0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64" name="文本框 29763"/>
            <p:cNvSpPr txBox="1"/>
            <p:nvPr/>
          </p:nvSpPr>
          <p:spPr>
            <a:xfrm>
              <a:off x="3658" y="2640"/>
              <a:ext cx="39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B/1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65" name="文本框 29764"/>
            <p:cNvSpPr txBox="1"/>
            <p:nvPr/>
          </p:nvSpPr>
          <p:spPr>
            <a:xfrm>
              <a:off x="4128" y="2640"/>
              <a:ext cx="40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D/0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66" name="文本框 29765"/>
            <p:cNvSpPr txBox="1"/>
            <p:nvPr/>
          </p:nvSpPr>
          <p:spPr>
            <a:xfrm>
              <a:off x="4608" y="2640"/>
              <a:ext cx="39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E/1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67" name="文本框 29766"/>
            <p:cNvSpPr txBox="1"/>
            <p:nvPr/>
          </p:nvSpPr>
          <p:spPr>
            <a:xfrm>
              <a:off x="5040" y="2640"/>
              <a:ext cx="40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A/0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68" name="文本框 29767"/>
            <p:cNvSpPr txBox="1"/>
            <p:nvPr/>
          </p:nvSpPr>
          <p:spPr>
            <a:xfrm>
              <a:off x="4165" y="2928"/>
              <a:ext cx="73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S 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n+1</a:t>
              </a:r>
              <a:r>
                <a:rPr lang="en-US" altLang="zh-CN">
                  <a:latin typeface="Times New Roman" panose="02020603050405020304" pitchFamily="18" charset="0"/>
                </a:rPr>
                <a:t>/Z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n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769" name="文本框 29768"/>
            <p:cNvSpPr txBox="1"/>
            <p:nvPr/>
          </p:nvSpPr>
          <p:spPr>
            <a:xfrm>
              <a:off x="4032" y="528"/>
              <a:ext cx="50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zh-CN" altLang="en-US" dirty="0">
                  <a:latin typeface="Times New Roman" panose="02020603050405020304" pitchFamily="18" charset="0"/>
                </a:rPr>
                <a:t>例子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9804" name="组合 29803"/>
          <p:cNvGrpSpPr/>
          <p:nvPr/>
        </p:nvGrpSpPr>
        <p:grpSpPr>
          <a:xfrm>
            <a:off x="5257800" y="1447800"/>
            <a:ext cx="3810000" cy="3886200"/>
            <a:chOff x="3264" y="768"/>
            <a:chExt cx="2400" cy="2448"/>
          </a:xfrm>
        </p:grpSpPr>
        <p:sp>
          <p:nvSpPr>
            <p:cNvPr id="29773" name="矩形 29772"/>
            <p:cNvSpPr/>
            <p:nvPr/>
          </p:nvSpPr>
          <p:spPr>
            <a:xfrm>
              <a:off x="3264" y="1872"/>
              <a:ext cx="1392" cy="134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74" name="直接连接符 29773"/>
            <p:cNvSpPr/>
            <p:nvPr/>
          </p:nvSpPr>
          <p:spPr>
            <a:xfrm>
              <a:off x="3264" y="2208"/>
              <a:ext cx="13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75" name="直接连接符 29774"/>
            <p:cNvSpPr/>
            <p:nvPr/>
          </p:nvSpPr>
          <p:spPr>
            <a:xfrm>
              <a:off x="3264" y="2544"/>
              <a:ext cx="13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76" name="直接连接符 29775"/>
            <p:cNvSpPr/>
            <p:nvPr/>
          </p:nvSpPr>
          <p:spPr>
            <a:xfrm>
              <a:off x="3264" y="2880"/>
              <a:ext cx="13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77" name="直接连接符 29776"/>
            <p:cNvSpPr/>
            <p:nvPr/>
          </p:nvSpPr>
          <p:spPr>
            <a:xfrm>
              <a:off x="3936" y="1872"/>
              <a:ext cx="0" cy="13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78" name="直接连接符 29777"/>
            <p:cNvSpPr/>
            <p:nvPr/>
          </p:nvSpPr>
          <p:spPr>
            <a:xfrm>
              <a:off x="4272" y="1872"/>
              <a:ext cx="0" cy="13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79" name="直接连接符 29778"/>
            <p:cNvSpPr/>
            <p:nvPr/>
          </p:nvSpPr>
          <p:spPr>
            <a:xfrm>
              <a:off x="3600" y="1872"/>
              <a:ext cx="0" cy="13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80" name="直接连接符 29779"/>
            <p:cNvSpPr/>
            <p:nvPr/>
          </p:nvSpPr>
          <p:spPr>
            <a:xfrm flipV="1">
              <a:off x="3264" y="768"/>
              <a:ext cx="0" cy="110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81" name="直接连接符 29780"/>
            <p:cNvSpPr/>
            <p:nvPr/>
          </p:nvSpPr>
          <p:spPr>
            <a:xfrm>
              <a:off x="3264" y="1536"/>
              <a:ext cx="100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82" name="直接连接符 29781"/>
            <p:cNvSpPr/>
            <p:nvPr/>
          </p:nvSpPr>
          <p:spPr>
            <a:xfrm>
              <a:off x="4272" y="1536"/>
              <a:ext cx="0" cy="38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83" name="直接连接符 29782"/>
            <p:cNvSpPr/>
            <p:nvPr/>
          </p:nvSpPr>
          <p:spPr>
            <a:xfrm>
              <a:off x="3936" y="1536"/>
              <a:ext cx="0" cy="38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84" name="直接连接符 29783"/>
            <p:cNvSpPr/>
            <p:nvPr/>
          </p:nvSpPr>
          <p:spPr>
            <a:xfrm>
              <a:off x="3600" y="1536"/>
              <a:ext cx="0" cy="38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85" name="直接连接符 29784"/>
            <p:cNvSpPr/>
            <p:nvPr/>
          </p:nvSpPr>
          <p:spPr>
            <a:xfrm>
              <a:off x="3264" y="1152"/>
              <a:ext cx="67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86" name="直接连接符 29785"/>
            <p:cNvSpPr/>
            <p:nvPr/>
          </p:nvSpPr>
          <p:spPr>
            <a:xfrm>
              <a:off x="3936" y="1152"/>
              <a:ext cx="0" cy="38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87" name="直接连接符 29786"/>
            <p:cNvSpPr/>
            <p:nvPr/>
          </p:nvSpPr>
          <p:spPr>
            <a:xfrm>
              <a:off x="3600" y="1152"/>
              <a:ext cx="0" cy="38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88" name="直接连接符 29787"/>
            <p:cNvSpPr/>
            <p:nvPr/>
          </p:nvSpPr>
          <p:spPr>
            <a:xfrm>
              <a:off x="3600" y="768"/>
              <a:ext cx="0" cy="38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89" name="直接连接符 29788"/>
            <p:cNvSpPr/>
            <p:nvPr/>
          </p:nvSpPr>
          <p:spPr>
            <a:xfrm flipH="1">
              <a:off x="3264" y="768"/>
              <a:ext cx="33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90" name="直接连接符 29789"/>
            <p:cNvSpPr/>
            <p:nvPr/>
          </p:nvSpPr>
          <p:spPr>
            <a:xfrm flipH="1">
              <a:off x="4656" y="3216"/>
              <a:ext cx="33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91" name="直接连接符 29790"/>
            <p:cNvSpPr/>
            <p:nvPr/>
          </p:nvSpPr>
          <p:spPr>
            <a:xfrm flipV="1">
              <a:off x="4992" y="2208"/>
              <a:ext cx="0" cy="100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92" name="直接连接符 29791"/>
            <p:cNvSpPr/>
            <p:nvPr/>
          </p:nvSpPr>
          <p:spPr>
            <a:xfrm flipH="1">
              <a:off x="4656" y="2208"/>
              <a:ext cx="33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93" name="直接连接符 29792"/>
            <p:cNvSpPr/>
            <p:nvPr/>
          </p:nvSpPr>
          <p:spPr>
            <a:xfrm flipH="1">
              <a:off x="4656" y="2880"/>
              <a:ext cx="33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94" name="直接连接符 29793"/>
            <p:cNvSpPr/>
            <p:nvPr/>
          </p:nvSpPr>
          <p:spPr>
            <a:xfrm flipH="1">
              <a:off x="4656" y="2544"/>
              <a:ext cx="33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95" name="直接连接符 29794"/>
            <p:cNvSpPr/>
            <p:nvPr/>
          </p:nvSpPr>
          <p:spPr>
            <a:xfrm flipH="1">
              <a:off x="4992" y="3216"/>
              <a:ext cx="33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96" name="直接连接符 29795"/>
            <p:cNvSpPr/>
            <p:nvPr/>
          </p:nvSpPr>
          <p:spPr>
            <a:xfrm flipH="1">
              <a:off x="4992" y="2880"/>
              <a:ext cx="33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97" name="直接连接符 29796"/>
            <p:cNvSpPr/>
            <p:nvPr/>
          </p:nvSpPr>
          <p:spPr>
            <a:xfrm flipH="1">
              <a:off x="4992" y="2544"/>
              <a:ext cx="33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98" name="直接连接符 29797"/>
            <p:cNvSpPr/>
            <p:nvPr/>
          </p:nvSpPr>
          <p:spPr>
            <a:xfrm>
              <a:off x="5328" y="2544"/>
              <a:ext cx="0" cy="67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99" name="直接连接符 29798"/>
            <p:cNvSpPr/>
            <p:nvPr/>
          </p:nvSpPr>
          <p:spPr>
            <a:xfrm flipH="1">
              <a:off x="5328" y="3216"/>
              <a:ext cx="33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800" name="直接连接符 29799"/>
            <p:cNvSpPr/>
            <p:nvPr/>
          </p:nvSpPr>
          <p:spPr>
            <a:xfrm flipH="1">
              <a:off x="5328" y="2880"/>
              <a:ext cx="33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803" name="直接连接符 29802"/>
            <p:cNvSpPr/>
            <p:nvPr/>
          </p:nvSpPr>
          <p:spPr>
            <a:xfrm>
              <a:off x="5664" y="2880"/>
              <a:ext cx="0" cy="33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9867" name="组合 29866"/>
          <p:cNvGrpSpPr/>
          <p:nvPr/>
        </p:nvGrpSpPr>
        <p:grpSpPr>
          <a:xfrm>
            <a:off x="5233988" y="5257800"/>
            <a:ext cx="3783012" cy="457200"/>
            <a:chOff x="3297" y="3312"/>
            <a:chExt cx="2383" cy="288"/>
          </a:xfrm>
        </p:grpSpPr>
        <p:sp>
          <p:nvSpPr>
            <p:cNvPr id="29805" name="文本框 29804"/>
            <p:cNvSpPr txBox="1"/>
            <p:nvPr/>
          </p:nvSpPr>
          <p:spPr>
            <a:xfrm>
              <a:off x="3297" y="3312"/>
              <a:ext cx="255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A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806" name="文本框 29805"/>
            <p:cNvSpPr txBox="1"/>
            <p:nvPr/>
          </p:nvSpPr>
          <p:spPr>
            <a:xfrm>
              <a:off x="3686" y="3312"/>
              <a:ext cx="24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B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807" name="文本框 29806"/>
            <p:cNvSpPr txBox="1"/>
            <p:nvPr/>
          </p:nvSpPr>
          <p:spPr>
            <a:xfrm>
              <a:off x="4027" y="3312"/>
              <a:ext cx="255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C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808" name="文本框 29807"/>
            <p:cNvSpPr txBox="1"/>
            <p:nvPr/>
          </p:nvSpPr>
          <p:spPr>
            <a:xfrm>
              <a:off x="4353" y="3312"/>
              <a:ext cx="255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D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809" name="文本框 29808"/>
            <p:cNvSpPr txBox="1"/>
            <p:nvPr/>
          </p:nvSpPr>
          <p:spPr>
            <a:xfrm>
              <a:off x="4757" y="3312"/>
              <a:ext cx="24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E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810" name="文本框 29809"/>
            <p:cNvSpPr txBox="1"/>
            <p:nvPr/>
          </p:nvSpPr>
          <p:spPr>
            <a:xfrm>
              <a:off x="5089" y="3312"/>
              <a:ext cx="23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F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811" name="文本框 29810"/>
            <p:cNvSpPr txBox="1"/>
            <p:nvPr/>
          </p:nvSpPr>
          <p:spPr>
            <a:xfrm>
              <a:off x="5415" y="3312"/>
              <a:ext cx="265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G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9869" name="组合 29868"/>
          <p:cNvGrpSpPr/>
          <p:nvPr/>
        </p:nvGrpSpPr>
        <p:grpSpPr>
          <a:xfrm>
            <a:off x="4837113" y="1524000"/>
            <a:ext cx="460375" cy="3733800"/>
            <a:chOff x="3047" y="960"/>
            <a:chExt cx="290" cy="2352"/>
          </a:xfrm>
        </p:grpSpPr>
        <p:sp>
          <p:nvSpPr>
            <p:cNvPr id="29812" name="文本框 29811"/>
            <p:cNvSpPr txBox="1"/>
            <p:nvPr/>
          </p:nvSpPr>
          <p:spPr>
            <a:xfrm>
              <a:off x="3068" y="960"/>
              <a:ext cx="24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B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813" name="文本框 29812"/>
            <p:cNvSpPr txBox="1"/>
            <p:nvPr/>
          </p:nvSpPr>
          <p:spPr>
            <a:xfrm>
              <a:off x="3057" y="1344"/>
              <a:ext cx="255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C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814" name="文本框 29813"/>
            <p:cNvSpPr txBox="1"/>
            <p:nvPr/>
          </p:nvSpPr>
          <p:spPr>
            <a:xfrm>
              <a:off x="3057" y="1680"/>
              <a:ext cx="255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D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815" name="文本框 29814"/>
            <p:cNvSpPr txBox="1"/>
            <p:nvPr/>
          </p:nvSpPr>
          <p:spPr>
            <a:xfrm>
              <a:off x="3068" y="2064"/>
              <a:ext cx="24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E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816" name="文本框 29815"/>
            <p:cNvSpPr txBox="1"/>
            <p:nvPr/>
          </p:nvSpPr>
          <p:spPr>
            <a:xfrm>
              <a:off x="3072" y="2352"/>
              <a:ext cx="23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F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817" name="文本框 29816"/>
            <p:cNvSpPr txBox="1"/>
            <p:nvPr/>
          </p:nvSpPr>
          <p:spPr>
            <a:xfrm>
              <a:off x="3072" y="2688"/>
              <a:ext cx="265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G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818" name="文本框 29817"/>
            <p:cNvSpPr txBox="1"/>
            <p:nvPr/>
          </p:nvSpPr>
          <p:spPr>
            <a:xfrm>
              <a:off x="3047" y="3024"/>
              <a:ext cx="265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H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sp>
        <p:nvSpPr>
          <p:cNvPr id="29819" name="文本框 29818"/>
          <p:cNvSpPr txBox="1"/>
          <p:nvPr/>
        </p:nvSpPr>
        <p:spPr>
          <a:xfrm>
            <a:off x="457200" y="5867400"/>
            <a:ext cx="25622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第一步   作隐含表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9820" name="圆角矩形标注 29819"/>
          <p:cNvSpPr/>
          <p:nvPr/>
        </p:nvSpPr>
        <p:spPr>
          <a:xfrm>
            <a:off x="7772400" y="5791200"/>
            <a:ext cx="914400" cy="685800"/>
          </a:xfrm>
          <a:prstGeom prst="wedgeRoundRectCallout">
            <a:avLst>
              <a:gd name="adj1" fmla="val -60417"/>
              <a:gd name="adj2" fmla="val -78009"/>
              <a:gd name="adj3" fmla="val 16667"/>
            </a:avLst>
          </a:prstGeom>
          <a:gradFill rotWithShape="0">
            <a:gsLst>
              <a:gs pos="0">
                <a:srgbClr val="FFFF99">
                  <a:gamma/>
                  <a:shade val="46275"/>
                  <a:invGamma/>
                </a:srgbClr>
              </a:gs>
              <a:gs pos="50000">
                <a:srgbClr val="FFFF99"/>
              </a:gs>
              <a:gs pos="100000">
                <a:srgbClr val="FFFF99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38100">
            <a:noFill/>
          </a:ln>
        </p:spPr>
        <p:txBody>
          <a:bodyPr wrap="none" anchor="ctr" anchorCtr="0"/>
          <a:p>
            <a:pPr algn="just"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少尾</a:t>
            </a:r>
            <a:endParaRPr lang="zh-CN" altLang="en-US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821" name="圆角矩形标注 29820"/>
          <p:cNvSpPr/>
          <p:nvPr/>
        </p:nvSpPr>
        <p:spPr>
          <a:xfrm>
            <a:off x="3810000" y="1295400"/>
            <a:ext cx="685800" cy="533400"/>
          </a:xfrm>
          <a:prstGeom prst="wedgeRoundRectCallout">
            <a:avLst>
              <a:gd name="adj1" fmla="val 124537"/>
              <a:gd name="adj2" fmla="val 105954"/>
              <a:gd name="adj3" fmla="val 16667"/>
            </a:avLst>
          </a:prstGeom>
          <a:gradFill rotWithShape="0">
            <a:gsLst>
              <a:gs pos="0">
                <a:srgbClr val="FFFF99">
                  <a:gamma/>
                  <a:shade val="46275"/>
                  <a:invGamma/>
                </a:srgbClr>
              </a:gs>
              <a:gs pos="50000">
                <a:srgbClr val="FFFF99"/>
              </a:gs>
              <a:gs pos="100000">
                <a:srgbClr val="FFFF99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38100">
            <a:noFill/>
          </a:ln>
        </p:spPr>
        <p:txBody>
          <a:bodyPr wrap="none" anchor="ctr" anchorCtr="0"/>
          <a:p>
            <a:pPr algn="just"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缺头</a:t>
            </a:r>
            <a:endParaRPr lang="zh-CN" altLang="en-US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822" name="左大括号 29821"/>
          <p:cNvSpPr/>
          <p:nvPr/>
        </p:nvSpPr>
        <p:spPr>
          <a:xfrm>
            <a:off x="3048000" y="5791200"/>
            <a:ext cx="152400" cy="685800"/>
          </a:xfrm>
          <a:prstGeom prst="leftBrace">
            <a:avLst>
              <a:gd name="adj1" fmla="val 37500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9823" name="文本框 29822"/>
          <p:cNvSpPr txBox="1"/>
          <p:nvPr/>
        </p:nvSpPr>
        <p:spPr>
          <a:xfrm>
            <a:off x="3159125" y="5715000"/>
            <a:ext cx="18700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）作隐含表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9824" name="文本框 29823"/>
          <p:cNvSpPr txBox="1"/>
          <p:nvPr/>
        </p:nvSpPr>
        <p:spPr>
          <a:xfrm>
            <a:off x="3121025" y="6172200"/>
            <a:ext cx="18764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）顺序比较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9828" name="矩形 29827"/>
          <p:cNvSpPr/>
          <p:nvPr/>
        </p:nvSpPr>
        <p:spPr>
          <a:xfrm>
            <a:off x="762000" y="3048000"/>
            <a:ext cx="3657600" cy="304800"/>
          </a:xfrm>
          <a:prstGeom prst="rect">
            <a:avLst/>
          </a:prstGeom>
          <a:noFill/>
          <a:ln w="19050" cap="flat" cmpd="sng">
            <a:solidFill>
              <a:srgbClr val="A5002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9832" name="文本框 29831"/>
          <p:cNvSpPr txBox="1"/>
          <p:nvPr/>
        </p:nvSpPr>
        <p:spPr>
          <a:xfrm>
            <a:off x="5362575" y="1524000"/>
            <a:ext cx="3524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9833" name="文本框 29832"/>
          <p:cNvSpPr txBox="1"/>
          <p:nvPr/>
        </p:nvSpPr>
        <p:spPr>
          <a:xfrm>
            <a:off x="5334000" y="2057400"/>
            <a:ext cx="3524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9834" name="矩形 29833"/>
          <p:cNvSpPr/>
          <p:nvPr/>
        </p:nvSpPr>
        <p:spPr>
          <a:xfrm>
            <a:off x="762000" y="2743200"/>
            <a:ext cx="3657600" cy="304800"/>
          </a:xfrm>
          <a:prstGeom prst="rect">
            <a:avLst/>
          </a:prstGeom>
          <a:noFill/>
          <a:ln w="19050" cap="flat" cmpd="sng">
            <a:solidFill>
              <a:srgbClr val="A5002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9835" name="矩形 29834"/>
          <p:cNvSpPr/>
          <p:nvPr/>
        </p:nvSpPr>
        <p:spPr>
          <a:xfrm>
            <a:off x="762000" y="3429000"/>
            <a:ext cx="3657600" cy="304800"/>
          </a:xfrm>
          <a:prstGeom prst="rect">
            <a:avLst/>
          </a:prstGeom>
          <a:noFill/>
          <a:ln w="19050" cap="flat" cmpd="sng">
            <a:solidFill>
              <a:srgbClr val="A5002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9836" name="矩形 29835"/>
          <p:cNvSpPr/>
          <p:nvPr/>
        </p:nvSpPr>
        <p:spPr>
          <a:xfrm>
            <a:off x="762000" y="3733800"/>
            <a:ext cx="3657600" cy="304800"/>
          </a:xfrm>
          <a:prstGeom prst="rect">
            <a:avLst/>
          </a:prstGeom>
          <a:noFill/>
          <a:ln w="19050" cap="flat" cmpd="sng">
            <a:solidFill>
              <a:srgbClr val="A5002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9837" name="文本框 29836"/>
          <p:cNvSpPr txBox="1"/>
          <p:nvPr/>
        </p:nvSpPr>
        <p:spPr>
          <a:xfrm>
            <a:off x="5181600" y="2667000"/>
            <a:ext cx="465138" cy="58102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 sz="1600">
                <a:latin typeface="Times New Roman" panose="02020603050405020304" pitchFamily="18" charset="0"/>
              </a:rPr>
              <a:t>BD</a:t>
            </a:r>
            <a:endParaRPr lang="en-US" altLang="zh-CN" sz="160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en-US" altLang="zh-CN" sz="1600">
                <a:latin typeface="Times New Roman" panose="02020603050405020304" pitchFamily="18" charset="0"/>
              </a:rPr>
              <a:t>AF</a:t>
            </a:r>
            <a:endParaRPr lang="en-US" altLang="zh-CN" sz="1600">
              <a:latin typeface="Times New Roman" panose="02020603050405020304" pitchFamily="18" charset="0"/>
            </a:endParaRPr>
          </a:p>
        </p:txBody>
      </p:sp>
      <p:sp>
        <p:nvSpPr>
          <p:cNvPr id="29838" name="矩形 29837"/>
          <p:cNvSpPr/>
          <p:nvPr/>
        </p:nvSpPr>
        <p:spPr>
          <a:xfrm>
            <a:off x="762000" y="4038600"/>
            <a:ext cx="3657600" cy="304800"/>
          </a:xfrm>
          <a:prstGeom prst="rect">
            <a:avLst/>
          </a:prstGeom>
          <a:noFill/>
          <a:ln w="19050" cap="flat" cmpd="sng">
            <a:solidFill>
              <a:srgbClr val="A5002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9839" name="文本框 29838"/>
          <p:cNvSpPr txBox="1"/>
          <p:nvPr/>
        </p:nvSpPr>
        <p:spPr>
          <a:xfrm>
            <a:off x="5362575" y="3200400"/>
            <a:ext cx="3524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9840" name="矩形 29839"/>
          <p:cNvSpPr/>
          <p:nvPr/>
        </p:nvSpPr>
        <p:spPr>
          <a:xfrm>
            <a:off x="762000" y="4267200"/>
            <a:ext cx="3657600" cy="381000"/>
          </a:xfrm>
          <a:prstGeom prst="rect">
            <a:avLst/>
          </a:prstGeom>
          <a:noFill/>
          <a:ln w="19050" cap="flat" cmpd="sng">
            <a:solidFill>
              <a:srgbClr val="A5002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9841" name="文本框 29840"/>
          <p:cNvSpPr txBox="1"/>
          <p:nvPr/>
        </p:nvSpPr>
        <p:spPr>
          <a:xfrm>
            <a:off x="5334000" y="3810000"/>
            <a:ext cx="3524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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9842" name="矩形 29841"/>
          <p:cNvSpPr/>
          <p:nvPr/>
        </p:nvSpPr>
        <p:spPr>
          <a:xfrm>
            <a:off x="762000" y="4648200"/>
            <a:ext cx="3657600" cy="304800"/>
          </a:xfrm>
          <a:prstGeom prst="rect">
            <a:avLst/>
          </a:prstGeom>
          <a:noFill/>
          <a:ln w="19050" cap="flat" cmpd="sng">
            <a:solidFill>
              <a:srgbClr val="A5002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9843" name="文本框 29842"/>
          <p:cNvSpPr txBox="1"/>
          <p:nvPr/>
        </p:nvSpPr>
        <p:spPr>
          <a:xfrm>
            <a:off x="5257800" y="4267200"/>
            <a:ext cx="488950" cy="58102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 sz="1600">
                <a:latin typeface="Times New Roman" panose="02020603050405020304" pitchFamily="18" charset="0"/>
              </a:rPr>
              <a:t>DG</a:t>
            </a:r>
            <a:endParaRPr lang="en-US" altLang="zh-CN" sz="160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en-US" altLang="zh-CN" sz="1600">
                <a:latin typeface="Times New Roman" panose="02020603050405020304" pitchFamily="18" charset="0"/>
              </a:rPr>
              <a:t>AF</a:t>
            </a:r>
            <a:endParaRPr lang="en-US" altLang="zh-CN" sz="1600">
              <a:latin typeface="Times New Roman" panose="02020603050405020304" pitchFamily="18" charset="0"/>
            </a:endParaRPr>
          </a:p>
        </p:txBody>
      </p:sp>
      <p:sp>
        <p:nvSpPr>
          <p:cNvPr id="29844" name="矩形 29843"/>
          <p:cNvSpPr/>
          <p:nvPr/>
        </p:nvSpPr>
        <p:spPr>
          <a:xfrm>
            <a:off x="762000" y="4953000"/>
            <a:ext cx="3657600" cy="304800"/>
          </a:xfrm>
          <a:prstGeom prst="rect">
            <a:avLst/>
          </a:prstGeom>
          <a:noFill/>
          <a:ln w="19050" cap="flat" cmpd="sng">
            <a:solidFill>
              <a:srgbClr val="A5002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9845" name="文本框 29844"/>
          <p:cNvSpPr txBox="1"/>
          <p:nvPr/>
        </p:nvSpPr>
        <p:spPr>
          <a:xfrm>
            <a:off x="5334000" y="4800600"/>
            <a:ext cx="3524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29870" name="组合 29869"/>
          <p:cNvGrpSpPr/>
          <p:nvPr/>
        </p:nvGrpSpPr>
        <p:grpSpPr>
          <a:xfrm>
            <a:off x="5734050" y="2133600"/>
            <a:ext cx="3228975" cy="3248025"/>
            <a:chOff x="3612" y="1344"/>
            <a:chExt cx="2034" cy="2046"/>
          </a:xfrm>
        </p:grpSpPr>
        <p:sp>
          <p:nvSpPr>
            <p:cNvPr id="29846" name="文本框 29845"/>
            <p:cNvSpPr txBox="1"/>
            <p:nvPr/>
          </p:nvSpPr>
          <p:spPr>
            <a:xfrm>
              <a:off x="3612" y="1344"/>
              <a:ext cx="37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AF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847" name="文本框 29846"/>
            <p:cNvSpPr txBox="1"/>
            <p:nvPr/>
          </p:nvSpPr>
          <p:spPr>
            <a:xfrm>
              <a:off x="3666" y="1680"/>
              <a:ext cx="22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9848" name="文本框 29847"/>
            <p:cNvSpPr txBox="1"/>
            <p:nvPr/>
          </p:nvSpPr>
          <p:spPr>
            <a:xfrm>
              <a:off x="3651" y="1986"/>
              <a:ext cx="286" cy="366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sz="1600">
                  <a:latin typeface="Times New Roman" panose="02020603050405020304" pitchFamily="18" charset="0"/>
                </a:rPr>
                <a:t>DF</a:t>
              </a:r>
              <a:endParaRPr lang="en-US" altLang="zh-CN" sz="160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sz="1600">
                  <a:latin typeface="Times New Roman" panose="02020603050405020304" pitchFamily="18" charset="0"/>
                </a:rPr>
                <a:t>AF</a:t>
              </a:r>
              <a:endParaRPr lang="en-US" altLang="zh-CN" sz="1600">
                <a:latin typeface="Times New Roman" panose="02020603050405020304" pitchFamily="18" charset="0"/>
              </a:endParaRPr>
            </a:p>
          </p:txBody>
        </p:sp>
        <p:sp>
          <p:nvSpPr>
            <p:cNvPr id="29849" name="文本框 29848"/>
            <p:cNvSpPr txBox="1"/>
            <p:nvPr/>
          </p:nvSpPr>
          <p:spPr>
            <a:xfrm>
              <a:off x="3666" y="2352"/>
              <a:ext cx="22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9850" name="文本框 29849"/>
            <p:cNvSpPr txBox="1"/>
            <p:nvPr/>
          </p:nvSpPr>
          <p:spPr>
            <a:xfrm>
              <a:off x="3666" y="2688"/>
              <a:ext cx="22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9851" name="文本框 29850"/>
            <p:cNvSpPr txBox="1"/>
            <p:nvPr/>
          </p:nvSpPr>
          <p:spPr>
            <a:xfrm>
              <a:off x="3648" y="3024"/>
              <a:ext cx="293" cy="366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sz="1600">
                  <a:latin typeface="Times New Roman" panose="02020603050405020304" pitchFamily="18" charset="0"/>
                </a:rPr>
                <a:t>BC</a:t>
              </a:r>
              <a:endParaRPr lang="en-US" altLang="zh-CN" sz="160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sz="1600">
                  <a:latin typeface="Times New Roman" panose="02020603050405020304" pitchFamily="18" charset="0"/>
                </a:rPr>
                <a:t>AF</a:t>
              </a:r>
              <a:endParaRPr lang="en-US" altLang="zh-CN" sz="1600">
                <a:latin typeface="Times New Roman" panose="02020603050405020304" pitchFamily="18" charset="0"/>
              </a:endParaRPr>
            </a:p>
          </p:txBody>
        </p:sp>
        <p:sp>
          <p:nvSpPr>
            <p:cNvPr id="29852" name="文本框 29851"/>
            <p:cNvSpPr txBox="1"/>
            <p:nvPr/>
          </p:nvSpPr>
          <p:spPr>
            <a:xfrm>
              <a:off x="4002" y="1680"/>
              <a:ext cx="22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9853" name="文本框 29852"/>
            <p:cNvSpPr txBox="1"/>
            <p:nvPr/>
          </p:nvSpPr>
          <p:spPr>
            <a:xfrm>
              <a:off x="3936" y="2016"/>
              <a:ext cx="37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DF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854" name="文本框 29853"/>
            <p:cNvSpPr txBox="1"/>
            <p:nvPr/>
          </p:nvSpPr>
          <p:spPr>
            <a:xfrm>
              <a:off x="4002" y="2352"/>
              <a:ext cx="22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9855" name="文本框 29854"/>
            <p:cNvSpPr txBox="1"/>
            <p:nvPr/>
          </p:nvSpPr>
          <p:spPr>
            <a:xfrm>
              <a:off x="4002" y="2688"/>
              <a:ext cx="22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9856" name="文本框 29855"/>
            <p:cNvSpPr txBox="1"/>
            <p:nvPr/>
          </p:nvSpPr>
          <p:spPr>
            <a:xfrm>
              <a:off x="3936" y="3024"/>
              <a:ext cx="38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BC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857" name="文本框 29856"/>
            <p:cNvSpPr txBox="1"/>
            <p:nvPr/>
          </p:nvSpPr>
          <p:spPr>
            <a:xfrm>
              <a:off x="4386" y="2016"/>
              <a:ext cx="22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9858" name="文本框 29857"/>
            <p:cNvSpPr txBox="1"/>
            <p:nvPr/>
          </p:nvSpPr>
          <p:spPr>
            <a:xfrm>
              <a:off x="4273" y="2352"/>
              <a:ext cx="38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BD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859" name="文本框 29858"/>
            <p:cNvSpPr txBox="1"/>
            <p:nvPr/>
          </p:nvSpPr>
          <p:spPr>
            <a:xfrm>
              <a:off x="4272" y="2688"/>
              <a:ext cx="301" cy="366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sz="1600">
                  <a:latin typeface="Times New Roman" panose="02020603050405020304" pitchFamily="18" charset="0"/>
                </a:rPr>
                <a:t>BG</a:t>
              </a:r>
              <a:endParaRPr lang="en-US" altLang="zh-CN" sz="160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sz="1600">
                  <a:latin typeface="Times New Roman" panose="02020603050405020304" pitchFamily="18" charset="0"/>
                </a:rPr>
                <a:t>AF</a:t>
              </a:r>
              <a:endParaRPr lang="en-US" altLang="zh-CN" sz="1600">
                <a:latin typeface="Times New Roman" panose="02020603050405020304" pitchFamily="18" charset="0"/>
              </a:endParaRPr>
            </a:p>
          </p:txBody>
        </p:sp>
        <p:sp>
          <p:nvSpPr>
            <p:cNvPr id="29860" name="文本框 29859"/>
            <p:cNvSpPr txBox="1"/>
            <p:nvPr/>
          </p:nvSpPr>
          <p:spPr>
            <a:xfrm>
              <a:off x="4338" y="3024"/>
              <a:ext cx="22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9861" name="文本框 29860"/>
            <p:cNvSpPr txBox="1"/>
            <p:nvPr/>
          </p:nvSpPr>
          <p:spPr>
            <a:xfrm>
              <a:off x="5040" y="2688"/>
              <a:ext cx="308" cy="366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sz="1600">
                  <a:latin typeface="Times New Roman" panose="02020603050405020304" pitchFamily="18" charset="0"/>
                </a:rPr>
                <a:t>DG</a:t>
              </a:r>
              <a:endParaRPr lang="en-US" altLang="zh-CN" sz="160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sz="1600">
                  <a:latin typeface="Times New Roman" panose="02020603050405020304" pitchFamily="18" charset="0"/>
                </a:rPr>
                <a:t>AF</a:t>
              </a:r>
              <a:endParaRPr lang="en-US" altLang="zh-CN" sz="1600">
                <a:latin typeface="Times New Roman" panose="02020603050405020304" pitchFamily="18" charset="0"/>
              </a:endParaRPr>
            </a:p>
          </p:txBody>
        </p:sp>
        <p:sp>
          <p:nvSpPr>
            <p:cNvPr id="29862" name="文本框 29861"/>
            <p:cNvSpPr txBox="1"/>
            <p:nvPr/>
          </p:nvSpPr>
          <p:spPr>
            <a:xfrm>
              <a:off x="4722" y="2352"/>
              <a:ext cx="22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9863" name="文本框 29862"/>
            <p:cNvSpPr txBox="1"/>
            <p:nvPr/>
          </p:nvSpPr>
          <p:spPr>
            <a:xfrm>
              <a:off x="4704" y="2688"/>
              <a:ext cx="22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9864" name="文本框 29863"/>
            <p:cNvSpPr txBox="1"/>
            <p:nvPr/>
          </p:nvSpPr>
          <p:spPr>
            <a:xfrm>
              <a:off x="4704" y="3024"/>
              <a:ext cx="293" cy="366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sz="1600">
                  <a:latin typeface="Times New Roman" panose="02020603050405020304" pitchFamily="18" charset="0"/>
                </a:rPr>
                <a:t>BC</a:t>
              </a:r>
              <a:endParaRPr lang="en-US" altLang="zh-CN" sz="160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sz="1600">
                  <a:latin typeface="Times New Roman" panose="02020603050405020304" pitchFamily="18" charset="0"/>
                </a:rPr>
                <a:t>DF</a:t>
              </a:r>
              <a:endParaRPr lang="en-US" altLang="zh-CN" sz="1600">
                <a:latin typeface="Times New Roman" panose="02020603050405020304" pitchFamily="18" charset="0"/>
              </a:endParaRPr>
            </a:p>
          </p:txBody>
        </p:sp>
        <p:sp>
          <p:nvSpPr>
            <p:cNvPr id="29865" name="文本框 29864"/>
            <p:cNvSpPr txBox="1"/>
            <p:nvPr/>
          </p:nvSpPr>
          <p:spPr>
            <a:xfrm>
              <a:off x="5106" y="3024"/>
              <a:ext cx="22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9866" name="文本框 29865"/>
            <p:cNvSpPr txBox="1"/>
            <p:nvPr/>
          </p:nvSpPr>
          <p:spPr>
            <a:xfrm>
              <a:off x="5424" y="3024"/>
              <a:ext cx="22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sp>
        <p:nvSpPr>
          <p:cNvPr id="29825" name="圆角矩形标注 29824"/>
          <p:cNvSpPr/>
          <p:nvPr/>
        </p:nvSpPr>
        <p:spPr>
          <a:xfrm>
            <a:off x="5410200" y="5029200"/>
            <a:ext cx="2667000" cy="1524000"/>
          </a:xfrm>
          <a:prstGeom prst="wedgeRoundRectCallout">
            <a:avLst>
              <a:gd name="adj1" fmla="val -68153"/>
              <a:gd name="adj2" fmla="val 41773"/>
              <a:gd name="adj3" fmla="val 16667"/>
            </a:avLst>
          </a:prstGeom>
          <a:gradFill rotWithShape="0">
            <a:gsLst>
              <a:gs pos="0">
                <a:srgbClr val="FFFF99">
                  <a:gamma/>
                  <a:shade val="46275"/>
                  <a:invGamma/>
                </a:srgbClr>
              </a:gs>
              <a:gs pos="50000">
                <a:srgbClr val="FFFF99"/>
              </a:gs>
              <a:gs pos="100000">
                <a:srgbClr val="FFFF99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38100">
            <a:noFill/>
          </a:ln>
        </p:spPr>
        <p:txBody>
          <a:bodyPr wrap="none" anchor="ctr" anchorCtr="0"/>
          <a:p>
            <a:pPr algn="just"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状态不等价填“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”</a:t>
            </a:r>
            <a:endParaRPr lang="en-US" altLang="zh-CN" dirty="0">
              <a:solidFill>
                <a:srgbClr val="A5002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状态等价填“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”</a:t>
            </a:r>
            <a:endParaRPr lang="en-US" altLang="zh-CN" dirty="0">
              <a:solidFill>
                <a:srgbClr val="A5002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取决隐含条件的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</a:rPr>
              <a:t>--</a:t>
            </a:r>
            <a:endParaRPr lang="en-US" altLang="zh-CN">
              <a:solidFill>
                <a:srgbClr val="A50021"/>
              </a:solidFill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将条件填在格中</a:t>
            </a:r>
            <a:endParaRPr lang="zh-CN" altLang="en-US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29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9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9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9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9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98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98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98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98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9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9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98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98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9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9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98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98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9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9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9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9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29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29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298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298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11" grpId="0"/>
      <p:bldP spid="29712" grpId="0" animBg="1"/>
      <p:bldP spid="29819" grpId="0"/>
      <p:bldP spid="29820" grpId="0" animBg="1"/>
      <p:bldP spid="29821" grpId="0" animBg="1"/>
      <p:bldP spid="29823" grpId="0"/>
      <p:bldP spid="29824" grpId="0"/>
      <p:bldP spid="29832" grpId="0"/>
      <p:bldP spid="29833" grpId="0"/>
      <p:bldP spid="29837" grpId="0"/>
      <p:bldP spid="29839" grpId="0"/>
      <p:bldP spid="29841" grpId="0"/>
      <p:bldP spid="29843" grpId="0"/>
      <p:bldP spid="29845" grpId="0"/>
      <p:bldP spid="298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7" name="矩形 31746"/>
          <p:cNvSpPr/>
          <p:nvPr/>
        </p:nvSpPr>
        <p:spPr>
          <a:xfrm>
            <a:off x="457200" y="304800"/>
            <a:ext cx="2743200" cy="4572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9525">
            <a:noFill/>
          </a:ln>
          <a:effectLst>
            <a:outerShdw dist="107763" dir="13499999" algn="ctr" rotWithShape="0">
              <a:srgbClr val="808080"/>
            </a:outerShdw>
          </a:effectLst>
        </p:spPr>
        <p:txBody>
          <a:bodyPr anchor="ctr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sz="4000" b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状态简化</a:t>
            </a:r>
            <a:endParaRPr lang="zh-CN" altLang="en-US" sz="7200" b="1" dirty="0">
              <a:effectLst>
                <a:outerShdw blurRad="38100" dist="38100" dir="2700000">
                  <a:srgbClr val="FFFFFF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1748" name="文本框 31747"/>
          <p:cNvSpPr txBox="1"/>
          <p:nvPr/>
        </p:nvSpPr>
        <p:spPr>
          <a:xfrm>
            <a:off x="457200" y="838200"/>
            <a:ext cx="25685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第二步   关连比较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31956" name="组合 31955"/>
          <p:cNvGrpSpPr/>
          <p:nvPr/>
        </p:nvGrpSpPr>
        <p:grpSpPr>
          <a:xfrm>
            <a:off x="152400" y="2209800"/>
            <a:ext cx="8763000" cy="4343400"/>
            <a:chOff x="96" y="1392"/>
            <a:chExt cx="5520" cy="2736"/>
          </a:xfrm>
        </p:grpSpPr>
        <p:grpSp>
          <p:nvGrpSpPr>
            <p:cNvPr id="31881" name="组合 31880"/>
            <p:cNvGrpSpPr/>
            <p:nvPr/>
          </p:nvGrpSpPr>
          <p:grpSpPr>
            <a:xfrm>
              <a:off x="2951" y="1392"/>
              <a:ext cx="2665" cy="2688"/>
              <a:chOff x="2951" y="672"/>
              <a:chExt cx="2665" cy="2688"/>
            </a:xfrm>
          </p:grpSpPr>
          <p:grpSp>
            <p:nvGrpSpPr>
              <p:cNvPr id="31749" name="组合 31748"/>
              <p:cNvGrpSpPr/>
              <p:nvPr/>
            </p:nvGrpSpPr>
            <p:grpSpPr>
              <a:xfrm>
                <a:off x="3216" y="672"/>
                <a:ext cx="2400" cy="2448"/>
                <a:chOff x="3264" y="768"/>
                <a:chExt cx="2400" cy="2448"/>
              </a:xfrm>
            </p:grpSpPr>
            <p:sp>
              <p:nvSpPr>
                <p:cNvPr id="31750" name="矩形 31749"/>
                <p:cNvSpPr/>
                <p:nvPr/>
              </p:nvSpPr>
              <p:spPr>
                <a:xfrm>
                  <a:off x="3264" y="1872"/>
                  <a:ext cx="1392" cy="1344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1751" name="直接连接符 31750"/>
                <p:cNvSpPr/>
                <p:nvPr/>
              </p:nvSpPr>
              <p:spPr>
                <a:xfrm>
                  <a:off x="3264" y="2208"/>
                  <a:ext cx="139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1752" name="直接连接符 31751"/>
                <p:cNvSpPr/>
                <p:nvPr/>
              </p:nvSpPr>
              <p:spPr>
                <a:xfrm>
                  <a:off x="3264" y="2544"/>
                  <a:ext cx="139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1753" name="直接连接符 31752"/>
                <p:cNvSpPr/>
                <p:nvPr/>
              </p:nvSpPr>
              <p:spPr>
                <a:xfrm>
                  <a:off x="3264" y="2880"/>
                  <a:ext cx="139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1754" name="直接连接符 31753"/>
                <p:cNvSpPr/>
                <p:nvPr/>
              </p:nvSpPr>
              <p:spPr>
                <a:xfrm>
                  <a:off x="3936" y="1872"/>
                  <a:ext cx="0" cy="13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1755" name="直接连接符 31754"/>
                <p:cNvSpPr/>
                <p:nvPr/>
              </p:nvSpPr>
              <p:spPr>
                <a:xfrm>
                  <a:off x="4272" y="1872"/>
                  <a:ext cx="0" cy="13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1756" name="直接连接符 31755"/>
                <p:cNvSpPr/>
                <p:nvPr/>
              </p:nvSpPr>
              <p:spPr>
                <a:xfrm>
                  <a:off x="3600" y="1872"/>
                  <a:ext cx="0" cy="13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1757" name="直接连接符 31756"/>
                <p:cNvSpPr/>
                <p:nvPr/>
              </p:nvSpPr>
              <p:spPr>
                <a:xfrm flipV="1">
                  <a:off x="3264" y="768"/>
                  <a:ext cx="0" cy="110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1758" name="直接连接符 31757"/>
                <p:cNvSpPr/>
                <p:nvPr/>
              </p:nvSpPr>
              <p:spPr>
                <a:xfrm>
                  <a:off x="3264" y="1536"/>
                  <a:ext cx="100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1759" name="直接连接符 31758"/>
                <p:cNvSpPr/>
                <p:nvPr/>
              </p:nvSpPr>
              <p:spPr>
                <a:xfrm>
                  <a:off x="4272" y="1536"/>
                  <a:ext cx="0" cy="38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1760" name="直接连接符 31759"/>
                <p:cNvSpPr/>
                <p:nvPr/>
              </p:nvSpPr>
              <p:spPr>
                <a:xfrm>
                  <a:off x="3936" y="1536"/>
                  <a:ext cx="0" cy="38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1761" name="直接连接符 31760"/>
                <p:cNvSpPr/>
                <p:nvPr/>
              </p:nvSpPr>
              <p:spPr>
                <a:xfrm>
                  <a:off x="3600" y="1536"/>
                  <a:ext cx="0" cy="38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1762" name="直接连接符 31761"/>
                <p:cNvSpPr/>
                <p:nvPr/>
              </p:nvSpPr>
              <p:spPr>
                <a:xfrm>
                  <a:off x="3264" y="1152"/>
                  <a:ext cx="67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1763" name="直接连接符 31762"/>
                <p:cNvSpPr/>
                <p:nvPr/>
              </p:nvSpPr>
              <p:spPr>
                <a:xfrm>
                  <a:off x="3936" y="1152"/>
                  <a:ext cx="0" cy="38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1764" name="直接连接符 31763"/>
                <p:cNvSpPr/>
                <p:nvPr/>
              </p:nvSpPr>
              <p:spPr>
                <a:xfrm>
                  <a:off x="3600" y="1152"/>
                  <a:ext cx="0" cy="38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1765" name="直接连接符 31764"/>
                <p:cNvSpPr/>
                <p:nvPr/>
              </p:nvSpPr>
              <p:spPr>
                <a:xfrm>
                  <a:off x="3600" y="768"/>
                  <a:ext cx="0" cy="38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1766" name="直接连接符 31765"/>
                <p:cNvSpPr/>
                <p:nvPr/>
              </p:nvSpPr>
              <p:spPr>
                <a:xfrm flipH="1">
                  <a:off x="3264" y="768"/>
                  <a:ext cx="33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1767" name="直接连接符 31766"/>
                <p:cNvSpPr/>
                <p:nvPr/>
              </p:nvSpPr>
              <p:spPr>
                <a:xfrm flipH="1">
                  <a:off x="4656" y="3216"/>
                  <a:ext cx="33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1768" name="直接连接符 31767"/>
                <p:cNvSpPr/>
                <p:nvPr/>
              </p:nvSpPr>
              <p:spPr>
                <a:xfrm flipV="1">
                  <a:off x="4992" y="2208"/>
                  <a:ext cx="0" cy="1008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1769" name="直接连接符 31768"/>
                <p:cNvSpPr/>
                <p:nvPr/>
              </p:nvSpPr>
              <p:spPr>
                <a:xfrm flipH="1">
                  <a:off x="4656" y="2208"/>
                  <a:ext cx="33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1770" name="直接连接符 31769"/>
                <p:cNvSpPr/>
                <p:nvPr/>
              </p:nvSpPr>
              <p:spPr>
                <a:xfrm flipH="1">
                  <a:off x="4656" y="2880"/>
                  <a:ext cx="33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1771" name="直接连接符 31770"/>
                <p:cNvSpPr/>
                <p:nvPr/>
              </p:nvSpPr>
              <p:spPr>
                <a:xfrm flipH="1">
                  <a:off x="4656" y="2544"/>
                  <a:ext cx="33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1772" name="直接连接符 31771"/>
                <p:cNvSpPr/>
                <p:nvPr/>
              </p:nvSpPr>
              <p:spPr>
                <a:xfrm flipH="1">
                  <a:off x="4992" y="3216"/>
                  <a:ext cx="33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1773" name="直接连接符 31772"/>
                <p:cNvSpPr/>
                <p:nvPr/>
              </p:nvSpPr>
              <p:spPr>
                <a:xfrm flipH="1">
                  <a:off x="4992" y="2880"/>
                  <a:ext cx="33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1774" name="直接连接符 31773"/>
                <p:cNvSpPr/>
                <p:nvPr/>
              </p:nvSpPr>
              <p:spPr>
                <a:xfrm flipH="1">
                  <a:off x="4992" y="2544"/>
                  <a:ext cx="33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1775" name="直接连接符 31774"/>
                <p:cNvSpPr/>
                <p:nvPr/>
              </p:nvSpPr>
              <p:spPr>
                <a:xfrm>
                  <a:off x="5328" y="2544"/>
                  <a:ext cx="0" cy="672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1776" name="直接连接符 31775"/>
                <p:cNvSpPr/>
                <p:nvPr/>
              </p:nvSpPr>
              <p:spPr>
                <a:xfrm flipH="1">
                  <a:off x="5328" y="3216"/>
                  <a:ext cx="33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1777" name="直接连接符 31776"/>
                <p:cNvSpPr/>
                <p:nvPr/>
              </p:nvSpPr>
              <p:spPr>
                <a:xfrm flipH="1">
                  <a:off x="5328" y="2880"/>
                  <a:ext cx="33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1778" name="直接连接符 31777"/>
                <p:cNvSpPr/>
                <p:nvPr/>
              </p:nvSpPr>
              <p:spPr>
                <a:xfrm>
                  <a:off x="5664" y="2880"/>
                  <a:ext cx="0" cy="33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31779" name="组合 31778"/>
              <p:cNvGrpSpPr/>
              <p:nvPr/>
            </p:nvGrpSpPr>
            <p:grpSpPr>
              <a:xfrm>
                <a:off x="3201" y="3072"/>
                <a:ext cx="2383" cy="288"/>
                <a:chOff x="3297" y="3312"/>
                <a:chExt cx="2383" cy="288"/>
              </a:xfrm>
            </p:grpSpPr>
            <p:sp>
              <p:nvSpPr>
                <p:cNvPr id="31780" name="文本框 31779"/>
                <p:cNvSpPr txBox="1"/>
                <p:nvPr/>
              </p:nvSpPr>
              <p:spPr>
                <a:xfrm>
                  <a:off x="3297" y="3312"/>
                  <a:ext cx="255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A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1781" name="文本框 31780"/>
                <p:cNvSpPr txBox="1"/>
                <p:nvPr/>
              </p:nvSpPr>
              <p:spPr>
                <a:xfrm>
                  <a:off x="3686" y="3312"/>
                  <a:ext cx="244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B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1782" name="文本框 31781"/>
                <p:cNvSpPr txBox="1"/>
                <p:nvPr/>
              </p:nvSpPr>
              <p:spPr>
                <a:xfrm>
                  <a:off x="4027" y="3312"/>
                  <a:ext cx="255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C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1783" name="文本框 31782"/>
                <p:cNvSpPr txBox="1"/>
                <p:nvPr/>
              </p:nvSpPr>
              <p:spPr>
                <a:xfrm>
                  <a:off x="4353" y="3312"/>
                  <a:ext cx="255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D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1784" name="文本框 31783"/>
                <p:cNvSpPr txBox="1"/>
                <p:nvPr/>
              </p:nvSpPr>
              <p:spPr>
                <a:xfrm>
                  <a:off x="4757" y="3312"/>
                  <a:ext cx="244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E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1785" name="文本框 31784"/>
                <p:cNvSpPr txBox="1"/>
                <p:nvPr/>
              </p:nvSpPr>
              <p:spPr>
                <a:xfrm>
                  <a:off x="5089" y="3312"/>
                  <a:ext cx="233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F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1786" name="文本框 31785"/>
                <p:cNvSpPr txBox="1"/>
                <p:nvPr/>
              </p:nvSpPr>
              <p:spPr>
                <a:xfrm>
                  <a:off x="5415" y="3312"/>
                  <a:ext cx="265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G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1787" name="组合 31786"/>
              <p:cNvGrpSpPr/>
              <p:nvPr/>
            </p:nvGrpSpPr>
            <p:grpSpPr>
              <a:xfrm>
                <a:off x="2951" y="720"/>
                <a:ext cx="290" cy="2352"/>
                <a:chOff x="3047" y="960"/>
                <a:chExt cx="290" cy="2352"/>
              </a:xfrm>
            </p:grpSpPr>
            <p:sp>
              <p:nvSpPr>
                <p:cNvPr id="31788" name="文本框 31787"/>
                <p:cNvSpPr txBox="1"/>
                <p:nvPr/>
              </p:nvSpPr>
              <p:spPr>
                <a:xfrm>
                  <a:off x="3068" y="960"/>
                  <a:ext cx="244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B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1789" name="文本框 31788"/>
                <p:cNvSpPr txBox="1"/>
                <p:nvPr/>
              </p:nvSpPr>
              <p:spPr>
                <a:xfrm>
                  <a:off x="3057" y="1344"/>
                  <a:ext cx="255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C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1790" name="文本框 31789"/>
                <p:cNvSpPr txBox="1"/>
                <p:nvPr/>
              </p:nvSpPr>
              <p:spPr>
                <a:xfrm>
                  <a:off x="3057" y="1680"/>
                  <a:ext cx="255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D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1791" name="文本框 31790"/>
                <p:cNvSpPr txBox="1"/>
                <p:nvPr/>
              </p:nvSpPr>
              <p:spPr>
                <a:xfrm>
                  <a:off x="3068" y="2064"/>
                  <a:ext cx="244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E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1792" name="文本框 31791"/>
                <p:cNvSpPr txBox="1"/>
                <p:nvPr/>
              </p:nvSpPr>
              <p:spPr>
                <a:xfrm>
                  <a:off x="3072" y="2352"/>
                  <a:ext cx="233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F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1793" name="文本框 31792"/>
                <p:cNvSpPr txBox="1"/>
                <p:nvPr/>
              </p:nvSpPr>
              <p:spPr>
                <a:xfrm>
                  <a:off x="3072" y="2688"/>
                  <a:ext cx="265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G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1794" name="文本框 31793"/>
                <p:cNvSpPr txBox="1"/>
                <p:nvPr/>
              </p:nvSpPr>
              <p:spPr>
                <a:xfrm>
                  <a:off x="3047" y="3024"/>
                  <a:ext cx="265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H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1795" name="文本框 31794"/>
              <p:cNvSpPr txBox="1"/>
              <p:nvPr/>
            </p:nvSpPr>
            <p:spPr>
              <a:xfrm>
                <a:off x="3282" y="720"/>
                <a:ext cx="22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  <a:sym typeface="Symbol" panose="05050102010706020507" pitchFamily="18" charset="2"/>
                  </a:rPr>
                  <a:t></a:t>
                </a:r>
                <a:endParaRPr lang="en-US" altLang="zh-CN"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  <p:sp>
            <p:nvSpPr>
              <p:cNvPr id="31796" name="文本框 31795"/>
              <p:cNvSpPr txBox="1"/>
              <p:nvPr/>
            </p:nvSpPr>
            <p:spPr>
              <a:xfrm>
                <a:off x="3264" y="1056"/>
                <a:ext cx="22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  <a:sym typeface="Symbol" panose="05050102010706020507" pitchFamily="18" charset="2"/>
                  </a:rPr>
                  <a:t></a:t>
                </a:r>
                <a:endParaRPr lang="en-US" altLang="zh-CN"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  <p:sp>
            <p:nvSpPr>
              <p:cNvPr id="31797" name="文本框 31796"/>
              <p:cNvSpPr txBox="1"/>
              <p:nvPr/>
            </p:nvSpPr>
            <p:spPr>
              <a:xfrm>
                <a:off x="3168" y="1440"/>
                <a:ext cx="293" cy="366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 sz="1600">
                    <a:latin typeface="Times New Roman" panose="02020603050405020304" pitchFamily="18" charset="0"/>
                  </a:rPr>
                  <a:t>BD</a:t>
                </a:r>
                <a:endParaRPr lang="en-US" altLang="zh-CN" sz="1600">
                  <a:latin typeface="Times New Roman" panose="02020603050405020304" pitchFamily="18" charset="0"/>
                </a:endParaRPr>
              </a:p>
              <a:p>
                <a:pPr algn="ctr" eaLnBrk="1" hangingPunct="1"/>
                <a:r>
                  <a:rPr lang="en-US" altLang="zh-CN" sz="1600">
                    <a:latin typeface="Times New Roman" panose="02020603050405020304" pitchFamily="18" charset="0"/>
                  </a:rPr>
                  <a:t>AF</a:t>
                </a:r>
                <a:endParaRPr lang="en-US" altLang="zh-CN" sz="1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798" name="文本框 31797"/>
              <p:cNvSpPr txBox="1"/>
              <p:nvPr/>
            </p:nvSpPr>
            <p:spPr>
              <a:xfrm>
                <a:off x="3282" y="1776"/>
                <a:ext cx="22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  <a:sym typeface="Symbol" panose="05050102010706020507" pitchFamily="18" charset="2"/>
                  </a:rPr>
                  <a:t></a:t>
                </a:r>
                <a:endParaRPr lang="en-US" altLang="zh-CN"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  <p:sp>
            <p:nvSpPr>
              <p:cNvPr id="31799" name="文本框 31798"/>
              <p:cNvSpPr txBox="1"/>
              <p:nvPr/>
            </p:nvSpPr>
            <p:spPr>
              <a:xfrm>
                <a:off x="3264" y="2160"/>
                <a:ext cx="22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  <a:sym typeface="Symbol" panose="05050102010706020507" pitchFamily="18" charset="2"/>
                  </a:rPr>
                  <a:t></a:t>
                </a:r>
                <a:endParaRPr lang="en-US" altLang="zh-CN"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  <p:sp>
            <p:nvSpPr>
              <p:cNvPr id="31800" name="文本框 31799"/>
              <p:cNvSpPr txBox="1"/>
              <p:nvPr/>
            </p:nvSpPr>
            <p:spPr>
              <a:xfrm>
                <a:off x="3216" y="2448"/>
                <a:ext cx="308" cy="366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 sz="1600">
                    <a:latin typeface="Times New Roman" panose="02020603050405020304" pitchFamily="18" charset="0"/>
                  </a:rPr>
                  <a:t>DG</a:t>
                </a:r>
                <a:endParaRPr lang="en-US" altLang="zh-CN" sz="1600">
                  <a:latin typeface="Times New Roman" panose="02020603050405020304" pitchFamily="18" charset="0"/>
                </a:endParaRPr>
              </a:p>
              <a:p>
                <a:pPr algn="ctr" eaLnBrk="1" hangingPunct="1"/>
                <a:r>
                  <a:rPr lang="en-US" altLang="zh-CN" sz="1600">
                    <a:latin typeface="Times New Roman" panose="02020603050405020304" pitchFamily="18" charset="0"/>
                  </a:rPr>
                  <a:t>AF</a:t>
                </a:r>
                <a:endParaRPr lang="en-US" altLang="zh-CN" sz="1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01" name="文本框 31800"/>
              <p:cNvSpPr txBox="1"/>
              <p:nvPr/>
            </p:nvSpPr>
            <p:spPr>
              <a:xfrm>
                <a:off x="3264" y="2784"/>
                <a:ext cx="22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  <a:sym typeface="Symbol" panose="05050102010706020507" pitchFamily="18" charset="2"/>
                  </a:rPr>
                  <a:t></a:t>
                </a:r>
                <a:endParaRPr lang="en-US" altLang="zh-CN"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  <p:grpSp>
            <p:nvGrpSpPr>
              <p:cNvPr id="31802" name="组合 31801"/>
              <p:cNvGrpSpPr/>
              <p:nvPr/>
            </p:nvGrpSpPr>
            <p:grpSpPr>
              <a:xfrm>
                <a:off x="3516" y="1104"/>
                <a:ext cx="2034" cy="2046"/>
                <a:chOff x="3612" y="1344"/>
                <a:chExt cx="2034" cy="2046"/>
              </a:xfrm>
            </p:grpSpPr>
            <p:sp>
              <p:nvSpPr>
                <p:cNvPr id="31803" name="文本框 31802"/>
                <p:cNvSpPr txBox="1"/>
                <p:nvPr/>
              </p:nvSpPr>
              <p:spPr>
                <a:xfrm>
                  <a:off x="3612" y="1344"/>
                  <a:ext cx="372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AF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1804" name="文本框 31803"/>
                <p:cNvSpPr txBox="1"/>
                <p:nvPr/>
              </p:nvSpPr>
              <p:spPr>
                <a:xfrm>
                  <a:off x="3666" y="1680"/>
                  <a:ext cx="222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</a:t>
                  </a:r>
                  <a:endParaRPr lang="en-US" altLang="zh-CN"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31805" name="文本框 31804"/>
                <p:cNvSpPr txBox="1"/>
                <p:nvPr/>
              </p:nvSpPr>
              <p:spPr>
                <a:xfrm>
                  <a:off x="3651" y="1986"/>
                  <a:ext cx="286" cy="366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 sz="1600">
                      <a:latin typeface="Times New Roman" panose="02020603050405020304" pitchFamily="18" charset="0"/>
                    </a:rPr>
                    <a:t>DF</a:t>
                  </a:r>
                  <a:endParaRPr lang="en-US" altLang="zh-CN" sz="1600">
                    <a:latin typeface="Times New Roman" panose="02020603050405020304" pitchFamily="18" charset="0"/>
                  </a:endParaRPr>
                </a:p>
                <a:p>
                  <a:pPr algn="ctr" eaLnBrk="1" hangingPunct="1"/>
                  <a:r>
                    <a:rPr lang="en-US" altLang="zh-CN" sz="1600">
                      <a:latin typeface="Times New Roman" panose="02020603050405020304" pitchFamily="18" charset="0"/>
                    </a:rPr>
                    <a:t>AF</a:t>
                  </a:r>
                  <a:endParaRPr lang="en-US" altLang="zh-CN" sz="16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1806" name="文本框 31805"/>
                <p:cNvSpPr txBox="1"/>
                <p:nvPr/>
              </p:nvSpPr>
              <p:spPr>
                <a:xfrm>
                  <a:off x="3666" y="2352"/>
                  <a:ext cx="222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</a:t>
                  </a:r>
                  <a:endParaRPr lang="en-US" altLang="zh-CN"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31807" name="文本框 31806"/>
                <p:cNvSpPr txBox="1"/>
                <p:nvPr/>
              </p:nvSpPr>
              <p:spPr>
                <a:xfrm>
                  <a:off x="3666" y="2688"/>
                  <a:ext cx="222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</a:t>
                  </a:r>
                  <a:endParaRPr lang="en-US" altLang="zh-CN"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31808" name="文本框 31807"/>
                <p:cNvSpPr txBox="1"/>
                <p:nvPr/>
              </p:nvSpPr>
              <p:spPr>
                <a:xfrm>
                  <a:off x="3648" y="3024"/>
                  <a:ext cx="293" cy="366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 sz="1600">
                      <a:latin typeface="Times New Roman" panose="02020603050405020304" pitchFamily="18" charset="0"/>
                    </a:rPr>
                    <a:t>BC</a:t>
                  </a:r>
                  <a:endParaRPr lang="en-US" altLang="zh-CN" sz="1600">
                    <a:latin typeface="Times New Roman" panose="02020603050405020304" pitchFamily="18" charset="0"/>
                  </a:endParaRPr>
                </a:p>
                <a:p>
                  <a:pPr algn="ctr" eaLnBrk="1" hangingPunct="1"/>
                  <a:r>
                    <a:rPr lang="en-US" altLang="zh-CN" sz="1600">
                      <a:latin typeface="Times New Roman" panose="02020603050405020304" pitchFamily="18" charset="0"/>
                    </a:rPr>
                    <a:t>AF</a:t>
                  </a:r>
                  <a:endParaRPr lang="en-US" altLang="zh-CN" sz="16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1809" name="文本框 31808"/>
                <p:cNvSpPr txBox="1"/>
                <p:nvPr/>
              </p:nvSpPr>
              <p:spPr>
                <a:xfrm>
                  <a:off x="4002" y="1680"/>
                  <a:ext cx="222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</a:t>
                  </a:r>
                  <a:endParaRPr lang="en-US" altLang="zh-CN"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31810" name="文本框 31809"/>
                <p:cNvSpPr txBox="1"/>
                <p:nvPr/>
              </p:nvSpPr>
              <p:spPr>
                <a:xfrm>
                  <a:off x="3957" y="2035"/>
                  <a:ext cx="330" cy="250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DF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1811" name="文本框 31810"/>
                <p:cNvSpPr txBox="1"/>
                <p:nvPr/>
              </p:nvSpPr>
              <p:spPr>
                <a:xfrm>
                  <a:off x="4002" y="2352"/>
                  <a:ext cx="222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</a:t>
                  </a:r>
                  <a:endParaRPr lang="en-US" altLang="zh-CN"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31812" name="文本框 31811"/>
                <p:cNvSpPr txBox="1"/>
                <p:nvPr/>
              </p:nvSpPr>
              <p:spPr>
                <a:xfrm>
                  <a:off x="4002" y="2688"/>
                  <a:ext cx="222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</a:t>
                  </a:r>
                  <a:endParaRPr lang="en-US" altLang="zh-CN"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31813" name="文本框 31812"/>
                <p:cNvSpPr txBox="1"/>
                <p:nvPr/>
              </p:nvSpPr>
              <p:spPr>
                <a:xfrm>
                  <a:off x="3936" y="3024"/>
                  <a:ext cx="383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BC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1814" name="文本框 31813"/>
                <p:cNvSpPr txBox="1"/>
                <p:nvPr/>
              </p:nvSpPr>
              <p:spPr>
                <a:xfrm>
                  <a:off x="4386" y="2016"/>
                  <a:ext cx="222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</a:t>
                  </a:r>
                  <a:endParaRPr lang="en-US" altLang="zh-CN"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31815" name="文本框 31814"/>
                <p:cNvSpPr txBox="1"/>
                <p:nvPr/>
              </p:nvSpPr>
              <p:spPr>
                <a:xfrm>
                  <a:off x="4306" y="2380"/>
                  <a:ext cx="316" cy="231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 sz="1800">
                      <a:latin typeface="Times New Roman" panose="02020603050405020304" pitchFamily="18" charset="0"/>
                    </a:rPr>
                    <a:t>BD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1816" name="文本框 31815"/>
                <p:cNvSpPr txBox="1"/>
                <p:nvPr/>
              </p:nvSpPr>
              <p:spPr>
                <a:xfrm>
                  <a:off x="4272" y="2688"/>
                  <a:ext cx="301" cy="366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 sz="1600">
                      <a:latin typeface="Times New Roman" panose="02020603050405020304" pitchFamily="18" charset="0"/>
                    </a:rPr>
                    <a:t>BG</a:t>
                  </a:r>
                  <a:endParaRPr lang="en-US" altLang="zh-CN" sz="1600">
                    <a:latin typeface="Times New Roman" panose="02020603050405020304" pitchFamily="18" charset="0"/>
                  </a:endParaRPr>
                </a:p>
                <a:p>
                  <a:pPr algn="ctr" eaLnBrk="1" hangingPunct="1"/>
                  <a:r>
                    <a:rPr lang="en-US" altLang="zh-CN" sz="1600">
                      <a:latin typeface="Times New Roman" panose="02020603050405020304" pitchFamily="18" charset="0"/>
                    </a:rPr>
                    <a:t>AF</a:t>
                  </a:r>
                  <a:endParaRPr lang="en-US" altLang="zh-CN" sz="16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1817" name="文本框 31816"/>
                <p:cNvSpPr txBox="1"/>
                <p:nvPr/>
              </p:nvSpPr>
              <p:spPr>
                <a:xfrm>
                  <a:off x="4338" y="3024"/>
                  <a:ext cx="222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</a:t>
                  </a:r>
                  <a:endParaRPr lang="en-US" altLang="zh-CN"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31818" name="文本框 31817"/>
                <p:cNvSpPr txBox="1"/>
                <p:nvPr/>
              </p:nvSpPr>
              <p:spPr>
                <a:xfrm>
                  <a:off x="5040" y="2688"/>
                  <a:ext cx="308" cy="366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 sz="1600">
                      <a:latin typeface="Times New Roman" panose="02020603050405020304" pitchFamily="18" charset="0"/>
                    </a:rPr>
                    <a:t>DG</a:t>
                  </a:r>
                  <a:endParaRPr lang="en-US" altLang="zh-CN" sz="1600">
                    <a:latin typeface="Times New Roman" panose="02020603050405020304" pitchFamily="18" charset="0"/>
                  </a:endParaRPr>
                </a:p>
                <a:p>
                  <a:pPr algn="ctr" eaLnBrk="1" hangingPunct="1"/>
                  <a:r>
                    <a:rPr lang="en-US" altLang="zh-CN" sz="1600">
                      <a:latin typeface="Times New Roman" panose="02020603050405020304" pitchFamily="18" charset="0"/>
                    </a:rPr>
                    <a:t>AF</a:t>
                  </a:r>
                  <a:endParaRPr lang="en-US" altLang="zh-CN" sz="16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1819" name="文本框 31818"/>
                <p:cNvSpPr txBox="1"/>
                <p:nvPr/>
              </p:nvSpPr>
              <p:spPr>
                <a:xfrm>
                  <a:off x="4722" y="2352"/>
                  <a:ext cx="222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</a:t>
                  </a:r>
                  <a:endParaRPr lang="en-US" altLang="zh-CN"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31820" name="文本框 31819"/>
                <p:cNvSpPr txBox="1"/>
                <p:nvPr/>
              </p:nvSpPr>
              <p:spPr>
                <a:xfrm>
                  <a:off x="4704" y="2688"/>
                  <a:ext cx="222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</a:t>
                  </a:r>
                  <a:endParaRPr lang="en-US" altLang="zh-CN"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31821" name="文本框 31820"/>
                <p:cNvSpPr txBox="1"/>
                <p:nvPr/>
              </p:nvSpPr>
              <p:spPr>
                <a:xfrm>
                  <a:off x="4704" y="3024"/>
                  <a:ext cx="293" cy="366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 sz="1600">
                      <a:latin typeface="Times New Roman" panose="02020603050405020304" pitchFamily="18" charset="0"/>
                    </a:rPr>
                    <a:t>BC</a:t>
                  </a:r>
                  <a:endParaRPr lang="en-US" altLang="zh-CN" sz="1600">
                    <a:latin typeface="Times New Roman" panose="02020603050405020304" pitchFamily="18" charset="0"/>
                  </a:endParaRPr>
                </a:p>
                <a:p>
                  <a:pPr algn="ctr" eaLnBrk="1" hangingPunct="1"/>
                  <a:r>
                    <a:rPr lang="en-US" altLang="zh-CN" sz="1600">
                      <a:latin typeface="Times New Roman" panose="02020603050405020304" pitchFamily="18" charset="0"/>
                    </a:rPr>
                    <a:t>DF</a:t>
                  </a:r>
                  <a:endParaRPr lang="en-US" altLang="zh-CN" sz="16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1822" name="文本框 31821"/>
                <p:cNvSpPr txBox="1"/>
                <p:nvPr/>
              </p:nvSpPr>
              <p:spPr>
                <a:xfrm>
                  <a:off x="5106" y="3024"/>
                  <a:ext cx="222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</a:t>
                  </a:r>
                  <a:endParaRPr lang="en-US" altLang="zh-CN"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31823" name="文本框 31822"/>
                <p:cNvSpPr txBox="1"/>
                <p:nvPr/>
              </p:nvSpPr>
              <p:spPr>
                <a:xfrm>
                  <a:off x="5424" y="3024"/>
                  <a:ext cx="222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</a:t>
                  </a:r>
                  <a:endParaRPr lang="en-US" altLang="zh-CN"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</p:grpSp>
        </p:grpSp>
        <p:grpSp>
          <p:nvGrpSpPr>
            <p:cNvPr id="31824" name="组合 31823"/>
            <p:cNvGrpSpPr/>
            <p:nvPr/>
          </p:nvGrpSpPr>
          <p:grpSpPr>
            <a:xfrm>
              <a:off x="96" y="1440"/>
              <a:ext cx="2640" cy="2688"/>
              <a:chOff x="2880" y="528"/>
              <a:chExt cx="2640" cy="2688"/>
            </a:xfrm>
          </p:grpSpPr>
          <p:sp>
            <p:nvSpPr>
              <p:cNvPr id="31825" name="直接连接符 31824"/>
              <p:cNvSpPr/>
              <p:nvPr/>
            </p:nvSpPr>
            <p:spPr>
              <a:xfrm>
                <a:off x="2880" y="864"/>
                <a:ext cx="25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26" name="直接连接符 31825"/>
              <p:cNvSpPr/>
              <p:nvPr/>
            </p:nvSpPr>
            <p:spPr>
              <a:xfrm>
                <a:off x="2880" y="1296"/>
                <a:ext cx="25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27" name="直接连接符 31826"/>
              <p:cNvSpPr/>
              <p:nvPr/>
            </p:nvSpPr>
            <p:spPr>
              <a:xfrm>
                <a:off x="2928" y="2928"/>
                <a:ext cx="25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28" name="直接连接符 31827"/>
              <p:cNvSpPr/>
              <p:nvPr/>
            </p:nvSpPr>
            <p:spPr>
              <a:xfrm>
                <a:off x="4992" y="864"/>
                <a:ext cx="0" cy="206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29" name="直接连接符 31828"/>
              <p:cNvSpPr/>
              <p:nvPr/>
            </p:nvSpPr>
            <p:spPr>
              <a:xfrm>
                <a:off x="4560" y="864"/>
                <a:ext cx="0" cy="206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30" name="直接连接符 31829"/>
              <p:cNvSpPr/>
              <p:nvPr/>
            </p:nvSpPr>
            <p:spPr>
              <a:xfrm>
                <a:off x="4080" y="864"/>
                <a:ext cx="0" cy="206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31" name="直接连接符 31830"/>
              <p:cNvSpPr/>
              <p:nvPr/>
            </p:nvSpPr>
            <p:spPr>
              <a:xfrm>
                <a:off x="3648" y="864"/>
                <a:ext cx="0" cy="206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32" name="直接连接符 31831"/>
              <p:cNvSpPr/>
              <p:nvPr/>
            </p:nvSpPr>
            <p:spPr>
              <a:xfrm>
                <a:off x="2880" y="864"/>
                <a:ext cx="768" cy="43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33" name="文本框 31832"/>
              <p:cNvSpPr txBox="1"/>
              <p:nvPr/>
            </p:nvSpPr>
            <p:spPr>
              <a:xfrm>
                <a:off x="3142" y="816"/>
                <a:ext cx="52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X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1</a:t>
                </a:r>
                <a:r>
                  <a:rPr lang="en-US" altLang="zh-CN">
                    <a:latin typeface="Times New Roman" panose="02020603050405020304" pitchFamily="18" charset="0"/>
                  </a:rPr>
                  <a:t>X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2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34" name="文本框 31833"/>
              <p:cNvSpPr txBox="1"/>
              <p:nvPr/>
            </p:nvSpPr>
            <p:spPr>
              <a:xfrm>
                <a:off x="2976" y="1008"/>
                <a:ext cx="29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 err="1">
                    <a:latin typeface="Times New Roman" panose="02020603050405020304" pitchFamily="18" charset="0"/>
                  </a:rPr>
                  <a:t>S</a:t>
                </a:r>
                <a:r>
                  <a:rPr lang="en-US" altLang="zh-CN" baseline="-25000" err="1">
                    <a:latin typeface="Times New Roman" panose="02020603050405020304" pitchFamily="18" charset="0"/>
                  </a:rPr>
                  <a:t>n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35" name="文本框 31834"/>
              <p:cNvSpPr txBox="1"/>
              <p:nvPr/>
            </p:nvSpPr>
            <p:spPr>
              <a:xfrm>
                <a:off x="3120" y="1248"/>
                <a:ext cx="255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A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36" name="文本框 31835"/>
              <p:cNvSpPr txBox="1"/>
              <p:nvPr/>
            </p:nvSpPr>
            <p:spPr>
              <a:xfrm>
                <a:off x="3696" y="960"/>
                <a:ext cx="308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00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37" name="文本框 31836"/>
              <p:cNvSpPr txBox="1"/>
              <p:nvPr/>
            </p:nvSpPr>
            <p:spPr>
              <a:xfrm>
                <a:off x="4156" y="960"/>
                <a:ext cx="308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01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38" name="文本框 31837"/>
              <p:cNvSpPr txBox="1"/>
              <p:nvPr/>
            </p:nvSpPr>
            <p:spPr>
              <a:xfrm>
                <a:off x="4636" y="960"/>
                <a:ext cx="308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11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39" name="文本框 31838"/>
              <p:cNvSpPr txBox="1"/>
              <p:nvPr/>
            </p:nvSpPr>
            <p:spPr>
              <a:xfrm>
                <a:off x="5068" y="960"/>
                <a:ext cx="308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10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40" name="文本框 31839"/>
              <p:cNvSpPr txBox="1"/>
              <p:nvPr/>
            </p:nvSpPr>
            <p:spPr>
              <a:xfrm>
                <a:off x="3125" y="1440"/>
                <a:ext cx="24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B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41" name="文本框 31840"/>
              <p:cNvSpPr txBox="1"/>
              <p:nvPr/>
            </p:nvSpPr>
            <p:spPr>
              <a:xfrm>
                <a:off x="3115" y="1632"/>
                <a:ext cx="255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C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42" name="文本框 31841"/>
              <p:cNvSpPr txBox="1"/>
              <p:nvPr/>
            </p:nvSpPr>
            <p:spPr>
              <a:xfrm>
                <a:off x="3120" y="1824"/>
                <a:ext cx="255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D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43" name="文本框 31842"/>
              <p:cNvSpPr txBox="1"/>
              <p:nvPr/>
            </p:nvSpPr>
            <p:spPr>
              <a:xfrm>
                <a:off x="3125" y="2016"/>
                <a:ext cx="24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E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44" name="文本框 31843"/>
              <p:cNvSpPr txBox="1"/>
              <p:nvPr/>
            </p:nvSpPr>
            <p:spPr>
              <a:xfrm>
                <a:off x="3125" y="2208"/>
                <a:ext cx="23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F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45" name="文本框 31844"/>
              <p:cNvSpPr txBox="1"/>
              <p:nvPr/>
            </p:nvSpPr>
            <p:spPr>
              <a:xfrm>
                <a:off x="3104" y="2400"/>
                <a:ext cx="265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G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46" name="文本框 31845"/>
              <p:cNvSpPr txBox="1"/>
              <p:nvPr/>
            </p:nvSpPr>
            <p:spPr>
              <a:xfrm>
                <a:off x="3104" y="2640"/>
                <a:ext cx="265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H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47" name="文本框 31846"/>
              <p:cNvSpPr txBox="1"/>
              <p:nvPr/>
            </p:nvSpPr>
            <p:spPr>
              <a:xfrm>
                <a:off x="3628" y="1248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D/0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48" name="文本框 31847"/>
              <p:cNvSpPr txBox="1"/>
              <p:nvPr/>
            </p:nvSpPr>
            <p:spPr>
              <a:xfrm>
                <a:off x="4108" y="1248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D/0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49" name="文本框 31848"/>
              <p:cNvSpPr txBox="1"/>
              <p:nvPr/>
            </p:nvSpPr>
            <p:spPr>
              <a:xfrm>
                <a:off x="4599" y="1248"/>
                <a:ext cx="38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F/0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50" name="文本框 31849"/>
              <p:cNvSpPr txBox="1"/>
              <p:nvPr/>
            </p:nvSpPr>
            <p:spPr>
              <a:xfrm>
                <a:off x="5031" y="1248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A/0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51" name="文本框 31850"/>
              <p:cNvSpPr txBox="1"/>
              <p:nvPr/>
            </p:nvSpPr>
            <p:spPr>
              <a:xfrm>
                <a:off x="3648" y="1440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C/1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52" name="文本框 31851"/>
              <p:cNvSpPr txBox="1"/>
              <p:nvPr/>
            </p:nvSpPr>
            <p:spPr>
              <a:xfrm>
                <a:off x="4128" y="1440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D/0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53" name="文本框 31852"/>
              <p:cNvSpPr txBox="1"/>
              <p:nvPr/>
            </p:nvSpPr>
            <p:spPr>
              <a:xfrm>
                <a:off x="4603" y="1440"/>
                <a:ext cx="39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E/1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54" name="文本框 31853"/>
              <p:cNvSpPr txBox="1"/>
              <p:nvPr/>
            </p:nvSpPr>
            <p:spPr>
              <a:xfrm>
                <a:off x="5042" y="1440"/>
                <a:ext cx="38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F/0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55" name="文本框 31854"/>
              <p:cNvSpPr txBox="1"/>
              <p:nvPr/>
            </p:nvSpPr>
            <p:spPr>
              <a:xfrm>
                <a:off x="3648" y="1680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C/1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56" name="文本框 31855"/>
              <p:cNvSpPr txBox="1"/>
              <p:nvPr/>
            </p:nvSpPr>
            <p:spPr>
              <a:xfrm>
                <a:off x="4128" y="1680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D/0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57" name="文本框 31856"/>
              <p:cNvSpPr txBox="1"/>
              <p:nvPr/>
            </p:nvSpPr>
            <p:spPr>
              <a:xfrm>
                <a:off x="4608" y="1680"/>
                <a:ext cx="39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E/1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58" name="文本框 31857"/>
              <p:cNvSpPr txBox="1"/>
              <p:nvPr/>
            </p:nvSpPr>
            <p:spPr>
              <a:xfrm>
                <a:off x="5040" y="1680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A/0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59" name="文本框 31858"/>
              <p:cNvSpPr txBox="1"/>
              <p:nvPr/>
            </p:nvSpPr>
            <p:spPr>
              <a:xfrm>
                <a:off x="3648" y="1872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D/0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60" name="文本框 31859"/>
              <p:cNvSpPr txBox="1"/>
              <p:nvPr/>
            </p:nvSpPr>
            <p:spPr>
              <a:xfrm>
                <a:off x="4133" y="1872"/>
                <a:ext cx="39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B/0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61" name="文本框 31860"/>
              <p:cNvSpPr txBox="1"/>
              <p:nvPr/>
            </p:nvSpPr>
            <p:spPr>
              <a:xfrm>
                <a:off x="4608" y="1872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A/0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62" name="文本框 31861"/>
              <p:cNvSpPr txBox="1"/>
              <p:nvPr/>
            </p:nvSpPr>
            <p:spPr>
              <a:xfrm>
                <a:off x="5040" y="1872"/>
                <a:ext cx="38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F/0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63" name="文本框 31862"/>
              <p:cNvSpPr txBox="1"/>
              <p:nvPr/>
            </p:nvSpPr>
            <p:spPr>
              <a:xfrm>
                <a:off x="3648" y="2064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C/1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64" name="文本框 31863"/>
              <p:cNvSpPr txBox="1"/>
              <p:nvPr/>
            </p:nvSpPr>
            <p:spPr>
              <a:xfrm>
                <a:off x="4128" y="2064"/>
                <a:ext cx="38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F/0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65" name="文本框 31864"/>
              <p:cNvSpPr txBox="1"/>
              <p:nvPr/>
            </p:nvSpPr>
            <p:spPr>
              <a:xfrm>
                <a:off x="4599" y="2064"/>
                <a:ext cx="39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E/1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66" name="文本框 31865"/>
              <p:cNvSpPr txBox="1"/>
              <p:nvPr/>
            </p:nvSpPr>
            <p:spPr>
              <a:xfrm>
                <a:off x="5020" y="2064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A/0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67" name="文本框 31866"/>
              <p:cNvSpPr txBox="1"/>
              <p:nvPr/>
            </p:nvSpPr>
            <p:spPr>
              <a:xfrm>
                <a:off x="3648" y="2256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D/0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68" name="文本框 31867"/>
              <p:cNvSpPr txBox="1"/>
              <p:nvPr/>
            </p:nvSpPr>
            <p:spPr>
              <a:xfrm>
                <a:off x="4128" y="2256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D/0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69" name="文本框 31868"/>
              <p:cNvSpPr txBox="1"/>
              <p:nvPr/>
            </p:nvSpPr>
            <p:spPr>
              <a:xfrm>
                <a:off x="4588" y="2256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A/0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70" name="文本框 31869"/>
              <p:cNvSpPr txBox="1"/>
              <p:nvPr/>
            </p:nvSpPr>
            <p:spPr>
              <a:xfrm>
                <a:off x="5042" y="2256"/>
                <a:ext cx="38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F/0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71" name="文本框 31870"/>
              <p:cNvSpPr txBox="1"/>
              <p:nvPr/>
            </p:nvSpPr>
            <p:spPr>
              <a:xfrm>
                <a:off x="3643" y="2448"/>
                <a:ext cx="41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G/0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72" name="文本框 31871"/>
              <p:cNvSpPr txBox="1"/>
              <p:nvPr/>
            </p:nvSpPr>
            <p:spPr>
              <a:xfrm>
                <a:off x="4146" y="2448"/>
                <a:ext cx="41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G/0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73" name="文本框 31872"/>
              <p:cNvSpPr txBox="1"/>
              <p:nvPr/>
            </p:nvSpPr>
            <p:spPr>
              <a:xfrm>
                <a:off x="4588" y="2448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A/0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74" name="文本框 31873"/>
              <p:cNvSpPr txBox="1"/>
              <p:nvPr/>
            </p:nvSpPr>
            <p:spPr>
              <a:xfrm>
                <a:off x="5040" y="2448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A/0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75" name="文本框 31874"/>
              <p:cNvSpPr txBox="1"/>
              <p:nvPr/>
            </p:nvSpPr>
            <p:spPr>
              <a:xfrm>
                <a:off x="3658" y="2640"/>
                <a:ext cx="39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B/1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76" name="文本框 31875"/>
              <p:cNvSpPr txBox="1"/>
              <p:nvPr/>
            </p:nvSpPr>
            <p:spPr>
              <a:xfrm>
                <a:off x="4128" y="2640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D/0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77" name="文本框 31876"/>
              <p:cNvSpPr txBox="1"/>
              <p:nvPr/>
            </p:nvSpPr>
            <p:spPr>
              <a:xfrm>
                <a:off x="4608" y="2640"/>
                <a:ext cx="39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E/1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78" name="文本框 31877"/>
              <p:cNvSpPr txBox="1"/>
              <p:nvPr/>
            </p:nvSpPr>
            <p:spPr>
              <a:xfrm>
                <a:off x="5040" y="2640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A/0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79" name="文本框 31878"/>
              <p:cNvSpPr txBox="1"/>
              <p:nvPr/>
            </p:nvSpPr>
            <p:spPr>
              <a:xfrm>
                <a:off x="4165" y="2928"/>
                <a:ext cx="731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S 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n+1</a:t>
                </a:r>
                <a:r>
                  <a:rPr lang="en-US" altLang="zh-CN">
                    <a:latin typeface="Times New Roman" panose="02020603050405020304" pitchFamily="18" charset="0"/>
                  </a:rPr>
                  <a:t>/Z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n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80" name="文本框 31879"/>
              <p:cNvSpPr txBox="1"/>
              <p:nvPr/>
            </p:nvSpPr>
            <p:spPr>
              <a:xfrm>
                <a:off x="4032" y="528"/>
                <a:ext cx="5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zh-CN" altLang="en-US" dirty="0">
                    <a:latin typeface="Times New Roman" panose="02020603050405020304" pitchFamily="18" charset="0"/>
                  </a:rPr>
                  <a:t>例子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31941" name="文本框 31940"/>
          <p:cNvSpPr txBox="1"/>
          <p:nvPr/>
        </p:nvSpPr>
        <p:spPr>
          <a:xfrm>
            <a:off x="533400" y="1295400"/>
            <a:ext cx="7848600" cy="822325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p>
            <a:pPr algn="just" eaLnBrk="1" hangingPunct="1"/>
            <a:r>
              <a:rPr lang="zh-CN" altLang="en-US" dirty="0">
                <a:latin typeface="Times New Roman" panose="02020603050405020304" pitchFamily="18" charset="0"/>
              </a:rPr>
              <a:t>继续检查填有隐含条件的那些方格。若检查发现所填的隐含条件肯定不能满足，就在该方格内打“</a:t>
            </a:r>
            <a:r>
              <a:rPr lang="en-US" altLang="zh-CN">
                <a:latin typeface="宋体" panose="02010600030101010101" pitchFamily="2" charset="-122"/>
              </a:rPr>
              <a:t>×</a:t>
            </a:r>
            <a:r>
              <a:rPr lang="en-US" altLang="zh-CN">
                <a:latin typeface="Times New Roman" panose="02020603050405020304" pitchFamily="18" charset="0"/>
              </a:rPr>
              <a:t>”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1942" name="矩形 31941"/>
          <p:cNvSpPr/>
          <p:nvPr/>
        </p:nvSpPr>
        <p:spPr>
          <a:xfrm>
            <a:off x="6705600" y="5029200"/>
            <a:ext cx="533400" cy="5334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1943" name="矩形 31942"/>
          <p:cNvSpPr/>
          <p:nvPr/>
        </p:nvSpPr>
        <p:spPr>
          <a:xfrm>
            <a:off x="5638800" y="5029200"/>
            <a:ext cx="381000" cy="4572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1944" name="文本框 31943"/>
          <p:cNvSpPr txBox="1"/>
          <p:nvPr/>
        </p:nvSpPr>
        <p:spPr>
          <a:xfrm>
            <a:off x="6962775" y="5029200"/>
            <a:ext cx="3524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1945" name="矩形 31944"/>
          <p:cNvSpPr/>
          <p:nvPr/>
        </p:nvSpPr>
        <p:spPr>
          <a:xfrm>
            <a:off x="5105400" y="5029200"/>
            <a:ext cx="457200" cy="5334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1946" name="文本框 31945"/>
          <p:cNvSpPr txBox="1"/>
          <p:nvPr/>
        </p:nvSpPr>
        <p:spPr>
          <a:xfrm>
            <a:off x="5362575" y="5029200"/>
            <a:ext cx="3524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1947" name="矩形 31946"/>
          <p:cNvSpPr/>
          <p:nvPr/>
        </p:nvSpPr>
        <p:spPr>
          <a:xfrm>
            <a:off x="6705600" y="4495800"/>
            <a:ext cx="533400" cy="457200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1949" name="矩形 31948"/>
          <p:cNvSpPr/>
          <p:nvPr/>
        </p:nvSpPr>
        <p:spPr>
          <a:xfrm>
            <a:off x="5638800" y="3429000"/>
            <a:ext cx="533400" cy="533400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1950" name="文本框 31949"/>
          <p:cNvSpPr txBox="1"/>
          <p:nvPr/>
        </p:nvSpPr>
        <p:spPr>
          <a:xfrm>
            <a:off x="7010400" y="4495800"/>
            <a:ext cx="3524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1951" name="文本框 31950"/>
          <p:cNvSpPr txBox="1"/>
          <p:nvPr/>
        </p:nvSpPr>
        <p:spPr>
          <a:xfrm>
            <a:off x="5334000" y="3429000"/>
            <a:ext cx="3524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1952" name="文本框 31951"/>
          <p:cNvSpPr txBox="1"/>
          <p:nvPr/>
        </p:nvSpPr>
        <p:spPr>
          <a:xfrm>
            <a:off x="7543800" y="5562600"/>
            <a:ext cx="3524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1953" name="文本框 31952"/>
          <p:cNvSpPr txBox="1"/>
          <p:nvPr/>
        </p:nvSpPr>
        <p:spPr>
          <a:xfrm>
            <a:off x="8105775" y="5105400"/>
            <a:ext cx="3524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1954" name="文本框 31953"/>
          <p:cNvSpPr txBox="1"/>
          <p:nvPr/>
        </p:nvSpPr>
        <p:spPr>
          <a:xfrm>
            <a:off x="5867400" y="3886200"/>
            <a:ext cx="3524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1957" name="文本框 31956"/>
          <p:cNvSpPr txBox="1"/>
          <p:nvPr/>
        </p:nvSpPr>
        <p:spPr>
          <a:xfrm>
            <a:off x="6400800" y="3962400"/>
            <a:ext cx="3524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pic>
        <p:nvPicPr>
          <p:cNvPr id="31958" name="图片 31957" descr="wb01508_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00" y="2286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959" name="文本框 31958">
            <a:hlinkClick r:id="rId1" action="ppaction://hlinksldjump"/>
          </p:cNvPr>
          <p:cNvSpPr txBox="1"/>
          <p:nvPr/>
        </p:nvSpPr>
        <p:spPr>
          <a:xfrm>
            <a:off x="7664450" y="3048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u="sng" dirty="0">
                <a:solidFill>
                  <a:schemeClr val="accent2"/>
                </a:solidFill>
                <a:latin typeface="Times New Roman" panose="02020603050405020304" pitchFamily="18" charset="0"/>
              </a:rPr>
              <a:t>返  回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1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19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" presetClass="entr" presetSubtype="2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9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19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9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19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1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19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19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19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1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" presetClass="entr" presetSubtype="2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19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19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19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19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19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19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19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19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19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19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19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19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8" grpId="0"/>
      <p:bldP spid="31941" grpId="0"/>
      <p:bldP spid="31944" grpId="0"/>
      <p:bldP spid="31946" grpId="0"/>
      <p:bldP spid="31950" grpId="0"/>
      <p:bldP spid="31951" grpId="0"/>
      <p:bldP spid="31952" grpId="0"/>
      <p:bldP spid="31953" grpId="0"/>
      <p:bldP spid="31954" grpId="0"/>
      <p:bldP spid="3195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2914" name="组合 32913"/>
          <p:cNvGrpSpPr/>
          <p:nvPr/>
        </p:nvGrpSpPr>
        <p:grpSpPr>
          <a:xfrm>
            <a:off x="4684713" y="2209800"/>
            <a:ext cx="4230687" cy="4267200"/>
            <a:chOff x="2951" y="1392"/>
            <a:chExt cx="2665" cy="2688"/>
          </a:xfrm>
        </p:grpSpPr>
        <p:grpSp>
          <p:nvGrpSpPr>
            <p:cNvPr id="32771" name="组合 32770"/>
            <p:cNvGrpSpPr/>
            <p:nvPr/>
          </p:nvGrpSpPr>
          <p:grpSpPr>
            <a:xfrm>
              <a:off x="2951" y="1392"/>
              <a:ext cx="2665" cy="2688"/>
              <a:chOff x="2951" y="672"/>
              <a:chExt cx="2665" cy="2688"/>
            </a:xfrm>
          </p:grpSpPr>
          <p:grpSp>
            <p:nvGrpSpPr>
              <p:cNvPr id="32772" name="组合 32771"/>
              <p:cNvGrpSpPr/>
              <p:nvPr/>
            </p:nvGrpSpPr>
            <p:grpSpPr>
              <a:xfrm>
                <a:off x="3216" y="672"/>
                <a:ext cx="2400" cy="2448"/>
                <a:chOff x="3264" y="768"/>
                <a:chExt cx="2400" cy="2448"/>
              </a:xfrm>
            </p:grpSpPr>
            <p:sp>
              <p:nvSpPr>
                <p:cNvPr id="32773" name="矩形 32772"/>
                <p:cNvSpPr/>
                <p:nvPr/>
              </p:nvSpPr>
              <p:spPr>
                <a:xfrm>
                  <a:off x="3264" y="1872"/>
                  <a:ext cx="1392" cy="1344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2774" name="直接连接符 32773"/>
                <p:cNvSpPr/>
                <p:nvPr/>
              </p:nvSpPr>
              <p:spPr>
                <a:xfrm>
                  <a:off x="3264" y="2208"/>
                  <a:ext cx="139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2775" name="直接连接符 32774"/>
                <p:cNvSpPr/>
                <p:nvPr/>
              </p:nvSpPr>
              <p:spPr>
                <a:xfrm>
                  <a:off x="3264" y="2544"/>
                  <a:ext cx="139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2776" name="直接连接符 32775"/>
                <p:cNvSpPr/>
                <p:nvPr/>
              </p:nvSpPr>
              <p:spPr>
                <a:xfrm>
                  <a:off x="3264" y="2880"/>
                  <a:ext cx="139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2777" name="直接连接符 32776"/>
                <p:cNvSpPr/>
                <p:nvPr/>
              </p:nvSpPr>
              <p:spPr>
                <a:xfrm>
                  <a:off x="3936" y="1872"/>
                  <a:ext cx="0" cy="13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2778" name="直接连接符 32777"/>
                <p:cNvSpPr/>
                <p:nvPr/>
              </p:nvSpPr>
              <p:spPr>
                <a:xfrm>
                  <a:off x="4272" y="1872"/>
                  <a:ext cx="0" cy="13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2779" name="直接连接符 32778"/>
                <p:cNvSpPr/>
                <p:nvPr/>
              </p:nvSpPr>
              <p:spPr>
                <a:xfrm>
                  <a:off x="3600" y="1872"/>
                  <a:ext cx="0" cy="13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2780" name="直接连接符 32779"/>
                <p:cNvSpPr/>
                <p:nvPr/>
              </p:nvSpPr>
              <p:spPr>
                <a:xfrm flipV="1">
                  <a:off x="3264" y="768"/>
                  <a:ext cx="0" cy="110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2781" name="直接连接符 32780"/>
                <p:cNvSpPr/>
                <p:nvPr/>
              </p:nvSpPr>
              <p:spPr>
                <a:xfrm>
                  <a:off x="3264" y="1536"/>
                  <a:ext cx="100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2782" name="直接连接符 32781"/>
                <p:cNvSpPr/>
                <p:nvPr/>
              </p:nvSpPr>
              <p:spPr>
                <a:xfrm>
                  <a:off x="4272" y="1536"/>
                  <a:ext cx="0" cy="38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2783" name="直接连接符 32782"/>
                <p:cNvSpPr/>
                <p:nvPr/>
              </p:nvSpPr>
              <p:spPr>
                <a:xfrm>
                  <a:off x="3936" y="1536"/>
                  <a:ext cx="0" cy="38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2784" name="直接连接符 32783"/>
                <p:cNvSpPr/>
                <p:nvPr/>
              </p:nvSpPr>
              <p:spPr>
                <a:xfrm>
                  <a:off x="3600" y="1536"/>
                  <a:ext cx="0" cy="38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2785" name="直接连接符 32784"/>
                <p:cNvSpPr/>
                <p:nvPr/>
              </p:nvSpPr>
              <p:spPr>
                <a:xfrm>
                  <a:off x="3264" y="1152"/>
                  <a:ext cx="67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2786" name="直接连接符 32785"/>
                <p:cNvSpPr/>
                <p:nvPr/>
              </p:nvSpPr>
              <p:spPr>
                <a:xfrm>
                  <a:off x="3936" y="1152"/>
                  <a:ext cx="0" cy="38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2787" name="直接连接符 32786"/>
                <p:cNvSpPr/>
                <p:nvPr/>
              </p:nvSpPr>
              <p:spPr>
                <a:xfrm>
                  <a:off x="3600" y="1152"/>
                  <a:ext cx="0" cy="38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2788" name="直接连接符 32787"/>
                <p:cNvSpPr/>
                <p:nvPr/>
              </p:nvSpPr>
              <p:spPr>
                <a:xfrm>
                  <a:off x="3600" y="768"/>
                  <a:ext cx="0" cy="38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2789" name="直接连接符 32788"/>
                <p:cNvSpPr/>
                <p:nvPr/>
              </p:nvSpPr>
              <p:spPr>
                <a:xfrm flipH="1">
                  <a:off x="3264" y="768"/>
                  <a:ext cx="33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2790" name="直接连接符 32789"/>
                <p:cNvSpPr/>
                <p:nvPr/>
              </p:nvSpPr>
              <p:spPr>
                <a:xfrm flipH="1">
                  <a:off x="4656" y="3216"/>
                  <a:ext cx="33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2791" name="直接连接符 32790"/>
                <p:cNvSpPr/>
                <p:nvPr/>
              </p:nvSpPr>
              <p:spPr>
                <a:xfrm flipV="1">
                  <a:off x="4992" y="2208"/>
                  <a:ext cx="0" cy="1008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2792" name="直接连接符 32791"/>
                <p:cNvSpPr/>
                <p:nvPr/>
              </p:nvSpPr>
              <p:spPr>
                <a:xfrm flipH="1">
                  <a:off x="4656" y="2208"/>
                  <a:ext cx="33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2793" name="直接连接符 32792"/>
                <p:cNvSpPr/>
                <p:nvPr/>
              </p:nvSpPr>
              <p:spPr>
                <a:xfrm flipH="1">
                  <a:off x="4656" y="2880"/>
                  <a:ext cx="33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2794" name="直接连接符 32793"/>
                <p:cNvSpPr/>
                <p:nvPr/>
              </p:nvSpPr>
              <p:spPr>
                <a:xfrm flipH="1">
                  <a:off x="4656" y="2544"/>
                  <a:ext cx="33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2795" name="直接连接符 32794"/>
                <p:cNvSpPr/>
                <p:nvPr/>
              </p:nvSpPr>
              <p:spPr>
                <a:xfrm flipH="1">
                  <a:off x="4992" y="3216"/>
                  <a:ext cx="33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2796" name="直接连接符 32795"/>
                <p:cNvSpPr/>
                <p:nvPr/>
              </p:nvSpPr>
              <p:spPr>
                <a:xfrm flipH="1">
                  <a:off x="4992" y="2880"/>
                  <a:ext cx="33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2797" name="直接连接符 32796"/>
                <p:cNvSpPr/>
                <p:nvPr/>
              </p:nvSpPr>
              <p:spPr>
                <a:xfrm flipH="1">
                  <a:off x="4992" y="2544"/>
                  <a:ext cx="33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2798" name="直接连接符 32797"/>
                <p:cNvSpPr/>
                <p:nvPr/>
              </p:nvSpPr>
              <p:spPr>
                <a:xfrm>
                  <a:off x="5328" y="2544"/>
                  <a:ext cx="0" cy="672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2799" name="直接连接符 32798"/>
                <p:cNvSpPr/>
                <p:nvPr/>
              </p:nvSpPr>
              <p:spPr>
                <a:xfrm flipH="1">
                  <a:off x="5328" y="3216"/>
                  <a:ext cx="33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2800" name="直接连接符 32799"/>
                <p:cNvSpPr/>
                <p:nvPr/>
              </p:nvSpPr>
              <p:spPr>
                <a:xfrm flipH="1">
                  <a:off x="5328" y="2880"/>
                  <a:ext cx="33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2801" name="直接连接符 32800"/>
                <p:cNvSpPr/>
                <p:nvPr/>
              </p:nvSpPr>
              <p:spPr>
                <a:xfrm>
                  <a:off x="5664" y="2880"/>
                  <a:ext cx="0" cy="33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32802" name="组合 32801"/>
              <p:cNvGrpSpPr/>
              <p:nvPr/>
            </p:nvGrpSpPr>
            <p:grpSpPr>
              <a:xfrm>
                <a:off x="3201" y="3072"/>
                <a:ext cx="2383" cy="288"/>
                <a:chOff x="3297" y="3312"/>
                <a:chExt cx="2383" cy="288"/>
              </a:xfrm>
            </p:grpSpPr>
            <p:sp>
              <p:nvSpPr>
                <p:cNvPr id="32803" name="文本框 32802"/>
                <p:cNvSpPr txBox="1"/>
                <p:nvPr/>
              </p:nvSpPr>
              <p:spPr>
                <a:xfrm>
                  <a:off x="3297" y="3312"/>
                  <a:ext cx="255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A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04" name="文本框 32803"/>
                <p:cNvSpPr txBox="1"/>
                <p:nvPr/>
              </p:nvSpPr>
              <p:spPr>
                <a:xfrm>
                  <a:off x="3686" y="3312"/>
                  <a:ext cx="244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B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05" name="文本框 32804"/>
                <p:cNvSpPr txBox="1"/>
                <p:nvPr/>
              </p:nvSpPr>
              <p:spPr>
                <a:xfrm>
                  <a:off x="4027" y="3312"/>
                  <a:ext cx="255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C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06" name="文本框 32805"/>
                <p:cNvSpPr txBox="1"/>
                <p:nvPr/>
              </p:nvSpPr>
              <p:spPr>
                <a:xfrm>
                  <a:off x="4353" y="3312"/>
                  <a:ext cx="255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D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07" name="文本框 32806"/>
                <p:cNvSpPr txBox="1"/>
                <p:nvPr/>
              </p:nvSpPr>
              <p:spPr>
                <a:xfrm>
                  <a:off x="4757" y="3312"/>
                  <a:ext cx="244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E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08" name="文本框 32807"/>
                <p:cNvSpPr txBox="1"/>
                <p:nvPr/>
              </p:nvSpPr>
              <p:spPr>
                <a:xfrm>
                  <a:off x="5089" y="3312"/>
                  <a:ext cx="233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F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09" name="文本框 32808"/>
                <p:cNvSpPr txBox="1"/>
                <p:nvPr/>
              </p:nvSpPr>
              <p:spPr>
                <a:xfrm>
                  <a:off x="5415" y="3312"/>
                  <a:ext cx="265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G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2810" name="组合 32809"/>
              <p:cNvGrpSpPr/>
              <p:nvPr/>
            </p:nvGrpSpPr>
            <p:grpSpPr>
              <a:xfrm>
                <a:off x="2951" y="720"/>
                <a:ext cx="290" cy="2352"/>
                <a:chOff x="3047" y="960"/>
                <a:chExt cx="290" cy="2352"/>
              </a:xfrm>
            </p:grpSpPr>
            <p:sp>
              <p:nvSpPr>
                <p:cNvPr id="32811" name="文本框 32810"/>
                <p:cNvSpPr txBox="1"/>
                <p:nvPr/>
              </p:nvSpPr>
              <p:spPr>
                <a:xfrm>
                  <a:off x="3068" y="960"/>
                  <a:ext cx="244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B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12" name="文本框 32811"/>
                <p:cNvSpPr txBox="1"/>
                <p:nvPr/>
              </p:nvSpPr>
              <p:spPr>
                <a:xfrm>
                  <a:off x="3057" y="1344"/>
                  <a:ext cx="255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C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13" name="文本框 32812"/>
                <p:cNvSpPr txBox="1"/>
                <p:nvPr/>
              </p:nvSpPr>
              <p:spPr>
                <a:xfrm>
                  <a:off x="3057" y="1680"/>
                  <a:ext cx="255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D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14" name="文本框 32813"/>
                <p:cNvSpPr txBox="1"/>
                <p:nvPr/>
              </p:nvSpPr>
              <p:spPr>
                <a:xfrm>
                  <a:off x="3068" y="2064"/>
                  <a:ext cx="244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E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15" name="文本框 32814"/>
                <p:cNvSpPr txBox="1"/>
                <p:nvPr/>
              </p:nvSpPr>
              <p:spPr>
                <a:xfrm>
                  <a:off x="3072" y="2352"/>
                  <a:ext cx="233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F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16" name="文本框 32815"/>
                <p:cNvSpPr txBox="1"/>
                <p:nvPr/>
              </p:nvSpPr>
              <p:spPr>
                <a:xfrm>
                  <a:off x="3072" y="2688"/>
                  <a:ext cx="265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G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17" name="文本框 32816"/>
                <p:cNvSpPr txBox="1"/>
                <p:nvPr/>
              </p:nvSpPr>
              <p:spPr>
                <a:xfrm>
                  <a:off x="3047" y="3024"/>
                  <a:ext cx="265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H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2818" name="文本框 32817"/>
              <p:cNvSpPr txBox="1"/>
              <p:nvPr/>
            </p:nvSpPr>
            <p:spPr>
              <a:xfrm>
                <a:off x="3282" y="720"/>
                <a:ext cx="22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  <a:sym typeface="Symbol" panose="05050102010706020507" pitchFamily="18" charset="2"/>
                  </a:rPr>
                  <a:t></a:t>
                </a:r>
                <a:endParaRPr lang="en-US" altLang="zh-CN"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  <p:sp>
            <p:nvSpPr>
              <p:cNvPr id="32819" name="文本框 32818"/>
              <p:cNvSpPr txBox="1"/>
              <p:nvPr/>
            </p:nvSpPr>
            <p:spPr>
              <a:xfrm>
                <a:off x="3264" y="1056"/>
                <a:ext cx="22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  <a:sym typeface="Symbol" panose="05050102010706020507" pitchFamily="18" charset="2"/>
                  </a:rPr>
                  <a:t></a:t>
                </a:r>
                <a:endParaRPr lang="en-US" altLang="zh-CN"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  <p:sp>
            <p:nvSpPr>
              <p:cNvPr id="32820" name="文本框 32819"/>
              <p:cNvSpPr txBox="1"/>
              <p:nvPr/>
            </p:nvSpPr>
            <p:spPr>
              <a:xfrm>
                <a:off x="3168" y="1440"/>
                <a:ext cx="293" cy="366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 sz="1600">
                    <a:latin typeface="Times New Roman" panose="02020603050405020304" pitchFamily="18" charset="0"/>
                  </a:rPr>
                  <a:t>BD</a:t>
                </a:r>
                <a:endParaRPr lang="en-US" altLang="zh-CN" sz="1600">
                  <a:latin typeface="Times New Roman" panose="02020603050405020304" pitchFamily="18" charset="0"/>
                </a:endParaRPr>
              </a:p>
              <a:p>
                <a:pPr algn="ctr" eaLnBrk="1" hangingPunct="1"/>
                <a:r>
                  <a:rPr lang="en-US" altLang="zh-CN" sz="1600">
                    <a:latin typeface="Times New Roman" panose="02020603050405020304" pitchFamily="18" charset="0"/>
                  </a:rPr>
                  <a:t>AF</a:t>
                </a:r>
                <a:endParaRPr lang="en-US" altLang="zh-CN" sz="1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821" name="文本框 32820"/>
              <p:cNvSpPr txBox="1"/>
              <p:nvPr/>
            </p:nvSpPr>
            <p:spPr>
              <a:xfrm>
                <a:off x="3282" y="1776"/>
                <a:ext cx="22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  <a:sym typeface="Symbol" panose="05050102010706020507" pitchFamily="18" charset="2"/>
                  </a:rPr>
                  <a:t></a:t>
                </a:r>
                <a:endParaRPr lang="en-US" altLang="zh-CN"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  <p:sp>
            <p:nvSpPr>
              <p:cNvPr id="32822" name="文本框 32821"/>
              <p:cNvSpPr txBox="1"/>
              <p:nvPr/>
            </p:nvSpPr>
            <p:spPr>
              <a:xfrm>
                <a:off x="3264" y="2160"/>
                <a:ext cx="22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  <a:sym typeface="Symbol" panose="05050102010706020507" pitchFamily="18" charset="2"/>
                  </a:rPr>
                  <a:t></a:t>
                </a:r>
                <a:endParaRPr lang="en-US" altLang="zh-CN"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  <p:sp>
            <p:nvSpPr>
              <p:cNvPr id="32823" name="文本框 32822"/>
              <p:cNvSpPr txBox="1"/>
              <p:nvPr/>
            </p:nvSpPr>
            <p:spPr>
              <a:xfrm>
                <a:off x="3216" y="2448"/>
                <a:ext cx="308" cy="366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 sz="1600">
                    <a:latin typeface="Times New Roman" panose="02020603050405020304" pitchFamily="18" charset="0"/>
                  </a:rPr>
                  <a:t>DG</a:t>
                </a:r>
                <a:endParaRPr lang="en-US" altLang="zh-CN" sz="1600">
                  <a:latin typeface="Times New Roman" panose="02020603050405020304" pitchFamily="18" charset="0"/>
                </a:endParaRPr>
              </a:p>
              <a:p>
                <a:pPr algn="ctr" eaLnBrk="1" hangingPunct="1"/>
                <a:r>
                  <a:rPr lang="en-US" altLang="zh-CN" sz="1600">
                    <a:latin typeface="Times New Roman" panose="02020603050405020304" pitchFamily="18" charset="0"/>
                  </a:rPr>
                  <a:t>AF</a:t>
                </a:r>
                <a:endParaRPr lang="en-US" altLang="zh-CN" sz="1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824" name="文本框 32823"/>
              <p:cNvSpPr txBox="1"/>
              <p:nvPr/>
            </p:nvSpPr>
            <p:spPr>
              <a:xfrm>
                <a:off x="3264" y="2784"/>
                <a:ext cx="22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  <a:sym typeface="Symbol" panose="05050102010706020507" pitchFamily="18" charset="2"/>
                  </a:rPr>
                  <a:t></a:t>
                </a:r>
                <a:endParaRPr lang="en-US" altLang="zh-CN"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  <p:grpSp>
            <p:nvGrpSpPr>
              <p:cNvPr id="32825" name="组合 32824"/>
              <p:cNvGrpSpPr/>
              <p:nvPr/>
            </p:nvGrpSpPr>
            <p:grpSpPr>
              <a:xfrm>
                <a:off x="3516" y="1104"/>
                <a:ext cx="2034" cy="2046"/>
                <a:chOff x="3612" y="1344"/>
                <a:chExt cx="2034" cy="2046"/>
              </a:xfrm>
            </p:grpSpPr>
            <p:sp>
              <p:nvSpPr>
                <p:cNvPr id="32826" name="文本框 32825"/>
                <p:cNvSpPr txBox="1"/>
                <p:nvPr/>
              </p:nvSpPr>
              <p:spPr>
                <a:xfrm>
                  <a:off x="3612" y="1344"/>
                  <a:ext cx="372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AF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27" name="文本框 32826"/>
                <p:cNvSpPr txBox="1"/>
                <p:nvPr/>
              </p:nvSpPr>
              <p:spPr>
                <a:xfrm>
                  <a:off x="3666" y="1680"/>
                  <a:ext cx="222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</a:t>
                  </a:r>
                  <a:endParaRPr lang="en-US" altLang="zh-CN"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32828" name="文本框 32827"/>
                <p:cNvSpPr txBox="1"/>
                <p:nvPr/>
              </p:nvSpPr>
              <p:spPr>
                <a:xfrm>
                  <a:off x="3651" y="1986"/>
                  <a:ext cx="286" cy="366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 sz="1600">
                      <a:latin typeface="Times New Roman" panose="02020603050405020304" pitchFamily="18" charset="0"/>
                    </a:rPr>
                    <a:t>DF</a:t>
                  </a:r>
                  <a:endParaRPr lang="en-US" altLang="zh-CN" sz="1600">
                    <a:latin typeface="Times New Roman" panose="02020603050405020304" pitchFamily="18" charset="0"/>
                  </a:endParaRPr>
                </a:p>
                <a:p>
                  <a:pPr algn="ctr" eaLnBrk="1" hangingPunct="1"/>
                  <a:r>
                    <a:rPr lang="en-US" altLang="zh-CN" sz="1600">
                      <a:latin typeface="Times New Roman" panose="02020603050405020304" pitchFamily="18" charset="0"/>
                    </a:rPr>
                    <a:t>AF</a:t>
                  </a:r>
                  <a:endParaRPr lang="en-US" altLang="zh-CN" sz="16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29" name="文本框 32828"/>
                <p:cNvSpPr txBox="1"/>
                <p:nvPr/>
              </p:nvSpPr>
              <p:spPr>
                <a:xfrm>
                  <a:off x="3666" y="2352"/>
                  <a:ext cx="222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</a:t>
                  </a:r>
                  <a:endParaRPr lang="en-US" altLang="zh-CN"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32830" name="文本框 32829"/>
                <p:cNvSpPr txBox="1"/>
                <p:nvPr/>
              </p:nvSpPr>
              <p:spPr>
                <a:xfrm>
                  <a:off x="3666" y="2688"/>
                  <a:ext cx="222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</a:t>
                  </a:r>
                  <a:endParaRPr lang="en-US" altLang="zh-CN"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32831" name="文本框 32830"/>
                <p:cNvSpPr txBox="1"/>
                <p:nvPr/>
              </p:nvSpPr>
              <p:spPr>
                <a:xfrm>
                  <a:off x="3648" y="3024"/>
                  <a:ext cx="293" cy="366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 sz="1600">
                      <a:latin typeface="Times New Roman" panose="02020603050405020304" pitchFamily="18" charset="0"/>
                    </a:rPr>
                    <a:t>BC</a:t>
                  </a:r>
                  <a:endParaRPr lang="en-US" altLang="zh-CN" sz="1600">
                    <a:latin typeface="Times New Roman" panose="02020603050405020304" pitchFamily="18" charset="0"/>
                  </a:endParaRPr>
                </a:p>
                <a:p>
                  <a:pPr algn="ctr" eaLnBrk="1" hangingPunct="1"/>
                  <a:r>
                    <a:rPr lang="en-US" altLang="zh-CN" sz="1600">
                      <a:latin typeface="Times New Roman" panose="02020603050405020304" pitchFamily="18" charset="0"/>
                    </a:rPr>
                    <a:t>AF</a:t>
                  </a:r>
                  <a:endParaRPr lang="en-US" altLang="zh-CN" sz="16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32" name="文本框 32831"/>
                <p:cNvSpPr txBox="1"/>
                <p:nvPr/>
              </p:nvSpPr>
              <p:spPr>
                <a:xfrm>
                  <a:off x="4002" y="1680"/>
                  <a:ext cx="222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</a:t>
                  </a:r>
                  <a:endParaRPr lang="en-US" altLang="zh-CN"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32833" name="文本框 32832"/>
                <p:cNvSpPr txBox="1"/>
                <p:nvPr/>
              </p:nvSpPr>
              <p:spPr>
                <a:xfrm>
                  <a:off x="3957" y="2035"/>
                  <a:ext cx="330" cy="250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 sz="2000">
                      <a:latin typeface="Times New Roman" panose="02020603050405020304" pitchFamily="18" charset="0"/>
                    </a:rPr>
                    <a:t>DF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34" name="文本框 32833"/>
                <p:cNvSpPr txBox="1"/>
                <p:nvPr/>
              </p:nvSpPr>
              <p:spPr>
                <a:xfrm>
                  <a:off x="4002" y="2352"/>
                  <a:ext cx="222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</a:t>
                  </a:r>
                  <a:endParaRPr lang="en-US" altLang="zh-CN"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32835" name="文本框 32834"/>
                <p:cNvSpPr txBox="1"/>
                <p:nvPr/>
              </p:nvSpPr>
              <p:spPr>
                <a:xfrm>
                  <a:off x="4002" y="2688"/>
                  <a:ext cx="222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</a:t>
                  </a:r>
                  <a:endParaRPr lang="en-US" altLang="zh-CN"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32836" name="文本框 32835"/>
                <p:cNvSpPr txBox="1"/>
                <p:nvPr/>
              </p:nvSpPr>
              <p:spPr>
                <a:xfrm>
                  <a:off x="3936" y="3024"/>
                  <a:ext cx="383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BC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37" name="文本框 32836"/>
                <p:cNvSpPr txBox="1"/>
                <p:nvPr/>
              </p:nvSpPr>
              <p:spPr>
                <a:xfrm>
                  <a:off x="4386" y="2016"/>
                  <a:ext cx="222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</a:t>
                  </a:r>
                  <a:endParaRPr lang="en-US" altLang="zh-CN"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32838" name="文本框 32837"/>
                <p:cNvSpPr txBox="1"/>
                <p:nvPr/>
              </p:nvSpPr>
              <p:spPr>
                <a:xfrm>
                  <a:off x="4306" y="2380"/>
                  <a:ext cx="316" cy="231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 sz="1800">
                      <a:latin typeface="Times New Roman" panose="02020603050405020304" pitchFamily="18" charset="0"/>
                    </a:rPr>
                    <a:t>BD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39" name="文本框 32838"/>
                <p:cNvSpPr txBox="1"/>
                <p:nvPr/>
              </p:nvSpPr>
              <p:spPr>
                <a:xfrm>
                  <a:off x="4272" y="2688"/>
                  <a:ext cx="301" cy="366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 sz="1600">
                      <a:latin typeface="Times New Roman" panose="02020603050405020304" pitchFamily="18" charset="0"/>
                    </a:rPr>
                    <a:t>BG</a:t>
                  </a:r>
                  <a:endParaRPr lang="en-US" altLang="zh-CN" sz="1600">
                    <a:latin typeface="Times New Roman" panose="02020603050405020304" pitchFamily="18" charset="0"/>
                  </a:endParaRPr>
                </a:p>
                <a:p>
                  <a:pPr algn="ctr" eaLnBrk="1" hangingPunct="1"/>
                  <a:r>
                    <a:rPr lang="en-US" altLang="zh-CN" sz="1600">
                      <a:latin typeface="Times New Roman" panose="02020603050405020304" pitchFamily="18" charset="0"/>
                    </a:rPr>
                    <a:t>AF</a:t>
                  </a:r>
                  <a:endParaRPr lang="en-US" altLang="zh-CN" sz="16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40" name="文本框 32839"/>
                <p:cNvSpPr txBox="1"/>
                <p:nvPr/>
              </p:nvSpPr>
              <p:spPr>
                <a:xfrm>
                  <a:off x="4338" y="3024"/>
                  <a:ext cx="222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</a:t>
                  </a:r>
                  <a:endParaRPr lang="en-US" altLang="zh-CN"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32841" name="文本框 32840"/>
                <p:cNvSpPr txBox="1"/>
                <p:nvPr/>
              </p:nvSpPr>
              <p:spPr>
                <a:xfrm>
                  <a:off x="5040" y="2688"/>
                  <a:ext cx="308" cy="366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 sz="1600">
                      <a:latin typeface="Times New Roman" panose="02020603050405020304" pitchFamily="18" charset="0"/>
                    </a:rPr>
                    <a:t>DG</a:t>
                  </a:r>
                  <a:endParaRPr lang="en-US" altLang="zh-CN" sz="1600">
                    <a:latin typeface="Times New Roman" panose="02020603050405020304" pitchFamily="18" charset="0"/>
                  </a:endParaRPr>
                </a:p>
                <a:p>
                  <a:pPr algn="ctr" eaLnBrk="1" hangingPunct="1"/>
                  <a:r>
                    <a:rPr lang="en-US" altLang="zh-CN" sz="1600">
                      <a:latin typeface="Times New Roman" panose="02020603050405020304" pitchFamily="18" charset="0"/>
                    </a:rPr>
                    <a:t>AF</a:t>
                  </a:r>
                  <a:endParaRPr lang="en-US" altLang="zh-CN" sz="16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42" name="文本框 32841"/>
                <p:cNvSpPr txBox="1"/>
                <p:nvPr/>
              </p:nvSpPr>
              <p:spPr>
                <a:xfrm>
                  <a:off x="4722" y="2352"/>
                  <a:ext cx="222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</a:t>
                  </a:r>
                  <a:endParaRPr lang="en-US" altLang="zh-CN"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32843" name="文本框 32842"/>
                <p:cNvSpPr txBox="1"/>
                <p:nvPr/>
              </p:nvSpPr>
              <p:spPr>
                <a:xfrm>
                  <a:off x="4704" y="2688"/>
                  <a:ext cx="222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</a:t>
                  </a:r>
                  <a:endParaRPr lang="en-US" altLang="zh-CN"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32844" name="文本框 32843"/>
                <p:cNvSpPr txBox="1"/>
                <p:nvPr/>
              </p:nvSpPr>
              <p:spPr>
                <a:xfrm>
                  <a:off x="4704" y="3024"/>
                  <a:ext cx="293" cy="366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 sz="1600">
                      <a:latin typeface="Times New Roman" panose="02020603050405020304" pitchFamily="18" charset="0"/>
                    </a:rPr>
                    <a:t>BC</a:t>
                  </a:r>
                  <a:endParaRPr lang="en-US" altLang="zh-CN" sz="1600">
                    <a:latin typeface="Times New Roman" panose="02020603050405020304" pitchFamily="18" charset="0"/>
                  </a:endParaRPr>
                </a:p>
                <a:p>
                  <a:pPr algn="ctr" eaLnBrk="1" hangingPunct="1"/>
                  <a:r>
                    <a:rPr lang="en-US" altLang="zh-CN" sz="1600">
                      <a:latin typeface="Times New Roman" panose="02020603050405020304" pitchFamily="18" charset="0"/>
                    </a:rPr>
                    <a:t>DF</a:t>
                  </a:r>
                  <a:endParaRPr lang="en-US" altLang="zh-CN" sz="16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45" name="文本框 32844"/>
                <p:cNvSpPr txBox="1"/>
                <p:nvPr/>
              </p:nvSpPr>
              <p:spPr>
                <a:xfrm>
                  <a:off x="5106" y="3024"/>
                  <a:ext cx="222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</a:t>
                  </a:r>
                  <a:endParaRPr lang="en-US" altLang="zh-CN"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32846" name="文本框 32845"/>
                <p:cNvSpPr txBox="1"/>
                <p:nvPr/>
              </p:nvSpPr>
              <p:spPr>
                <a:xfrm>
                  <a:off x="5424" y="3024"/>
                  <a:ext cx="222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</a:t>
                  </a:r>
                  <a:endParaRPr lang="en-US" altLang="zh-CN"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</p:grpSp>
        </p:grpSp>
        <p:sp>
          <p:nvSpPr>
            <p:cNvPr id="32906" name="文本框 32905"/>
            <p:cNvSpPr txBox="1"/>
            <p:nvPr/>
          </p:nvSpPr>
          <p:spPr>
            <a:xfrm>
              <a:off x="3360" y="2160"/>
              <a:ext cx="22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2907" name="文本框 32906"/>
            <p:cNvSpPr txBox="1"/>
            <p:nvPr/>
          </p:nvSpPr>
          <p:spPr>
            <a:xfrm>
              <a:off x="3696" y="2496"/>
              <a:ext cx="22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2908" name="文本框 32907"/>
            <p:cNvSpPr txBox="1"/>
            <p:nvPr/>
          </p:nvSpPr>
          <p:spPr>
            <a:xfrm>
              <a:off x="4050" y="2544"/>
              <a:ext cx="22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2909" name="文本框 32908"/>
            <p:cNvSpPr txBox="1"/>
            <p:nvPr/>
          </p:nvSpPr>
          <p:spPr>
            <a:xfrm>
              <a:off x="4416" y="2832"/>
              <a:ext cx="22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2910" name="文本框 32909"/>
            <p:cNvSpPr txBox="1"/>
            <p:nvPr/>
          </p:nvSpPr>
          <p:spPr>
            <a:xfrm>
              <a:off x="4416" y="3168"/>
              <a:ext cx="22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2911" name="文本框 32910"/>
            <p:cNvSpPr txBox="1"/>
            <p:nvPr/>
          </p:nvSpPr>
          <p:spPr>
            <a:xfrm>
              <a:off x="5106" y="3168"/>
              <a:ext cx="22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2912" name="文本框 32911"/>
            <p:cNvSpPr txBox="1"/>
            <p:nvPr/>
          </p:nvSpPr>
          <p:spPr>
            <a:xfrm>
              <a:off x="3360" y="3168"/>
              <a:ext cx="22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2913" name="文本框 32912"/>
            <p:cNvSpPr txBox="1"/>
            <p:nvPr/>
          </p:nvSpPr>
          <p:spPr>
            <a:xfrm>
              <a:off x="4770" y="3504"/>
              <a:ext cx="22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sp>
        <p:nvSpPr>
          <p:cNvPr id="32915" name="矩形 32914"/>
          <p:cNvSpPr/>
          <p:nvPr/>
        </p:nvSpPr>
        <p:spPr>
          <a:xfrm>
            <a:off x="457200" y="304800"/>
            <a:ext cx="2743200" cy="4572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9525">
            <a:noFill/>
          </a:ln>
          <a:effectLst>
            <a:outerShdw dist="107763" dir="13499999" algn="ctr" rotWithShape="0">
              <a:srgbClr val="808080"/>
            </a:outerShdw>
          </a:effectLst>
        </p:spPr>
        <p:txBody>
          <a:bodyPr anchor="ctr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sz="4000" b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状态简化</a:t>
            </a:r>
            <a:endParaRPr lang="zh-CN" altLang="en-US" sz="7200" b="1" dirty="0">
              <a:effectLst>
                <a:outerShdw blurRad="38100" dist="38100" dir="2700000">
                  <a:srgbClr val="FFFFFF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2916" name="文本框 32915"/>
          <p:cNvSpPr txBox="1"/>
          <p:nvPr/>
        </p:nvSpPr>
        <p:spPr>
          <a:xfrm>
            <a:off x="457200" y="838200"/>
            <a:ext cx="34163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zh-CN" dirty="0">
                <a:latin typeface="Times New Roman" panose="02020603050405020304" pitchFamily="18" charset="0"/>
              </a:rPr>
              <a:t>第三步  寻找最大等价类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2917" name="矩形 32916"/>
          <p:cNvSpPr/>
          <p:nvPr/>
        </p:nvSpPr>
        <p:spPr>
          <a:xfrm>
            <a:off x="5638800" y="2895600"/>
            <a:ext cx="457200" cy="457200"/>
          </a:xfrm>
          <a:prstGeom prst="rect">
            <a:avLst/>
          </a:prstGeom>
          <a:noFill/>
          <a:ln w="28575" cap="flat" cmpd="sng">
            <a:solidFill>
              <a:srgbClr val="A5002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2918" name="矩形 32917"/>
          <p:cNvSpPr/>
          <p:nvPr/>
        </p:nvSpPr>
        <p:spPr>
          <a:xfrm>
            <a:off x="5638800" y="5638800"/>
            <a:ext cx="457200" cy="457200"/>
          </a:xfrm>
          <a:prstGeom prst="rect">
            <a:avLst/>
          </a:prstGeom>
          <a:noFill/>
          <a:ln w="28575" cap="flat" cmpd="sng">
            <a:solidFill>
              <a:srgbClr val="A5002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2919" name="矩形 32918"/>
          <p:cNvSpPr/>
          <p:nvPr/>
        </p:nvSpPr>
        <p:spPr>
          <a:xfrm>
            <a:off x="6172200" y="5562600"/>
            <a:ext cx="457200" cy="457200"/>
          </a:xfrm>
          <a:prstGeom prst="rect">
            <a:avLst/>
          </a:prstGeom>
          <a:noFill/>
          <a:ln w="28575" cap="flat" cmpd="sng">
            <a:solidFill>
              <a:srgbClr val="A5002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2920" name="矩形 32919"/>
          <p:cNvSpPr/>
          <p:nvPr/>
        </p:nvSpPr>
        <p:spPr>
          <a:xfrm>
            <a:off x="5181600" y="4495800"/>
            <a:ext cx="457200" cy="457200"/>
          </a:xfrm>
          <a:prstGeom prst="rect">
            <a:avLst/>
          </a:prstGeom>
          <a:noFill/>
          <a:ln w="28575" cap="flat" cmpd="sng">
            <a:solidFill>
              <a:srgbClr val="A5002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2921" name="文本框 32920"/>
          <p:cNvSpPr txBox="1"/>
          <p:nvPr/>
        </p:nvSpPr>
        <p:spPr>
          <a:xfrm>
            <a:off x="457200" y="1219200"/>
            <a:ext cx="56864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未打“</a:t>
            </a:r>
            <a:r>
              <a:rPr lang="en-US" altLang="zh-CN">
                <a:latin typeface="宋体" panose="02010600030101010101" pitchFamily="2" charset="-122"/>
              </a:rPr>
              <a:t>×</a:t>
            </a:r>
            <a:r>
              <a:rPr lang="en-US" altLang="zh-CN">
                <a:latin typeface="Times New Roman" panose="02020603050405020304" pitchFamily="18" charset="0"/>
              </a:rPr>
              <a:t>”</a:t>
            </a:r>
            <a:r>
              <a:rPr lang="zh-CN" altLang="en-US" dirty="0">
                <a:latin typeface="Times New Roman" panose="02020603050405020304" pitchFamily="18" charset="0"/>
              </a:rPr>
              <a:t>的方格，都代表一个等价状态对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2922" name="文本框 32921"/>
          <p:cNvSpPr txBox="1"/>
          <p:nvPr/>
        </p:nvSpPr>
        <p:spPr>
          <a:xfrm>
            <a:off x="457200" y="1676400"/>
            <a:ext cx="79279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由此得到全部等价对：</a:t>
            </a:r>
            <a:r>
              <a:rPr lang="en-US" altLang="zh-CN">
                <a:latin typeface="Times New Roman" panose="02020603050405020304" pitchFamily="18" charset="0"/>
              </a:rPr>
              <a:t>[A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</a:rPr>
              <a:t>F]</a:t>
            </a:r>
            <a:r>
              <a:rPr lang="zh-CN" altLang="en-US">
                <a:latin typeface="Times New Roman" panose="02020603050405020304" pitchFamily="18" charset="0"/>
              </a:rPr>
              <a:t>、</a:t>
            </a:r>
            <a:r>
              <a:rPr lang="en-US" altLang="zh-CN">
                <a:latin typeface="Times New Roman" panose="02020603050405020304" pitchFamily="18" charset="0"/>
              </a:rPr>
              <a:t>[B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</a:rPr>
              <a:t>H]</a:t>
            </a:r>
            <a:r>
              <a:rPr lang="zh-CN" altLang="en-US">
                <a:latin typeface="Times New Roman" panose="02020603050405020304" pitchFamily="18" charset="0"/>
              </a:rPr>
              <a:t>、</a:t>
            </a:r>
            <a:r>
              <a:rPr lang="en-US" altLang="zh-CN">
                <a:latin typeface="Times New Roman" panose="02020603050405020304" pitchFamily="18" charset="0"/>
              </a:rPr>
              <a:t>[B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</a:rPr>
              <a:t>C]</a:t>
            </a:r>
            <a:r>
              <a:rPr lang="zh-CN" altLang="en-US">
                <a:latin typeface="Times New Roman" panose="02020603050405020304" pitchFamily="18" charset="0"/>
              </a:rPr>
              <a:t>、</a:t>
            </a:r>
            <a:r>
              <a:rPr lang="en-US" altLang="zh-CN">
                <a:latin typeface="Times New Roman" panose="02020603050405020304" pitchFamily="18" charset="0"/>
              </a:rPr>
              <a:t>[C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</a:rPr>
              <a:t>H]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2923" name="直接连接符 32922"/>
          <p:cNvSpPr/>
          <p:nvPr/>
        </p:nvSpPr>
        <p:spPr>
          <a:xfrm>
            <a:off x="4876800" y="2057400"/>
            <a:ext cx="3352800" cy="0"/>
          </a:xfrm>
          <a:prstGeom prst="line">
            <a:avLst/>
          </a:prstGeom>
          <a:ln w="38100" cap="flat" cmpd="sng">
            <a:solidFill>
              <a:srgbClr val="A5002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926" name="文本框 32925"/>
          <p:cNvSpPr txBox="1"/>
          <p:nvPr/>
        </p:nvSpPr>
        <p:spPr>
          <a:xfrm>
            <a:off x="482600" y="2133600"/>
            <a:ext cx="26416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全部最大等价类：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2927" name="文本框 32926"/>
          <p:cNvSpPr txBox="1"/>
          <p:nvPr/>
        </p:nvSpPr>
        <p:spPr>
          <a:xfrm>
            <a:off x="609600" y="2590800"/>
            <a:ext cx="3810000" cy="822325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p>
            <a:pPr algn="just" eaLnBrk="1" hangingPunct="1"/>
            <a:r>
              <a:rPr lang="en-US" altLang="zh-CN">
                <a:latin typeface="Times New Roman" panose="02020603050405020304" pitchFamily="18" charset="0"/>
              </a:rPr>
              <a:t>[A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</a:rPr>
              <a:t>F]</a:t>
            </a:r>
            <a:r>
              <a:rPr lang="zh-CN" altLang="en-US">
                <a:latin typeface="Times New Roman" panose="02020603050405020304" pitchFamily="18" charset="0"/>
              </a:rPr>
              <a:t>、</a:t>
            </a:r>
            <a:r>
              <a:rPr lang="en-US" altLang="zh-CN">
                <a:latin typeface="Times New Roman" panose="02020603050405020304" pitchFamily="18" charset="0"/>
              </a:rPr>
              <a:t>[B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</a:rPr>
              <a:t>C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</a:rPr>
              <a:t>H]</a:t>
            </a:r>
            <a:r>
              <a:rPr lang="zh-CN" altLang="en-US">
                <a:latin typeface="Times New Roman" panose="02020603050405020304" pitchFamily="18" charset="0"/>
              </a:rPr>
              <a:t>、</a:t>
            </a:r>
            <a:endParaRPr lang="zh-CN" altLang="en-US"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en-US" altLang="zh-CN">
                <a:latin typeface="Times New Roman" panose="02020603050405020304" pitchFamily="18" charset="0"/>
              </a:rPr>
              <a:t>[D]</a:t>
            </a:r>
            <a:r>
              <a:rPr lang="zh-CN" altLang="en-US">
                <a:latin typeface="Times New Roman" panose="02020603050405020304" pitchFamily="18" charset="0"/>
              </a:rPr>
              <a:t>、</a:t>
            </a:r>
            <a:r>
              <a:rPr lang="en-US" altLang="zh-CN">
                <a:latin typeface="Times New Roman" panose="02020603050405020304" pitchFamily="18" charset="0"/>
              </a:rPr>
              <a:t>[E]</a:t>
            </a:r>
            <a:r>
              <a:rPr lang="zh-CN" altLang="en-US">
                <a:latin typeface="Times New Roman" panose="02020603050405020304" pitchFamily="18" charset="0"/>
              </a:rPr>
              <a:t>、</a:t>
            </a:r>
            <a:r>
              <a:rPr lang="en-US" altLang="zh-CN">
                <a:latin typeface="Times New Roman" panose="02020603050405020304" pitchFamily="18" charset="0"/>
              </a:rPr>
              <a:t>[G]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2928" name="文本框 32927"/>
          <p:cNvSpPr txBox="1"/>
          <p:nvPr/>
        </p:nvSpPr>
        <p:spPr>
          <a:xfrm>
            <a:off x="152400" y="3352800"/>
            <a:ext cx="4876800" cy="457200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p>
            <a:pPr algn="ctr" eaLnBrk="1" hangingPunct="1"/>
            <a:r>
              <a:rPr lang="zh-CN" altLang="zh-CN" dirty="0">
                <a:latin typeface="Times New Roman" panose="02020603050405020304" pitchFamily="18" charset="0"/>
              </a:rPr>
              <a:t>第四步 状态合并，得最简状态表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32929" name="组合 32928"/>
          <p:cNvGrpSpPr/>
          <p:nvPr/>
        </p:nvGrpSpPr>
        <p:grpSpPr>
          <a:xfrm>
            <a:off x="533400" y="3810000"/>
            <a:ext cx="4114800" cy="2895600"/>
            <a:chOff x="96" y="1728"/>
            <a:chExt cx="2592" cy="1824"/>
          </a:xfrm>
        </p:grpSpPr>
        <p:sp>
          <p:nvSpPr>
            <p:cNvPr id="32930" name="文本框 32929"/>
            <p:cNvSpPr txBox="1"/>
            <p:nvPr/>
          </p:nvSpPr>
          <p:spPr>
            <a:xfrm>
              <a:off x="1381" y="3264"/>
              <a:ext cx="73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S 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n+1</a:t>
              </a:r>
              <a:r>
                <a:rPr lang="en-US" altLang="zh-CN">
                  <a:latin typeface="Times New Roman" panose="02020603050405020304" pitchFamily="18" charset="0"/>
                </a:rPr>
                <a:t>/Z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n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grpSp>
          <p:nvGrpSpPr>
            <p:cNvPr id="32931" name="组合 32930"/>
            <p:cNvGrpSpPr/>
            <p:nvPr/>
          </p:nvGrpSpPr>
          <p:grpSpPr>
            <a:xfrm>
              <a:off x="96" y="1728"/>
              <a:ext cx="2592" cy="1584"/>
              <a:chOff x="96" y="1728"/>
              <a:chExt cx="2592" cy="1584"/>
            </a:xfrm>
          </p:grpSpPr>
          <p:sp>
            <p:nvSpPr>
              <p:cNvPr id="32932" name="直接连接符 32931"/>
              <p:cNvSpPr/>
              <p:nvPr/>
            </p:nvSpPr>
            <p:spPr>
              <a:xfrm>
                <a:off x="96" y="1776"/>
                <a:ext cx="25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33" name="直接连接符 32932"/>
              <p:cNvSpPr/>
              <p:nvPr/>
            </p:nvSpPr>
            <p:spPr>
              <a:xfrm>
                <a:off x="96" y="2208"/>
                <a:ext cx="25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34" name="直接连接符 32933"/>
              <p:cNvSpPr/>
              <p:nvPr/>
            </p:nvSpPr>
            <p:spPr>
              <a:xfrm>
                <a:off x="2208" y="1776"/>
                <a:ext cx="0" cy="148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35" name="直接连接符 32934"/>
              <p:cNvSpPr/>
              <p:nvPr/>
            </p:nvSpPr>
            <p:spPr>
              <a:xfrm>
                <a:off x="1776" y="1776"/>
                <a:ext cx="0" cy="148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36" name="直接连接符 32935"/>
              <p:cNvSpPr/>
              <p:nvPr/>
            </p:nvSpPr>
            <p:spPr>
              <a:xfrm>
                <a:off x="1296" y="1776"/>
                <a:ext cx="0" cy="148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37" name="直接连接符 32936"/>
              <p:cNvSpPr/>
              <p:nvPr/>
            </p:nvSpPr>
            <p:spPr>
              <a:xfrm>
                <a:off x="864" y="1776"/>
                <a:ext cx="0" cy="148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38" name="直接连接符 32937"/>
              <p:cNvSpPr/>
              <p:nvPr/>
            </p:nvSpPr>
            <p:spPr>
              <a:xfrm>
                <a:off x="96" y="1776"/>
                <a:ext cx="768" cy="43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39" name="文本框 32938"/>
              <p:cNvSpPr txBox="1"/>
              <p:nvPr/>
            </p:nvSpPr>
            <p:spPr>
              <a:xfrm>
                <a:off x="358" y="1728"/>
                <a:ext cx="52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X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1</a:t>
                </a:r>
                <a:r>
                  <a:rPr lang="en-US" altLang="zh-CN">
                    <a:latin typeface="Times New Roman" panose="02020603050405020304" pitchFamily="18" charset="0"/>
                  </a:rPr>
                  <a:t>X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2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940" name="文本框 32939"/>
              <p:cNvSpPr txBox="1"/>
              <p:nvPr/>
            </p:nvSpPr>
            <p:spPr>
              <a:xfrm>
                <a:off x="192" y="1920"/>
                <a:ext cx="29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 err="1">
                    <a:latin typeface="Times New Roman" panose="02020603050405020304" pitchFamily="18" charset="0"/>
                  </a:rPr>
                  <a:t>S</a:t>
                </a:r>
                <a:r>
                  <a:rPr lang="en-US" altLang="zh-CN" baseline="-25000" err="1">
                    <a:latin typeface="Times New Roman" panose="02020603050405020304" pitchFamily="18" charset="0"/>
                  </a:rPr>
                  <a:t>n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941" name="文本框 32940"/>
              <p:cNvSpPr txBox="1"/>
              <p:nvPr/>
            </p:nvSpPr>
            <p:spPr>
              <a:xfrm>
                <a:off x="336" y="2160"/>
                <a:ext cx="255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A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942" name="文本框 32941"/>
              <p:cNvSpPr txBox="1"/>
              <p:nvPr/>
            </p:nvSpPr>
            <p:spPr>
              <a:xfrm>
                <a:off x="912" y="1872"/>
                <a:ext cx="308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00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943" name="文本框 32942"/>
              <p:cNvSpPr txBox="1"/>
              <p:nvPr/>
            </p:nvSpPr>
            <p:spPr>
              <a:xfrm>
                <a:off x="1372" y="1872"/>
                <a:ext cx="308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01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944" name="文本框 32943"/>
              <p:cNvSpPr txBox="1"/>
              <p:nvPr/>
            </p:nvSpPr>
            <p:spPr>
              <a:xfrm>
                <a:off x="1852" y="1872"/>
                <a:ext cx="308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11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945" name="文本框 32944"/>
              <p:cNvSpPr txBox="1"/>
              <p:nvPr/>
            </p:nvSpPr>
            <p:spPr>
              <a:xfrm>
                <a:off x="2284" y="1872"/>
                <a:ext cx="308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10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946" name="文本框 32945"/>
              <p:cNvSpPr txBox="1"/>
              <p:nvPr/>
            </p:nvSpPr>
            <p:spPr>
              <a:xfrm>
                <a:off x="341" y="2352"/>
                <a:ext cx="24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B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947" name="文本框 32946"/>
              <p:cNvSpPr txBox="1"/>
              <p:nvPr/>
            </p:nvSpPr>
            <p:spPr>
              <a:xfrm>
                <a:off x="331" y="2592"/>
                <a:ext cx="255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D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948" name="文本框 32947"/>
              <p:cNvSpPr txBox="1"/>
              <p:nvPr/>
            </p:nvSpPr>
            <p:spPr>
              <a:xfrm>
                <a:off x="341" y="2784"/>
                <a:ext cx="24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E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949" name="文本框 32948"/>
              <p:cNvSpPr txBox="1"/>
              <p:nvPr/>
            </p:nvSpPr>
            <p:spPr>
              <a:xfrm>
                <a:off x="320" y="3024"/>
                <a:ext cx="265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G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950" name="文本框 32949"/>
              <p:cNvSpPr txBox="1"/>
              <p:nvPr/>
            </p:nvSpPr>
            <p:spPr>
              <a:xfrm>
                <a:off x="844" y="2160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D/0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951" name="文本框 32950"/>
              <p:cNvSpPr txBox="1"/>
              <p:nvPr/>
            </p:nvSpPr>
            <p:spPr>
              <a:xfrm>
                <a:off x="1324" y="2160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D/0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952" name="文本框 32951"/>
              <p:cNvSpPr txBox="1"/>
              <p:nvPr/>
            </p:nvSpPr>
            <p:spPr>
              <a:xfrm>
                <a:off x="1804" y="2160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A/0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953" name="文本框 32952"/>
              <p:cNvSpPr txBox="1"/>
              <p:nvPr/>
            </p:nvSpPr>
            <p:spPr>
              <a:xfrm>
                <a:off x="2247" y="2160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A/0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954" name="文本框 32953"/>
              <p:cNvSpPr txBox="1"/>
              <p:nvPr/>
            </p:nvSpPr>
            <p:spPr>
              <a:xfrm>
                <a:off x="864" y="2352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C/1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955" name="文本框 32954"/>
              <p:cNvSpPr txBox="1"/>
              <p:nvPr/>
            </p:nvSpPr>
            <p:spPr>
              <a:xfrm>
                <a:off x="1344" y="2352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D/0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956" name="文本框 32955"/>
              <p:cNvSpPr txBox="1"/>
              <p:nvPr/>
            </p:nvSpPr>
            <p:spPr>
              <a:xfrm>
                <a:off x="1819" y="2352"/>
                <a:ext cx="39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E/1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957" name="文本框 32956"/>
              <p:cNvSpPr txBox="1"/>
              <p:nvPr/>
            </p:nvSpPr>
            <p:spPr>
              <a:xfrm>
                <a:off x="2247" y="2352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A/0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958" name="文本框 32957"/>
              <p:cNvSpPr txBox="1"/>
              <p:nvPr/>
            </p:nvSpPr>
            <p:spPr>
              <a:xfrm>
                <a:off x="865" y="2592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D/0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959" name="文本框 32958"/>
              <p:cNvSpPr txBox="1"/>
              <p:nvPr/>
            </p:nvSpPr>
            <p:spPr>
              <a:xfrm>
                <a:off x="1349" y="2592"/>
                <a:ext cx="39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B/0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960" name="文本框 32959"/>
              <p:cNvSpPr txBox="1"/>
              <p:nvPr/>
            </p:nvSpPr>
            <p:spPr>
              <a:xfrm>
                <a:off x="1819" y="2592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A/0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961" name="文本框 32960"/>
              <p:cNvSpPr txBox="1"/>
              <p:nvPr/>
            </p:nvSpPr>
            <p:spPr>
              <a:xfrm>
                <a:off x="2256" y="2592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A/0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962" name="文本框 32961"/>
              <p:cNvSpPr txBox="1"/>
              <p:nvPr/>
            </p:nvSpPr>
            <p:spPr>
              <a:xfrm>
                <a:off x="869" y="2784"/>
                <a:ext cx="39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B/1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963" name="文本框 32962"/>
              <p:cNvSpPr txBox="1"/>
              <p:nvPr/>
            </p:nvSpPr>
            <p:spPr>
              <a:xfrm>
                <a:off x="1344" y="2784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A/0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964" name="文本框 32963"/>
              <p:cNvSpPr txBox="1"/>
              <p:nvPr/>
            </p:nvSpPr>
            <p:spPr>
              <a:xfrm>
                <a:off x="1829" y="2784"/>
                <a:ext cx="39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E/1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965" name="文本框 32964"/>
              <p:cNvSpPr txBox="1"/>
              <p:nvPr/>
            </p:nvSpPr>
            <p:spPr>
              <a:xfrm>
                <a:off x="2245" y="2784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A/0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966" name="文本框 32965"/>
              <p:cNvSpPr txBox="1"/>
              <p:nvPr/>
            </p:nvSpPr>
            <p:spPr>
              <a:xfrm>
                <a:off x="859" y="3024"/>
                <a:ext cx="41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G/0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967" name="文本框 32966"/>
              <p:cNvSpPr txBox="1"/>
              <p:nvPr/>
            </p:nvSpPr>
            <p:spPr>
              <a:xfrm>
                <a:off x="1362" y="3024"/>
                <a:ext cx="41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G/0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968" name="文本框 32967"/>
              <p:cNvSpPr txBox="1"/>
              <p:nvPr/>
            </p:nvSpPr>
            <p:spPr>
              <a:xfrm>
                <a:off x="1804" y="3024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A/0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969" name="文本框 32968"/>
              <p:cNvSpPr txBox="1"/>
              <p:nvPr/>
            </p:nvSpPr>
            <p:spPr>
              <a:xfrm>
                <a:off x="2256" y="3024"/>
                <a:ext cx="40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A/0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970" name="直接连接符 32969"/>
              <p:cNvSpPr/>
              <p:nvPr/>
            </p:nvSpPr>
            <p:spPr>
              <a:xfrm>
                <a:off x="96" y="3264"/>
                <a:ext cx="25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32971" name="圆角矩形标注 32970"/>
          <p:cNvSpPr/>
          <p:nvPr/>
        </p:nvSpPr>
        <p:spPr>
          <a:xfrm>
            <a:off x="1143000" y="1905000"/>
            <a:ext cx="1447800" cy="685800"/>
          </a:xfrm>
          <a:prstGeom prst="wedgeRoundRectCallout">
            <a:avLst>
              <a:gd name="adj1" fmla="val -45722"/>
              <a:gd name="adj2" fmla="val 69907"/>
              <a:gd name="adj3" fmla="val 16667"/>
            </a:avLst>
          </a:prstGeom>
          <a:gradFill rotWithShape="0">
            <a:gsLst>
              <a:gs pos="0">
                <a:srgbClr val="FFFF99">
                  <a:gamma/>
                  <a:shade val="46275"/>
                  <a:invGamma/>
                </a:srgbClr>
              </a:gs>
              <a:gs pos="50000">
                <a:srgbClr val="FFFF99"/>
              </a:gs>
              <a:gs pos="100000">
                <a:srgbClr val="FFFF99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38100">
            <a:noFill/>
          </a:ln>
        </p:spPr>
        <p:txBody>
          <a:bodyPr wrap="none" anchor="ctr" anchorCtr="0"/>
          <a:p>
            <a:pPr algn="l" eaLnBrk="1" hangingPunct="1"/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用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表示</a:t>
            </a:r>
            <a:endParaRPr lang="zh-CN" altLang="en-US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972" name="圆角矩形标注 32971"/>
          <p:cNvSpPr/>
          <p:nvPr/>
        </p:nvSpPr>
        <p:spPr>
          <a:xfrm>
            <a:off x="2819400" y="1905000"/>
            <a:ext cx="1447800" cy="685800"/>
          </a:xfrm>
          <a:prstGeom prst="wedgeRoundRectCallout">
            <a:avLst>
              <a:gd name="adj1" fmla="val -66778"/>
              <a:gd name="adj2" fmla="val 69907"/>
              <a:gd name="adj3" fmla="val 16667"/>
            </a:avLst>
          </a:prstGeom>
          <a:gradFill rotWithShape="0">
            <a:gsLst>
              <a:gs pos="0">
                <a:srgbClr val="FFFF99">
                  <a:gamma/>
                  <a:shade val="46275"/>
                  <a:invGamma/>
                </a:srgbClr>
              </a:gs>
              <a:gs pos="50000">
                <a:srgbClr val="FFFF99"/>
              </a:gs>
              <a:gs pos="100000">
                <a:srgbClr val="FFFF99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38100">
            <a:noFill/>
          </a:ln>
        </p:spPr>
        <p:txBody>
          <a:bodyPr wrap="none" anchor="ctr" anchorCtr="0"/>
          <a:p>
            <a:pPr algn="l" eaLnBrk="1" hangingPunct="1"/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用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表示</a:t>
            </a:r>
            <a:endParaRPr lang="zh-CN" altLang="en-US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2973" name="图片 32972" descr="wb01508_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00" y="1524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974" name="文本框 32973">
            <a:hlinkClick r:id="rId1" action="ppaction://hlinksldjump"/>
          </p:cNvPr>
          <p:cNvSpPr txBox="1"/>
          <p:nvPr/>
        </p:nvSpPr>
        <p:spPr>
          <a:xfrm>
            <a:off x="7664450" y="2286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u="sng" dirty="0">
                <a:solidFill>
                  <a:schemeClr val="accent2"/>
                </a:solidFill>
                <a:latin typeface="Times New Roman" panose="02020603050405020304" pitchFamily="18" charset="0"/>
              </a:rPr>
              <a:t>返  回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2924" name="圆角矩形标注 32923"/>
          <p:cNvSpPr/>
          <p:nvPr/>
        </p:nvSpPr>
        <p:spPr>
          <a:xfrm>
            <a:off x="6019800" y="609600"/>
            <a:ext cx="1600200" cy="914400"/>
          </a:xfrm>
          <a:prstGeom prst="wedgeRoundRectCallout">
            <a:avLst>
              <a:gd name="adj1" fmla="val -72917"/>
              <a:gd name="adj2" fmla="val 77606"/>
              <a:gd name="adj3" fmla="val 16667"/>
            </a:avLst>
          </a:prstGeom>
          <a:gradFill rotWithShape="0">
            <a:gsLst>
              <a:gs pos="0">
                <a:srgbClr val="FFFF99">
                  <a:gamma/>
                  <a:shade val="46275"/>
                  <a:invGamma/>
                </a:srgbClr>
              </a:gs>
              <a:gs pos="50000">
                <a:srgbClr val="FFFF99"/>
              </a:gs>
              <a:gs pos="100000">
                <a:srgbClr val="FFFF99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38100">
            <a:noFill/>
          </a:ln>
        </p:spPr>
        <p:txBody>
          <a:bodyPr wrap="none" anchor="ctr" anchorCtr="0"/>
          <a:p>
            <a:pPr algn="just"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构成等价类</a:t>
            </a:r>
            <a:endParaRPr lang="zh-CN" altLang="en-US" dirty="0">
              <a:solidFill>
                <a:srgbClr val="A50021"/>
              </a:solidFill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</a:rPr>
              <a:t>[B</a:t>
            </a:r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</a:rPr>
              <a:t>H]</a:t>
            </a:r>
            <a:endParaRPr lang="en-US" altLang="zh-CN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9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2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9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29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29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2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2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2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2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2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2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2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2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2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2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2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32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16" grpId="0"/>
      <p:bldP spid="32921" grpId="0"/>
      <p:bldP spid="32922" grpId="0"/>
      <p:bldP spid="32926" grpId="0"/>
      <p:bldP spid="32927" grpId="0"/>
      <p:bldP spid="32928" grpId="0"/>
      <p:bldP spid="32971" grpId="0" animBg="1"/>
      <p:bldP spid="32972" grpId="0" animBg="1"/>
      <p:bldP spid="329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932" name="矩形 33931"/>
          <p:cNvSpPr/>
          <p:nvPr/>
        </p:nvSpPr>
        <p:spPr>
          <a:xfrm>
            <a:off x="762000" y="228600"/>
            <a:ext cx="7696200" cy="7620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9525"/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 anchorCtr="0">
            <a:flatTx/>
          </a:bodyPr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sz="5400" b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同步时序电路设计举例</a:t>
            </a:r>
            <a:endParaRPr lang="zh-CN" altLang="en-US" sz="7200" b="1">
              <a:effectLst>
                <a:outerShdw blurRad="38100" dist="38100" dir="2700000">
                  <a:srgbClr val="FFFFFF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3933" name="文本框 33932"/>
          <p:cNvSpPr txBox="1"/>
          <p:nvPr/>
        </p:nvSpPr>
        <p:spPr>
          <a:xfrm>
            <a:off x="838200" y="1265238"/>
            <a:ext cx="7708900" cy="944562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p>
            <a:pPr algn="just" eaLnBrk="1" hangingPunct="1"/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例：</a:t>
            </a:r>
            <a:r>
              <a:rPr lang="zh-CN" altLang="en-US" dirty="0">
                <a:latin typeface="宋体" panose="02010600030101010101" pitchFamily="2" charset="-122"/>
              </a:rPr>
              <a:t>设计一个模可变的同步递增计数器。当控制信号Ｘ＝</a:t>
            </a:r>
            <a:r>
              <a:rPr lang="en-US" altLang="zh-CN" sz="3200">
                <a:latin typeface="宋体" panose="02010600030101010101" pitchFamily="2" charset="-122"/>
              </a:rPr>
              <a:t>0</a:t>
            </a:r>
            <a:r>
              <a:rPr lang="zh-CN" altLang="en-US" dirty="0">
                <a:latin typeface="宋体" panose="02010600030101010101" pitchFamily="2" charset="-122"/>
              </a:rPr>
              <a:t>时为三进制计数器；Ｘ＝</a:t>
            </a:r>
            <a:r>
              <a:rPr lang="zh-CN" altLang="en-US" sz="3200" dirty="0">
                <a:latin typeface="宋体" panose="02010600030101010101" pitchFamily="2" charset="-122"/>
              </a:rPr>
              <a:t>１</a:t>
            </a:r>
            <a:r>
              <a:rPr lang="zh-CN" altLang="en-US" dirty="0">
                <a:latin typeface="宋体" panose="02010600030101010101" pitchFamily="2" charset="-122"/>
              </a:rPr>
              <a:t>时为四进制计数器。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33935" name="文本框 33934"/>
          <p:cNvSpPr txBox="1"/>
          <p:nvPr/>
        </p:nvSpPr>
        <p:spPr>
          <a:xfrm>
            <a:off x="838200" y="2286000"/>
            <a:ext cx="8001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解：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3936" name="文本框 33935"/>
          <p:cNvSpPr txBox="1"/>
          <p:nvPr/>
        </p:nvSpPr>
        <p:spPr>
          <a:xfrm>
            <a:off x="1509713" y="2286000"/>
            <a:ext cx="24923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宋体" panose="02010600030101010101" pitchFamily="2" charset="-122"/>
              </a:rPr>
              <a:t>1</a:t>
            </a:r>
            <a:r>
              <a:rPr lang="zh-CN" altLang="en-US" dirty="0">
                <a:latin typeface="宋体" panose="02010600030101010101" pitchFamily="2" charset="-122"/>
              </a:rPr>
              <a:t>、列原始状态图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33937" name="文本框 33936"/>
          <p:cNvSpPr txBox="1"/>
          <p:nvPr/>
        </p:nvSpPr>
        <p:spPr>
          <a:xfrm>
            <a:off x="838200" y="2743200"/>
            <a:ext cx="4921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>
                <a:latin typeface="宋体" panose="02010600030101010101" pitchFamily="2" charset="-122"/>
              </a:rPr>
              <a:t>设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33938" name="文本框 33937"/>
          <p:cNvSpPr txBox="1"/>
          <p:nvPr/>
        </p:nvSpPr>
        <p:spPr>
          <a:xfrm>
            <a:off x="1431925" y="2743200"/>
            <a:ext cx="20320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宋体" panose="02010600030101010101" pitchFamily="2" charset="-122"/>
              </a:rPr>
              <a:t>输入控制端：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33940" name="文本框 33939"/>
          <p:cNvSpPr txBox="1"/>
          <p:nvPr/>
        </p:nvSpPr>
        <p:spPr>
          <a:xfrm>
            <a:off x="838200" y="3200400"/>
            <a:ext cx="60864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宋体" panose="02010600030101010101" pitchFamily="2" charset="-122"/>
              </a:rPr>
              <a:t>输出端：Ｚ</a:t>
            </a:r>
            <a:r>
              <a:rPr lang="en-US" altLang="zh-CN" baseline="-25000">
                <a:latin typeface="宋体" panose="02010600030101010101" pitchFamily="2" charset="-122"/>
              </a:rPr>
              <a:t>1</a:t>
            </a:r>
            <a:r>
              <a:rPr lang="zh-CN" altLang="en-US" dirty="0">
                <a:latin typeface="宋体" panose="02010600030101010101" pitchFamily="2" charset="-122"/>
              </a:rPr>
              <a:t>（三进制计数器的进位输出端）</a:t>
            </a:r>
            <a:endParaRPr lang="zh-CN" altLang="en-US" baseline="-25000">
              <a:latin typeface="宋体" panose="02010600030101010101" pitchFamily="2" charset="-122"/>
            </a:endParaRPr>
          </a:p>
        </p:txBody>
      </p:sp>
      <p:sp>
        <p:nvSpPr>
          <p:cNvPr id="33941" name="文本框 33940"/>
          <p:cNvSpPr txBox="1"/>
          <p:nvPr/>
        </p:nvSpPr>
        <p:spPr>
          <a:xfrm>
            <a:off x="2105025" y="3657600"/>
            <a:ext cx="49053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宋体" panose="02010600030101010101" pitchFamily="2" charset="-122"/>
              </a:rPr>
              <a:t>Ｚ</a:t>
            </a:r>
            <a:r>
              <a:rPr lang="en-US" altLang="zh-CN" baseline="-25000">
                <a:latin typeface="宋体" panose="02010600030101010101" pitchFamily="2" charset="-122"/>
              </a:rPr>
              <a:t>2</a:t>
            </a:r>
            <a:r>
              <a:rPr lang="zh-CN" altLang="en-US" dirty="0">
                <a:latin typeface="宋体" panose="02010600030101010101" pitchFamily="2" charset="-122"/>
              </a:rPr>
              <a:t>（四进制计数器的进位输出端）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33942" name="椭圆 33941"/>
          <p:cNvSpPr/>
          <p:nvPr/>
        </p:nvSpPr>
        <p:spPr>
          <a:xfrm>
            <a:off x="5943600" y="4267200"/>
            <a:ext cx="533400" cy="457200"/>
          </a:xfrm>
          <a:prstGeom prst="ellipse">
            <a:avLst/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3943" name="椭圆 33942"/>
          <p:cNvSpPr/>
          <p:nvPr/>
        </p:nvSpPr>
        <p:spPr>
          <a:xfrm>
            <a:off x="7848600" y="4267200"/>
            <a:ext cx="533400" cy="457200"/>
          </a:xfrm>
          <a:prstGeom prst="ellipse">
            <a:avLst/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3944" name="椭圆 33943"/>
          <p:cNvSpPr/>
          <p:nvPr/>
        </p:nvSpPr>
        <p:spPr>
          <a:xfrm>
            <a:off x="7924800" y="5638800"/>
            <a:ext cx="533400" cy="457200"/>
          </a:xfrm>
          <a:prstGeom prst="ellipse">
            <a:avLst/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10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3945" name="椭圆 33944"/>
          <p:cNvSpPr/>
          <p:nvPr/>
        </p:nvSpPr>
        <p:spPr>
          <a:xfrm>
            <a:off x="5943600" y="5638800"/>
            <a:ext cx="533400" cy="457200"/>
          </a:xfrm>
          <a:prstGeom prst="ellipse">
            <a:avLst/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11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3951" name="文本框 33950"/>
          <p:cNvSpPr txBox="1"/>
          <p:nvPr/>
        </p:nvSpPr>
        <p:spPr>
          <a:xfrm>
            <a:off x="6746875" y="3810000"/>
            <a:ext cx="14065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X/Z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</a:rPr>
              <a:t>Z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33964" name="组合 33963"/>
          <p:cNvGrpSpPr/>
          <p:nvPr/>
        </p:nvGrpSpPr>
        <p:grpSpPr>
          <a:xfrm>
            <a:off x="6477000" y="4114800"/>
            <a:ext cx="1371600" cy="457200"/>
            <a:chOff x="4080" y="2592"/>
            <a:chExt cx="864" cy="288"/>
          </a:xfrm>
        </p:grpSpPr>
        <p:sp>
          <p:nvSpPr>
            <p:cNvPr id="33946" name="直接连接符 33945"/>
            <p:cNvSpPr/>
            <p:nvPr/>
          </p:nvSpPr>
          <p:spPr>
            <a:xfrm>
              <a:off x="4080" y="2832"/>
              <a:ext cx="86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3952" name="文本框 33951"/>
            <p:cNvSpPr txBox="1"/>
            <p:nvPr/>
          </p:nvSpPr>
          <p:spPr>
            <a:xfrm>
              <a:off x="4151" y="2592"/>
              <a:ext cx="36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0/0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3965" name="组合 33964"/>
          <p:cNvGrpSpPr/>
          <p:nvPr/>
        </p:nvGrpSpPr>
        <p:grpSpPr>
          <a:xfrm>
            <a:off x="8153400" y="4648200"/>
            <a:ext cx="573088" cy="990600"/>
            <a:chOff x="5136" y="2928"/>
            <a:chExt cx="361" cy="624"/>
          </a:xfrm>
        </p:grpSpPr>
        <p:sp>
          <p:nvSpPr>
            <p:cNvPr id="33947" name="直接连接符 33946"/>
            <p:cNvSpPr/>
            <p:nvPr/>
          </p:nvSpPr>
          <p:spPr>
            <a:xfrm>
              <a:off x="5136" y="2976"/>
              <a:ext cx="0" cy="57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3954" name="文本框 33953"/>
            <p:cNvSpPr txBox="1"/>
            <p:nvPr/>
          </p:nvSpPr>
          <p:spPr>
            <a:xfrm>
              <a:off x="5136" y="2928"/>
              <a:ext cx="36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0/0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3966" name="组合 33965"/>
          <p:cNvGrpSpPr/>
          <p:nvPr/>
        </p:nvGrpSpPr>
        <p:grpSpPr>
          <a:xfrm>
            <a:off x="6400800" y="4648200"/>
            <a:ext cx="1524000" cy="1143000"/>
            <a:chOff x="4032" y="2928"/>
            <a:chExt cx="960" cy="720"/>
          </a:xfrm>
        </p:grpSpPr>
        <p:sp>
          <p:nvSpPr>
            <p:cNvPr id="33948" name="直接连接符 33947"/>
            <p:cNvSpPr/>
            <p:nvPr/>
          </p:nvSpPr>
          <p:spPr>
            <a:xfrm flipH="1" flipV="1">
              <a:off x="4032" y="2928"/>
              <a:ext cx="960" cy="72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3956" name="文本框 33955"/>
            <p:cNvSpPr txBox="1"/>
            <p:nvPr/>
          </p:nvSpPr>
          <p:spPr>
            <a:xfrm>
              <a:off x="4391" y="3024"/>
              <a:ext cx="36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0/1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3967" name="组合 33966"/>
          <p:cNvGrpSpPr/>
          <p:nvPr/>
        </p:nvGrpSpPr>
        <p:grpSpPr>
          <a:xfrm>
            <a:off x="6477000" y="5867400"/>
            <a:ext cx="1447800" cy="457200"/>
            <a:chOff x="4080" y="3696"/>
            <a:chExt cx="912" cy="288"/>
          </a:xfrm>
        </p:grpSpPr>
        <p:sp>
          <p:nvSpPr>
            <p:cNvPr id="33949" name="直接连接符 33948"/>
            <p:cNvSpPr/>
            <p:nvPr/>
          </p:nvSpPr>
          <p:spPr>
            <a:xfrm flipH="1">
              <a:off x="4080" y="3696"/>
              <a:ext cx="91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3957" name="文本框 33956"/>
            <p:cNvSpPr txBox="1"/>
            <p:nvPr/>
          </p:nvSpPr>
          <p:spPr>
            <a:xfrm>
              <a:off x="4343" y="3696"/>
              <a:ext cx="36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1/0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3968" name="组合 33967"/>
          <p:cNvGrpSpPr/>
          <p:nvPr/>
        </p:nvGrpSpPr>
        <p:grpSpPr>
          <a:xfrm>
            <a:off x="5562600" y="4724400"/>
            <a:ext cx="685800" cy="914400"/>
            <a:chOff x="3504" y="2976"/>
            <a:chExt cx="432" cy="576"/>
          </a:xfrm>
        </p:grpSpPr>
        <p:sp>
          <p:nvSpPr>
            <p:cNvPr id="33950" name="直接连接符 33949"/>
            <p:cNvSpPr/>
            <p:nvPr/>
          </p:nvSpPr>
          <p:spPr>
            <a:xfrm flipV="1">
              <a:off x="3936" y="2976"/>
              <a:ext cx="0" cy="57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3958" name="文本框 33957"/>
            <p:cNvSpPr txBox="1"/>
            <p:nvPr/>
          </p:nvSpPr>
          <p:spPr>
            <a:xfrm>
              <a:off x="3504" y="3168"/>
              <a:ext cx="36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1/1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sp>
        <p:nvSpPr>
          <p:cNvPr id="33959" name="文本框 33958"/>
          <p:cNvSpPr txBox="1"/>
          <p:nvPr/>
        </p:nvSpPr>
        <p:spPr>
          <a:xfrm>
            <a:off x="838200" y="4114800"/>
            <a:ext cx="4572000" cy="822325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p>
            <a:pPr algn="l" eaLnBrk="1" hangingPunct="1"/>
            <a:r>
              <a:rPr lang="en-US" altLang="zh-CN">
                <a:latin typeface="宋体" panose="02010600030101010101" pitchFamily="2" charset="-122"/>
              </a:rPr>
              <a:t>2</a:t>
            </a:r>
            <a:r>
              <a:rPr lang="zh-CN" altLang="en-US" dirty="0">
                <a:latin typeface="宋体" panose="02010600030101010101" pitchFamily="2" charset="-122"/>
              </a:rPr>
              <a:t>、选触发器类型，求控制函数和输出函数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33960" name="文本框 33959"/>
          <p:cNvSpPr txBox="1"/>
          <p:nvPr/>
        </p:nvSpPr>
        <p:spPr>
          <a:xfrm>
            <a:off x="889000" y="4953000"/>
            <a:ext cx="20066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触发器类型：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3961" name="文本框 33960"/>
          <p:cNvSpPr txBox="1"/>
          <p:nvPr/>
        </p:nvSpPr>
        <p:spPr>
          <a:xfrm>
            <a:off x="2846388" y="4953000"/>
            <a:ext cx="404812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D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3962" name="文本框 33961"/>
          <p:cNvSpPr txBox="1"/>
          <p:nvPr/>
        </p:nvSpPr>
        <p:spPr>
          <a:xfrm>
            <a:off x="3317875" y="4953000"/>
            <a:ext cx="12541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个数：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3963" name="文本框 33962"/>
          <p:cNvSpPr txBox="1"/>
          <p:nvPr/>
        </p:nvSpPr>
        <p:spPr>
          <a:xfrm>
            <a:off x="838200" y="5486400"/>
            <a:ext cx="4495800" cy="822325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p>
            <a:pPr algn="just" eaLnBrk="1" hangingPunct="1"/>
            <a:r>
              <a:rPr lang="zh-CN" altLang="en-US" dirty="0">
                <a:latin typeface="宋体" panose="02010600030101010101" pitchFamily="2" charset="-122"/>
              </a:rPr>
              <a:t>Ｄ触发器的激励表与原始状态图，作状态表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grpSp>
        <p:nvGrpSpPr>
          <p:cNvPr id="33970" name="组合 33969"/>
          <p:cNvGrpSpPr/>
          <p:nvPr/>
        </p:nvGrpSpPr>
        <p:grpSpPr>
          <a:xfrm>
            <a:off x="6477000" y="4114800"/>
            <a:ext cx="1371600" cy="457200"/>
            <a:chOff x="4080" y="2592"/>
            <a:chExt cx="816" cy="288"/>
          </a:xfrm>
        </p:grpSpPr>
        <p:sp>
          <p:nvSpPr>
            <p:cNvPr id="33955" name="文本框 33954"/>
            <p:cNvSpPr txBox="1"/>
            <p:nvPr/>
          </p:nvSpPr>
          <p:spPr>
            <a:xfrm>
              <a:off x="4522" y="2592"/>
              <a:ext cx="34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1/0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3969" name="直接连接符 33968"/>
            <p:cNvSpPr/>
            <p:nvPr/>
          </p:nvSpPr>
          <p:spPr>
            <a:xfrm>
              <a:off x="4080" y="2832"/>
              <a:ext cx="81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33972" name="组合 33971"/>
          <p:cNvGrpSpPr/>
          <p:nvPr/>
        </p:nvGrpSpPr>
        <p:grpSpPr>
          <a:xfrm>
            <a:off x="8113713" y="4724400"/>
            <a:ext cx="573087" cy="914400"/>
            <a:chOff x="5111" y="2976"/>
            <a:chExt cx="361" cy="576"/>
          </a:xfrm>
        </p:grpSpPr>
        <p:sp>
          <p:nvSpPr>
            <p:cNvPr id="33953" name="文本框 33952"/>
            <p:cNvSpPr txBox="1"/>
            <p:nvPr/>
          </p:nvSpPr>
          <p:spPr>
            <a:xfrm>
              <a:off x="5111" y="3120"/>
              <a:ext cx="36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1/0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3971" name="直接连接符 33970"/>
            <p:cNvSpPr/>
            <p:nvPr/>
          </p:nvSpPr>
          <p:spPr>
            <a:xfrm>
              <a:off x="5136" y="2976"/>
              <a:ext cx="0" cy="57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33973" name="文本框 33972"/>
          <p:cNvSpPr txBox="1"/>
          <p:nvPr/>
        </p:nvSpPr>
        <p:spPr>
          <a:xfrm>
            <a:off x="3429000" y="2743200"/>
            <a:ext cx="404813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X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3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3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3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3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39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3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39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39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3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3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2" dur="500"/>
                                        <p:tgtEl>
                                          <p:spTgt spid="33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3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3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500"/>
                                        <p:tgtEl>
                                          <p:spTgt spid="33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33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3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3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3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33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33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932" grpId="0" animBg="1"/>
      <p:bldP spid="33933" grpId="0"/>
      <p:bldP spid="33935" grpId="0"/>
      <p:bldP spid="33936" grpId="0"/>
      <p:bldP spid="33937" grpId="0"/>
      <p:bldP spid="33938" grpId="0"/>
      <p:bldP spid="33940" grpId="0"/>
      <p:bldP spid="33941" grpId="0"/>
      <p:bldP spid="33942" grpId="0" animBg="1"/>
      <p:bldP spid="33943" grpId="0" animBg="1"/>
      <p:bldP spid="33944" grpId="0" animBg="1"/>
      <p:bldP spid="33945" grpId="0" animBg="1"/>
      <p:bldP spid="33951" grpId="0"/>
      <p:bldP spid="33959" grpId="0"/>
      <p:bldP spid="33960" grpId="0"/>
      <p:bldP spid="33961" grpId="0"/>
      <p:bldP spid="33962" grpId="0"/>
      <p:bldP spid="33963" grpId="0"/>
      <p:bldP spid="3397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9" name="文本框 34818"/>
          <p:cNvSpPr txBox="1"/>
          <p:nvPr/>
        </p:nvSpPr>
        <p:spPr>
          <a:xfrm>
            <a:off x="4876800" y="41910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4825" name="文本框 34824"/>
          <p:cNvSpPr txBox="1"/>
          <p:nvPr/>
        </p:nvSpPr>
        <p:spPr>
          <a:xfrm>
            <a:off x="1143000" y="4191000"/>
            <a:ext cx="946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1      1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34828" name="组合 34827"/>
          <p:cNvGrpSpPr/>
          <p:nvPr/>
        </p:nvGrpSpPr>
        <p:grpSpPr>
          <a:xfrm>
            <a:off x="228600" y="1011238"/>
            <a:ext cx="863600" cy="893762"/>
            <a:chOff x="1488" y="1165"/>
            <a:chExt cx="629" cy="563"/>
          </a:xfrm>
        </p:grpSpPr>
        <p:sp>
          <p:nvSpPr>
            <p:cNvPr id="34829" name="文本框 34828"/>
            <p:cNvSpPr txBox="1"/>
            <p:nvPr/>
          </p:nvSpPr>
          <p:spPr>
            <a:xfrm>
              <a:off x="1488" y="1165"/>
              <a:ext cx="62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现 入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34830" name="文本框 34829"/>
            <p:cNvSpPr txBox="1"/>
            <p:nvPr/>
          </p:nvSpPr>
          <p:spPr>
            <a:xfrm>
              <a:off x="1631" y="1440"/>
              <a:ext cx="29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X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831" name="组合 34830"/>
          <p:cNvGrpSpPr/>
          <p:nvPr/>
        </p:nvGrpSpPr>
        <p:grpSpPr>
          <a:xfrm>
            <a:off x="1085850" y="1011238"/>
            <a:ext cx="1012825" cy="893762"/>
            <a:chOff x="2112" y="1165"/>
            <a:chExt cx="738" cy="563"/>
          </a:xfrm>
        </p:grpSpPr>
        <p:sp>
          <p:nvSpPr>
            <p:cNvPr id="34832" name="文本框 34831"/>
            <p:cNvSpPr txBox="1"/>
            <p:nvPr/>
          </p:nvSpPr>
          <p:spPr>
            <a:xfrm>
              <a:off x="2208" y="1165"/>
              <a:ext cx="62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现 态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34833" name="文本框 34832"/>
            <p:cNvSpPr txBox="1"/>
            <p:nvPr/>
          </p:nvSpPr>
          <p:spPr>
            <a:xfrm>
              <a:off x="2112" y="1440"/>
              <a:ext cx="73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Q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>
                  <a:latin typeface="Times New Roman" panose="02020603050405020304" pitchFamily="18" charset="0"/>
                </a:rPr>
                <a:t>  Q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834" name="组合 34833"/>
          <p:cNvGrpSpPr/>
          <p:nvPr/>
        </p:nvGrpSpPr>
        <p:grpSpPr>
          <a:xfrm>
            <a:off x="3486150" y="990600"/>
            <a:ext cx="1390650" cy="914400"/>
            <a:chOff x="2929" y="1152"/>
            <a:chExt cx="1013" cy="576"/>
          </a:xfrm>
        </p:grpSpPr>
        <p:sp>
          <p:nvSpPr>
            <p:cNvPr id="34835" name="文本框 34834"/>
            <p:cNvSpPr txBox="1"/>
            <p:nvPr/>
          </p:nvSpPr>
          <p:spPr>
            <a:xfrm>
              <a:off x="2929" y="1152"/>
              <a:ext cx="101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现控制入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34836" name="文本框 34835"/>
            <p:cNvSpPr txBox="1"/>
            <p:nvPr/>
          </p:nvSpPr>
          <p:spPr>
            <a:xfrm>
              <a:off x="2976" y="1440"/>
              <a:ext cx="77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D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>
                  <a:latin typeface="Times New Roman" panose="02020603050405020304" pitchFamily="18" charset="0"/>
                </a:rPr>
                <a:t>   D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837" name="组合 34836"/>
          <p:cNvGrpSpPr/>
          <p:nvPr/>
        </p:nvGrpSpPr>
        <p:grpSpPr>
          <a:xfrm>
            <a:off x="2057400" y="990600"/>
            <a:ext cx="1266825" cy="893763"/>
            <a:chOff x="3842" y="1165"/>
            <a:chExt cx="924" cy="563"/>
          </a:xfrm>
        </p:grpSpPr>
        <p:sp>
          <p:nvSpPr>
            <p:cNvPr id="34838" name="文本框 34837"/>
            <p:cNvSpPr txBox="1"/>
            <p:nvPr/>
          </p:nvSpPr>
          <p:spPr>
            <a:xfrm>
              <a:off x="3987" y="1165"/>
              <a:ext cx="68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次  态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34839" name="文本框 34838"/>
            <p:cNvSpPr txBox="1"/>
            <p:nvPr/>
          </p:nvSpPr>
          <p:spPr>
            <a:xfrm>
              <a:off x="3842" y="1440"/>
              <a:ext cx="92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  Q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1     </a:t>
              </a:r>
              <a:r>
                <a:rPr lang="en-US" altLang="zh-CN">
                  <a:latin typeface="Times New Roman" panose="02020603050405020304" pitchFamily="18" charset="0"/>
                </a:rPr>
                <a:t>Q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843" name="组合 34842"/>
          <p:cNvGrpSpPr/>
          <p:nvPr/>
        </p:nvGrpSpPr>
        <p:grpSpPr>
          <a:xfrm>
            <a:off x="425450" y="1828800"/>
            <a:ext cx="336550" cy="1219200"/>
            <a:chOff x="528" y="1920"/>
            <a:chExt cx="212" cy="768"/>
          </a:xfrm>
        </p:grpSpPr>
        <p:sp>
          <p:nvSpPr>
            <p:cNvPr id="34844" name="文本框 34843"/>
            <p:cNvSpPr txBox="1"/>
            <p:nvPr/>
          </p:nvSpPr>
          <p:spPr>
            <a:xfrm>
              <a:off x="528" y="192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4845" name="文本框 34844"/>
            <p:cNvSpPr txBox="1"/>
            <p:nvPr/>
          </p:nvSpPr>
          <p:spPr>
            <a:xfrm>
              <a:off x="528" y="216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4846" name="文本框 34845"/>
            <p:cNvSpPr txBox="1"/>
            <p:nvPr/>
          </p:nvSpPr>
          <p:spPr>
            <a:xfrm>
              <a:off x="528" y="240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sp>
        <p:nvSpPr>
          <p:cNvPr id="34848" name="文本框 34847"/>
          <p:cNvSpPr txBox="1"/>
          <p:nvPr/>
        </p:nvSpPr>
        <p:spPr>
          <a:xfrm>
            <a:off x="1143000" y="1905000"/>
            <a:ext cx="946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0      0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4849" name="文本框 34848"/>
          <p:cNvSpPr txBox="1"/>
          <p:nvPr/>
        </p:nvSpPr>
        <p:spPr>
          <a:xfrm>
            <a:off x="1143000" y="2209800"/>
            <a:ext cx="946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0      1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4850" name="文本框 34849"/>
          <p:cNvSpPr txBox="1"/>
          <p:nvPr/>
        </p:nvSpPr>
        <p:spPr>
          <a:xfrm>
            <a:off x="1143000" y="2590800"/>
            <a:ext cx="946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1      0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34940" name="组合 34939"/>
          <p:cNvGrpSpPr/>
          <p:nvPr/>
        </p:nvGrpSpPr>
        <p:grpSpPr>
          <a:xfrm>
            <a:off x="425450" y="3048000"/>
            <a:ext cx="371475" cy="1620838"/>
            <a:chOff x="268" y="1872"/>
            <a:chExt cx="209" cy="1070"/>
          </a:xfrm>
        </p:grpSpPr>
        <p:sp>
          <p:nvSpPr>
            <p:cNvPr id="34824" name="文本框 34823"/>
            <p:cNvSpPr txBox="1"/>
            <p:nvPr/>
          </p:nvSpPr>
          <p:spPr>
            <a:xfrm>
              <a:off x="288" y="2640"/>
              <a:ext cx="189" cy="30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grpSp>
          <p:nvGrpSpPr>
            <p:cNvPr id="34851" name="组合 34850"/>
            <p:cNvGrpSpPr/>
            <p:nvPr/>
          </p:nvGrpSpPr>
          <p:grpSpPr>
            <a:xfrm>
              <a:off x="268" y="1872"/>
              <a:ext cx="190" cy="830"/>
              <a:chOff x="2284" y="2592"/>
              <a:chExt cx="190" cy="830"/>
            </a:xfrm>
          </p:grpSpPr>
          <p:sp>
            <p:nvSpPr>
              <p:cNvPr id="34852" name="文本框 34851"/>
              <p:cNvSpPr txBox="1"/>
              <p:nvPr/>
            </p:nvSpPr>
            <p:spPr>
              <a:xfrm>
                <a:off x="2284" y="2592"/>
                <a:ext cx="189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53" name="文本框 34852"/>
              <p:cNvSpPr txBox="1"/>
              <p:nvPr/>
            </p:nvSpPr>
            <p:spPr>
              <a:xfrm>
                <a:off x="2285" y="2832"/>
                <a:ext cx="189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54" name="文本框 34853"/>
              <p:cNvSpPr txBox="1"/>
              <p:nvPr/>
            </p:nvSpPr>
            <p:spPr>
              <a:xfrm>
                <a:off x="2285" y="3120"/>
                <a:ext cx="189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34855" name="文本框 34854"/>
          <p:cNvSpPr txBox="1"/>
          <p:nvPr/>
        </p:nvSpPr>
        <p:spPr>
          <a:xfrm>
            <a:off x="1152525" y="3048000"/>
            <a:ext cx="946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0      0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4865" name="文本框 34864"/>
          <p:cNvSpPr txBox="1"/>
          <p:nvPr/>
        </p:nvSpPr>
        <p:spPr>
          <a:xfrm>
            <a:off x="2330450" y="3048000"/>
            <a:ext cx="1022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0       1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4869" name="文本框 34868"/>
          <p:cNvSpPr txBox="1"/>
          <p:nvPr/>
        </p:nvSpPr>
        <p:spPr>
          <a:xfrm>
            <a:off x="2330450" y="1905000"/>
            <a:ext cx="1022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0       1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4870" name="文本框 34869"/>
          <p:cNvSpPr txBox="1"/>
          <p:nvPr/>
        </p:nvSpPr>
        <p:spPr>
          <a:xfrm>
            <a:off x="2330450" y="2209800"/>
            <a:ext cx="1022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1       0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4871" name="文本框 34870"/>
          <p:cNvSpPr txBox="1"/>
          <p:nvPr/>
        </p:nvSpPr>
        <p:spPr>
          <a:xfrm>
            <a:off x="2330450" y="2590800"/>
            <a:ext cx="1022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0       0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4872" name="文本框 34871"/>
          <p:cNvSpPr txBox="1"/>
          <p:nvPr/>
        </p:nvSpPr>
        <p:spPr>
          <a:xfrm>
            <a:off x="3565525" y="1870075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4873" name="文本框 34872"/>
          <p:cNvSpPr txBox="1"/>
          <p:nvPr/>
        </p:nvSpPr>
        <p:spPr>
          <a:xfrm>
            <a:off x="4175125" y="1870075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34952" name="组合 34951"/>
          <p:cNvGrpSpPr/>
          <p:nvPr/>
        </p:nvGrpSpPr>
        <p:grpSpPr>
          <a:xfrm>
            <a:off x="3549650" y="2209800"/>
            <a:ext cx="962025" cy="457200"/>
            <a:chOff x="2236" y="1392"/>
            <a:chExt cx="606" cy="288"/>
          </a:xfrm>
        </p:grpSpPr>
        <p:sp>
          <p:nvSpPr>
            <p:cNvPr id="34874" name="文本框 34873"/>
            <p:cNvSpPr txBox="1"/>
            <p:nvPr/>
          </p:nvSpPr>
          <p:spPr>
            <a:xfrm>
              <a:off x="2236" y="1392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4875" name="文本框 34874"/>
            <p:cNvSpPr txBox="1"/>
            <p:nvPr/>
          </p:nvSpPr>
          <p:spPr>
            <a:xfrm>
              <a:off x="2630" y="1392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sp>
        <p:nvSpPr>
          <p:cNvPr id="34881" name="文本框 34880"/>
          <p:cNvSpPr txBox="1"/>
          <p:nvPr/>
        </p:nvSpPr>
        <p:spPr>
          <a:xfrm>
            <a:off x="3581400" y="3048000"/>
            <a:ext cx="946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0      1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34953" name="组合 34952"/>
          <p:cNvGrpSpPr/>
          <p:nvPr/>
        </p:nvGrpSpPr>
        <p:grpSpPr>
          <a:xfrm>
            <a:off x="3565525" y="2590800"/>
            <a:ext cx="946150" cy="457200"/>
            <a:chOff x="2246" y="1632"/>
            <a:chExt cx="596" cy="288"/>
          </a:xfrm>
        </p:grpSpPr>
        <p:sp>
          <p:nvSpPr>
            <p:cNvPr id="34883" name="文本框 34882"/>
            <p:cNvSpPr txBox="1"/>
            <p:nvPr/>
          </p:nvSpPr>
          <p:spPr>
            <a:xfrm>
              <a:off x="2246" y="1632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4884" name="文本框 34883"/>
            <p:cNvSpPr txBox="1"/>
            <p:nvPr/>
          </p:nvSpPr>
          <p:spPr>
            <a:xfrm>
              <a:off x="2630" y="1632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939" name="组合 34938"/>
          <p:cNvGrpSpPr/>
          <p:nvPr/>
        </p:nvGrpSpPr>
        <p:grpSpPr>
          <a:xfrm>
            <a:off x="304800" y="990600"/>
            <a:ext cx="5486400" cy="4267200"/>
            <a:chOff x="192" y="624"/>
            <a:chExt cx="3456" cy="2688"/>
          </a:xfrm>
        </p:grpSpPr>
        <p:sp>
          <p:nvSpPr>
            <p:cNvPr id="34888" name="矩形 34887"/>
            <p:cNvSpPr/>
            <p:nvPr/>
          </p:nvSpPr>
          <p:spPr>
            <a:xfrm>
              <a:off x="192" y="624"/>
              <a:ext cx="3446" cy="268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4889" name="直接连接符 34888"/>
            <p:cNvSpPr/>
            <p:nvPr/>
          </p:nvSpPr>
          <p:spPr>
            <a:xfrm>
              <a:off x="192" y="912"/>
              <a:ext cx="344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90" name="直接连接符 34889"/>
            <p:cNvSpPr/>
            <p:nvPr/>
          </p:nvSpPr>
          <p:spPr>
            <a:xfrm>
              <a:off x="192" y="1200"/>
              <a:ext cx="344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91" name="直接连接符 34890"/>
            <p:cNvSpPr/>
            <p:nvPr/>
          </p:nvSpPr>
          <p:spPr>
            <a:xfrm>
              <a:off x="677" y="624"/>
              <a:ext cx="0" cy="26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92" name="直接连接符 34891"/>
            <p:cNvSpPr/>
            <p:nvPr/>
          </p:nvSpPr>
          <p:spPr>
            <a:xfrm>
              <a:off x="1406" y="624"/>
              <a:ext cx="0" cy="26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93" name="直接连接符 34892"/>
            <p:cNvSpPr/>
            <p:nvPr/>
          </p:nvSpPr>
          <p:spPr>
            <a:xfrm>
              <a:off x="2226" y="624"/>
              <a:ext cx="0" cy="26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94" name="直接连接符 34893"/>
            <p:cNvSpPr/>
            <p:nvPr/>
          </p:nvSpPr>
          <p:spPr>
            <a:xfrm>
              <a:off x="3057" y="624"/>
              <a:ext cx="0" cy="26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95" name="直接连接符 34894"/>
            <p:cNvSpPr/>
            <p:nvPr/>
          </p:nvSpPr>
          <p:spPr>
            <a:xfrm>
              <a:off x="192" y="2928"/>
              <a:ext cx="345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4944" name="组合 34943"/>
          <p:cNvGrpSpPr/>
          <p:nvPr/>
        </p:nvGrpSpPr>
        <p:grpSpPr>
          <a:xfrm>
            <a:off x="3579813" y="4191000"/>
            <a:ext cx="946150" cy="457200"/>
            <a:chOff x="2255" y="2640"/>
            <a:chExt cx="596" cy="288"/>
          </a:xfrm>
        </p:grpSpPr>
        <p:sp>
          <p:nvSpPr>
            <p:cNvPr id="34897" name="文本框 34896"/>
            <p:cNvSpPr txBox="1"/>
            <p:nvPr/>
          </p:nvSpPr>
          <p:spPr>
            <a:xfrm>
              <a:off x="2255" y="2640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4900" name="文本框 34899"/>
            <p:cNvSpPr txBox="1"/>
            <p:nvPr/>
          </p:nvSpPr>
          <p:spPr>
            <a:xfrm>
              <a:off x="2639" y="2640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943" name="组合 34942"/>
          <p:cNvGrpSpPr/>
          <p:nvPr/>
        </p:nvGrpSpPr>
        <p:grpSpPr>
          <a:xfrm>
            <a:off x="2360613" y="4191000"/>
            <a:ext cx="1066800" cy="457200"/>
            <a:chOff x="1487" y="2640"/>
            <a:chExt cx="672" cy="288"/>
          </a:xfrm>
        </p:grpSpPr>
        <p:sp>
          <p:nvSpPr>
            <p:cNvPr id="34901" name="文本框 34900"/>
            <p:cNvSpPr txBox="1"/>
            <p:nvPr/>
          </p:nvSpPr>
          <p:spPr>
            <a:xfrm>
              <a:off x="1487" y="2640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4902" name="文本框 34901"/>
            <p:cNvSpPr txBox="1"/>
            <p:nvPr/>
          </p:nvSpPr>
          <p:spPr>
            <a:xfrm>
              <a:off x="1909" y="2640"/>
              <a:ext cx="25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908" name="组合 34907"/>
          <p:cNvGrpSpPr/>
          <p:nvPr/>
        </p:nvGrpSpPr>
        <p:grpSpPr>
          <a:xfrm>
            <a:off x="4800600" y="990600"/>
            <a:ext cx="1089025" cy="914400"/>
            <a:chOff x="3024" y="1104"/>
            <a:chExt cx="686" cy="576"/>
          </a:xfrm>
        </p:grpSpPr>
        <p:sp>
          <p:nvSpPr>
            <p:cNvPr id="34905" name="文本框 34904"/>
            <p:cNvSpPr txBox="1"/>
            <p:nvPr/>
          </p:nvSpPr>
          <p:spPr>
            <a:xfrm>
              <a:off x="3024" y="1104"/>
              <a:ext cx="686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zh-CN" altLang="en-US" dirty="0">
                  <a:latin typeface="Times New Roman" panose="02020603050405020304" pitchFamily="18" charset="0"/>
                </a:rPr>
                <a:t>现输出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34907" name="文本框 34906"/>
            <p:cNvSpPr txBox="1"/>
            <p:nvPr/>
          </p:nvSpPr>
          <p:spPr>
            <a:xfrm>
              <a:off x="3072" y="1392"/>
              <a:ext cx="58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Z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1 </a:t>
              </a:r>
              <a:r>
                <a:rPr lang="en-US" altLang="zh-CN">
                  <a:latin typeface="Times New Roman" panose="02020603050405020304" pitchFamily="18" charset="0"/>
                </a:rPr>
                <a:t> Z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2</a:t>
              </a:r>
              <a:endParaRPr lang="en-US" altLang="zh-CN" baseline="-25000">
                <a:latin typeface="Times New Roman" panose="02020603050405020304" pitchFamily="18" charset="0"/>
              </a:endParaRPr>
            </a:p>
          </p:txBody>
        </p:sp>
      </p:grpSp>
      <p:sp>
        <p:nvSpPr>
          <p:cNvPr id="34909" name="文本框 34908"/>
          <p:cNvSpPr txBox="1"/>
          <p:nvPr/>
        </p:nvSpPr>
        <p:spPr>
          <a:xfrm>
            <a:off x="5335588" y="1905000"/>
            <a:ext cx="30321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4910" name="文本框 34909"/>
          <p:cNvSpPr txBox="1"/>
          <p:nvPr/>
        </p:nvSpPr>
        <p:spPr>
          <a:xfrm>
            <a:off x="5334000" y="2209800"/>
            <a:ext cx="3032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4911" name="文本框 34910"/>
          <p:cNvSpPr txBox="1"/>
          <p:nvPr/>
        </p:nvSpPr>
        <p:spPr>
          <a:xfrm>
            <a:off x="5334000" y="2590800"/>
            <a:ext cx="3032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34941" name="组合 34940"/>
          <p:cNvGrpSpPr/>
          <p:nvPr/>
        </p:nvGrpSpPr>
        <p:grpSpPr>
          <a:xfrm>
            <a:off x="4876800" y="3048000"/>
            <a:ext cx="760413" cy="457200"/>
            <a:chOff x="3072" y="1920"/>
            <a:chExt cx="479" cy="288"/>
          </a:xfrm>
        </p:grpSpPr>
        <p:sp>
          <p:nvSpPr>
            <p:cNvPr id="34863" name="文本框 34862"/>
            <p:cNvSpPr txBox="1"/>
            <p:nvPr/>
          </p:nvSpPr>
          <p:spPr>
            <a:xfrm>
              <a:off x="3072" y="192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4912" name="文本框 34911"/>
            <p:cNvSpPr txBox="1"/>
            <p:nvPr/>
          </p:nvSpPr>
          <p:spPr>
            <a:xfrm>
              <a:off x="3360" y="1920"/>
              <a:ext cx="19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sp>
        <p:nvSpPr>
          <p:cNvPr id="34915" name="文本框 34914"/>
          <p:cNvSpPr txBox="1"/>
          <p:nvPr/>
        </p:nvSpPr>
        <p:spPr>
          <a:xfrm>
            <a:off x="5334000" y="4191000"/>
            <a:ext cx="3032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aphicFrame>
        <p:nvGraphicFramePr>
          <p:cNvPr id="34917" name="对象 34916"/>
          <p:cNvGraphicFramePr/>
          <p:nvPr/>
        </p:nvGraphicFramePr>
        <p:xfrm>
          <a:off x="6019800" y="3124200"/>
          <a:ext cx="28194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1600200" imgH="1247775" progId="Paint.Picture">
                  <p:embed/>
                </p:oleObj>
              </mc:Choice>
              <mc:Fallback>
                <p:oleObj name="" r:id="rId1" imgW="1600200" imgH="1247775" progId="Paint.Picture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19800" y="3124200"/>
                        <a:ext cx="2819400" cy="213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945" name="组合 34944"/>
          <p:cNvGrpSpPr/>
          <p:nvPr/>
        </p:nvGrpSpPr>
        <p:grpSpPr>
          <a:xfrm>
            <a:off x="6019800" y="533400"/>
            <a:ext cx="2819400" cy="5334000"/>
            <a:chOff x="3792" y="336"/>
            <a:chExt cx="1776" cy="3360"/>
          </a:xfrm>
        </p:grpSpPr>
        <p:graphicFrame>
          <p:nvGraphicFramePr>
            <p:cNvPr id="34916" name="对象 34915"/>
            <p:cNvGraphicFramePr/>
            <p:nvPr/>
          </p:nvGraphicFramePr>
          <p:xfrm>
            <a:off x="3792" y="384"/>
            <a:ext cx="1776" cy="1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" r:id="rId3" imgW="1533525" imgH="1323975" progId="Paint.Picture">
                    <p:embed/>
                  </p:oleObj>
                </mc:Choice>
                <mc:Fallback>
                  <p:oleObj name="" r:id="rId3" imgW="1533525" imgH="1323975" progId="Paint.Picture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792" y="384"/>
                          <a:ext cx="1776" cy="12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918" name="矩形 34917"/>
            <p:cNvSpPr/>
            <p:nvPr/>
          </p:nvSpPr>
          <p:spPr>
            <a:xfrm>
              <a:off x="3792" y="336"/>
              <a:ext cx="1776" cy="3360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aphicFrame>
        <p:nvGraphicFramePr>
          <p:cNvPr id="34920" name="对象 34919"/>
          <p:cNvGraphicFramePr/>
          <p:nvPr/>
        </p:nvGraphicFramePr>
        <p:xfrm>
          <a:off x="6019800" y="2522538"/>
          <a:ext cx="2819400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5" imgW="1306830" imgH="254000" progId="Equation.3">
                  <p:embed/>
                </p:oleObj>
              </mc:Choice>
              <mc:Fallback>
                <p:oleObj name="" r:id="rId5" imgW="1306830" imgH="2540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19800" y="2522538"/>
                        <a:ext cx="2819400" cy="601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21" name="对象 34920"/>
          <p:cNvGraphicFramePr/>
          <p:nvPr/>
        </p:nvGraphicFramePr>
        <p:xfrm>
          <a:off x="6019800" y="5257800"/>
          <a:ext cx="2819400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7" imgW="1167130" imgH="254000" progId="Equation.3">
                  <p:embed/>
                </p:oleObj>
              </mc:Choice>
              <mc:Fallback>
                <p:oleObj name="" r:id="rId7" imgW="1167130" imgH="2540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19800" y="5257800"/>
                        <a:ext cx="2819400" cy="642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922" name="文本框 34921"/>
          <p:cNvSpPr txBox="1"/>
          <p:nvPr/>
        </p:nvSpPr>
        <p:spPr>
          <a:xfrm>
            <a:off x="304800" y="5334000"/>
            <a:ext cx="5680075" cy="822325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p>
            <a:pPr algn="just" eaLnBrk="1" hangingPunct="1"/>
            <a:r>
              <a:rPr lang="zh-CN" altLang="en-US" dirty="0">
                <a:latin typeface="Times New Roman" panose="02020603050405020304" pitchFamily="18" charset="0"/>
              </a:rPr>
              <a:t>根据化简，约束项均未使用，按“</a:t>
            </a:r>
            <a:r>
              <a:rPr lang="en-US" altLang="zh-CN">
                <a:latin typeface="Times New Roman" panose="02020603050405020304" pitchFamily="18" charset="0"/>
              </a:rPr>
              <a:t>0”</a:t>
            </a:r>
            <a:r>
              <a:rPr lang="zh-CN" altLang="en-US" dirty="0">
                <a:latin typeface="Times New Roman" panose="02020603050405020304" pitchFamily="18" charset="0"/>
              </a:rPr>
              <a:t>处理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zh-CN" altLang="en-US" dirty="0">
                <a:latin typeface="Times New Roman" panose="02020603050405020304" pitchFamily="18" charset="0"/>
              </a:rPr>
              <a:t>填入表中，得全状态表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4923" name="文本框 34922"/>
          <p:cNvSpPr txBox="1"/>
          <p:nvPr/>
        </p:nvSpPr>
        <p:spPr>
          <a:xfrm>
            <a:off x="441325" y="48006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4924" name="文本框 34923"/>
          <p:cNvSpPr txBox="1"/>
          <p:nvPr/>
        </p:nvSpPr>
        <p:spPr>
          <a:xfrm>
            <a:off x="1143000" y="4800600"/>
            <a:ext cx="946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en-US" altLang="zh-CN">
                <a:latin typeface="Times New Roman" panose="02020603050405020304" pitchFamily="18" charset="0"/>
              </a:rPr>
              <a:t>1      1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34946" name="组合 34945"/>
          <p:cNvGrpSpPr/>
          <p:nvPr/>
        </p:nvGrpSpPr>
        <p:grpSpPr>
          <a:xfrm>
            <a:off x="2362200" y="4800600"/>
            <a:ext cx="1066800" cy="457200"/>
            <a:chOff x="1488" y="3024"/>
            <a:chExt cx="672" cy="288"/>
          </a:xfrm>
        </p:grpSpPr>
        <p:sp>
          <p:nvSpPr>
            <p:cNvPr id="34925" name="文本框 34924"/>
            <p:cNvSpPr txBox="1"/>
            <p:nvPr/>
          </p:nvSpPr>
          <p:spPr>
            <a:xfrm>
              <a:off x="1488" y="3024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4926" name="文本框 34925"/>
            <p:cNvSpPr txBox="1"/>
            <p:nvPr/>
          </p:nvSpPr>
          <p:spPr>
            <a:xfrm>
              <a:off x="1948" y="3024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948" name="组合 34947"/>
          <p:cNvGrpSpPr/>
          <p:nvPr/>
        </p:nvGrpSpPr>
        <p:grpSpPr>
          <a:xfrm>
            <a:off x="3581400" y="4800600"/>
            <a:ext cx="990600" cy="457200"/>
            <a:chOff x="2256" y="3024"/>
            <a:chExt cx="624" cy="288"/>
          </a:xfrm>
        </p:grpSpPr>
        <p:sp>
          <p:nvSpPr>
            <p:cNvPr id="34927" name="文本框 34926"/>
            <p:cNvSpPr txBox="1"/>
            <p:nvPr/>
          </p:nvSpPr>
          <p:spPr>
            <a:xfrm>
              <a:off x="2256" y="3024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4928" name="文本框 34927"/>
            <p:cNvSpPr txBox="1"/>
            <p:nvPr/>
          </p:nvSpPr>
          <p:spPr>
            <a:xfrm>
              <a:off x="2668" y="3024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947" name="组合 34946"/>
          <p:cNvGrpSpPr/>
          <p:nvPr/>
        </p:nvGrpSpPr>
        <p:grpSpPr>
          <a:xfrm>
            <a:off x="4876800" y="4800600"/>
            <a:ext cx="838200" cy="457200"/>
            <a:chOff x="3072" y="3024"/>
            <a:chExt cx="528" cy="288"/>
          </a:xfrm>
        </p:grpSpPr>
        <p:sp>
          <p:nvSpPr>
            <p:cNvPr id="34929" name="文本框 34928"/>
            <p:cNvSpPr txBox="1"/>
            <p:nvPr/>
          </p:nvSpPr>
          <p:spPr>
            <a:xfrm>
              <a:off x="3072" y="3024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4930" name="文本框 34929"/>
            <p:cNvSpPr txBox="1"/>
            <p:nvPr/>
          </p:nvSpPr>
          <p:spPr>
            <a:xfrm>
              <a:off x="3388" y="3024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34931" name="对象 34930"/>
          <p:cNvGraphicFramePr/>
          <p:nvPr/>
        </p:nvGraphicFramePr>
        <p:xfrm>
          <a:off x="1447800" y="6096000"/>
          <a:ext cx="205740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9" imgW="837565" imgH="241300" progId="Equation.3">
                  <p:embed/>
                </p:oleObj>
              </mc:Choice>
              <mc:Fallback>
                <p:oleObj name="" r:id="rId9" imgW="837565" imgH="2413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47800" y="6096000"/>
                        <a:ext cx="2057400" cy="587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33" name="对象 34932"/>
          <p:cNvGraphicFramePr/>
          <p:nvPr/>
        </p:nvGraphicFramePr>
        <p:xfrm>
          <a:off x="3657600" y="6172200"/>
          <a:ext cx="19812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1" imgW="825500" imgH="228600" progId="Equation.3">
                  <p:embed/>
                </p:oleObj>
              </mc:Choice>
              <mc:Fallback>
                <p:oleObj name="" r:id="rId11" imgW="825500" imgH="2286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657600" y="6172200"/>
                        <a:ext cx="1981200" cy="549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934" name="文本框 34933"/>
          <p:cNvSpPr txBox="1"/>
          <p:nvPr/>
        </p:nvSpPr>
        <p:spPr>
          <a:xfrm>
            <a:off x="358775" y="6172200"/>
            <a:ext cx="10890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输出：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4936" name="文本框 34935"/>
          <p:cNvSpPr txBox="1"/>
          <p:nvPr/>
        </p:nvSpPr>
        <p:spPr>
          <a:xfrm>
            <a:off x="2270125" y="533400"/>
            <a:ext cx="16922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状态转换表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4937" name="文本框 34936"/>
          <p:cNvSpPr txBox="1"/>
          <p:nvPr/>
        </p:nvSpPr>
        <p:spPr>
          <a:xfrm>
            <a:off x="1946275" y="533400"/>
            <a:ext cx="4921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全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4938" name="文本框 34937"/>
          <p:cNvSpPr txBox="1"/>
          <p:nvPr/>
        </p:nvSpPr>
        <p:spPr>
          <a:xfrm>
            <a:off x="381000" y="182563"/>
            <a:ext cx="1003300" cy="579437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38100">
            <a:noFill/>
          </a:ln>
          <a:effectLst>
            <a:outerShdw dist="107763" dir="13499999" algn="ctr" rotWithShape="0">
              <a:srgbClr val="808080"/>
            </a:outerShdw>
          </a:effectLst>
        </p:spPr>
        <p:txBody>
          <a:bodyPr anchor="ctr" anchorCtr="0">
            <a:spAutoFit/>
          </a:bodyPr>
          <a:p>
            <a:pPr algn="ctr" eaLnBrk="1" hangingPunct="1"/>
            <a:r>
              <a:rPr lang="zh-CN" altLang="en-US" sz="3200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举例</a:t>
            </a:r>
            <a:endParaRPr lang="zh-CN" altLang="en-US" sz="3200">
              <a:solidFill>
                <a:srgbClr val="A50021"/>
              </a:solidFill>
              <a:effectLst>
                <a:outerShdw blurRad="38100" dist="38100" dir="2700000">
                  <a:srgbClr val="000000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4949" name="文本框 34948"/>
          <p:cNvSpPr txBox="1"/>
          <p:nvPr/>
        </p:nvSpPr>
        <p:spPr>
          <a:xfrm>
            <a:off x="4860925" y="19050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4950" name="文本框 34949"/>
          <p:cNvSpPr txBox="1"/>
          <p:nvPr/>
        </p:nvSpPr>
        <p:spPr>
          <a:xfrm>
            <a:off x="4845050" y="22098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4951" name="文本框 34950"/>
          <p:cNvSpPr txBox="1"/>
          <p:nvPr/>
        </p:nvSpPr>
        <p:spPr>
          <a:xfrm>
            <a:off x="4845050" y="25908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34956" name="组合 34955"/>
          <p:cNvGrpSpPr/>
          <p:nvPr/>
        </p:nvGrpSpPr>
        <p:grpSpPr>
          <a:xfrm>
            <a:off x="1143000" y="3429000"/>
            <a:ext cx="4484688" cy="838200"/>
            <a:chOff x="720" y="2160"/>
            <a:chExt cx="2825" cy="528"/>
          </a:xfrm>
        </p:grpSpPr>
        <p:grpSp>
          <p:nvGrpSpPr>
            <p:cNvPr id="34942" name="组合 34941"/>
            <p:cNvGrpSpPr/>
            <p:nvPr/>
          </p:nvGrpSpPr>
          <p:grpSpPr>
            <a:xfrm>
              <a:off x="720" y="2160"/>
              <a:ext cx="2825" cy="528"/>
              <a:chOff x="726" y="2160"/>
              <a:chExt cx="2825" cy="528"/>
            </a:xfrm>
          </p:grpSpPr>
          <p:sp>
            <p:nvSpPr>
              <p:cNvPr id="34856" name="文本框 34855"/>
              <p:cNvSpPr txBox="1"/>
              <p:nvPr/>
            </p:nvSpPr>
            <p:spPr>
              <a:xfrm>
                <a:off x="726" y="2160"/>
                <a:ext cx="59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0      1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57" name="文本框 34856"/>
              <p:cNvSpPr txBox="1"/>
              <p:nvPr/>
            </p:nvSpPr>
            <p:spPr>
              <a:xfrm>
                <a:off x="726" y="2400"/>
                <a:ext cx="59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1      0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58" name="文本框 34857"/>
              <p:cNvSpPr txBox="1"/>
              <p:nvPr/>
            </p:nvSpPr>
            <p:spPr>
              <a:xfrm>
                <a:off x="3072" y="2160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64" name="文本框 34863"/>
              <p:cNvSpPr txBox="1"/>
              <p:nvPr/>
            </p:nvSpPr>
            <p:spPr>
              <a:xfrm>
                <a:off x="3072" y="2400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66" name="文本框 34865"/>
              <p:cNvSpPr txBox="1"/>
              <p:nvPr/>
            </p:nvSpPr>
            <p:spPr>
              <a:xfrm>
                <a:off x="1488" y="2387"/>
                <a:ext cx="11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/>
                <a:endParaRPr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67" name="文本框 34866"/>
              <p:cNvSpPr txBox="1"/>
              <p:nvPr/>
            </p:nvSpPr>
            <p:spPr>
              <a:xfrm>
                <a:off x="1457" y="2160"/>
                <a:ext cx="703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l"/>
                <a:r>
                  <a:rPr lang="en-US" altLang="zh-CN">
                    <a:latin typeface="Times New Roman" panose="02020603050405020304" pitchFamily="18" charset="0"/>
                  </a:rPr>
                  <a:t>1       0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77" name="文本框 34876"/>
              <p:cNvSpPr txBox="1"/>
              <p:nvPr/>
            </p:nvSpPr>
            <p:spPr>
              <a:xfrm>
                <a:off x="2256" y="2160"/>
                <a:ext cx="67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l"/>
                <a:r>
                  <a:rPr lang="en-US" altLang="zh-CN">
                    <a:latin typeface="Times New Roman" panose="02020603050405020304" pitchFamily="18" charset="0"/>
                  </a:rPr>
                  <a:t>1      0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82" name="文本框 34881"/>
              <p:cNvSpPr txBox="1"/>
              <p:nvPr/>
            </p:nvSpPr>
            <p:spPr>
              <a:xfrm>
                <a:off x="2256" y="2400"/>
                <a:ext cx="59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/>
                <a:r>
                  <a:rPr lang="en-US" altLang="zh-CN">
                    <a:latin typeface="Times New Roman" panose="02020603050405020304" pitchFamily="18" charset="0"/>
                  </a:rPr>
                  <a:t>1      1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913" name="文本框 34912"/>
              <p:cNvSpPr txBox="1"/>
              <p:nvPr/>
            </p:nvSpPr>
            <p:spPr>
              <a:xfrm>
                <a:off x="3360" y="2160"/>
                <a:ext cx="19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914" name="文本框 34913"/>
              <p:cNvSpPr txBox="1"/>
              <p:nvPr/>
            </p:nvSpPr>
            <p:spPr>
              <a:xfrm>
                <a:off x="3360" y="2400"/>
                <a:ext cx="19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4954" name="文本框 34953"/>
            <p:cNvSpPr txBox="1"/>
            <p:nvPr/>
          </p:nvSpPr>
          <p:spPr>
            <a:xfrm>
              <a:off x="1468" y="2400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4955" name="文本框 34954"/>
            <p:cNvSpPr txBox="1"/>
            <p:nvPr/>
          </p:nvSpPr>
          <p:spPr>
            <a:xfrm>
              <a:off x="1900" y="2400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pic>
        <p:nvPicPr>
          <p:cNvPr id="34957" name="图片 34956" descr="wb01508_">
            <a:hlinkClick r:id="rId13" action="ppaction://hlinksldjump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43800" y="60198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958" name="文本框 34957">
            <a:hlinkClick r:id="rId13" action="ppaction://hlinksldjump"/>
          </p:cNvPr>
          <p:cNvSpPr txBox="1"/>
          <p:nvPr/>
        </p:nvSpPr>
        <p:spPr>
          <a:xfrm>
            <a:off x="7740650" y="60960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u="sng" dirty="0">
                <a:solidFill>
                  <a:schemeClr val="accent2"/>
                </a:solidFill>
                <a:latin typeface="Times New Roman" panose="02020603050405020304" pitchFamily="18" charset="0"/>
              </a:rPr>
              <a:t>返  回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4959" name="椭圆 34958"/>
          <p:cNvSpPr/>
          <p:nvPr/>
        </p:nvSpPr>
        <p:spPr>
          <a:xfrm>
            <a:off x="7772400" y="1219200"/>
            <a:ext cx="381000" cy="304800"/>
          </a:xfrm>
          <a:prstGeom prst="ellipse">
            <a:avLst/>
          </a:prstGeom>
          <a:noFill/>
          <a:ln w="38100" cap="flat" cmpd="sng">
            <a:solidFill>
              <a:srgbClr val="A5002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4960" name="椭圆 34959"/>
          <p:cNvSpPr/>
          <p:nvPr/>
        </p:nvSpPr>
        <p:spPr>
          <a:xfrm>
            <a:off x="7772400" y="3733800"/>
            <a:ext cx="304800" cy="381000"/>
          </a:xfrm>
          <a:prstGeom prst="ellipse">
            <a:avLst/>
          </a:prstGeom>
          <a:noFill/>
          <a:ln w="38100" cap="flat" cmpd="sng">
            <a:solidFill>
              <a:srgbClr val="A5002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4961" name="矩形 34960"/>
          <p:cNvSpPr/>
          <p:nvPr/>
        </p:nvSpPr>
        <p:spPr>
          <a:xfrm>
            <a:off x="457200" y="2667000"/>
            <a:ext cx="4800600" cy="381000"/>
          </a:xfrm>
          <a:prstGeom prst="rect">
            <a:avLst/>
          </a:prstGeom>
          <a:noFill/>
          <a:ln w="38100" cap="flat" cmpd="sng">
            <a:solidFill>
              <a:srgbClr val="A5002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4962" name="矩形 34961"/>
          <p:cNvSpPr/>
          <p:nvPr/>
        </p:nvSpPr>
        <p:spPr>
          <a:xfrm>
            <a:off x="457200" y="4267200"/>
            <a:ext cx="5181600" cy="304800"/>
          </a:xfrm>
          <a:prstGeom prst="rect">
            <a:avLst/>
          </a:prstGeom>
          <a:noFill/>
          <a:ln w="38100" cap="flat" cmpd="sng">
            <a:solidFill>
              <a:srgbClr val="00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9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9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8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48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48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48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48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48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4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4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4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4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4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49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49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300" fill="hold"/>
                                        <p:tgtEl>
                                          <p:spTgt spid="349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300" fill="hold"/>
                                        <p:tgtEl>
                                          <p:spTgt spid="349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48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48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4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4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34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34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349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349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349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349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34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34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34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34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0" dur="500"/>
                                        <p:tgtEl>
                                          <p:spTgt spid="34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500"/>
                                        <p:tgtEl>
                                          <p:spTgt spid="34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0" dur="500" fill="hold"/>
                                        <p:tgtEl>
                                          <p:spTgt spid="349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349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6" dur="500"/>
                                        <p:tgtEl>
                                          <p:spTgt spid="34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1" dur="500" fill="hold"/>
                                        <p:tgtEl>
                                          <p:spTgt spid="349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349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7" dur="500"/>
                                        <p:tgtEl>
                                          <p:spTgt spid="34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2" dur="500" fill="hold"/>
                                        <p:tgtEl>
                                          <p:spTgt spid="34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3" dur="500" fill="hold"/>
                                        <p:tgtEl>
                                          <p:spTgt spid="34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8" dur="500"/>
                                        <p:tgtEl>
                                          <p:spTgt spid="34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/>
      <p:bldP spid="34825" grpId="0"/>
      <p:bldP spid="34848" grpId="0"/>
      <p:bldP spid="34849" grpId="0"/>
      <p:bldP spid="34850" grpId="0"/>
      <p:bldP spid="34855" grpId="0"/>
      <p:bldP spid="34865" grpId="0"/>
      <p:bldP spid="34869" grpId="0"/>
      <p:bldP spid="34870" grpId="0"/>
      <p:bldP spid="34871" grpId="0"/>
      <p:bldP spid="34872" grpId="0"/>
      <p:bldP spid="34873" grpId="0"/>
      <p:bldP spid="34881" grpId="0"/>
      <p:bldP spid="34909" grpId="0"/>
      <p:bldP spid="34910" grpId="0"/>
      <p:bldP spid="34911" grpId="0"/>
      <p:bldP spid="34915" grpId="0"/>
      <p:bldP spid="34922" grpId="0"/>
      <p:bldP spid="34923" grpId="0"/>
      <p:bldP spid="34924" grpId="0"/>
      <p:bldP spid="34934" grpId="0"/>
      <p:bldP spid="34936" grpId="0"/>
      <p:bldP spid="34937" grpId="0"/>
      <p:bldP spid="34949" grpId="0"/>
      <p:bldP spid="34950" grpId="0"/>
      <p:bldP spid="3495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3" name="文本框 35842"/>
          <p:cNvSpPr txBox="1"/>
          <p:nvPr/>
        </p:nvSpPr>
        <p:spPr>
          <a:xfrm>
            <a:off x="381000" y="182563"/>
            <a:ext cx="1003300" cy="579437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38100">
            <a:noFill/>
          </a:ln>
          <a:effectLst>
            <a:outerShdw dist="107763" dir="13499999" algn="ctr" rotWithShape="0">
              <a:srgbClr val="808080"/>
            </a:outerShdw>
          </a:effectLst>
        </p:spPr>
        <p:txBody>
          <a:bodyPr anchor="ctr" anchorCtr="0">
            <a:spAutoFit/>
          </a:bodyPr>
          <a:p>
            <a:pPr algn="ctr" eaLnBrk="1" hangingPunct="1"/>
            <a:r>
              <a:rPr lang="zh-CN" altLang="en-US" sz="3200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举例</a:t>
            </a:r>
            <a:endParaRPr lang="zh-CN" altLang="en-US" sz="3200">
              <a:solidFill>
                <a:srgbClr val="A50021"/>
              </a:solidFill>
              <a:effectLst>
                <a:outerShdw blurRad="38100" dist="38100" dir="2700000">
                  <a:srgbClr val="000000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5845" name="文本框 35844"/>
          <p:cNvSpPr txBox="1"/>
          <p:nvPr/>
        </p:nvSpPr>
        <p:spPr>
          <a:xfrm>
            <a:off x="458788" y="1066800"/>
            <a:ext cx="21653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、画出逻辑图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35847" name="对象 35846"/>
          <p:cNvGraphicFramePr/>
          <p:nvPr/>
        </p:nvGraphicFramePr>
        <p:xfrm>
          <a:off x="685800" y="1600200"/>
          <a:ext cx="8001000" cy="434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" imgW="5695950" imgH="2257425" progId="Paint.Picture">
                  <p:embed/>
                </p:oleObj>
              </mc:Choice>
              <mc:Fallback>
                <p:oleObj name="" r:id="rId1" imgW="5695950" imgH="2257425" progId="Paint.Picture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5800" y="1600200"/>
                        <a:ext cx="8001000" cy="434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853" name="组合 35852"/>
          <p:cNvGrpSpPr/>
          <p:nvPr/>
        </p:nvGrpSpPr>
        <p:grpSpPr>
          <a:xfrm>
            <a:off x="3429000" y="3962400"/>
            <a:ext cx="4876800" cy="1219200"/>
            <a:chOff x="2160" y="2496"/>
            <a:chExt cx="3072" cy="768"/>
          </a:xfrm>
        </p:grpSpPr>
        <p:sp>
          <p:nvSpPr>
            <p:cNvPr id="35848" name="直接连接符 35847"/>
            <p:cNvSpPr/>
            <p:nvPr/>
          </p:nvSpPr>
          <p:spPr>
            <a:xfrm>
              <a:off x="2160" y="2496"/>
              <a:ext cx="144" cy="0"/>
            </a:xfrm>
            <a:prstGeom prst="line">
              <a:avLst/>
            </a:prstGeom>
            <a:ln w="57150" cap="flat" cmpd="sng">
              <a:solidFill>
                <a:srgbClr val="A5002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49" name="直接连接符 35848"/>
            <p:cNvSpPr/>
            <p:nvPr/>
          </p:nvSpPr>
          <p:spPr>
            <a:xfrm>
              <a:off x="2304" y="2496"/>
              <a:ext cx="0" cy="768"/>
            </a:xfrm>
            <a:prstGeom prst="line">
              <a:avLst/>
            </a:prstGeom>
            <a:ln w="57150" cap="flat" cmpd="sng">
              <a:solidFill>
                <a:srgbClr val="A5002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50" name="直接连接符 35849"/>
            <p:cNvSpPr/>
            <p:nvPr/>
          </p:nvSpPr>
          <p:spPr>
            <a:xfrm>
              <a:off x="2304" y="3264"/>
              <a:ext cx="2928" cy="0"/>
            </a:xfrm>
            <a:prstGeom prst="line">
              <a:avLst/>
            </a:prstGeom>
            <a:ln w="57150" cap="flat" cmpd="sng">
              <a:solidFill>
                <a:srgbClr val="A5002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51" name="直接连接符 35850"/>
            <p:cNvSpPr/>
            <p:nvPr/>
          </p:nvSpPr>
          <p:spPr>
            <a:xfrm>
              <a:off x="4032" y="2496"/>
              <a:ext cx="96" cy="0"/>
            </a:xfrm>
            <a:prstGeom prst="line">
              <a:avLst/>
            </a:prstGeom>
            <a:ln w="57150" cap="flat" cmpd="sng">
              <a:solidFill>
                <a:srgbClr val="A5002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52" name="直接连接符 35851"/>
            <p:cNvSpPr/>
            <p:nvPr/>
          </p:nvSpPr>
          <p:spPr>
            <a:xfrm>
              <a:off x="4128" y="2496"/>
              <a:ext cx="0" cy="768"/>
            </a:xfrm>
            <a:prstGeom prst="line">
              <a:avLst/>
            </a:prstGeom>
            <a:ln w="57150" cap="flat" cmpd="sng">
              <a:solidFill>
                <a:srgbClr val="A5002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5854" name="矩形 35853"/>
          <p:cNvSpPr/>
          <p:nvPr/>
        </p:nvSpPr>
        <p:spPr>
          <a:xfrm>
            <a:off x="2590800" y="3124200"/>
            <a:ext cx="838200" cy="1676400"/>
          </a:xfrm>
          <a:prstGeom prst="rect">
            <a:avLst/>
          </a:prstGeom>
          <a:noFill/>
          <a:ln w="38100" cap="flat" cmpd="sng">
            <a:solidFill>
              <a:srgbClr val="A5002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5855" name="矩形 35854"/>
          <p:cNvSpPr/>
          <p:nvPr/>
        </p:nvSpPr>
        <p:spPr>
          <a:xfrm>
            <a:off x="5638800" y="3124200"/>
            <a:ext cx="762000" cy="1676400"/>
          </a:xfrm>
          <a:prstGeom prst="rect">
            <a:avLst/>
          </a:prstGeom>
          <a:noFill/>
          <a:ln w="38100" cap="flat" cmpd="sng">
            <a:solidFill>
              <a:srgbClr val="A5002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5856" name="矩形 35855"/>
          <p:cNvSpPr/>
          <p:nvPr/>
        </p:nvSpPr>
        <p:spPr>
          <a:xfrm>
            <a:off x="6553200" y="2514600"/>
            <a:ext cx="1371600" cy="1828800"/>
          </a:xfrm>
          <a:prstGeom prst="rect">
            <a:avLst/>
          </a:prstGeom>
          <a:noFill/>
          <a:ln w="28575" cap="flat" cmpd="sng">
            <a:solidFill>
              <a:srgbClr val="00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5857" name="矩形 35856"/>
          <p:cNvSpPr/>
          <p:nvPr/>
        </p:nvSpPr>
        <p:spPr>
          <a:xfrm>
            <a:off x="3505200" y="2667000"/>
            <a:ext cx="1371600" cy="1828800"/>
          </a:xfrm>
          <a:prstGeom prst="rect">
            <a:avLst/>
          </a:prstGeom>
          <a:noFill/>
          <a:ln w="28575" cap="flat" cmpd="sng">
            <a:solidFill>
              <a:srgbClr val="00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5858" name="矩形 35857"/>
          <p:cNvSpPr/>
          <p:nvPr/>
        </p:nvSpPr>
        <p:spPr>
          <a:xfrm>
            <a:off x="1066800" y="2057400"/>
            <a:ext cx="533400" cy="914400"/>
          </a:xfrm>
          <a:prstGeom prst="rect">
            <a:avLst/>
          </a:prstGeom>
          <a:noFill/>
          <a:ln w="28575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5859" name="矩形 35858"/>
          <p:cNvSpPr/>
          <p:nvPr/>
        </p:nvSpPr>
        <p:spPr>
          <a:xfrm>
            <a:off x="1066800" y="3962400"/>
            <a:ext cx="533400" cy="914400"/>
          </a:xfrm>
          <a:prstGeom prst="rect">
            <a:avLst/>
          </a:prstGeom>
          <a:noFill/>
          <a:ln w="28575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pic>
        <p:nvPicPr>
          <p:cNvPr id="35860" name="图片 35859" descr="wb01508_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400" y="60960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861" name="文本框 35860">
            <a:hlinkClick r:id="rId3" action="ppaction://hlinksldjump"/>
          </p:cNvPr>
          <p:cNvSpPr txBox="1"/>
          <p:nvPr/>
        </p:nvSpPr>
        <p:spPr>
          <a:xfrm>
            <a:off x="7588250" y="61722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u="sng" dirty="0">
                <a:solidFill>
                  <a:schemeClr val="accent2"/>
                </a:solidFill>
                <a:latin typeface="Times New Roman" panose="02020603050405020304" pitchFamily="18" charset="0"/>
              </a:rPr>
              <a:t>返  回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35862" name="对象 35861"/>
          <p:cNvGraphicFramePr/>
          <p:nvPr/>
        </p:nvGraphicFramePr>
        <p:xfrm>
          <a:off x="2590800" y="990600"/>
          <a:ext cx="304800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5" imgW="1306830" imgH="254000" progId="Equation.3">
                  <p:embed/>
                </p:oleObj>
              </mc:Choice>
              <mc:Fallback>
                <p:oleObj name="" r:id="rId5" imgW="1306830" imgH="2540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90800" y="990600"/>
                        <a:ext cx="3048000" cy="650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3" name="对象 35862"/>
          <p:cNvGraphicFramePr/>
          <p:nvPr/>
        </p:nvGraphicFramePr>
        <p:xfrm>
          <a:off x="5791200" y="990600"/>
          <a:ext cx="2819400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7" imgW="1167130" imgH="254000" progId="Equation.3">
                  <p:embed/>
                </p:oleObj>
              </mc:Choice>
              <mc:Fallback>
                <p:oleObj name="" r:id="rId7" imgW="1167130" imgH="2540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91200" y="990600"/>
                        <a:ext cx="2819400" cy="642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4" name="对象 35863"/>
          <p:cNvGraphicFramePr/>
          <p:nvPr/>
        </p:nvGraphicFramePr>
        <p:xfrm>
          <a:off x="1600200" y="6019800"/>
          <a:ext cx="205740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9" imgW="837565" imgH="241300" progId="Equation.3">
                  <p:embed/>
                </p:oleObj>
              </mc:Choice>
              <mc:Fallback>
                <p:oleObj name="" r:id="rId9" imgW="837565" imgH="241300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00200" y="6019800"/>
                        <a:ext cx="2057400" cy="587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5" name="对象 35864"/>
          <p:cNvGraphicFramePr/>
          <p:nvPr/>
        </p:nvGraphicFramePr>
        <p:xfrm>
          <a:off x="3810000" y="6096000"/>
          <a:ext cx="19812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1" imgW="825500" imgH="228600" progId="Equation.3">
                  <p:embed/>
                </p:oleObj>
              </mc:Choice>
              <mc:Fallback>
                <p:oleObj name="" r:id="rId11" imgW="825500" imgH="2286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810000" y="6096000"/>
                        <a:ext cx="1981200" cy="549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67" name="直接连接符 35866"/>
          <p:cNvSpPr/>
          <p:nvPr/>
        </p:nvSpPr>
        <p:spPr>
          <a:xfrm flipH="1">
            <a:off x="4038600" y="1524000"/>
            <a:ext cx="457200" cy="1143000"/>
          </a:xfrm>
          <a:prstGeom prst="line">
            <a:avLst/>
          </a:prstGeom>
          <a:ln w="38100" cap="flat" cmpd="sng">
            <a:solidFill>
              <a:srgbClr val="0066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5868" name="直接连接符 35867"/>
          <p:cNvSpPr/>
          <p:nvPr/>
        </p:nvSpPr>
        <p:spPr>
          <a:xfrm>
            <a:off x="6477000" y="1524000"/>
            <a:ext cx="457200" cy="990600"/>
          </a:xfrm>
          <a:prstGeom prst="line">
            <a:avLst/>
          </a:prstGeom>
          <a:ln w="38100" cap="flat" cmpd="sng">
            <a:solidFill>
              <a:srgbClr val="0066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5869" name="直接连接符 35868"/>
          <p:cNvSpPr/>
          <p:nvPr/>
        </p:nvSpPr>
        <p:spPr>
          <a:xfrm flipH="1" flipV="1">
            <a:off x="1600200" y="3048000"/>
            <a:ext cx="990600" cy="2895600"/>
          </a:xfrm>
          <a:prstGeom prst="line">
            <a:avLst/>
          </a:prstGeom>
          <a:ln w="38100" cap="flat" cmpd="sng">
            <a:solidFill>
              <a:srgbClr val="FF00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5870" name="直接连接符 35869"/>
          <p:cNvSpPr/>
          <p:nvPr/>
        </p:nvSpPr>
        <p:spPr>
          <a:xfrm flipH="1" flipV="1">
            <a:off x="1676400" y="4495800"/>
            <a:ext cx="2819400" cy="1676400"/>
          </a:xfrm>
          <a:prstGeom prst="line">
            <a:avLst/>
          </a:prstGeom>
          <a:ln w="38100" cap="flat" cmpd="sng">
            <a:solidFill>
              <a:srgbClr val="FF00FF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58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58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58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58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7" dur="500"/>
                                        <p:tgtEl>
                                          <p:spTgt spid="35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35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58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58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5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3" dur="500"/>
                                        <p:tgtEl>
                                          <p:spTgt spid="35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3" presetClass="entr" presetSubtype="3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58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58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5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68" dur="500"/>
                                        <p:tgtEl>
                                          <p:spTgt spid="35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58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58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5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84" dur="500"/>
                                        <p:tgtEl>
                                          <p:spTgt spid="35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3" presetClass="entr" presetSubtype="3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58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58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文本框 36865"/>
          <p:cNvSpPr txBox="1"/>
          <p:nvPr/>
        </p:nvSpPr>
        <p:spPr>
          <a:xfrm>
            <a:off x="381000" y="182563"/>
            <a:ext cx="1003300" cy="579437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38100">
            <a:noFill/>
          </a:ln>
          <a:effectLst>
            <a:outerShdw dist="107763" dir="13499999" algn="ctr" rotWithShape="0">
              <a:srgbClr val="808080"/>
            </a:outerShdw>
          </a:effectLst>
        </p:spPr>
        <p:txBody>
          <a:bodyPr anchor="ctr" anchorCtr="0">
            <a:spAutoFit/>
          </a:bodyPr>
          <a:p>
            <a:pPr algn="ctr" eaLnBrk="1" hangingPunct="1"/>
            <a:r>
              <a:rPr lang="zh-CN" altLang="en-US" sz="3200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举例</a:t>
            </a:r>
            <a:endParaRPr lang="zh-CN" altLang="en-US" sz="3200">
              <a:solidFill>
                <a:srgbClr val="A50021"/>
              </a:solidFill>
              <a:effectLst>
                <a:outerShdw blurRad="38100" dist="38100" dir="2700000">
                  <a:srgbClr val="000000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6867" name="文本框 36866"/>
          <p:cNvSpPr txBox="1"/>
          <p:nvPr/>
        </p:nvSpPr>
        <p:spPr>
          <a:xfrm>
            <a:off x="457200" y="1066800"/>
            <a:ext cx="24923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</a:rPr>
              <a:t>、画出全状态图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36912" name="组合 36911"/>
          <p:cNvGrpSpPr/>
          <p:nvPr/>
        </p:nvGrpSpPr>
        <p:grpSpPr>
          <a:xfrm>
            <a:off x="1789113" y="1600200"/>
            <a:ext cx="3163887" cy="2209800"/>
            <a:chOff x="3383" y="672"/>
            <a:chExt cx="1993" cy="1392"/>
          </a:xfrm>
        </p:grpSpPr>
        <p:sp>
          <p:nvSpPr>
            <p:cNvPr id="36887" name="椭圆 36886"/>
            <p:cNvSpPr/>
            <p:nvPr/>
          </p:nvSpPr>
          <p:spPr>
            <a:xfrm>
              <a:off x="3623" y="768"/>
              <a:ext cx="336" cy="288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6888" name="椭圆 36887"/>
            <p:cNvSpPr/>
            <p:nvPr/>
          </p:nvSpPr>
          <p:spPr>
            <a:xfrm>
              <a:off x="4823" y="768"/>
              <a:ext cx="336" cy="288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6889" name="椭圆 36888"/>
            <p:cNvSpPr/>
            <p:nvPr/>
          </p:nvSpPr>
          <p:spPr>
            <a:xfrm>
              <a:off x="4871" y="1632"/>
              <a:ext cx="336" cy="288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6890" name="椭圆 36889"/>
            <p:cNvSpPr/>
            <p:nvPr/>
          </p:nvSpPr>
          <p:spPr>
            <a:xfrm>
              <a:off x="3623" y="1632"/>
              <a:ext cx="336" cy="288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grpSp>
          <p:nvGrpSpPr>
            <p:cNvPr id="36891" name="组合 36890"/>
            <p:cNvGrpSpPr/>
            <p:nvPr/>
          </p:nvGrpSpPr>
          <p:grpSpPr>
            <a:xfrm>
              <a:off x="3959" y="672"/>
              <a:ext cx="864" cy="288"/>
              <a:chOff x="4080" y="2592"/>
              <a:chExt cx="864" cy="288"/>
            </a:xfrm>
          </p:grpSpPr>
          <p:sp>
            <p:nvSpPr>
              <p:cNvPr id="36892" name="直接连接符 36891"/>
              <p:cNvSpPr/>
              <p:nvPr/>
            </p:nvSpPr>
            <p:spPr>
              <a:xfrm>
                <a:off x="4080" y="2832"/>
                <a:ext cx="864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6893" name="文本框 36892"/>
              <p:cNvSpPr txBox="1"/>
              <p:nvPr/>
            </p:nvSpPr>
            <p:spPr>
              <a:xfrm>
                <a:off x="4151" y="2592"/>
                <a:ext cx="361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0/0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6894" name="组合 36893"/>
            <p:cNvGrpSpPr/>
            <p:nvPr/>
          </p:nvGrpSpPr>
          <p:grpSpPr>
            <a:xfrm>
              <a:off x="5015" y="1008"/>
              <a:ext cx="361" cy="624"/>
              <a:chOff x="5136" y="2928"/>
              <a:chExt cx="361" cy="624"/>
            </a:xfrm>
          </p:grpSpPr>
          <p:sp>
            <p:nvSpPr>
              <p:cNvPr id="36895" name="直接连接符 36894"/>
              <p:cNvSpPr/>
              <p:nvPr/>
            </p:nvSpPr>
            <p:spPr>
              <a:xfrm>
                <a:off x="5136" y="2976"/>
                <a:ext cx="0" cy="57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6896" name="文本框 36895"/>
              <p:cNvSpPr txBox="1"/>
              <p:nvPr/>
            </p:nvSpPr>
            <p:spPr>
              <a:xfrm>
                <a:off x="5136" y="2928"/>
                <a:ext cx="361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0/0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6897" name="组合 36896"/>
            <p:cNvGrpSpPr/>
            <p:nvPr/>
          </p:nvGrpSpPr>
          <p:grpSpPr>
            <a:xfrm>
              <a:off x="3911" y="1008"/>
              <a:ext cx="960" cy="720"/>
              <a:chOff x="4032" y="2928"/>
              <a:chExt cx="960" cy="720"/>
            </a:xfrm>
          </p:grpSpPr>
          <p:sp>
            <p:nvSpPr>
              <p:cNvPr id="36898" name="直接连接符 36897"/>
              <p:cNvSpPr/>
              <p:nvPr/>
            </p:nvSpPr>
            <p:spPr>
              <a:xfrm flipH="1" flipV="1">
                <a:off x="4032" y="2928"/>
                <a:ext cx="960" cy="72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6899" name="文本框 36898"/>
              <p:cNvSpPr txBox="1"/>
              <p:nvPr/>
            </p:nvSpPr>
            <p:spPr>
              <a:xfrm>
                <a:off x="4391" y="3024"/>
                <a:ext cx="361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0/1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6900" name="组合 36899"/>
            <p:cNvGrpSpPr/>
            <p:nvPr/>
          </p:nvGrpSpPr>
          <p:grpSpPr>
            <a:xfrm>
              <a:off x="3383" y="1056"/>
              <a:ext cx="432" cy="576"/>
              <a:chOff x="3504" y="2976"/>
              <a:chExt cx="432" cy="576"/>
            </a:xfrm>
          </p:grpSpPr>
          <p:sp>
            <p:nvSpPr>
              <p:cNvPr id="36901" name="直接连接符 36900"/>
              <p:cNvSpPr/>
              <p:nvPr/>
            </p:nvSpPr>
            <p:spPr>
              <a:xfrm flipV="1">
                <a:off x="3936" y="2976"/>
                <a:ext cx="0" cy="57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6902" name="文本框 36901"/>
              <p:cNvSpPr txBox="1"/>
              <p:nvPr/>
            </p:nvSpPr>
            <p:spPr>
              <a:xfrm>
                <a:off x="3504" y="3168"/>
                <a:ext cx="361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1/1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6903" name="组合 36902"/>
            <p:cNvGrpSpPr/>
            <p:nvPr/>
          </p:nvGrpSpPr>
          <p:grpSpPr>
            <a:xfrm>
              <a:off x="3959" y="672"/>
              <a:ext cx="864" cy="288"/>
              <a:chOff x="4080" y="2592"/>
              <a:chExt cx="816" cy="288"/>
            </a:xfrm>
          </p:grpSpPr>
          <p:sp>
            <p:nvSpPr>
              <p:cNvPr id="36904" name="文本框 36903"/>
              <p:cNvSpPr txBox="1"/>
              <p:nvPr/>
            </p:nvSpPr>
            <p:spPr>
              <a:xfrm>
                <a:off x="4522" y="2592"/>
                <a:ext cx="341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1/0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905" name="直接连接符 36904"/>
              <p:cNvSpPr/>
              <p:nvPr/>
            </p:nvSpPr>
            <p:spPr>
              <a:xfrm>
                <a:off x="4080" y="2832"/>
                <a:ext cx="81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36906" name="组合 36905"/>
            <p:cNvGrpSpPr/>
            <p:nvPr/>
          </p:nvGrpSpPr>
          <p:grpSpPr>
            <a:xfrm>
              <a:off x="4990" y="1056"/>
              <a:ext cx="361" cy="576"/>
              <a:chOff x="5111" y="2976"/>
              <a:chExt cx="361" cy="576"/>
            </a:xfrm>
          </p:grpSpPr>
          <p:sp>
            <p:nvSpPr>
              <p:cNvPr id="36907" name="文本框 36906"/>
              <p:cNvSpPr txBox="1"/>
              <p:nvPr/>
            </p:nvSpPr>
            <p:spPr>
              <a:xfrm>
                <a:off x="5111" y="3120"/>
                <a:ext cx="361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1/0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908" name="直接连接符 36907"/>
              <p:cNvSpPr/>
              <p:nvPr/>
            </p:nvSpPr>
            <p:spPr>
              <a:xfrm>
                <a:off x="5136" y="2976"/>
                <a:ext cx="0" cy="57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36909" name="组合 36908"/>
            <p:cNvGrpSpPr/>
            <p:nvPr/>
          </p:nvGrpSpPr>
          <p:grpSpPr>
            <a:xfrm>
              <a:off x="3984" y="1776"/>
              <a:ext cx="912" cy="288"/>
              <a:chOff x="4080" y="3696"/>
              <a:chExt cx="912" cy="288"/>
            </a:xfrm>
          </p:grpSpPr>
          <p:sp>
            <p:nvSpPr>
              <p:cNvPr id="36910" name="直接连接符 36909"/>
              <p:cNvSpPr/>
              <p:nvPr/>
            </p:nvSpPr>
            <p:spPr>
              <a:xfrm flipH="1">
                <a:off x="4080" y="3696"/>
                <a:ext cx="91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6911" name="文本框 36910"/>
              <p:cNvSpPr txBox="1"/>
              <p:nvPr/>
            </p:nvSpPr>
            <p:spPr>
              <a:xfrm>
                <a:off x="4343" y="3696"/>
                <a:ext cx="361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1/0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36913" name="文本框 36912"/>
          <p:cNvSpPr txBox="1"/>
          <p:nvPr/>
        </p:nvSpPr>
        <p:spPr>
          <a:xfrm>
            <a:off x="1789113" y="2209800"/>
            <a:ext cx="573087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0/0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6914" name="文本框 36913"/>
          <p:cNvSpPr txBox="1"/>
          <p:nvPr/>
        </p:nvSpPr>
        <p:spPr>
          <a:xfrm>
            <a:off x="414338" y="3886200"/>
            <a:ext cx="53879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宋体" panose="02010600030101010101" pitchFamily="2" charset="-122"/>
              </a:rPr>
              <a:t>电路是一个自启动电路，完成设计要求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36915" name="文本框 36914">
            <a:hlinkClick r:id="rId1" action="ppaction://hlinkfile"/>
          </p:cNvPr>
          <p:cNvSpPr txBox="1"/>
          <p:nvPr/>
        </p:nvSpPr>
        <p:spPr>
          <a:xfrm>
            <a:off x="3581400" y="4876800"/>
            <a:ext cx="8001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u="sng" dirty="0">
                <a:solidFill>
                  <a:schemeClr val="accent2"/>
                </a:solidFill>
                <a:latin typeface="Times New Roman" panose="02020603050405020304" pitchFamily="18" charset="0"/>
              </a:rPr>
              <a:t>仿真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pic>
        <p:nvPicPr>
          <p:cNvPr id="36917" name="图片 36916" descr="wb01508_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58674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918" name="文本框 36917">
            <a:hlinkClick r:id="rId2" action="ppaction://hlinksldjump"/>
          </p:cNvPr>
          <p:cNvSpPr txBox="1"/>
          <p:nvPr/>
        </p:nvSpPr>
        <p:spPr>
          <a:xfrm>
            <a:off x="7512050" y="59436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u="sng" dirty="0">
                <a:solidFill>
                  <a:schemeClr val="accent2"/>
                </a:solidFill>
                <a:latin typeface="Times New Roman" panose="02020603050405020304" pitchFamily="18" charset="0"/>
              </a:rPr>
              <a:t>返  回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6919" name="动作按钮: 前进或下一项 36918">
            <a:hlinkClick r:id="" action="ppaction://hlinkshowjump?jump=nextslide"/>
          </p:cNvPr>
          <p:cNvSpPr/>
          <p:nvPr/>
        </p:nvSpPr>
        <p:spPr>
          <a:xfrm>
            <a:off x="5715000" y="2514600"/>
            <a:ext cx="685800" cy="609600"/>
          </a:xfrm>
          <a:prstGeom prst="actionButtonForwardNext">
            <a:avLst/>
          </a:prstGeom>
          <a:solidFill>
            <a:srgbClr val="FFFF00"/>
          </a:solidFill>
          <a:ln w="38100" cap="flat" cmpd="sng">
            <a:solidFill>
              <a:srgbClr val="A5002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6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69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69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6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6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/>
      <p:bldP spid="36913" grpId="0"/>
      <p:bldP spid="36914" grpId="0"/>
      <p:bldP spid="3691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pSp>
        <p:nvGrpSpPr>
          <p:cNvPr id="52324" name="组合 52323"/>
          <p:cNvGrpSpPr/>
          <p:nvPr/>
        </p:nvGrpSpPr>
        <p:grpSpPr>
          <a:xfrm>
            <a:off x="1981200" y="990600"/>
            <a:ext cx="5670550" cy="4724400"/>
            <a:chOff x="1248" y="480"/>
            <a:chExt cx="3572" cy="2976"/>
          </a:xfrm>
        </p:grpSpPr>
        <p:sp>
          <p:nvSpPr>
            <p:cNvPr id="52226" name="文本框 52225"/>
            <p:cNvSpPr txBox="1"/>
            <p:nvPr/>
          </p:nvSpPr>
          <p:spPr>
            <a:xfrm>
              <a:off x="4176" y="278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2227" name="文本框 52226"/>
            <p:cNvSpPr txBox="1"/>
            <p:nvPr/>
          </p:nvSpPr>
          <p:spPr>
            <a:xfrm>
              <a:off x="1824" y="2784"/>
              <a:ext cx="5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1      1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grpSp>
          <p:nvGrpSpPr>
            <p:cNvPr id="52228" name="组合 52227"/>
            <p:cNvGrpSpPr/>
            <p:nvPr/>
          </p:nvGrpSpPr>
          <p:grpSpPr>
            <a:xfrm>
              <a:off x="1248" y="781"/>
              <a:ext cx="552" cy="563"/>
              <a:chOff x="1488" y="1165"/>
              <a:chExt cx="638" cy="563"/>
            </a:xfrm>
          </p:grpSpPr>
          <p:sp>
            <p:nvSpPr>
              <p:cNvPr id="52229" name="文本框 52228"/>
              <p:cNvSpPr txBox="1"/>
              <p:nvPr/>
            </p:nvSpPr>
            <p:spPr>
              <a:xfrm>
                <a:off x="1488" y="1165"/>
                <a:ext cx="63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zh-CN" altLang="en-US" dirty="0">
                    <a:latin typeface="Times New Roman" panose="02020603050405020304" pitchFamily="18" charset="0"/>
                  </a:rPr>
                  <a:t>现 入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230" name="文本框 52229"/>
              <p:cNvSpPr txBox="1"/>
              <p:nvPr/>
            </p:nvSpPr>
            <p:spPr>
              <a:xfrm>
                <a:off x="1631" y="1440"/>
                <a:ext cx="29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X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2231" name="组合 52230"/>
            <p:cNvGrpSpPr/>
            <p:nvPr/>
          </p:nvGrpSpPr>
          <p:grpSpPr>
            <a:xfrm>
              <a:off x="1788" y="781"/>
              <a:ext cx="638" cy="563"/>
              <a:chOff x="2112" y="1165"/>
              <a:chExt cx="738" cy="563"/>
            </a:xfrm>
          </p:grpSpPr>
          <p:sp>
            <p:nvSpPr>
              <p:cNvPr id="52232" name="文本框 52231"/>
              <p:cNvSpPr txBox="1"/>
              <p:nvPr/>
            </p:nvSpPr>
            <p:spPr>
              <a:xfrm>
                <a:off x="2208" y="1165"/>
                <a:ext cx="639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zh-CN" altLang="en-US" dirty="0">
                    <a:latin typeface="Times New Roman" panose="02020603050405020304" pitchFamily="18" charset="0"/>
                  </a:rPr>
                  <a:t>现 态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233" name="文本框 52232"/>
              <p:cNvSpPr txBox="1"/>
              <p:nvPr/>
            </p:nvSpPr>
            <p:spPr>
              <a:xfrm>
                <a:off x="2112" y="1440"/>
                <a:ext cx="73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Q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1</a:t>
                </a:r>
                <a:r>
                  <a:rPr lang="en-US" altLang="zh-CN">
                    <a:latin typeface="Times New Roman" panose="02020603050405020304" pitchFamily="18" charset="0"/>
                  </a:rPr>
                  <a:t>  Q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2234" name="组合 52233"/>
            <p:cNvGrpSpPr/>
            <p:nvPr/>
          </p:nvGrpSpPr>
          <p:grpSpPr>
            <a:xfrm>
              <a:off x="3300" y="768"/>
              <a:ext cx="892" cy="576"/>
              <a:chOff x="2929" y="1152"/>
              <a:chExt cx="1032" cy="576"/>
            </a:xfrm>
          </p:grpSpPr>
          <p:sp>
            <p:nvSpPr>
              <p:cNvPr id="52235" name="文本框 52234"/>
              <p:cNvSpPr txBox="1"/>
              <p:nvPr/>
            </p:nvSpPr>
            <p:spPr>
              <a:xfrm>
                <a:off x="2929" y="1152"/>
                <a:ext cx="103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zh-CN" altLang="en-US" dirty="0">
                    <a:latin typeface="Times New Roman" panose="02020603050405020304" pitchFamily="18" charset="0"/>
                  </a:rPr>
                  <a:t>现控制入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236" name="文本框 52235"/>
              <p:cNvSpPr txBox="1"/>
              <p:nvPr/>
            </p:nvSpPr>
            <p:spPr>
              <a:xfrm>
                <a:off x="2976" y="1440"/>
                <a:ext cx="77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D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1</a:t>
                </a:r>
                <a:r>
                  <a:rPr lang="en-US" altLang="zh-CN">
                    <a:latin typeface="Times New Roman" panose="02020603050405020304" pitchFamily="18" charset="0"/>
                  </a:rPr>
                  <a:t>   D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2237" name="组合 52236"/>
            <p:cNvGrpSpPr/>
            <p:nvPr/>
          </p:nvGrpSpPr>
          <p:grpSpPr>
            <a:xfrm>
              <a:off x="2400" y="768"/>
              <a:ext cx="798" cy="563"/>
              <a:chOff x="3842" y="1165"/>
              <a:chExt cx="924" cy="563"/>
            </a:xfrm>
          </p:grpSpPr>
          <p:sp>
            <p:nvSpPr>
              <p:cNvPr id="52238" name="文本框 52237"/>
              <p:cNvSpPr txBox="1"/>
              <p:nvPr/>
            </p:nvSpPr>
            <p:spPr>
              <a:xfrm>
                <a:off x="3987" y="1165"/>
                <a:ext cx="69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zh-CN" altLang="en-US" dirty="0">
                    <a:latin typeface="Times New Roman" panose="02020603050405020304" pitchFamily="18" charset="0"/>
                  </a:rPr>
                  <a:t>次  态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239" name="文本框 52238"/>
              <p:cNvSpPr txBox="1"/>
              <p:nvPr/>
            </p:nvSpPr>
            <p:spPr>
              <a:xfrm>
                <a:off x="3842" y="1440"/>
                <a:ext cx="92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  Q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1     </a:t>
                </a:r>
                <a:r>
                  <a:rPr lang="en-US" altLang="zh-CN">
                    <a:latin typeface="Times New Roman" panose="02020603050405020304" pitchFamily="18" charset="0"/>
                  </a:rPr>
                  <a:t>Q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2240" name="组合 52239"/>
            <p:cNvGrpSpPr/>
            <p:nvPr/>
          </p:nvGrpSpPr>
          <p:grpSpPr>
            <a:xfrm>
              <a:off x="1372" y="1296"/>
              <a:ext cx="212" cy="768"/>
              <a:chOff x="528" y="1920"/>
              <a:chExt cx="212" cy="768"/>
            </a:xfrm>
          </p:grpSpPr>
          <p:sp>
            <p:nvSpPr>
              <p:cNvPr id="52241" name="文本框 52240"/>
              <p:cNvSpPr txBox="1"/>
              <p:nvPr/>
            </p:nvSpPr>
            <p:spPr>
              <a:xfrm>
                <a:off x="528" y="1920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242" name="文本框 52241"/>
              <p:cNvSpPr txBox="1"/>
              <p:nvPr/>
            </p:nvSpPr>
            <p:spPr>
              <a:xfrm>
                <a:off x="528" y="2160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243" name="文本框 52242"/>
              <p:cNvSpPr txBox="1"/>
              <p:nvPr/>
            </p:nvSpPr>
            <p:spPr>
              <a:xfrm>
                <a:off x="528" y="2400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2244" name="文本框 52243"/>
            <p:cNvSpPr txBox="1"/>
            <p:nvPr/>
          </p:nvSpPr>
          <p:spPr>
            <a:xfrm>
              <a:off x="1824" y="1344"/>
              <a:ext cx="5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0      0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2245" name="文本框 52244"/>
            <p:cNvSpPr txBox="1"/>
            <p:nvPr/>
          </p:nvSpPr>
          <p:spPr>
            <a:xfrm>
              <a:off x="1824" y="1536"/>
              <a:ext cx="5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0      1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2246" name="文本框 52245"/>
            <p:cNvSpPr txBox="1"/>
            <p:nvPr/>
          </p:nvSpPr>
          <p:spPr>
            <a:xfrm>
              <a:off x="1824" y="1776"/>
              <a:ext cx="5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1      0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grpSp>
          <p:nvGrpSpPr>
            <p:cNvPr id="52247" name="组合 52246"/>
            <p:cNvGrpSpPr/>
            <p:nvPr/>
          </p:nvGrpSpPr>
          <p:grpSpPr>
            <a:xfrm>
              <a:off x="1372" y="2064"/>
              <a:ext cx="234" cy="1021"/>
              <a:chOff x="268" y="1872"/>
              <a:chExt cx="209" cy="1070"/>
            </a:xfrm>
          </p:grpSpPr>
          <p:sp>
            <p:nvSpPr>
              <p:cNvPr id="52248" name="文本框 52247"/>
              <p:cNvSpPr txBox="1"/>
              <p:nvPr/>
            </p:nvSpPr>
            <p:spPr>
              <a:xfrm>
                <a:off x="288" y="2640"/>
                <a:ext cx="189" cy="30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52249" name="组合 52248"/>
              <p:cNvGrpSpPr/>
              <p:nvPr/>
            </p:nvGrpSpPr>
            <p:grpSpPr>
              <a:xfrm>
                <a:off x="268" y="1872"/>
                <a:ext cx="190" cy="830"/>
                <a:chOff x="2284" y="2592"/>
                <a:chExt cx="190" cy="830"/>
              </a:xfrm>
            </p:grpSpPr>
            <p:sp>
              <p:nvSpPr>
                <p:cNvPr id="52250" name="文本框 52249"/>
                <p:cNvSpPr txBox="1"/>
                <p:nvPr/>
              </p:nvSpPr>
              <p:spPr>
                <a:xfrm>
                  <a:off x="2284" y="2592"/>
                  <a:ext cx="189" cy="30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 algn="l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1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2251" name="文本框 52250"/>
                <p:cNvSpPr txBox="1"/>
                <p:nvPr/>
              </p:nvSpPr>
              <p:spPr>
                <a:xfrm>
                  <a:off x="2285" y="2832"/>
                  <a:ext cx="189" cy="30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 algn="l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1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2252" name="文本框 52251"/>
                <p:cNvSpPr txBox="1"/>
                <p:nvPr/>
              </p:nvSpPr>
              <p:spPr>
                <a:xfrm>
                  <a:off x="2285" y="3120"/>
                  <a:ext cx="189" cy="30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 algn="l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1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52253" name="文本框 52252"/>
            <p:cNvSpPr txBox="1"/>
            <p:nvPr/>
          </p:nvSpPr>
          <p:spPr>
            <a:xfrm>
              <a:off x="1830" y="2064"/>
              <a:ext cx="5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0      0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2254" name="文本框 52253"/>
            <p:cNvSpPr txBox="1"/>
            <p:nvPr/>
          </p:nvSpPr>
          <p:spPr>
            <a:xfrm>
              <a:off x="2572" y="2064"/>
              <a:ext cx="6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0       1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2255" name="文本框 52254"/>
            <p:cNvSpPr txBox="1"/>
            <p:nvPr/>
          </p:nvSpPr>
          <p:spPr>
            <a:xfrm>
              <a:off x="2572" y="1344"/>
              <a:ext cx="6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0       1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2256" name="文本框 52255"/>
            <p:cNvSpPr txBox="1"/>
            <p:nvPr/>
          </p:nvSpPr>
          <p:spPr>
            <a:xfrm>
              <a:off x="2572" y="1536"/>
              <a:ext cx="6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1       0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2257" name="文本框 52256"/>
            <p:cNvSpPr txBox="1"/>
            <p:nvPr/>
          </p:nvSpPr>
          <p:spPr>
            <a:xfrm>
              <a:off x="2572" y="1776"/>
              <a:ext cx="6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0       0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2258" name="文本框 52257"/>
            <p:cNvSpPr txBox="1"/>
            <p:nvPr/>
          </p:nvSpPr>
          <p:spPr>
            <a:xfrm>
              <a:off x="3350" y="1322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2259" name="文本框 52258"/>
            <p:cNvSpPr txBox="1"/>
            <p:nvPr/>
          </p:nvSpPr>
          <p:spPr>
            <a:xfrm>
              <a:off x="3734" y="1322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grpSp>
          <p:nvGrpSpPr>
            <p:cNvPr id="52260" name="组合 52259"/>
            <p:cNvGrpSpPr/>
            <p:nvPr/>
          </p:nvGrpSpPr>
          <p:grpSpPr>
            <a:xfrm>
              <a:off x="3340" y="1536"/>
              <a:ext cx="606" cy="288"/>
              <a:chOff x="2236" y="1392"/>
              <a:chExt cx="606" cy="288"/>
            </a:xfrm>
          </p:grpSpPr>
          <p:sp>
            <p:nvSpPr>
              <p:cNvPr id="52261" name="文本框 52260"/>
              <p:cNvSpPr txBox="1"/>
              <p:nvPr/>
            </p:nvSpPr>
            <p:spPr>
              <a:xfrm>
                <a:off x="2236" y="1392"/>
                <a:ext cx="21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262" name="文本框 52261"/>
              <p:cNvSpPr txBox="1"/>
              <p:nvPr/>
            </p:nvSpPr>
            <p:spPr>
              <a:xfrm>
                <a:off x="2630" y="1392"/>
                <a:ext cx="21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2263" name="文本框 52262"/>
            <p:cNvSpPr txBox="1"/>
            <p:nvPr/>
          </p:nvSpPr>
          <p:spPr>
            <a:xfrm>
              <a:off x="3360" y="2064"/>
              <a:ext cx="5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0      1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grpSp>
          <p:nvGrpSpPr>
            <p:cNvPr id="52264" name="组合 52263"/>
            <p:cNvGrpSpPr/>
            <p:nvPr/>
          </p:nvGrpSpPr>
          <p:grpSpPr>
            <a:xfrm>
              <a:off x="3350" y="1776"/>
              <a:ext cx="596" cy="288"/>
              <a:chOff x="2246" y="1632"/>
              <a:chExt cx="596" cy="288"/>
            </a:xfrm>
          </p:grpSpPr>
          <p:sp>
            <p:nvSpPr>
              <p:cNvPr id="52265" name="文本框 52264"/>
              <p:cNvSpPr txBox="1"/>
              <p:nvPr/>
            </p:nvSpPr>
            <p:spPr>
              <a:xfrm>
                <a:off x="2246" y="1632"/>
                <a:ext cx="21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266" name="文本框 52265"/>
              <p:cNvSpPr txBox="1"/>
              <p:nvPr/>
            </p:nvSpPr>
            <p:spPr>
              <a:xfrm>
                <a:off x="2630" y="1632"/>
                <a:ext cx="21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2267" name="组合 52266"/>
            <p:cNvGrpSpPr/>
            <p:nvPr/>
          </p:nvGrpSpPr>
          <p:grpSpPr>
            <a:xfrm>
              <a:off x="1296" y="768"/>
              <a:ext cx="3456" cy="2688"/>
              <a:chOff x="192" y="624"/>
              <a:chExt cx="3456" cy="2688"/>
            </a:xfrm>
          </p:grpSpPr>
          <p:sp>
            <p:nvSpPr>
              <p:cNvPr id="52268" name="矩形 52267"/>
              <p:cNvSpPr/>
              <p:nvPr/>
            </p:nvSpPr>
            <p:spPr>
              <a:xfrm>
                <a:off x="192" y="624"/>
                <a:ext cx="3446" cy="2688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2269" name="直接连接符 52268"/>
              <p:cNvSpPr/>
              <p:nvPr/>
            </p:nvSpPr>
            <p:spPr>
              <a:xfrm>
                <a:off x="192" y="912"/>
                <a:ext cx="344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270" name="直接连接符 52269"/>
              <p:cNvSpPr/>
              <p:nvPr/>
            </p:nvSpPr>
            <p:spPr>
              <a:xfrm>
                <a:off x="192" y="1200"/>
                <a:ext cx="344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271" name="直接连接符 52270"/>
              <p:cNvSpPr/>
              <p:nvPr/>
            </p:nvSpPr>
            <p:spPr>
              <a:xfrm>
                <a:off x="677" y="624"/>
                <a:ext cx="0" cy="26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272" name="直接连接符 52271"/>
              <p:cNvSpPr/>
              <p:nvPr/>
            </p:nvSpPr>
            <p:spPr>
              <a:xfrm>
                <a:off x="1406" y="624"/>
                <a:ext cx="0" cy="26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273" name="直接连接符 52272"/>
              <p:cNvSpPr/>
              <p:nvPr/>
            </p:nvSpPr>
            <p:spPr>
              <a:xfrm>
                <a:off x="2226" y="624"/>
                <a:ext cx="0" cy="26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274" name="直接连接符 52273"/>
              <p:cNvSpPr/>
              <p:nvPr/>
            </p:nvSpPr>
            <p:spPr>
              <a:xfrm>
                <a:off x="3057" y="624"/>
                <a:ext cx="0" cy="26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275" name="直接连接符 52274"/>
              <p:cNvSpPr/>
              <p:nvPr/>
            </p:nvSpPr>
            <p:spPr>
              <a:xfrm>
                <a:off x="192" y="2928"/>
                <a:ext cx="345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2276" name="组合 52275"/>
            <p:cNvGrpSpPr/>
            <p:nvPr/>
          </p:nvGrpSpPr>
          <p:grpSpPr>
            <a:xfrm>
              <a:off x="3359" y="2784"/>
              <a:ext cx="596" cy="288"/>
              <a:chOff x="2255" y="2640"/>
              <a:chExt cx="596" cy="288"/>
            </a:xfrm>
          </p:grpSpPr>
          <p:sp>
            <p:nvSpPr>
              <p:cNvPr id="52277" name="文本框 52276"/>
              <p:cNvSpPr txBox="1"/>
              <p:nvPr/>
            </p:nvSpPr>
            <p:spPr>
              <a:xfrm>
                <a:off x="2255" y="2640"/>
                <a:ext cx="21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278" name="文本框 52277"/>
              <p:cNvSpPr txBox="1"/>
              <p:nvPr/>
            </p:nvSpPr>
            <p:spPr>
              <a:xfrm>
                <a:off x="2639" y="2640"/>
                <a:ext cx="21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2279" name="组合 52278"/>
            <p:cNvGrpSpPr/>
            <p:nvPr/>
          </p:nvGrpSpPr>
          <p:grpSpPr>
            <a:xfrm>
              <a:off x="2591" y="2784"/>
              <a:ext cx="672" cy="288"/>
              <a:chOff x="1487" y="2640"/>
              <a:chExt cx="672" cy="288"/>
            </a:xfrm>
          </p:grpSpPr>
          <p:sp>
            <p:nvSpPr>
              <p:cNvPr id="52280" name="文本框 52279"/>
              <p:cNvSpPr txBox="1"/>
              <p:nvPr/>
            </p:nvSpPr>
            <p:spPr>
              <a:xfrm>
                <a:off x="1487" y="2640"/>
                <a:ext cx="21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281" name="文本框 52280"/>
              <p:cNvSpPr txBox="1"/>
              <p:nvPr/>
            </p:nvSpPr>
            <p:spPr>
              <a:xfrm>
                <a:off x="1909" y="2640"/>
                <a:ext cx="250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2282" name="组合 52281"/>
            <p:cNvGrpSpPr/>
            <p:nvPr/>
          </p:nvGrpSpPr>
          <p:grpSpPr>
            <a:xfrm>
              <a:off x="4122" y="768"/>
              <a:ext cx="698" cy="576"/>
              <a:chOff x="3018" y="1104"/>
              <a:chExt cx="698" cy="576"/>
            </a:xfrm>
          </p:grpSpPr>
          <p:sp>
            <p:nvSpPr>
              <p:cNvPr id="52283" name="文本框 52282"/>
              <p:cNvSpPr txBox="1"/>
              <p:nvPr/>
            </p:nvSpPr>
            <p:spPr>
              <a:xfrm>
                <a:off x="3018" y="1104"/>
                <a:ext cx="698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zh-CN" altLang="en-US" dirty="0">
                    <a:latin typeface="Times New Roman" panose="02020603050405020304" pitchFamily="18" charset="0"/>
                  </a:rPr>
                  <a:t>现输出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284" name="文本框 52283"/>
              <p:cNvSpPr txBox="1"/>
              <p:nvPr/>
            </p:nvSpPr>
            <p:spPr>
              <a:xfrm>
                <a:off x="3072" y="1392"/>
                <a:ext cx="580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Z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1 </a:t>
                </a:r>
                <a:r>
                  <a:rPr lang="en-US" altLang="zh-CN">
                    <a:latin typeface="Times New Roman" panose="02020603050405020304" pitchFamily="18" charset="0"/>
                  </a:rPr>
                  <a:t> Z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2</a:t>
                </a:r>
                <a:endParaRPr lang="en-US" altLang="zh-CN" baseline="-250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2285" name="文本框 52284"/>
            <p:cNvSpPr txBox="1"/>
            <p:nvPr/>
          </p:nvSpPr>
          <p:spPr>
            <a:xfrm>
              <a:off x="4465" y="1344"/>
              <a:ext cx="19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2286" name="文本框 52285"/>
            <p:cNvSpPr txBox="1"/>
            <p:nvPr/>
          </p:nvSpPr>
          <p:spPr>
            <a:xfrm>
              <a:off x="4464" y="1536"/>
              <a:ext cx="19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2287" name="文本框 52286"/>
            <p:cNvSpPr txBox="1"/>
            <p:nvPr/>
          </p:nvSpPr>
          <p:spPr>
            <a:xfrm>
              <a:off x="4464" y="1776"/>
              <a:ext cx="19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grpSp>
          <p:nvGrpSpPr>
            <p:cNvPr id="52288" name="组合 52287"/>
            <p:cNvGrpSpPr/>
            <p:nvPr/>
          </p:nvGrpSpPr>
          <p:grpSpPr>
            <a:xfrm>
              <a:off x="4176" y="2064"/>
              <a:ext cx="479" cy="288"/>
              <a:chOff x="3072" y="1920"/>
              <a:chExt cx="479" cy="288"/>
            </a:xfrm>
          </p:grpSpPr>
          <p:sp>
            <p:nvSpPr>
              <p:cNvPr id="52289" name="文本框 52288"/>
              <p:cNvSpPr txBox="1"/>
              <p:nvPr/>
            </p:nvSpPr>
            <p:spPr>
              <a:xfrm>
                <a:off x="3072" y="1920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290" name="文本框 52289"/>
              <p:cNvSpPr txBox="1"/>
              <p:nvPr/>
            </p:nvSpPr>
            <p:spPr>
              <a:xfrm>
                <a:off x="3360" y="1920"/>
                <a:ext cx="19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l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2291" name="文本框 52290"/>
            <p:cNvSpPr txBox="1"/>
            <p:nvPr/>
          </p:nvSpPr>
          <p:spPr>
            <a:xfrm>
              <a:off x="4464" y="2784"/>
              <a:ext cx="19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2292" name="文本框 52291"/>
            <p:cNvSpPr txBox="1"/>
            <p:nvPr/>
          </p:nvSpPr>
          <p:spPr>
            <a:xfrm>
              <a:off x="1382" y="3168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2293" name="文本框 52292"/>
            <p:cNvSpPr txBox="1"/>
            <p:nvPr/>
          </p:nvSpPr>
          <p:spPr>
            <a:xfrm>
              <a:off x="1824" y="3168"/>
              <a:ext cx="5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en-US" altLang="zh-CN">
                  <a:latin typeface="Times New Roman" panose="02020603050405020304" pitchFamily="18" charset="0"/>
                </a:rPr>
                <a:t>1      1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grpSp>
          <p:nvGrpSpPr>
            <p:cNvPr id="52294" name="组合 52293"/>
            <p:cNvGrpSpPr/>
            <p:nvPr/>
          </p:nvGrpSpPr>
          <p:grpSpPr>
            <a:xfrm>
              <a:off x="2592" y="3168"/>
              <a:ext cx="672" cy="288"/>
              <a:chOff x="1488" y="3024"/>
              <a:chExt cx="672" cy="288"/>
            </a:xfrm>
          </p:grpSpPr>
          <p:sp>
            <p:nvSpPr>
              <p:cNvPr id="52295" name="文本框 52294"/>
              <p:cNvSpPr txBox="1"/>
              <p:nvPr/>
            </p:nvSpPr>
            <p:spPr>
              <a:xfrm>
                <a:off x="1488" y="3024"/>
                <a:ext cx="21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296" name="文本框 52295"/>
              <p:cNvSpPr txBox="1"/>
              <p:nvPr/>
            </p:nvSpPr>
            <p:spPr>
              <a:xfrm>
                <a:off x="1948" y="3024"/>
                <a:ext cx="21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2297" name="组合 52296"/>
            <p:cNvGrpSpPr/>
            <p:nvPr/>
          </p:nvGrpSpPr>
          <p:grpSpPr>
            <a:xfrm>
              <a:off x="3360" y="3168"/>
              <a:ext cx="624" cy="288"/>
              <a:chOff x="2256" y="3024"/>
              <a:chExt cx="624" cy="288"/>
            </a:xfrm>
          </p:grpSpPr>
          <p:sp>
            <p:nvSpPr>
              <p:cNvPr id="52298" name="文本框 52297"/>
              <p:cNvSpPr txBox="1"/>
              <p:nvPr/>
            </p:nvSpPr>
            <p:spPr>
              <a:xfrm>
                <a:off x="2256" y="3024"/>
                <a:ext cx="21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299" name="文本框 52298"/>
              <p:cNvSpPr txBox="1"/>
              <p:nvPr/>
            </p:nvSpPr>
            <p:spPr>
              <a:xfrm>
                <a:off x="2668" y="3024"/>
                <a:ext cx="21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2300" name="组合 52299"/>
            <p:cNvGrpSpPr/>
            <p:nvPr/>
          </p:nvGrpSpPr>
          <p:grpSpPr>
            <a:xfrm>
              <a:off x="4176" y="3168"/>
              <a:ext cx="528" cy="288"/>
              <a:chOff x="3072" y="3024"/>
              <a:chExt cx="528" cy="288"/>
            </a:xfrm>
          </p:grpSpPr>
          <p:sp>
            <p:nvSpPr>
              <p:cNvPr id="52301" name="文本框 52300"/>
              <p:cNvSpPr txBox="1"/>
              <p:nvPr/>
            </p:nvSpPr>
            <p:spPr>
              <a:xfrm>
                <a:off x="3072" y="3024"/>
                <a:ext cx="21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302" name="文本框 52301"/>
              <p:cNvSpPr txBox="1"/>
              <p:nvPr/>
            </p:nvSpPr>
            <p:spPr>
              <a:xfrm>
                <a:off x="3388" y="3024"/>
                <a:ext cx="21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2303" name="文本框 52302"/>
            <p:cNvSpPr txBox="1"/>
            <p:nvPr/>
          </p:nvSpPr>
          <p:spPr>
            <a:xfrm>
              <a:off x="2524" y="480"/>
              <a:ext cx="1086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zh-CN" altLang="en-US" dirty="0">
                  <a:latin typeface="Times New Roman" panose="02020603050405020304" pitchFamily="18" charset="0"/>
                </a:rPr>
                <a:t>状态转换表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2304" name="文本框 52303"/>
            <p:cNvSpPr txBox="1"/>
            <p:nvPr/>
          </p:nvSpPr>
          <p:spPr>
            <a:xfrm>
              <a:off x="2330" y="480"/>
              <a:ext cx="31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zh-CN" altLang="en-US">
                  <a:solidFill>
                    <a:srgbClr val="A50021"/>
                  </a:solidFill>
                  <a:latin typeface="Times New Roman" panose="02020603050405020304" pitchFamily="18" charset="0"/>
                </a:rPr>
                <a:t>全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2305" name="文本框 52304"/>
            <p:cNvSpPr txBox="1"/>
            <p:nvPr/>
          </p:nvSpPr>
          <p:spPr>
            <a:xfrm>
              <a:off x="4166" y="1344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2306" name="文本框 52305"/>
            <p:cNvSpPr txBox="1"/>
            <p:nvPr/>
          </p:nvSpPr>
          <p:spPr>
            <a:xfrm>
              <a:off x="4156" y="1536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2307" name="文本框 52306"/>
            <p:cNvSpPr txBox="1"/>
            <p:nvPr/>
          </p:nvSpPr>
          <p:spPr>
            <a:xfrm>
              <a:off x="4156" y="1776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grpSp>
          <p:nvGrpSpPr>
            <p:cNvPr id="52308" name="组合 52307"/>
            <p:cNvGrpSpPr/>
            <p:nvPr/>
          </p:nvGrpSpPr>
          <p:grpSpPr>
            <a:xfrm>
              <a:off x="1824" y="2304"/>
              <a:ext cx="2825" cy="528"/>
              <a:chOff x="720" y="2160"/>
              <a:chExt cx="2825" cy="528"/>
            </a:xfrm>
          </p:grpSpPr>
          <p:grpSp>
            <p:nvGrpSpPr>
              <p:cNvPr id="52309" name="组合 52308"/>
              <p:cNvGrpSpPr/>
              <p:nvPr/>
            </p:nvGrpSpPr>
            <p:grpSpPr>
              <a:xfrm>
                <a:off x="720" y="2160"/>
                <a:ext cx="2825" cy="528"/>
                <a:chOff x="726" y="2160"/>
                <a:chExt cx="2825" cy="528"/>
              </a:xfrm>
            </p:grpSpPr>
            <p:sp>
              <p:nvSpPr>
                <p:cNvPr id="52310" name="文本框 52309"/>
                <p:cNvSpPr txBox="1"/>
                <p:nvPr/>
              </p:nvSpPr>
              <p:spPr>
                <a:xfrm>
                  <a:off x="726" y="2160"/>
                  <a:ext cx="596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 algn="l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0      1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2311" name="文本框 52310"/>
                <p:cNvSpPr txBox="1"/>
                <p:nvPr/>
              </p:nvSpPr>
              <p:spPr>
                <a:xfrm>
                  <a:off x="726" y="2400"/>
                  <a:ext cx="596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 algn="l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1      0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2312" name="文本框 52311"/>
                <p:cNvSpPr txBox="1"/>
                <p:nvPr/>
              </p:nvSpPr>
              <p:spPr>
                <a:xfrm>
                  <a:off x="3072" y="2160"/>
                  <a:ext cx="21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 algn="l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0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2313" name="文本框 52312"/>
                <p:cNvSpPr txBox="1"/>
                <p:nvPr/>
              </p:nvSpPr>
              <p:spPr>
                <a:xfrm>
                  <a:off x="3072" y="2400"/>
                  <a:ext cx="21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 algn="l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0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2314" name="文本框 52313"/>
                <p:cNvSpPr txBox="1"/>
                <p:nvPr/>
              </p:nvSpPr>
              <p:spPr>
                <a:xfrm>
                  <a:off x="1488" y="2387"/>
                  <a:ext cx="116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 algn="l"/>
                  <a:endParaRPr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2315" name="文本框 52314"/>
                <p:cNvSpPr txBox="1"/>
                <p:nvPr/>
              </p:nvSpPr>
              <p:spPr>
                <a:xfrm>
                  <a:off x="1457" y="2160"/>
                  <a:ext cx="703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 algn="l"/>
                  <a:r>
                    <a:rPr lang="en-US" altLang="zh-CN">
                      <a:latin typeface="Times New Roman" panose="02020603050405020304" pitchFamily="18" charset="0"/>
                    </a:rPr>
                    <a:t>1       0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2316" name="文本框 52315"/>
                <p:cNvSpPr txBox="1"/>
                <p:nvPr/>
              </p:nvSpPr>
              <p:spPr>
                <a:xfrm>
                  <a:off x="2256" y="2160"/>
                  <a:ext cx="67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 algn="l"/>
                  <a:r>
                    <a:rPr lang="en-US" altLang="zh-CN">
                      <a:latin typeface="Times New Roman" panose="02020603050405020304" pitchFamily="18" charset="0"/>
                    </a:rPr>
                    <a:t>1      0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2317" name="文本框 52316"/>
                <p:cNvSpPr txBox="1"/>
                <p:nvPr/>
              </p:nvSpPr>
              <p:spPr>
                <a:xfrm>
                  <a:off x="2256" y="2400"/>
                  <a:ext cx="596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 algn="l"/>
                  <a:r>
                    <a:rPr lang="en-US" altLang="zh-CN">
                      <a:latin typeface="Times New Roman" panose="02020603050405020304" pitchFamily="18" charset="0"/>
                    </a:rPr>
                    <a:t>1      1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2318" name="文本框 52317"/>
                <p:cNvSpPr txBox="1"/>
                <p:nvPr/>
              </p:nvSpPr>
              <p:spPr>
                <a:xfrm>
                  <a:off x="3360" y="2160"/>
                  <a:ext cx="191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 algn="l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0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2319" name="文本框 52318"/>
                <p:cNvSpPr txBox="1"/>
                <p:nvPr/>
              </p:nvSpPr>
              <p:spPr>
                <a:xfrm>
                  <a:off x="3360" y="2400"/>
                  <a:ext cx="191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 algn="l" eaLnBrk="1" hangingPunct="1"/>
                  <a:r>
                    <a:rPr lang="en-US" altLang="zh-CN">
                      <a:latin typeface="Times New Roman" panose="02020603050405020304" pitchFamily="18" charset="0"/>
                    </a:rPr>
                    <a:t>0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2320" name="文本框 52319"/>
              <p:cNvSpPr txBox="1"/>
              <p:nvPr/>
            </p:nvSpPr>
            <p:spPr>
              <a:xfrm>
                <a:off x="1468" y="2400"/>
                <a:ext cx="21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321" name="文本框 52320"/>
              <p:cNvSpPr txBox="1"/>
              <p:nvPr/>
            </p:nvSpPr>
            <p:spPr>
              <a:xfrm>
                <a:off x="1900" y="2400"/>
                <a:ext cx="21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52325" name="矩形 52324"/>
          <p:cNvSpPr/>
          <p:nvPr/>
        </p:nvSpPr>
        <p:spPr>
          <a:xfrm>
            <a:off x="2133600" y="5181600"/>
            <a:ext cx="4876800" cy="457200"/>
          </a:xfrm>
          <a:prstGeom prst="rect">
            <a:avLst/>
          </a:prstGeom>
          <a:noFill/>
          <a:ln w="38100" cap="flat" cmpd="sng">
            <a:solidFill>
              <a:srgbClr val="A5002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2326" name="动作按钮: 后退或前一项 52325">
            <a:hlinkClick r:id="" action="ppaction://hlinkshowjump?jump=previousslide"/>
          </p:cNvPr>
          <p:cNvSpPr/>
          <p:nvPr/>
        </p:nvSpPr>
        <p:spPr>
          <a:xfrm>
            <a:off x="4495800" y="6096000"/>
            <a:ext cx="762000" cy="533400"/>
          </a:xfrm>
          <a:prstGeom prst="actionButtonBackPrevious">
            <a:avLst/>
          </a:prstGeom>
          <a:solidFill>
            <a:srgbClr val="FFFF00"/>
          </a:solidFill>
          <a:ln w="38100" cap="flat" cmpd="sng">
            <a:solidFill>
              <a:srgbClr val="A5002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矩形 53249"/>
          <p:cNvSpPr/>
          <p:nvPr/>
        </p:nvSpPr>
        <p:spPr>
          <a:xfrm>
            <a:off x="152400" y="152400"/>
            <a:ext cx="3581400" cy="5334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9525">
            <a:noFill/>
          </a:ln>
          <a:effectLst>
            <a:outerShdw dist="107763" dir="18900000" algn="ctr" rotWithShape="0">
              <a:srgbClr val="808080"/>
            </a:outerShdw>
          </a:effectLst>
        </p:spPr>
        <p:txBody>
          <a:bodyPr anchor="ctr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 algn="l"/>
            <a:r>
              <a:rPr lang="zh-CN" altLang="en-US" sz="3200" b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同步时序电路设计</a:t>
            </a:r>
            <a:endParaRPr lang="zh-CN" altLang="en-US" sz="7200" b="1">
              <a:effectLst>
                <a:outerShdw blurRad="38100" dist="38100" dir="2700000">
                  <a:srgbClr val="FFFFFF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3251" name="矩形 53250"/>
          <p:cNvSpPr/>
          <p:nvPr/>
        </p:nvSpPr>
        <p:spPr>
          <a:xfrm>
            <a:off x="152400" y="152400"/>
            <a:ext cx="3581400" cy="5334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9525"/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 anchorCtr="0">
            <a:flatTx/>
          </a:bodyPr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 algn="l"/>
            <a:r>
              <a:rPr lang="zh-CN" altLang="en-US" sz="3200" b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同步时序电路设计</a:t>
            </a:r>
            <a:endParaRPr lang="zh-CN" altLang="en-US" sz="7200" b="1">
              <a:effectLst>
                <a:outerShdw blurRad="38100" dist="38100" dir="2700000">
                  <a:srgbClr val="FFFFFF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53252" name="组合 53251"/>
          <p:cNvGrpSpPr/>
          <p:nvPr/>
        </p:nvGrpSpPr>
        <p:grpSpPr>
          <a:xfrm>
            <a:off x="762000" y="2057400"/>
            <a:ext cx="1066800" cy="3505200"/>
            <a:chOff x="480" y="1296"/>
            <a:chExt cx="672" cy="2208"/>
          </a:xfrm>
        </p:grpSpPr>
        <p:sp>
          <p:nvSpPr>
            <p:cNvPr id="53253" name="椭圆 53252"/>
            <p:cNvSpPr/>
            <p:nvPr/>
          </p:nvSpPr>
          <p:spPr>
            <a:xfrm>
              <a:off x="480" y="1296"/>
              <a:ext cx="672" cy="2208"/>
            </a:xfrm>
            <a:prstGeom prst="ellipse">
              <a:avLst/>
            </a:prstGeom>
            <a:gradFill rotWithShape="0">
              <a:gsLst>
                <a:gs pos="0">
                  <a:srgbClr val="FFFF99">
                    <a:gamma/>
                    <a:shade val="46275"/>
                    <a:invGamma/>
                  </a:srgbClr>
                </a:gs>
                <a:gs pos="50000">
                  <a:srgbClr val="FFFF99"/>
                </a:gs>
                <a:gs pos="100000">
                  <a:srgbClr val="FFFF99">
                    <a:gamma/>
                    <a:shade val="46275"/>
                    <a:invGamma/>
                  </a:srgbClr>
                </a:gs>
              </a:gsLst>
              <a:lin ang="5400000" scaled="1"/>
              <a:tileRect/>
            </a:gradFill>
            <a:ln w="381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254" name="文本框 53253"/>
            <p:cNvSpPr txBox="1"/>
            <p:nvPr/>
          </p:nvSpPr>
          <p:spPr>
            <a:xfrm>
              <a:off x="576" y="1728"/>
              <a:ext cx="374" cy="1286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sz="32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设</a:t>
              </a:r>
              <a:endParaRPr lang="zh-CN" altLang="en-US" sz="3200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sz="32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计</a:t>
              </a:r>
              <a:endParaRPr lang="zh-CN" altLang="en-US" sz="3200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sz="32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方</a:t>
              </a:r>
              <a:endParaRPr lang="zh-CN" altLang="en-US" sz="3200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sz="32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法</a:t>
              </a:r>
              <a:endParaRPr lang="zh-CN" altLang="en-US" sz="320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3255" name="组合 53254"/>
          <p:cNvGrpSpPr/>
          <p:nvPr/>
        </p:nvGrpSpPr>
        <p:grpSpPr>
          <a:xfrm>
            <a:off x="3808413" y="547688"/>
            <a:ext cx="2439987" cy="458787"/>
            <a:chOff x="2399" y="345"/>
            <a:chExt cx="1537" cy="289"/>
          </a:xfrm>
        </p:grpSpPr>
        <p:sp>
          <p:nvSpPr>
            <p:cNvPr id="53256" name="流程图: 可选过程 53255"/>
            <p:cNvSpPr/>
            <p:nvPr/>
          </p:nvSpPr>
          <p:spPr>
            <a:xfrm>
              <a:off x="2399" y="345"/>
              <a:ext cx="1537" cy="288"/>
            </a:xfrm>
            <a:prstGeom prst="flowChartAlternateProcess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257" name="文本框 53256"/>
            <p:cNvSpPr txBox="1"/>
            <p:nvPr/>
          </p:nvSpPr>
          <p:spPr>
            <a:xfrm>
              <a:off x="2543" y="346"/>
              <a:ext cx="128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给定逻辑功能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53258" name="直接连接符 53257"/>
          <p:cNvSpPr/>
          <p:nvPr/>
        </p:nvSpPr>
        <p:spPr>
          <a:xfrm>
            <a:off x="4949825" y="1004888"/>
            <a:ext cx="0" cy="230187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53259" name="组合 53258"/>
          <p:cNvGrpSpPr/>
          <p:nvPr/>
        </p:nvGrpSpPr>
        <p:grpSpPr>
          <a:xfrm>
            <a:off x="3732213" y="1158875"/>
            <a:ext cx="2438400" cy="822325"/>
            <a:chOff x="1824" y="1296"/>
            <a:chExt cx="1536" cy="518"/>
          </a:xfrm>
        </p:grpSpPr>
        <p:sp>
          <p:nvSpPr>
            <p:cNvPr id="53260" name="流程图: 可选过程 53259"/>
            <p:cNvSpPr/>
            <p:nvPr/>
          </p:nvSpPr>
          <p:spPr>
            <a:xfrm>
              <a:off x="1824" y="1344"/>
              <a:ext cx="1536" cy="432"/>
            </a:xfrm>
            <a:prstGeom prst="flowChartAlternateProcess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261" name="文本框 53260"/>
            <p:cNvSpPr txBox="1"/>
            <p:nvPr/>
          </p:nvSpPr>
          <p:spPr>
            <a:xfrm>
              <a:off x="1968" y="1296"/>
              <a:ext cx="1280" cy="51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lang="zh-CN" altLang="en-US" dirty="0">
                  <a:latin typeface="Times New Roman" panose="02020603050405020304" pitchFamily="18" charset="0"/>
                </a:rPr>
                <a:t>写原始状态图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zh-CN" altLang="en-US" dirty="0">
                  <a:latin typeface="Times New Roman" panose="02020603050405020304" pitchFamily="18" charset="0"/>
                </a:rPr>
                <a:t>原始状态表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53262" name="直接连接符 53261"/>
          <p:cNvSpPr/>
          <p:nvPr/>
        </p:nvSpPr>
        <p:spPr>
          <a:xfrm>
            <a:off x="4953000" y="1905000"/>
            <a:ext cx="0" cy="3048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53263" name="组合 53262"/>
          <p:cNvGrpSpPr/>
          <p:nvPr/>
        </p:nvGrpSpPr>
        <p:grpSpPr>
          <a:xfrm>
            <a:off x="3124200" y="2209800"/>
            <a:ext cx="3581400" cy="609600"/>
            <a:chOff x="1968" y="1392"/>
            <a:chExt cx="2256" cy="384"/>
          </a:xfrm>
        </p:grpSpPr>
        <p:sp>
          <p:nvSpPr>
            <p:cNvPr id="53264" name="流程图: 可选过程 53263"/>
            <p:cNvSpPr/>
            <p:nvPr/>
          </p:nvSpPr>
          <p:spPr>
            <a:xfrm>
              <a:off x="2016" y="1392"/>
              <a:ext cx="2208" cy="384"/>
            </a:xfrm>
            <a:prstGeom prst="flowChartAlternateProcess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265" name="文本框 53264"/>
            <p:cNvSpPr txBox="1"/>
            <p:nvPr/>
          </p:nvSpPr>
          <p:spPr>
            <a:xfrm>
              <a:off x="1968" y="1440"/>
              <a:ext cx="225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状态简化得最小化状态表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53266" name="直接连接符 53265"/>
          <p:cNvSpPr/>
          <p:nvPr/>
        </p:nvSpPr>
        <p:spPr>
          <a:xfrm>
            <a:off x="4953000" y="2819400"/>
            <a:ext cx="0" cy="3048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53267" name="组合 53266"/>
          <p:cNvGrpSpPr/>
          <p:nvPr/>
        </p:nvGrpSpPr>
        <p:grpSpPr>
          <a:xfrm>
            <a:off x="4038600" y="3124200"/>
            <a:ext cx="1828800" cy="457200"/>
            <a:chOff x="2496" y="1968"/>
            <a:chExt cx="1152" cy="288"/>
          </a:xfrm>
        </p:grpSpPr>
        <p:sp>
          <p:nvSpPr>
            <p:cNvPr id="53268" name="流程图: 可选过程 53267"/>
            <p:cNvSpPr/>
            <p:nvPr/>
          </p:nvSpPr>
          <p:spPr>
            <a:xfrm>
              <a:off x="2496" y="1968"/>
              <a:ext cx="1152" cy="288"/>
            </a:xfrm>
            <a:prstGeom prst="flowChartAlternateProcess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269" name="文本框 53268"/>
            <p:cNvSpPr txBox="1"/>
            <p:nvPr/>
          </p:nvSpPr>
          <p:spPr>
            <a:xfrm>
              <a:off x="2592" y="1968"/>
              <a:ext cx="89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状态编码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53270" name="直接连接符 53269"/>
          <p:cNvSpPr/>
          <p:nvPr/>
        </p:nvSpPr>
        <p:spPr>
          <a:xfrm>
            <a:off x="4953000" y="3581400"/>
            <a:ext cx="0" cy="3048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53271" name="组合 53270"/>
          <p:cNvGrpSpPr/>
          <p:nvPr/>
        </p:nvGrpSpPr>
        <p:grpSpPr>
          <a:xfrm>
            <a:off x="2133600" y="3886200"/>
            <a:ext cx="5638800" cy="534988"/>
            <a:chOff x="1488" y="2495"/>
            <a:chExt cx="3552" cy="337"/>
          </a:xfrm>
        </p:grpSpPr>
        <p:sp>
          <p:nvSpPr>
            <p:cNvPr id="53272" name="流程图: 可选过程 53271"/>
            <p:cNvSpPr/>
            <p:nvPr/>
          </p:nvSpPr>
          <p:spPr>
            <a:xfrm>
              <a:off x="1488" y="2496"/>
              <a:ext cx="3552" cy="336"/>
            </a:xfrm>
            <a:prstGeom prst="flowChartAlternateProcess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273" name="文本框 53272"/>
            <p:cNvSpPr txBox="1"/>
            <p:nvPr/>
          </p:nvSpPr>
          <p:spPr>
            <a:xfrm>
              <a:off x="1578" y="2495"/>
              <a:ext cx="341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选触发器类型，求控制函数、输出函数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53274" name="直接连接符 53273"/>
          <p:cNvSpPr/>
          <p:nvPr/>
        </p:nvSpPr>
        <p:spPr>
          <a:xfrm>
            <a:off x="4953000" y="4419600"/>
            <a:ext cx="0" cy="3048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3275" name="流程图: 可选过程 53274"/>
          <p:cNvSpPr/>
          <p:nvPr/>
        </p:nvSpPr>
        <p:spPr>
          <a:xfrm>
            <a:off x="3657600" y="4724400"/>
            <a:ext cx="2514600" cy="457200"/>
          </a:xfrm>
          <a:prstGeom prst="flowChartAlternateProcess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画逻辑电路图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3276" name="直接连接符 53275"/>
          <p:cNvSpPr/>
          <p:nvPr/>
        </p:nvSpPr>
        <p:spPr>
          <a:xfrm>
            <a:off x="4953000" y="5181600"/>
            <a:ext cx="0" cy="3048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3277" name="流程图: 可选过程 53276"/>
          <p:cNvSpPr/>
          <p:nvPr/>
        </p:nvSpPr>
        <p:spPr>
          <a:xfrm>
            <a:off x="3581400" y="5486400"/>
            <a:ext cx="2743200" cy="1143000"/>
          </a:xfrm>
          <a:prstGeom prst="flowChartAlternateProcess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画出全状态图，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检查设计，如不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符合要求，重新设计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pic>
        <p:nvPicPr>
          <p:cNvPr id="53278" name="图片 53277" descr="wb01508_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00" y="60198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3279" name="文本框 53278">
            <a:hlinkClick r:id="rId1" action="ppaction://hlinksldjump"/>
          </p:cNvPr>
          <p:cNvSpPr txBox="1"/>
          <p:nvPr/>
        </p:nvSpPr>
        <p:spPr>
          <a:xfrm>
            <a:off x="7588250" y="60960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u="sng" dirty="0">
                <a:solidFill>
                  <a:schemeClr val="accent2"/>
                </a:solidFill>
                <a:latin typeface="Times New Roman" panose="02020603050405020304" pitchFamily="18" charset="0"/>
              </a:rPr>
              <a:t>返  回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5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53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3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53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3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53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3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53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53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53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53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7" dur="500"/>
                                        <p:tgtEl>
                                          <p:spTgt spid="53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animBg="1"/>
      <p:bldP spid="53275" grpId="0" animBg="1"/>
      <p:bldP spid="5327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矩形 37889"/>
          <p:cNvSpPr/>
          <p:nvPr/>
        </p:nvSpPr>
        <p:spPr>
          <a:xfrm>
            <a:off x="762000" y="304800"/>
            <a:ext cx="7696200" cy="9144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9525"/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 anchorCtr="0">
            <a:flatTx/>
          </a:bodyPr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sz="5400" b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异步时序电路</a:t>
            </a:r>
            <a:endParaRPr lang="zh-CN" altLang="en-US" sz="7200" b="1" dirty="0">
              <a:effectLst>
                <a:outerShdw blurRad="38100" dist="38100" dir="2700000">
                  <a:srgbClr val="FFFFFF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7894" name="文本框 37893"/>
          <p:cNvSpPr txBox="1"/>
          <p:nvPr/>
        </p:nvSpPr>
        <p:spPr>
          <a:xfrm>
            <a:off x="1447800" y="1524000"/>
            <a:ext cx="29368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脉冲</a:t>
            </a:r>
            <a:r>
              <a:rPr lang="zh-CN" altLang="en-US" dirty="0">
                <a:latin typeface="Times New Roman" panose="02020603050405020304" pitchFamily="18" charset="0"/>
              </a:rPr>
              <a:t>异步时序电路：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7895" name="文本框 37894"/>
          <p:cNvSpPr txBox="1"/>
          <p:nvPr/>
        </p:nvSpPr>
        <p:spPr>
          <a:xfrm>
            <a:off x="4267200" y="1524000"/>
            <a:ext cx="29178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输入信号是脉冲信号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7896" name="文本框 37895"/>
          <p:cNvSpPr txBox="1"/>
          <p:nvPr/>
        </p:nvSpPr>
        <p:spPr>
          <a:xfrm>
            <a:off x="1447800" y="2286000"/>
            <a:ext cx="29305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电平异步时序电路：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7898" name="文本框 37897"/>
          <p:cNvSpPr txBox="1"/>
          <p:nvPr/>
        </p:nvSpPr>
        <p:spPr>
          <a:xfrm>
            <a:off x="4267200" y="2286000"/>
            <a:ext cx="23082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输入信号是电平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37903" name="组合 37902"/>
          <p:cNvGrpSpPr/>
          <p:nvPr/>
        </p:nvGrpSpPr>
        <p:grpSpPr>
          <a:xfrm>
            <a:off x="1981200" y="625475"/>
            <a:ext cx="2590800" cy="822325"/>
            <a:chOff x="1440" y="528"/>
            <a:chExt cx="1632" cy="518"/>
          </a:xfrm>
        </p:grpSpPr>
        <p:sp>
          <p:nvSpPr>
            <p:cNvPr id="37901" name="圆角矩形标注 37900"/>
            <p:cNvSpPr/>
            <p:nvPr/>
          </p:nvSpPr>
          <p:spPr>
            <a:xfrm>
              <a:off x="1440" y="528"/>
              <a:ext cx="1632" cy="480"/>
            </a:xfrm>
            <a:prstGeom prst="wedgeRoundRectCallout">
              <a:avLst>
                <a:gd name="adj1" fmla="val -40870"/>
                <a:gd name="adj2" fmla="val 77917"/>
                <a:gd name="adj3" fmla="val 16667"/>
              </a:avLst>
            </a:prstGeom>
            <a:solidFill>
              <a:srgbClr val="CCFFFF"/>
            </a:solidFill>
            <a:ln w="38100">
              <a:noFill/>
            </a:ln>
          </p:spPr>
          <p:txBody>
            <a:bodyPr wrap="none" anchor="ctr" anchorCtr="0"/>
            <a:p>
              <a:pPr algn="ctr" eaLnBrk="1" hangingPunct="1"/>
              <a:endParaRPr dirty="0">
                <a:latin typeface="Times New Roman" panose="02020603050405020304" pitchFamily="18" charset="0"/>
              </a:endParaRPr>
            </a:p>
          </p:txBody>
        </p:sp>
        <p:sp>
          <p:nvSpPr>
            <p:cNvPr id="37902" name="文本框 37901"/>
            <p:cNvSpPr txBox="1"/>
            <p:nvPr/>
          </p:nvSpPr>
          <p:spPr>
            <a:xfrm>
              <a:off x="1488" y="528"/>
              <a:ext cx="1408" cy="51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zh-CN" altLang="en-US" dirty="0">
                  <a:latin typeface="Times New Roman" panose="02020603050405020304" pitchFamily="18" charset="0"/>
                </a:rPr>
                <a:t>本节主要介绍该电路的分析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37905" name="文本框 37904"/>
          <p:cNvSpPr txBox="1"/>
          <p:nvPr/>
        </p:nvSpPr>
        <p:spPr>
          <a:xfrm>
            <a:off x="762000" y="3048000"/>
            <a:ext cx="32512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例：</a:t>
            </a:r>
            <a:r>
              <a:rPr lang="zh-CN" altLang="en-US" dirty="0">
                <a:latin typeface="宋体" panose="02010600030101010101" pitchFamily="2" charset="-122"/>
              </a:rPr>
              <a:t>分析图示时序电路</a:t>
            </a:r>
            <a:endParaRPr lang="zh-CN" altLang="en-US">
              <a:latin typeface="宋体" panose="02010600030101010101" pitchFamily="2" charset="-122"/>
            </a:endParaRPr>
          </a:p>
        </p:txBody>
      </p:sp>
      <p:graphicFrame>
        <p:nvGraphicFramePr>
          <p:cNvPr id="37907" name="对象 37906"/>
          <p:cNvGraphicFramePr/>
          <p:nvPr/>
        </p:nvGraphicFramePr>
        <p:xfrm>
          <a:off x="3505200" y="3505200"/>
          <a:ext cx="5257800" cy="297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1" imgW="4419600" imgH="1714500" progId="Paint.Picture">
                  <p:embed/>
                </p:oleObj>
              </mc:Choice>
              <mc:Fallback>
                <p:oleObj name="" r:id="rId1" imgW="4419600" imgH="1714500" progId="Paint.Picture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05200" y="3505200"/>
                        <a:ext cx="5257800" cy="297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9" name="文本框 37908"/>
          <p:cNvSpPr txBox="1"/>
          <p:nvPr/>
        </p:nvSpPr>
        <p:spPr>
          <a:xfrm>
            <a:off x="727075" y="3581400"/>
            <a:ext cx="8001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解：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7910" name="文本框 37909"/>
          <p:cNvSpPr txBox="1"/>
          <p:nvPr/>
        </p:nvSpPr>
        <p:spPr>
          <a:xfrm>
            <a:off x="1181100" y="3581400"/>
            <a:ext cx="20193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该电路是异步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7911" name="文本框 37910"/>
          <p:cNvSpPr txBox="1"/>
          <p:nvPr/>
        </p:nvSpPr>
        <p:spPr>
          <a:xfrm>
            <a:off x="609600" y="4191000"/>
            <a:ext cx="2895600" cy="822325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p>
            <a:pPr algn="ctr"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注：</a:t>
            </a:r>
            <a:r>
              <a:rPr lang="zh-CN" altLang="en-US" dirty="0">
                <a:latin typeface="Times New Roman" panose="02020603050405020304" pitchFamily="18" charset="0"/>
              </a:rPr>
              <a:t>异步电路的分析应考虑时钟信号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37919" name="组合 37918"/>
          <p:cNvGrpSpPr/>
          <p:nvPr/>
        </p:nvGrpSpPr>
        <p:grpSpPr>
          <a:xfrm>
            <a:off x="4724400" y="4724400"/>
            <a:ext cx="3352800" cy="1066800"/>
            <a:chOff x="2976" y="2976"/>
            <a:chExt cx="2112" cy="576"/>
          </a:xfrm>
        </p:grpSpPr>
        <p:sp>
          <p:nvSpPr>
            <p:cNvPr id="37913" name="直接连接符 37912"/>
            <p:cNvSpPr/>
            <p:nvPr/>
          </p:nvSpPr>
          <p:spPr>
            <a:xfrm>
              <a:off x="3024" y="2976"/>
              <a:ext cx="0" cy="576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14" name="直接连接符 37913"/>
            <p:cNvSpPr/>
            <p:nvPr/>
          </p:nvSpPr>
          <p:spPr>
            <a:xfrm>
              <a:off x="3024" y="3552"/>
              <a:ext cx="2064" cy="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15" name="直接连接符 37914"/>
            <p:cNvSpPr/>
            <p:nvPr/>
          </p:nvSpPr>
          <p:spPr>
            <a:xfrm>
              <a:off x="4704" y="2976"/>
              <a:ext cx="0" cy="576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17" name="直接连接符 37916"/>
            <p:cNvSpPr/>
            <p:nvPr/>
          </p:nvSpPr>
          <p:spPr>
            <a:xfrm>
              <a:off x="2976" y="2976"/>
              <a:ext cx="48" cy="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18" name="直接连接符 37917"/>
            <p:cNvSpPr/>
            <p:nvPr/>
          </p:nvSpPr>
          <p:spPr>
            <a:xfrm>
              <a:off x="4656" y="2976"/>
              <a:ext cx="48" cy="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7928" name="组合 37927"/>
          <p:cNvGrpSpPr/>
          <p:nvPr/>
        </p:nvGrpSpPr>
        <p:grpSpPr>
          <a:xfrm>
            <a:off x="4267200" y="5562600"/>
            <a:ext cx="3810000" cy="533400"/>
            <a:chOff x="2688" y="3408"/>
            <a:chExt cx="2400" cy="288"/>
          </a:xfrm>
        </p:grpSpPr>
        <p:sp>
          <p:nvSpPr>
            <p:cNvPr id="37920" name="直接连接符 37919"/>
            <p:cNvSpPr/>
            <p:nvPr/>
          </p:nvSpPr>
          <p:spPr>
            <a:xfrm>
              <a:off x="2688" y="3408"/>
              <a:ext cx="0" cy="288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21" name="直接连接符 37920"/>
            <p:cNvSpPr/>
            <p:nvPr/>
          </p:nvSpPr>
          <p:spPr>
            <a:xfrm>
              <a:off x="2688" y="3696"/>
              <a:ext cx="2400" cy="0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22" name="直接连接符 37921"/>
            <p:cNvSpPr/>
            <p:nvPr/>
          </p:nvSpPr>
          <p:spPr>
            <a:xfrm>
              <a:off x="3552" y="3408"/>
              <a:ext cx="0" cy="288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23" name="直接连接符 37922"/>
            <p:cNvSpPr/>
            <p:nvPr/>
          </p:nvSpPr>
          <p:spPr>
            <a:xfrm>
              <a:off x="4416" y="3408"/>
              <a:ext cx="0" cy="288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7927" name="组合 37926"/>
          <p:cNvGrpSpPr/>
          <p:nvPr/>
        </p:nvGrpSpPr>
        <p:grpSpPr>
          <a:xfrm>
            <a:off x="6096000" y="4267200"/>
            <a:ext cx="609600" cy="457200"/>
            <a:chOff x="3840" y="2736"/>
            <a:chExt cx="336" cy="240"/>
          </a:xfrm>
        </p:grpSpPr>
        <p:sp>
          <p:nvSpPr>
            <p:cNvPr id="37924" name="直接连接符 37923"/>
            <p:cNvSpPr/>
            <p:nvPr/>
          </p:nvSpPr>
          <p:spPr>
            <a:xfrm flipH="1">
              <a:off x="4032" y="2736"/>
              <a:ext cx="144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25" name="直接连接符 37924"/>
            <p:cNvSpPr/>
            <p:nvPr/>
          </p:nvSpPr>
          <p:spPr>
            <a:xfrm>
              <a:off x="4032" y="2736"/>
              <a:ext cx="0" cy="24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26" name="直接连接符 37925"/>
            <p:cNvSpPr/>
            <p:nvPr/>
          </p:nvSpPr>
          <p:spPr>
            <a:xfrm flipH="1">
              <a:off x="3840" y="2976"/>
              <a:ext cx="192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pic>
        <p:nvPicPr>
          <p:cNvPr id="37929" name="图片 37928" descr="wb01508_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9436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930" name="文本框 37929">
            <a:hlinkClick r:id="rId3" action="ppaction://hlinksldjump"/>
          </p:cNvPr>
          <p:cNvSpPr txBox="1"/>
          <p:nvPr/>
        </p:nvSpPr>
        <p:spPr>
          <a:xfrm>
            <a:off x="958850" y="60198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u="sng" dirty="0">
                <a:solidFill>
                  <a:schemeClr val="accent2"/>
                </a:solidFill>
                <a:latin typeface="Times New Roman" panose="02020603050405020304" pitchFamily="18" charset="0"/>
              </a:rPr>
              <a:t>返  回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37932" name="组合 37931"/>
          <p:cNvGrpSpPr/>
          <p:nvPr/>
        </p:nvGrpSpPr>
        <p:grpSpPr>
          <a:xfrm>
            <a:off x="609600" y="1371600"/>
            <a:ext cx="838200" cy="1524000"/>
            <a:chOff x="384" y="864"/>
            <a:chExt cx="528" cy="960"/>
          </a:xfrm>
        </p:grpSpPr>
        <p:sp>
          <p:nvSpPr>
            <p:cNvPr id="37891" name="椭圆 37890"/>
            <p:cNvSpPr/>
            <p:nvPr/>
          </p:nvSpPr>
          <p:spPr>
            <a:xfrm>
              <a:off x="384" y="864"/>
              <a:ext cx="528" cy="960"/>
            </a:xfrm>
            <a:prstGeom prst="ellipse">
              <a:avLst/>
            </a:prstGeom>
            <a:gradFill rotWithShape="0">
              <a:gsLst>
                <a:gs pos="0">
                  <a:srgbClr val="FFFF99">
                    <a:gamma/>
                    <a:shade val="46275"/>
                    <a:invGamma/>
                  </a:srgbClr>
                </a:gs>
                <a:gs pos="50000">
                  <a:srgbClr val="FFFF99"/>
                </a:gs>
                <a:gs pos="100000">
                  <a:srgbClr val="FFFF99">
                    <a:gamma/>
                    <a:shade val="46275"/>
                    <a:invGamma/>
                  </a:srgbClr>
                </a:gs>
              </a:gsLst>
              <a:lin ang="5400000" scaled="1"/>
              <a:tileRect/>
            </a:gradFill>
            <a:ln w="381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7931" name="矩形 37930"/>
            <p:cNvSpPr/>
            <p:nvPr/>
          </p:nvSpPr>
          <p:spPr>
            <a:xfrm>
              <a:off x="458" y="980"/>
              <a:ext cx="310" cy="74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zh-CN" altLang="en-US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分</a:t>
              </a:r>
              <a:endPara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endPara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zh-CN" altLang="en-US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类</a:t>
              </a:r>
              <a:endPara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7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7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7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7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53" dur="500"/>
                                        <p:tgtEl>
                                          <p:spTgt spid="37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58" dur="500"/>
                                        <p:tgtEl>
                                          <p:spTgt spid="37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3" dur="500"/>
                                        <p:tgtEl>
                                          <p:spTgt spid="37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7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7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 animBg="1"/>
      <p:bldP spid="37894" grpId="0"/>
      <p:bldP spid="37895" grpId="0"/>
      <p:bldP spid="37896" grpId="0"/>
      <p:bldP spid="37898" grpId="0"/>
      <p:bldP spid="37905" grpId="0"/>
      <p:bldP spid="37909" grpId="0"/>
      <p:bldP spid="37910" grpId="0"/>
      <p:bldP spid="3791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矩形 38913"/>
          <p:cNvSpPr/>
          <p:nvPr/>
        </p:nvSpPr>
        <p:spPr>
          <a:xfrm>
            <a:off x="533400" y="304800"/>
            <a:ext cx="4876800" cy="6096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9525">
            <a:noFill/>
          </a:ln>
          <a:effectLst>
            <a:outerShdw sy="50000" kx="2453608" rotWithShape="0">
              <a:srgbClr val="808080"/>
            </a:outerShdw>
          </a:effectLst>
        </p:spPr>
        <p:txBody>
          <a:bodyPr anchor="ctr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sz="4000" b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异步时序电路分析</a:t>
            </a:r>
            <a:endParaRPr lang="zh-CN" altLang="en-US" sz="7200" b="1">
              <a:effectLst>
                <a:outerShdw blurRad="38100" dist="38100" dir="2700000">
                  <a:srgbClr val="FFFFFF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aphicFrame>
        <p:nvGraphicFramePr>
          <p:cNvPr id="38915" name="对象 38914"/>
          <p:cNvGraphicFramePr/>
          <p:nvPr/>
        </p:nvGraphicFramePr>
        <p:xfrm>
          <a:off x="3657600" y="1600200"/>
          <a:ext cx="5257800" cy="297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1" imgW="4419600" imgH="1714500" progId="Paint.Picture">
                  <p:embed/>
                </p:oleObj>
              </mc:Choice>
              <mc:Fallback>
                <p:oleObj name="" r:id="rId1" imgW="4419600" imgH="1714500" progId="Paint.Picture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57600" y="1600200"/>
                        <a:ext cx="5257800" cy="297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916" name="组合 38915"/>
          <p:cNvGrpSpPr/>
          <p:nvPr/>
        </p:nvGrpSpPr>
        <p:grpSpPr>
          <a:xfrm>
            <a:off x="4876800" y="2819400"/>
            <a:ext cx="3352800" cy="1066800"/>
            <a:chOff x="2976" y="2976"/>
            <a:chExt cx="2112" cy="576"/>
          </a:xfrm>
        </p:grpSpPr>
        <p:sp>
          <p:nvSpPr>
            <p:cNvPr id="38917" name="直接连接符 38916"/>
            <p:cNvSpPr/>
            <p:nvPr/>
          </p:nvSpPr>
          <p:spPr>
            <a:xfrm>
              <a:off x="3024" y="2976"/>
              <a:ext cx="0" cy="576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18" name="直接连接符 38917"/>
            <p:cNvSpPr/>
            <p:nvPr/>
          </p:nvSpPr>
          <p:spPr>
            <a:xfrm>
              <a:off x="3024" y="3552"/>
              <a:ext cx="2064" cy="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19" name="直接连接符 38918"/>
            <p:cNvSpPr/>
            <p:nvPr/>
          </p:nvSpPr>
          <p:spPr>
            <a:xfrm>
              <a:off x="4704" y="2976"/>
              <a:ext cx="0" cy="576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20" name="直接连接符 38919"/>
            <p:cNvSpPr/>
            <p:nvPr/>
          </p:nvSpPr>
          <p:spPr>
            <a:xfrm>
              <a:off x="2976" y="2976"/>
              <a:ext cx="48" cy="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21" name="直接连接符 38920"/>
            <p:cNvSpPr/>
            <p:nvPr/>
          </p:nvSpPr>
          <p:spPr>
            <a:xfrm>
              <a:off x="4656" y="2976"/>
              <a:ext cx="48" cy="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8927" name="组合 38926"/>
          <p:cNvGrpSpPr/>
          <p:nvPr/>
        </p:nvGrpSpPr>
        <p:grpSpPr>
          <a:xfrm>
            <a:off x="6248400" y="2362200"/>
            <a:ext cx="609600" cy="457200"/>
            <a:chOff x="3840" y="2736"/>
            <a:chExt cx="336" cy="240"/>
          </a:xfrm>
        </p:grpSpPr>
        <p:sp>
          <p:nvSpPr>
            <p:cNvPr id="38928" name="直接连接符 38927"/>
            <p:cNvSpPr/>
            <p:nvPr/>
          </p:nvSpPr>
          <p:spPr>
            <a:xfrm flipH="1">
              <a:off x="4032" y="2736"/>
              <a:ext cx="144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29" name="直接连接符 38928"/>
            <p:cNvSpPr/>
            <p:nvPr/>
          </p:nvSpPr>
          <p:spPr>
            <a:xfrm>
              <a:off x="4032" y="2736"/>
              <a:ext cx="0" cy="24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30" name="直接连接符 38929"/>
            <p:cNvSpPr/>
            <p:nvPr/>
          </p:nvSpPr>
          <p:spPr>
            <a:xfrm flipH="1">
              <a:off x="3840" y="2976"/>
              <a:ext cx="192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8931" name="文本框 38930"/>
          <p:cNvSpPr txBox="1"/>
          <p:nvPr/>
        </p:nvSpPr>
        <p:spPr>
          <a:xfrm>
            <a:off x="365125" y="1143000"/>
            <a:ext cx="49339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宋体" panose="02010600030101010101" pitchFamily="2" charset="-122"/>
              </a:rPr>
              <a:t>1. </a:t>
            </a:r>
            <a:r>
              <a:rPr lang="zh-CN" altLang="en-US" dirty="0">
                <a:latin typeface="宋体" panose="02010600030101010101" pitchFamily="2" charset="-122"/>
              </a:rPr>
              <a:t>各触发器的控制函数和时钟方程</a:t>
            </a:r>
            <a:endParaRPr lang="zh-CN" altLang="en-US">
              <a:latin typeface="宋体" panose="02010600030101010101" pitchFamily="2" charset="-122"/>
            </a:endParaRPr>
          </a:p>
        </p:txBody>
      </p:sp>
      <p:graphicFrame>
        <p:nvGraphicFramePr>
          <p:cNvPr id="38932" name="对象 38931"/>
          <p:cNvGraphicFramePr/>
          <p:nvPr/>
        </p:nvGraphicFramePr>
        <p:xfrm>
          <a:off x="533400" y="1600200"/>
          <a:ext cx="1295400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3" imgW="532765" imgH="254000" progId="Equation.3">
                  <p:embed/>
                </p:oleObj>
              </mc:Choice>
              <mc:Fallback>
                <p:oleObj name="" r:id="rId3" imgW="532765" imgH="2540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3400" y="1600200"/>
                        <a:ext cx="1295400" cy="614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3" name="对象 38932"/>
          <p:cNvGraphicFramePr/>
          <p:nvPr/>
        </p:nvGraphicFramePr>
        <p:xfrm>
          <a:off x="609600" y="2133600"/>
          <a:ext cx="10541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5" imgW="431800" imgH="228600" progId="Equation.3">
                  <p:embed/>
                </p:oleObj>
              </mc:Choice>
              <mc:Fallback>
                <p:oleObj name="" r:id="rId5" imgW="431800" imgH="228600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9600" y="2133600"/>
                        <a:ext cx="1054100" cy="55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4" name="对象 38933"/>
          <p:cNvGraphicFramePr/>
          <p:nvPr/>
        </p:nvGraphicFramePr>
        <p:xfrm>
          <a:off x="533400" y="2590800"/>
          <a:ext cx="16764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7" imgW="685165" imgH="215900" progId="Equation.3">
                  <p:embed/>
                </p:oleObj>
              </mc:Choice>
              <mc:Fallback>
                <p:oleObj name="" r:id="rId7" imgW="685165" imgH="215900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3400" y="2590800"/>
                        <a:ext cx="1676400" cy="523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5" name="对象 38934"/>
          <p:cNvGraphicFramePr/>
          <p:nvPr/>
        </p:nvGraphicFramePr>
        <p:xfrm>
          <a:off x="1981200" y="1587500"/>
          <a:ext cx="1676400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9" imgW="647700" imgH="228600" progId="Equation.3">
                  <p:embed/>
                </p:oleObj>
              </mc:Choice>
              <mc:Fallback>
                <p:oleObj name="" r:id="rId9" imgW="647700" imgH="228600" progId="Equation.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81200" y="1587500"/>
                        <a:ext cx="1676400" cy="592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6" name="对象 38935"/>
          <p:cNvGraphicFramePr/>
          <p:nvPr/>
        </p:nvGraphicFramePr>
        <p:xfrm>
          <a:off x="1981200" y="2103438"/>
          <a:ext cx="113030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11" imgW="431165" imgH="215900" progId="Equation.3">
                  <p:embed/>
                </p:oleObj>
              </mc:Choice>
              <mc:Fallback>
                <p:oleObj name="" r:id="rId11" imgW="431165" imgH="215900" progId="Equation.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981200" y="2103438"/>
                        <a:ext cx="1130300" cy="563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7" name="对象 38936"/>
          <p:cNvGraphicFramePr/>
          <p:nvPr/>
        </p:nvGraphicFramePr>
        <p:xfrm>
          <a:off x="635000" y="3048000"/>
          <a:ext cx="24130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13" imgW="1016000" imgH="228600" progId="Equation.3">
                  <p:embed/>
                </p:oleObj>
              </mc:Choice>
              <mc:Fallback>
                <p:oleObj name="" r:id="rId13" imgW="1016000" imgH="22860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35000" y="3048000"/>
                        <a:ext cx="2413000" cy="542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8" name="对象 38937"/>
          <p:cNvGraphicFramePr/>
          <p:nvPr/>
        </p:nvGraphicFramePr>
        <p:xfrm>
          <a:off x="622300" y="3505200"/>
          <a:ext cx="143510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15" imgW="584200" imgH="228600" progId="Equation.3">
                  <p:embed/>
                </p:oleObj>
              </mc:Choice>
              <mc:Fallback>
                <p:oleObj name="" r:id="rId15" imgW="584200" imgH="228600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22300" y="3505200"/>
                        <a:ext cx="1435100" cy="561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39" name="左大括号 38938"/>
          <p:cNvSpPr/>
          <p:nvPr/>
        </p:nvSpPr>
        <p:spPr>
          <a:xfrm>
            <a:off x="533400" y="1828800"/>
            <a:ext cx="76200" cy="609600"/>
          </a:xfrm>
          <a:prstGeom prst="leftBrace">
            <a:avLst>
              <a:gd name="adj1" fmla="val 66666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8940" name="左大括号 38939"/>
          <p:cNvSpPr/>
          <p:nvPr/>
        </p:nvSpPr>
        <p:spPr>
          <a:xfrm>
            <a:off x="1905000" y="1798638"/>
            <a:ext cx="76200" cy="609600"/>
          </a:xfrm>
          <a:prstGeom prst="leftBrace">
            <a:avLst>
              <a:gd name="adj1" fmla="val 66666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8942" name="左大括号 38941"/>
          <p:cNvSpPr/>
          <p:nvPr/>
        </p:nvSpPr>
        <p:spPr>
          <a:xfrm>
            <a:off x="533400" y="3200400"/>
            <a:ext cx="76200" cy="609600"/>
          </a:xfrm>
          <a:prstGeom prst="leftBrace">
            <a:avLst>
              <a:gd name="adj1" fmla="val 66666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8943" name="文本框 38942"/>
          <p:cNvSpPr txBox="1"/>
          <p:nvPr/>
        </p:nvSpPr>
        <p:spPr>
          <a:xfrm>
            <a:off x="438150" y="4038600"/>
            <a:ext cx="33623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宋体" panose="02010600030101010101" pitchFamily="2" charset="-122"/>
              </a:rPr>
              <a:t>2. </a:t>
            </a:r>
            <a:r>
              <a:rPr lang="zh-CN" altLang="en-US" dirty="0">
                <a:latin typeface="宋体" panose="02010600030101010101" pitchFamily="2" charset="-122"/>
              </a:rPr>
              <a:t>各触发器的状态方程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38945" name="圆角矩形标注 38944"/>
          <p:cNvSpPr/>
          <p:nvPr/>
        </p:nvSpPr>
        <p:spPr>
          <a:xfrm>
            <a:off x="3429000" y="3276600"/>
            <a:ext cx="2971800" cy="1219200"/>
          </a:xfrm>
          <a:prstGeom prst="wedgeRoundRectCallout">
            <a:avLst>
              <a:gd name="adj1" fmla="val -43750"/>
              <a:gd name="adj2" fmla="val 67449"/>
              <a:gd name="adj3" fmla="val 16667"/>
            </a:avLst>
          </a:prstGeom>
          <a:gradFill rotWithShape="0">
            <a:gsLst>
              <a:gs pos="0">
                <a:srgbClr val="FFFF99">
                  <a:gamma/>
                  <a:shade val="46275"/>
                  <a:invGamma/>
                </a:srgbClr>
              </a:gs>
              <a:gs pos="50000">
                <a:srgbClr val="FFFF99"/>
              </a:gs>
              <a:gs pos="100000">
                <a:srgbClr val="FFFF99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38100">
            <a:noFill/>
          </a:ln>
        </p:spPr>
        <p:txBody>
          <a:bodyPr wrap="none" anchor="ctr" anchorCtr="0"/>
          <a:p>
            <a:pPr algn="just"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当时钟脉冲 跳变沿</a:t>
            </a:r>
            <a:endParaRPr lang="zh-CN" altLang="en-US" dirty="0">
              <a:solidFill>
                <a:srgbClr val="A50021"/>
              </a:solidFill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到来时，方程成立</a:t>
            </a:r>
            <a:endParaRPr lang="zh-CN" altLang="en-US" dirty="0">
              <a:solidFill>
                <a:srgbClr val="A50021"/>
              </a:solidFill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无时钟，保持原态</a:t>
            </a:r>
            <a:endParaRPr lang="zh-CN" altLang="en-US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8947" name="对象 38946"/>
          <p:cNvGraphicFramePr/>
          <p:nvPr/>
        </p:nvGraphicFramePr>
        <p:xfrm>
          <a:off x="533400" y="4572000"/>
          <a:ext cx="388620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17" imgW="1522730" imgH="254000" progId="Equation.3">
                  <p:embed/>
                </p:oleObj>
              </mc:Choice>
              <mc:Fallback>
                <p:oleObj name="" r:id="rId17" imgW="1522730" imgH="254000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33400" y="4572000"/>
                        <a:ext cx="3886200" cy="644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48" name="对象 38947"/>
          <p:cNvGraphicFramePr/>
          <p:nvPr/>
        </p:nvGraphicFramePr>
        <p:xfrm>
          <a:off x="4343400" y="4664075"/>
          <a:ext cx="6858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19" imgW="266065" imgH="228600" progId="Equation.3">
                  <p:embed/>
                </p:oleObj>
              </mc:Choice>
              <mc:Fallback>
                <p:oleObj name="" r:id="rId19" imgW="266065" imgH="228600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343400" y="4664075"/>
                        <a:ext cx="685800" cy="593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49" name="对象 38948"/>
          <p:cNvGraphicFramePr/>
          <p:nvPr/>
        </p:nvGraphicFramePr>
        <p:xfrm>
          <a:off x="5029200" y="4581525"/>
          <a:ext cx="228600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21" imgW="913765" imgH="241300" progId="Equation.3">
                  <p:embed/>
                </p:oleObj>
              </mc:Choice>
              <mc:Fallback>
                <p:oleObj name="" r:id="rId21" imgW="913765" imgH="24130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029200" y="4581525"/>
                        <a:ext cx="2286000" cy="600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50" name="对象 38949"/>
          <p:cNvGraphicFramePr/>
          <p:nvPr/>
        </p:nvGraphicFramePr>
        <p:xfrm>
          <a:off x="533400" y="5181600"/>
          <a:ext cx="35814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23" imgW="1447165" imgH="241300" progId="Equation.3">
                  <p:embed/>
                </p:oleObj>
              </mc:Choice>
              <mc:Fallback>
                <p:oleObj name="" r:id="rId23" imgW="1447165" imgH="241300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33400" y="5181600"/>
                        <a:ext cx="3581400" cy="593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51" name="对象 38950"/>
          <p:cNvGraphicFramePr/>
          <p:nvPr/>
        </p:nvGraphicFramePr>
        <p:xfrm>
          <a:off x="4038600" y="5257800"/>
          <a:ext cx="6858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25" imgW="253365" imgH="215900" progId="Equation.3">
                  <p:embed/>
                </p:oleObj>
              </mc:Choice>
              <mc:Fallback>
                <p:oleObj name="" r:id="rId25" imgW="253365" imgH="21590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038600" y="5257800"/>
                        <a:ext cx="685800" cy="581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52" name="对象 38951"/>
          <p:cNvGraphicFramePr/>
          <p:nvPr/>
        </p:nvGraphicFramePr>
        <p:xfrm>
          <a:off x="4648200" y="5181600"/>
          <a:ext cx="170815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27" imgW="673100" imgH="241300" progId="Equation.3">
                  <p:embed/>
                </p:oleObj>
              </mc:Choice>
              <mc:Fallback>
                <p:oleObj name="" r:id="rId27" imgW="673100" imgH="241300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648200" y="5181600"/>
                        <a:ext cx="1708150" cy="612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54" name="对象 38953"/>
          <p:cNvGraphicFramePr/>
          <p:nvPr/>
        </p:nvGraphicFramePr>
        <p:xfrm>
          <a:off x="533400" y="5867400"/>
          <a:ext cx="42291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29" imgW="1751965" imgH="241300" progId="Equation.3">
                  <p:embed/>
                </p:oleObj>
              </mc:Choice>
              <mc:Fallback>
                <p:oleObj name="" r:id="rId29" imgW="1751965" imgH="24130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33400" y="5867400"/>
                        <a:ext cx="4229100" cy="577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55" name="对象 38954"/>
          <p:cNvGraphicFramePr/>
          <p:nvPr/>
        </p:nvGraphicFramePr>
        <p:xfrm>
          <a:off x="4724400" y="5867400"/>
          <a:ext cx="2628900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31" imgW="1103630" imgH="254000" progId="Equation.3">
                  <p:embed/>
                </p:oleObj>
              </mc:Choice>
              <mc:Fallback>
                <p:oleObj name="" r:id="rId31" imgW="1103630" imgH="254000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724400" y="5867400"/>
                        <a:ext cx="2628900" cy="601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956" name="图片 38955" descr="wb01508_">
            <a:hlinkClick r:id="rId33" action="ppaction://hlinksldjump"/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543800" y="59436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957" name="文本框 38956">
            <a:hlinkClick r:id="rId33" action="ppaction://hlinksldjump"/>
          </p:cNvPr>
          <p:cNvSpPr txBox="1"/>
          <p:nvPr/>
        </p:nvSpPr>
        <p:spPr>
          <a:xfrm>
            <a:off x="7740650" y="60198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u="sng" dirty="0">
                <a:solidFill>
                  <a:schemeClr val="accent2"/>
                </a:solidFill>
                <a:latin typeface="Times New Roman" panose="02020603050405020304" pitchFamily="18" charset="0"/>
              </a:rPr>
              <a:t>返  回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8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8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8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8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8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8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8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89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8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89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89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8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8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8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89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89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89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89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8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89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89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31" grpId="0"/>
      <p:bldP spid="38943" grpId="0"/>
      <p:bldP spid="3894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9" name="矩形 39938"/>
          <p:cNvSpPr/>
          <p:nvPr/>
        </p:nvSpPr>
        <p:spPr>
          <a:xfrm>
            <a:off x="533400" y="76200"/>
            <a:ext cx="4876800" cy="6096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9525">
            <a:noFill/>
          </a:ln>
          <a:effectLst>
            <a:outerShdw sy="50000" kx="2453608" rotWithShape="0">
              <a:srgbClr val="808080"/>
            </a:outerShdw>
          </a:effectLst>
        </p:spPr>
        <p:txBody>
          <a:bodyPr anchor="ctr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sz="4000" b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异步时序电路分析</a:t>
            </a:r>
            <a:endParaRPr lang="zh-CN" altLang="en-US" sz="7200" b="1">
              <a:effectLst>
                <a:outerShdw blurRad="38100" dist="38100" dir="2700000">
                  <a:srgbClr val="FFFFFF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9940" name="文本框 39939"/>
          <p:cNvSpPr txBox="1"/>
          <p:nvPr/>
        </p:nvSpPr>
        <p:spPr>
          <a:xfrm>
            <a:off x="457200" y="762000"/>
            <a:ext cx="1612900" cy="457200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、态序表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39950" name="组合 39949"/>
          <p:cNvGrpSpPr/>
          <p:nvPr/>
        </p:nvGrpSpPr>
        <p:grpSpPr>
          <a:xfrm>
            <a:off x="533400" y="998538"/>
            <a:ext cx="6819900" cy="1897062"/>
            <a:chOff x="336" y="960"/>
            <a:chExt cx="4296" cy="1195"/>
          </a:xfrm>
        </p:grpSpPr>
        <p:graphicFrame>
          <p:nvGraphicFramePr>
            <p:cNvPr id="39941" name="对象 39940"/>
            <p:cNvGraphicFramePr/>
            <p:nvPr/>
          </p:nvGraphicFramePr>
          <p:xfrm>
            <a:off x="336" y="960"/>
            <a:ext cx="2448" cy="4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4" name="" r:id="rId1" imgW="1522730" imgH="254000" progId="Equation.3">
                    <p:embed/>
                  </p:oleObj>
                </mc:Choice>
                <mc:Fallback>
                  <p:oleObj name="" r:id="rId1" imgW="1522730" imgH="254000" progId="Equation.3">
                    <p:embed/>
                    <p:pic>
                      <p:nvPicPr>
                        <p:cNvPr id="0" name="图片 311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36" y="960"/>
                          <a:ext cx="2448" cy="40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42" name="对象 39941"/>
            <p:cNvGraphicFramePr/>
            <p:nvPr/>
          </p:nvGraphicFramePr>
          <p:xfrm>
            <a:off x="2736" y="1018"/>
            <a:ext cx="432" cy="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5" name="" r:id="rId3" imgW="266065" imgH="228600" progId="Equation.3">
                    <p:embed/>
                  </p:oleObj>
                </mc:Choice>
                <mc:Fallback>
                  <p:oleObj name="" r:id="rId3" imgW="266065" imgH="228600" progId="Equation.3">
                    <p:embed/>
                    <p:pic>
                      <p:nvPicPr>
                        <p:cNvPr id="0" name="图片 311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736" y="1018"/>
                          <a:ext cx="432" cy="37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43" name="对象 39942"/>
            <p:cNvGraphicFramePr/>
            <p:nvPr/>
          </p:nvGraphicFramePr>
          <p:xfrm>
            <a:off x="3168" y="966"/>
            <a:ext cx="1440" cy="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3" name="" r:id="rId5" imgW="913765" imgH="241300" progId="Equation.3">
                    <p:embed/>
                  </p:oleObj>
                </mc:Choice>
                <mc:Fallback>
                  <p:oleObj name="" r:id="rId5" imgW="913765" imgH="241300" progId="Equation.3">
                    <p:embed/>
                    <p:pic>
                      <p:nvPicPr>
                        <p:cNvPr id="0" name="图片 311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168" y="966"/>
                          <a:ext cx="1440" cy="37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44" name="对象 39943"/>
            <p:cNvGraphicFramePr/>
            <p:nvPr/>
          </p:nvGraphicFramePr>
          <p:xfrm>
            <a:off x="336" y="1344"/>
            <a:ext cx="2256" cy="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6" name="" r:id="rId7" imgW="1447165" imgH="241300" progId="Equation.3">
                    <p:embed/>
                  </p:oleObj>
                </mc:Choice>
                <mc:Fallback>
                  <p:oleObj name="" r:id="rId7" imgW="1447165" imgH="241300" progId="Equation.3">
                    <p:embed/>
                    <p:pic>
                      <p:nvPicPr>
                        <p:cNvPr id="0" name="图片 311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36" y="1344"/>
                          <a:ext cx="2256" cy="37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45" name="对象 39944"/>
            <p:cNvGraphicFramePr/>
            <p:nvPr/>
          </p:nvGraphicFramePr>
          <p:xfrm>
            <a:off x="2544" y="1392"/>
            <a:ext cx="432" cy="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8" name="" r:id="rId9" imgW="253365" imgH="215900" progId="Equation.3">
                    <p:embed/>
                  </p:oleObj>
                </mc:Choice>
                <mc:Fallback>
                  <p:oleObj name="" r:id="rId9" imgW="253365" imgH="215900" progId="Equation.3">
                    <p:embed/>
                    <p:pic>
                      <p:nvPicPr>
                        <p:cNvPr id="0" name="图片 3117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544" y="1392"/>
                          <a:ext cx="432" cy="36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46" name="对象 39945"/>
            <p:cNvGraphicFramePr/>
            <p:nvPr/>
          </p:nvGraphicFramePr>
          <p:xfrm>
            <a:off x="2928" y="1344"/>
            <a:ext cx="1076" cy="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7" name="" r:id="rId11" imgW="673100" imgH="241300" progId="Equation.3">
                    <p:embed/>
                  </p:oleObj>
                </mc:Choice>
                <mc:Fallback>
                  <p:oleObj name="" r:id="rId11" imgW="673100" imgH="241300" progId="Equation.3">
                    <p:embed/>
                    <p:pic>
                      <p:nvPicPr>
                        <p:cNvPr id="0" name="图片 3116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928" y="1344"/>
                          <a:ext cx="1076" cy="38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47" name="对象 39946"/>
            <p:cNvGraphicFramePr/>
            <p:nvPr/>
          </p:nvGraphicFramePr>
          <p:xfrm>
            <a:off x="336" y="1776"/>
            <a:ext cx="2664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9" name="" r:id="rId13" imgW="1751965" imgH="241300" progId="Equation.3">
                    <p:embed/>
                  </p:oleObj>
                </mc:Choice>
                <mc:Fallback>
                  <p:oleObj name="" r:id="rId13" imgW="1751965" imgH="241300" progId="Equation.3">
                    <p:embed/>
                    <p:pic>
                      <p:nvPicPr>
                        <p:cNvPr id="0" name="图片 3118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36" y="1776"/>
                          <a:ext cx="2664" cy="3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48" name="对象 39947"/>
            <p:cNvGraphicFramePr/>
            <p:nvPr/>
          </p:nvGraphicFramePr>
          <p:xfrm>
            <a:off x="2976" y="1776"/>
            <a:ext cx="1656" cy="3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0" name="" r:id="rId15" imgW="1103630" imgH="254000" progId="Equation.3">
                    <p:embed/>
                  </p:oleObj>
                </mc:Choice>
                <mc:Fallback>
                  <p:oleObj name="" r:id="rId15" imgW="1103630" imgH="254000" progId="Equation.3">
                    <p:embed/>
                    <p:pic>
                      <p:nvPicPr>
                        <p:cNvPr id="0" name="图片 3119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976" y="1776"/>
                          <a:ext cx="1656" cy="37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954" name="文本框 39953"/>
          <p:cNvSpPr txBox="1"/>
          <p:nvPr/>
        </p:nvSpPr>
        <p:spPr>
          <a:xfrm>
            <a:off x="463550" y="3200400"/>
            <a:ext cx="18224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计数脉冲</a:t>
            </a:r>
            <a:r>
              <a:rPr lang="en-US" altLang="zh-CN">
                <a:latin typeface="Times New Roman" panose="02020603050405020304" pitchFamily="18" charset="0"/>
              </a:rPr>
              <a:t>CP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40013" name="组合 40012"/>
          <p:cNvGrpSpPr/>
          <p:nvPr/>
        </p:nvGrpSpPr>
        <p:grpSpPr>
          <a:xfrm>
            <a:off x="2322513" y="3200400"/>
            <a:ext cx="2097087" cy="457200"/>
            <a:chOff x="1463" y="2016"/>
            <a:chExt cx="1321" cy="288"/>
          </a:xfrm>
        </p:grpSpPr>
        <p:sp>
          <p:nvSpPr>
            <p:cNvPr id="39955" name="文本框 39954"/>
            <p:cNvSpPr txBox="1"/>
            <p:nvPr/>
          </p:nvSpPr>
          <p:spPr>
            <a:xfrm>
              <a:off x="1463" y="2016"/>
              <a:ext cx="36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Q2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9956" name="文本框 39955"/>
            <p:cNvSpPr txBox="1"/>
            <p:nvPr/>
          </p:nvSpPr>
          <p:spPr>
            <a:xfrm>
              <a:off x="1920" y="2016"/>
              <a:ext cx="36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Q1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9957" name="文本框 39956"/>
            <p:cNvSpPr txBox="1"/>
            <p:nvPr/>
          </p:nvSpPr>
          <p:spPr>
            <a:xfrm>
              <a:off x="2423" y="2016"/>
              <a:ext cx="36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Q0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0014" name="组合 40013"/>
          <p:cNvGrpSpPr/>
          <p:nvPr/>
        </p:nvGrpSpPr>
        <p:grpSpPr>
          <a:xfrm>
            <a:off x="4743450" y="3200400"/>
            <a:ext cx="2487613" cy="457200"/>
            <a:chOff x="2988" y="2016"/>
            <a:chExt cx="1567" cy="288"/>
          </a:xfrm>
        </p:grpSpPr>
        <p:sp>
          <p:nvSpPr>
            <p:cNvPr id="39959" name="文本框 39958"/>
            <p:cNvSpPr txBox="1"/>
            <p:nvPr/>
          </p:nvSpPr>
          <p:spPr>
            <a:xfrm>
              <a:off x="2988" y="2016"/>
              <a:ext cx="46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CP2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9960" name="文本框 39959"/>
            <p:cNvSpPr txBox="1"/>
            <p:nvPr/>
          </p:nvSpPr>
          <p:spPr>
            <a:xfrm>
              <a:off x="3552" y="2016"/>
              <a:ext cx="46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CP1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9961" name="文本框 39960"/>
            <p:cNvSpPr txBox="1"/>
            <p:nvPr/>
          </p:nvSpPr>
          <p:spPr>
            <a:xfrm>
              <a:off x="4087" y="2016"/>
              <a:ext cx="46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CP0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sp>
        <p:nvSpPr>
          <p:cNvPr id="39962" name="文本框 39961"/>
          <p:cNvSpPr txBox="1"/>
          <p:nvPr/>
        </p:nvSpPr>
        <p:spPr>
          <a:xfrm>
            <a:off x="1035050" y="36576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40015" name="组合 40014"/>
          <p:cNvGrpSpPr/>
          <p:nvPr/>
        </p:nvGrpSpPr>
        <p:grpSpPr>
          <a:xfrm>
            <a:off x="2406650" y="3657600"/>
            <a:ext cx="1860550" cy="457200"/>
            <a:chOff x="1516" y="2304"/>
            <a:chExt cx="1172" cy="288"/>
          </a:xfrm>
        </p:grpSpPr>
        <p:sp>
          <p:nvSpPr>
            <p:cNvPr id="39963" name="文本框 39962"/>
            <p:cNvSpPr txBox="1"/>
            <p:nvPr/>
          </p:nvSpPr>
          <p:spPr>
            <a:xfrm>
              <a:off x="1516" y="2304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9964" name="文本框 39963"/>
            <p:cNvSpPr txBox="1"/>
            <p:nvPr/>
          </p:nvSpPr>
          <p:spPr>
            <a:xfrm>
              <a:off x="1996" y="2304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9965" name="文本框 39964"/>
            <p:cNvSpPr txBox="1"/>
            <p:nvPr/>
          </p:nvSpPr>
          <p:spPr>
            <a:xfrm>
              <a:off x="2476" y="2304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0016" name="组合 40015"/>
          <p:cNvGrpSpPr/>
          <p:nvPr/>
        </p:nvGrpSpPr>
        <p:grpSpPr>
          <a:xfrm>
            <a:off x="4921250" y="3657600"/>
            <a:ext cx="2089150" cy="457200"/>
            <a:chOff x="3100" y="2304"/>
            <a:chExt cx="1316" cy="288"/>
          </a:xfrm>
        </p:grpSpPr>
        <p:sp>
          <p:nvSpPr>
            <p:cNvPr id="39966" name="文本框 39965"/>
            <p:cNvSpPr txBox="1"/>
            <p:nvPr/>
          </p:nvSpPr>
          <p:spPr>
            <a:xfrm>
              <a:off x="3100" y="2304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9967" name="文本框 39966"/>
            <p:cNvSpPr txBox="1"/>
            <p:nvPr/>
          </p:nvSpPr>
          <p:spPr>
            <a:xfrm>
              <a:off x="3676" y="2304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9968" name="文本框 39967"/>
            <p:cNvSpPr txBox="1"/>
            <p:nvPr/>
          </p:nvSpPr>
          <p:spPr>
            <a:xfrm>
              <a:off x="4204" y="2304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sp>
        <p:nvSpPr>
          <p:cNvPr id="39969" name="文本框 39968"/>
          <p:cNvSpPr txBox="1"/>
          <p:nvPr/>
        </p:nvSpPr>
        <p:spPr>
          <a:xfrm>
            <a:off x="1035050" y="41148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9970" name="文本框 39969"/>
          <p:cNvSpPr txBox="1"/>
          <p:nvPr/>
        </p:nvSpPr>
        <p:spPr>
          <a:xfrm>
            <a:off x="2406650" y="41148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9971" name="文本框 39970"/>
          <p:cNvSpPr txBox="1"/>
          <p:nvPr/>
        </p:nvSpPr>
        <p:spPr>
          <a:xfrm>
            <a:off x="3168650" y="41148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9973" name="文本框 39972"/>
          <p:cNvSpPr txBox="1"/>
          <p:nvPr/>
        </p:nvSpPr>
        <p:spPr>
          <a:xfrm>
            <a:off x="3930650" y="41148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9974" name="文本框 39973"/>
          <p:cNvSpPr txBox="1"/>
          <p:nvPr/>
        </p:nvSpPr>
        <p:spPr>
          <a:xfrm>
            <a:off x="4921250" y="41148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9975" name="文本框 39974"/>
          <p:cNvSpPr txBox="1"/>
          <p:nvPr/>
        </p:nvSpPr>
        <p:spPr>
          <a:xfrm>
            <a:off x="6673850" y="41148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9976" name="文本框 39975"/>
          <p:cNvSpPr txBox="1"/>
          <p:nvPr/>
        </p:nvSpPr>
        <p:spPr>
          <a:xfrm>
            <a:off x="5835650" y="41148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9977" name="文本框 39976"/>
          <p:cNvSpPr txBox="1"/>
          <p:nvPr/>
        </p:nvSpPr>
        <p:spPr>
          <a:xfrm>
            <a:off x="1035050" y="45720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2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9978" name="文本框 39977"/>
          <p:cNvSpPr txBox="1"/>
          <p:nvPr/>
        </p:nvSpPr>
        <p:spPr>
          <a:xfrm>
            <a:off x="2406650" y="45720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9979" name="文本框 39978"/>
          <p:cNvSpPr txBox="1"/>
          <p:nvPr/>
        </p:nvSpPr>
        <p:spPr>
          <a:xfrm>
            <a:off x="3168650" y="45720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9980" name="文本框 39979"/>
          <p:cNvSpPr txBox="1"/>
          <p:nvPr/>
        </p:nvSpPr>
        <p:spPr>
          <a:xfrm>
            <a:off x="3930650" y="45720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9981" name="文本框 39980"/>
          <p:cNvSpPr txBox="1"/>
          <p:nvPr/>
        </p:nvSpPr>
        <p:spPr>
          <a:xfrm>
            <a:off x="4921250" y="45720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9982" name="文本框 39981"/>
          <p:cNvSpPr txBox="1"/>
          <p:nvPr/>
        </p:nvSpPr>
        <p:spPr>
          <a:xfrm>
            <a:off x="6673850" y="45720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9983" name="文本框 39982"/>
          <p:cNvSpPr txBox="1"/>
          <p:nvPr/>
        </p:nvSpPr>
        <p:spPr>
          <a:xfrm>
            <a:off x="5835650" y="45720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9984" name="文本框 39983"/>
          <p:cNvSpPr txBox="1"/>
          <p:nvPr/>
        </p:nvSpPr>
        <p:spPr>
          <a:xfrm>
            <a:off x="1035050" y="50292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3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9985" name="文本框 39984"/>
          <p:cNvSpPr txBox="1"/>
          <p:nvPr/>
        </p:nvSpPr>
        <p:spPr>
          <a:xfrm>
            <a:off x="2406650" y="50292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9986" name="文本框 39985"/>
          <p:cNvSpPr txBox="1"/>
          <p:nvPr/>
        </p:nvSpPr>
        <p:spPr>
          <a:xfrm>
            <a:off x="3168650" y="50292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9987" name="文本框 39986"/>
          <p:cNvSpPr txBox="1"/>
          <p:nvPr/>
        </p:nvSpPr>
        <p:spPr>
          <a:xfrm>
            <a:off x="3930650" y="50292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9988" name="文本框 39987"/>
          <p:cNvSpPr txBox="1"/>
          <p:nvPr/>
        </p:nvSpPr>
        <p:spPr>
          <a:xfrm>
            <a:off x="4921250" y="50292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9989" name="文本框 39988"/>
          <p:cNvSpPr txBox="1"/>
          <p:nvPr/>
        </p:nvSpPr>
        <p:spPr>
          <a:xfrm>
            <a:off x="6673850" y="50292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9990" name="文本框 39989"/>
          <p:cNvSpPr txBox="1"/>
          <p:nvPr/>
        </p:nvSpPr>
        <p:spPr>
          <a:xfrm>
            <a:off x="5835650" y="50292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9991" name="文本框 39990"/>
          <p:cNvSpPr txBox="1"/>
          <p:nvPr/>
        </p:nvSpPr>
        <p:spPr>
          <a:xfrm>
            <a:off x="1066800" y="54864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4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9992" name="文本框 39991"/>
          <p:cNvSpPr txBox="1"/>
          <p:nvPr/>
        </p:nvSpPr>
        <p:spPr>
          <a:xfrm>
            <a:off x="2362200" y="54864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9993" name="文本框 39992"/>
          <p:cNvSpPr txBox="1"/>
          <p:nvPr/>
        </p:nvSpPr>
        <p:spPr>
          <a:xfrm>
            <a:off x="3200400" y="54864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9994" name="文本框 39993"/>
          <p:cNvSpPr txBox="1"/>
          <p:nvPr/>
        </p:nvSpPr>
        <p:spPr>
          <a:xfrm>
            <a:off x="3962400" y="54864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9995" name="文本框 39994"/>
          <p:cNvSpPr txBox="1"/>
          <p:nvPr/>
        </p:nvSpPr>
        <p:spPr>
          <a:xfrm>
            <a:off x="4921250" y="54864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9996" name="文本框 39995"/>
          <p:cNvSpPr txBox="1"/>
          <p:nvPr/>
        </p:nvSpPr>
        <p:spPr>
          <a:xfrm>
            <a:off x="6705600" y="54864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9997" name="文本框 39996"/>
          <p:cNvSpPr txBox="1"/>
          <p:nvPr/>
        </p:nvSpPr>
        <p:spPr>
          <a:xfrm>
            <a:off x="5835650" y="54864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9998" name="文本框 39997"/>
          <p:cNvSpPr txBox="1"/>
          <p:nvPr/>
        </p:nvSpPr>
        <p:spPr>
          <a:xfrm>
            <a:off x="1066800" y="59436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5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9999" name="文本框 39998"/>
          <p:cNvSpPr txBox="1"/>
          <p:nvPr/>
        </p:nvSpPr>
        <p:spPr>
          <a:xfrm>
            <a:off x="2362200" y="59436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0000" name="文本框 39999"/>
          <p:cNvSpPr txBox="1"/>
          <p:nvPr/>
        </p:nvSpPr>
        <p:spPr>
          <a:xfrm>
            <a:off x="3200400" y="59436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0001" name="文本框 40000"/>
          <p:cNvSpPr txBox="1"/>
          <p:nvPr/>
        </p:nvSpPr>
        <p:spPr>
          <a:xfrm>
            <a:off x="3962400" y="59436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0002" name="文本框 40001"/>
          <p:cNvSpPr txBox="1"/>
          <p:nvPr/>
        </p:nvSpPr>
        <p:spPr>
          <a:xfrm>
            <a:off x="4921250" y="59436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0003" name="文本框 40002"/>
          <p:cNvSpPr txBox="1"/>
          <p:nvPr/>
        </p:nvSpPr>
        <p:spPr>
          <a:xfrm>
            <a:off x="6705600" y="59436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0004" name="文本框 40003"/>
          <p:cNvSpPr txBox="1"/>
          <p:nvPr/>
        </p:nvSpPr>
        <p:spPr>
          <a:xfrm>
            <a:off x="5835650" y="59436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40008" name="组合 40007"/>
          <p:cNvGrpSpPr/>
          <p:nvPr/>
        </p:nvGrpSpPr>
        <p:grpSpPr>
          <a:xfrm>
            <a:off x="533400" y="3048000"/>
            <a:ext cx="7162800" cy="3352800"/>
            <a:chOff x="336" y="1920"/>
            <a:chExt cx="4512" cy="2112"/>
          </a:xfrm>
        </p:grpSpPr>
        <p:sp>
          <p:nvSpPr>
            <p:cNvPr id="39951" name="直接连接符 39950"/>
            <p:cNvSpPr/>
            <p:nvPr/>
          </p:nvSpPr>
          <p:spPr>
            <a:xfrm>
              <a:off x="336" y="1920"/>
              <a:ext cx="451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52" name="直接连接符 39951"/>
            <p:cNvSpPr/>
            <p:nvPr/>
          </p:nvSpPr>
          <p:spPr>
            <a:xfrm>
              <a:off x="336" y="2304"/>
              <a:ext cx="451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53" name="直接连接符 39952"/>
            <p:cNvSpPr/>
            <p:nvPr/>
          </p:nvSpPr>
          <p:spPr>
            <a:xfrm>
              <a:off x="1392" y="1920"/>
              <a:ext cx="0" cy="211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58" name="直接连接符 39957"/>
            <p:cNvSpPr/>
            <p:nvPr/>
          </p:nvSpPr>
          <p:spPr>
            <a:xfrm>
              <a:off x="2976" y="1920"/>
              <a:ext cx="0" cy="211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05" name="直接连接符 40004"/>
            <p:cNvSpPr/>
            <p:nvPr/>
          </p:nvSpPr>
          <p:spPr>
            <a:xfrm>
              <a:off x="336" y="4032"/>
              <a:ext cx="451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06" name="直接连接符 40005"/>
            <p:cNvSpPr/>
            <p:nvPr/>
          </p:nvSpPr>
          <p:spPr>
            <a:xfrm>
              <a:off x="336" y="3744"/>
              <a:ext cx="451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0007" name="圆角矩形标注 40006"/>
          <p:cNvSpPr/>
          <p:nvPr/>
        </p:nvSpPr>
        <p:spPr>
          <a:xfrm>
            <a:off x="5181600" y="2133600"/>
            <a:ext cx="3352800" cy="914400"/>
          </a:xfrm>
          <a:prstGeom prst="wedgeRoundRectCallout">
            <a:avLst>
              <a:gd name="adj1" fmla="val -38778"/>
              <a:gd name="adj2" fmla="val 63370"/>
              <a:gd name="adj3" fmla="val 16667"/>
            </a:avLst>
          </a:prstGeom>
          <a:solidFill>
            <a:srgbClr val="FFCC00"/>
          </a:solidFill>
          <a:ln w="38100">
            <a:noFill/>
          </a:ln>
        </p:spPr>
        <p:txBody>
          <a:bodyPr wrap="none" anchor="ctr" anchorCtr="0"/>
          <a:p>
            <a:pPr algn="just" eaLnBrk="1" hangingPunct="1"/>
            <a:r>
              <a:rPr lang="en-US" altLang="zh-CN" dirty="0">
                <a:latin typeface="Times New Roman" panose="02020603050405020304" pitchFamily="18" charset="0"/>
              </a:rPr>
              <a:t>“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”</a:t>
            </a:r>
            <a:r>
              <a:rPr lang="zh-CN" altLang="en-US" dirty="0">
                <a:latin typeface="Times New Roman" panose="02020603050405020304" pitchFamily="18" charset="0"/>
              </a:rPr>
              <a:t>表示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有</a:t>
            </a:r>
            <a:r>
              <a:rPr lang="zh-CN" altLang="en-US" dirty="0">
                <a:latin typeface="Times New Roman" panose="02020603050405020304" pitchFamily="18" charset="0"/>
              </a:rPr>
              <a:t>时钟跳变沿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zh-CN" altLang="en-US" dirty="0">
                <a:latin typeface="Times New Roman" panose="02020603050405020304" pitchFamily="18" charset="0"/>
              </a:rPr>
              <a:t>“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>
                <a:latin typeface="Times New Roman" panose="02020603050405020304" pitchFamily="18" charset="0"/>
              </a:rPr>
              <a:t>”</a:t>
            </a:r>
            <a:r>
              <a:rPr lang="zh-CN" altLang="en-US" dirty="0">
                <a:latin typeface="Times New Roman" panose="02020603050405020304" pitchFamily="18" charset="0"/>
              </a:rPr>
              <a:t>表示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无</a:t>
            </a:r>
            <a:r>
              <a:rPr lang="zh-CN" altLang="en-US" dirty="0">
                <a:latin typeface="Times New Roman" panose="02020603050405020304" pitchFamily="18" charset="0"/>
              </a:rPr>
              <a:t>时钟跳变沿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40021" name="组合 40020"/>
          <p:cNvGrpSpPr/>
          <p:nvPr/>
        </p:nvGrpSpPr>
        <p:grpSpPr>
          <a:xfrm>
            <a:off x="7010400" y="3886200"/>
            <a:ext cx="457200" cy="1828800"/>
            <a:chOff x="4416" y="2448"/>
            <a:chExt cx="288" cy="1152"/>
          </a:xfrm>
        </p:grpSpPr>
        <p:sp>
          <p:nvSpPr>
            <p:cNvPr id="40018" name="直接连接符 40017"/>
            <p:cNvSpPr/>
            <p:nvPr/>
          </p:nvSpPr>
          <p:spPr>
            <a:xfrm>
              <a:off x="4464" y="3600"/>
              <a:ext cx="24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19" name="直接连接符 40018"/>
            <p:cNvSpPr/>
            <p:nvPr/>
          </p:nvSpPr>
          <p:spPr>
            <a:xfrm flipV="1">
              <a:off x="4704" y="2448"/>
              <a:ext cx="0" cy="115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20" name="直接连接符 40019"/>
            <p:cNvSpPr/>
            <p:nvPr/>
          </p:nvSpPr>
          <p:spPr>
            <a:xfrm flipH="1">
              <a:off x="4416" y="2448"/>
              <a:ext cx="28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40023" name="任意多边形 40022"/>
          <p:cNvSpPr/>
          <p:nvPr/>
        </p:nvSpPr>
        <p:spPr>
          <a:xfrm>
            <a:off x="4194175" y="4346575"/>
            <a:ext cx="381000" cy="455613"/>
          </a:xfrm>
          <a:custGeom>
            <a:avLst/>
            <a:gdLst>
              <a:gd name="txL" fmla="*/ 0 w 29281"/>
              <a:gd name="txT" fmla="*/ 0 h 43200"/>
              <a:gd name="txR" fmla="*/ 29281 w 29281"/>
              <a:gd name="txB" fmla="*/ 43200 h 43200"/>
            </a:gdLst>
            <a:ahLst/>
            <a:cxnLst>
              <a:cxn ang="270">
                <a:pos x="3381" y="432"/>
              </a:cxn>
              <a:cxn ang="90">
                <a:pos x="0" y="41788"/>
              </a:cxn>
              <a:cxn ang="90">
                <a:pos x="7681" y="21600"/>
              </a:cxn>
            </a:cxnLst>
            <a:rect l="txL" t="txT" r="txR" b="txB"/>
            <a:pathLst>
              <a:path w="29281" h="43200" fill="none">
                <a:moveTo>
                  <a:pt x="3381" y="432"/>
                </a:moveTo>
                <a:arcTo wR="21600" hR="21600" stAng="-6088958" swAng="12738788"/>
              </a:path>
              <a:path w="29281" h="43200" stroke="0">
                <a:moveTo>
                  <a:pt x="3381" y="432"/>
                </a:moveTo>
                <a:arcTo wR="21600" hR="21600" stAng="-6088958" swAng="12738788"/>
                <a:lnTo>
                  <a:pt x="7681" y="21600"/>
                </a:lnTo>
                <a:close/>
              </a:path>
            </a:pathLst>
          </a:custGeom>
          <a:noFill/>
          <a:ln w="38100" cap="flat" cmpd="sng">
            <a:solidFill>
              <a:srgbClr val="A50021"/>
            </a:solidFill>
            <a:prstDash val="solid"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0024" name="任意多边形 40023"/>
          <p:cNvSpPr/>
          <p:nvPr/>
        </p:nvSpPr>
        <p:spPr>
          <a:xfrm>
            <a:off x="4267200" y="5257800"/>
            <a:ext cx="381000" cy="455613"/>
          </a:xfrm>
          <a:custGeom>
            <a:avLst/>
            <a:gdLst>
              <a:gd name="txL" fmla="*/ 0 w 29281"/>
              <a:gd name="txT" fmla="*/ 0 h 43200"/>
              <a:gd name="txR" fmla="*/ 29281 w 29281"/>
              <a:gd name="txB" fmla="*/ 43200 h 43200"/>
            </a:gdLst>
            <a:ahLst/>
            <a:cxnLst>
              <a:cxn ang="270">
                <a:pos x="3381" y="432"/>
              </a:cxn>
              <a:cxn ang="90">
                <a:pos x="0" y="41788"/>
              </a:cxn>
              <a:cxn ang="90">
                <a:pos x="7681" y="21600"/>
              </a:cxn>
            </a:cxnLst>
            <a:rect l="txL" t="txT" r="txR" b="txB"/>
            <a:pathLst>
              <a:path w="29281" h="43200" fill="none">
                <a:moveTo>
                  <a:pt x="3381" y="432"/>
                </a:moveTo>
                <a:arcTo wR="21600" hR="21600" stAng="-6088958" swAng="12738788"/>
              </a:path>
              <a:path w="29281" h="43200" stroke="0">
                <a:moveTo>
                  <a:pt x="3381" y="432"/>
                </a:moveTo>
                <a:arcTo wR="21600" hR="21600" stAng="-6088958" swAng="12738788"/>
                <a:lnTo>
                  <a:pt x="7681" y="21600"/>
                </a:lnTo>
                <a:close/>
              </a:path>
            </a:pathLst>
          </a:custGeom>
          <a:noFill/>
          <a:ln w="38100" cap="flat" cmpd="sng">
            <a:solidFill>
              <a:srgbClr val="A50021"/>
            </a:solidFill>
            <a:prstDash val="solid"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0025" name="直接连接符 40024"/>
          <p:cNvSpPr/>
          <p:nvPr/>
        </p:nvSpPr>
        <p:spPr>
          <a:xfrm>
            <a:off x="4572000" y="4572000"/>
            <a:ext cx="1371600" cy="228600"/>
          </a:xfrm>
          <a:prstGeom prst="line">
            <a:avLst/>
          </a:prstGeom>
          <a:ln w="38100" cap="flat" cmpd="sng">
            <a:solidFill>
              <a:srgbClr val="A5002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0026" name="直接连接符 40025"/>
          <p:cNvSpPr/>
          <p:nvPr/>
        </p:nvSpPr>
        <p:spPr>
          <a:xfrm>
            <a:off x="4648200" y="5486400"/>
            <a:ext cx="1371600" cy="228600"/>
          </a:xfrm>
          <a:prstGeom prst="line">
            <a:avLst/>
          </a:prstGeom>
          <a:ln w="38100" cap="flat" cmpd="sng">
            <a:solidFill>
              <a:srgbClr val="A5002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0027" name="圆角矩形标注 40026"/>
          <p:cNvSpPr/>
          <p:nvPr/>
        </p:nvSpPr>
        <p:spPr>
          <a:xfrm>
            <a:off x="7467600" y="3810000"/>
            <a:ext cx="1371600" cy="838200"/>
          </a:xfrm>
          <a:prstGeom prst="wedgeRoundRectCallout">
            <a:avLst>
              <a:gd name="adj1" fmla="val -51273"/>
              <a:gd name="adj2" fmla="val 79736"/>
              <a:gd name="adj3" fmla="val 16667"/>
            </a:avLst>
          </a:prstGeom>
          <a:solidFill>
            <a:srgbClr val="FFCC00"/>
          </a:solidFill>
          <a:ln w="38100">
            <a:noFill/>
          </a:ln>
        </p:spPr>
        <p:txBody>
          <a:bodyPr wrap="none" anchor="ctr" anchorCtr="0"/>
          <a:p>
            <a:pPr algn="just" eaLnBrk="1" hangingPunct="1"/>
            <a:r>
              <a:rPr lang="zh-CN" altLang="en-US">
                <a:latin typeface="Times New Roman" panose="02020603050405020304" pitchFamily="18" charset="0"/>
              </a:rPr>
              <a:t>模</a:t>
            </a:r>
            <a:r>
              <a:rPr lang="en-US" altLang="zh-CN">
                <a:latin typeface="Times New Roman" panose="02020603050405020304" pitchFamily="18" charset="0"/>
              </a:rPr>
              <a:t>5</a:t>
            </a:r>
            <a:r>
              <a:rPr lang="zh-CN" altLang="en-US" dirty="0">
                <a:latin typeface="Times New Roman" panose="02020603050405020304" pitchFamily="18" charset="0"/>
              </a:rPr>
              <a:t>异步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zh-CN" altLang="en-US" dirty="0">
                <a:latin typeface="Times New Roman" panose="02020603050405020304" pitchFamily="18" charset="0"/>
              </a:rPr>
              <a:t>计数器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pic>
        <p:nvPicPr>
          <p:cNvPr id="40028" name="图片 40027" descr="wb01508_">
            <a:hlinkClick r:id="rId17" action="ppaction://hlinksldjump"/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96200" y="59436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029" name="文本框 40028">
            <a:hlinkClick r:id="rId17" action="ppaction://hlinksldjump"/>
          </p:cNvPr>
          <p:cNvSpPr txBox="1"/>
          <p:nvPr/>
        </p:nvSpPr>
        <p:spPr>
          <a:xfrm>
            <a:off x="7893050" y="60198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u="sng" dirty="0">
                <a:solidFill>
                  <a:schemeClr val="accent2"/>
                </a:solidFill>
                <a:latin typeface="Times New Roman" panose="02020603050405020304" pitchFamily="18" charset="0"/>
              </a:rPr>
              <a:t>返  回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99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99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0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0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00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00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00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00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9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9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0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0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99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99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99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99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99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99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99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99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99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99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9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9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9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9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40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8" dur="500"/>
                                        <p:tgtEl>
                                          <p:spTgt spid="40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99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99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99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99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399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99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39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39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39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9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39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39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39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39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39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39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5" dur="500"/>
                                        <p:tgtEl>
                                          <p:spTgt spid="40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0" dur="500"/>
                                        <p:tgtEl>
                                          <p:spTgt spid="40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39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39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39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39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40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500" fill="hold"/>
                                        <p:tgtEl>
                                          <p:spTgt spid="40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7" dur="500" fill="hold"/>
                                        <p:tgtEl>
                                          <p:spTgt spid="40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40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500" fill="hold"/>
                                        <p:tgtEl>
                                          <p:spTgt spid="400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500" fill="hold"/>
                                        <p:tgtEl>
                                          <p:spTgt spid="400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61" dur="500"/>
                                        <p:tgtEl>
                                          <p:spTgt spid="40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6" dur="500" fill="hold"/>
                                        <p:tgtEl>
                                          <p:spTgt spid="40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40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0" grpId="0"/>
      <p:bldP spid="39954" grpId="0"/>
      <p:bldP spid="39962" grpId="0"/>
      <p:bldP spid="39969" grpId="0"/>
      <p:bldP spid="39970" grpId="0"/>
      <p:bldP spid="39971" grpId="0"/>
      <p:bldP spid="39973" grpId="0"/>
      <p:bldP spid="39974" grpId="0"/>
      <p:bldP spid="39975" grpId="0"/>
      <p:bldP spid="39976" grpId="0"/>
      <p:bldP spid="39977" grpId="0"/>
      <p:bldP spid="39978" grpId="0"/>
      <p:bldP spid="39979" grpId="0"/>
      <p:bldP spid="39980" grpId="0"/>
      <p:bldP spid="39981" grpId="0"/>
      <p:bldP spid="39982" grpId="0"/>
      <p:bldP spid="39983" grpId="0"/>
      <p:bldP spid="39984" grpId="0"/>
      <p:bldP spid="39985" grpId="0"/>
      <p:bldP spid="39986" grpId="0"/>
      <p:bldP spid="39987" grpId="0"/>
      <p:bldP spid="39988" grpId="0"/>
      <p:bldP spid="39989" grpId="0"/>
      <p:bldP spid="39990" grpId="0"/>
      <p:bldP spid="39991" grpId="0"/>
      <p:bldP spid="39992" grpId="0"/>
      <p:bldP spid="39993" grpId="0"/>
      <p:bldP spid="39994" grpId="0"/>
      <p:bldP spid="39995" grpId="0"/>
      <p:bldP spid="39996" grpId="0"/>
      <p:bldP spid="39997" grpId="0"/>
      <p:bldP spid="39998" grpId="0"/>
      <p:bldP spid="39999" grpId="0"/>
      <p:bldP spid="40000" grpId="0"/>
      <p:bldP spid="40001" grpId="0"/>
      <p:bldP spid="40002" grpId="0"/>
      <p:bldP spid="40003" grpId="0"/>
      <p:bldP spid="40004" grpId="0"/>
      <p:bldP spid="40007" grpId="0" animBg="1"/>
      <p:bldP spid="4002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030" name="矩形 41029"/>
          <p:cNvSpPr/>
          <p:nvPr/>
        </p:nvSpPr>
        <p:spPr>
          <a:xfrm>
            <a:off x="533400" y="76200"/>
            <a:ext cx="4876800" cy="6096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9525">
            <a:noFill/>
          </a:ln>
          <a:effectLst>
            <a:outerShdw sy="50000" kx="2453608" rotWithShape="0">
              <a:srgbClr val="808080"/>
            </a:outerShdw>
          </a:effectLst>
        </p:spPr>
        <p:txBody>
          <a:bodyPr anchor="ctr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sz="4000" b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异步时序电路分析</a:t>
            </a:r>
            <a:endParaRPr lang="zh-CN" altLang="en-US" sz="7200" b="1">
              <a:effectLst>
                <a:outerShdw blurRad="38100" dist="38100" dir="2700000">
                  <a:srgbClr val="FFFFFF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41063" name="组合 41062"/>
          <p:cNvGrpSpPr/>
          <p:nvPr/>
        </p:nvGrpSpPr>
        <p:grpSpPr>
          <a:xfrm>
            <a:off x="4114800" y="1066800"/>
            <a:ext cx="4572000" cy="3200400"/>
            <a:chOff x="2592" y="672"/>
            <a:chExt cx="2880" cy="2016"/>
          </a:xfrm>
        </p:grpSpPr>
        <p:graphicFrame>
          <p:nvGraphicFramePr>
            <p:cNvPr id="41054" name="对象 41053"/>
            <p:cNvGraphicFramePr/>
            <p:nvPr/>
          </p:nvGraphicFramePr>
          <p:xfrm>
            <a:off x="2592" y="672"/>
            <a:ext cx="2880" cy="20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1" name="" r:id="rId1" imgW="2000250" imgH="1400175" progId="Paint.Picture">
                    <p:embed/>
                  </p:oleObj>
                </mc:Choice>
                <mc:Fallback>
                  <p:oleObj name="" r:id="rId1" imgW="2000250" imgH="1400175" progId="Paint.Picture">
                    <p:embed/>
                    <p:pic>
                      <p:nvPicPr>
                        <p:cNvPr id="0" name="图片 312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592" y="672"/>
                          <a:ext cx="2880" cy="20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55" name="矩形 41054"/>
            <p:cNvSpPr/>
            <p:nvPr/>
          </p:nvSpPr>
          <p:spPr>
            <a:xfrm>
              <a:off x="2592" y="672"/>
              <a:ext cx="2880" cy="2016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41056" name="文本框 41055"/>
          <p:cNvSpPr txBox="1"/>
          <p:nvPr/>
        </p:nvSpPr>
        <p:spPr>
          <a:xfrm>
            <a:off x="1033463" y="2454275"/>
            <a:ext cx="1404937" cy="579438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sz="3200" dirty="0">
                <a:latin typeface="Times New Roman" panose="02020603050405020304" pitchFamily="18" charset="0"/>
              </a:rPr>
              <a:t>时序图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41057" name="右箭头 41056"/>
          <p:cNvSpPr/>
          <p:nvPr/>
        </p:nvSpPr>
        <p:spPr>
          <a:xfrm>
            <a:off x="2590800" y="2590800"/>
            <a:ext cx="990600" cy="304800"/>
          </a:xfrm>
          <a:prstGeom prst="rightArrow">
            <a:avLst>
              <a:gd name="adj1" fmla="val 57500"/>
              <a:gd name="adj2" fmla="val 88020"/>
            </a:avLst>
          </a:prstGeom>
          <a:solidFill>
            <a:srgbClr val="A50021"/>
          </a:solidFill>
          <a:ln w="38100">
            <a:noFill/>
          </a:ln>
        </p:spPr>
        <p:txBody>
          <a:bodyPr wrap="none" anchor="ctr" anchorCtr="0"/>
          <a:p>
            <a:pPr algn="ctr" eaLnBrk="1" hangingPunct="1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41059" name="文本框 41058"/>
          <p:cNvSpPr txBox="1"/>
          <p:nvPr/>
        </p:nvSpPr>
        <p:spPr>
          <a:xfrm>
            <a:off x="2600325" y="5334000"/>
            <a:ext cx="33782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电路为一模</a:t>
            </a:r>
            <a:r>
              <a:rPr lang="en-US" altLang="zh-CN">
                <a:latin typeface="Times New Roman" panose="02020603050405020304" pitchFamily="18" charset="0"/>
              </a:rPr>
              <a:t>5</a:t>
            </a:r>
            <a:r>
              <a:rPr lang="zh-CN" altLang="en-US" dirty="0">
                <a:latin typeface="Times New Roman" panose="02020603050405020304" pitchFamily="18" charset="0"/>
              </a:rPr>
              <a:t>异步计数器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1060" name="文本框 41059"/>
          <p:cNvSpPr txBox="1"/>
          <p:nvPr/>
        </p:nvSpPr>
        <p:spPr>
          <a:xfrm>
            <a:off x="585788" y="5211763"/>
            <a:ext cx="2224087" cy="57943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sz="3200" dirty="0">
                <a:latin typeface="Times New Roman" panose="02020603050405020304" pitchFamily="18" charset="0"/>
              </a:rPr>
              <a:t>逻辑功能：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pic>
        <p:nvPicPr>
          <p:cNvPr id="41061" name="图片 41060" descr="wb01508_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7600" y="57912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62" name="文本框 41061">
            <a:hlinkClick r:id="rId3" action="ppaction://hlinksldjump"/>
          </p:cNvPr>
          <p:cNvSpPr txBox="1"/>
          <p:nvPr/>
        </p:nvSpPr>
        <p:spPr>
          <a:xfrm>
            <a:off x="7664450" y="58674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u="sng" dirty="0">
                <a:solidFill>
                  <a:schemeClr val="accent2"/>
                </a:solidFill>
                <a:latin typeface="Times New Roman" panose="02020603050405020304" pitchFamily="18" charset="0"/>
              </a:rPr>
              <a:t>返  回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1064" name="直接连接符 41063"/>
          <p:cNvSpPr/>
          <p:nvPr/>
        </p:nvSpPr>
        <p:spPr>
          <a:xfrm>
            <a:off x="5257800" y="1066800"/>
            <a:ext cx="0" cy="4191000"/>
          </a:xfrm>
          <a:prstGeom prst="line">
            <a:avLst/>
          </a:prstGeom>
          <a:ln w="57150" cap="flat" cmpd="sng">
            <a:solidFill>
              <a:srgbClr val="A5002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1065" name="直接连接符 41064"/>
          <p:cNvSpPr/>
          <p:nvPr/>
        </p:nvSpPr>
        <p:spPr>
          <a:xfrm>
            <a:off x="5867400" y="1066800"/>
            <a:ext cx="0" cy="4191000"/>
          </a:xfrm>
          <a:prstGeom prst="line">
            <a:avLst/>
          </a:prstGeom>
          <a:ln w="57150" cap="flat" cmpd="sng">
            <a:solidFill>
              <a:srgbClr val="A5002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1066" name="直接连接符 41065"/>
          <p:cNvSpPr/>
          <p:nvPr/>
        </p:nvSpPr>
        <p:spPr>
          <a:xfrm>
            <a:off x="6553200" y="1066800"/>
            <a:ext cx="0" cy="4191000"/>
          </a:xfrm>
          <a:prstGeom prst="line">
            <a:avLst/>
          </a:prstGeom>
          <a:ln w="57150" cap="flat" cmpd="sng">
            <a:solidFill>
              <a:srgbClr val="A5002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1067" name="直接连接符 41066"/>
          <p:cNvSpPr/>
          <p:nvPr/>
        </p:nvSpPr>
        <p:spPr>
          <a:xfrm>
            <a:off x="7239000" y="1066800"/>
            <a:ext cx="0" cy="4191000"/>
          </a:xfrm>
          <a:prstGeom prst="line">
            <a:avLst/>
          </a:prstGeom>
          <a:ln w="57150" cap="flat" cmpd="sng">
            <a:solidFill>
              <a:srgbClr val="A5002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1068" name="直接连接符 41067"/>
          <p:cNvSpPr/>
          <p:nvPr/>
        </p:nvSpPr>
        <p:spPr>
          <a:xfrm>
            <a:off x="7848600" y="1066800"/>
            <a:ext cx="0" cy="4191000"/>
          </a:xfrm>
          <a:prstGeom prst="line">
            <a:avLst/>
          </a:prstGeom>
          <a:ln w="57150" cap="flat" cmpd="sng">
            <a:solidFill>
              <a:srgbClr val="A5002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1069" name="文本框 41068"/>
          <p:cNvSpPr txBox="1"/>
          <p:nvPr/>
        </p:nvSpPr>
        <p:spPr>
          <a:xfrm>
            <a:off x="990600" y="3733800"/>
            <a:ext cx="17875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设初态 为：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1070" name="文本框 41069"/>
          <p:cNvSpPr txBox="1"/>
          <p:nvPr/>
        </p:nvSpPr>
        <p:spPr>
          <a:xfrm>
            <a:off x="2787650" y="3733800"/>
            <a:ext cx="6413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000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41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1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1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1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1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1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1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56" grpId="0"/>
      <p:bldP spid="41057" grpId="0" animBg="1"/>
      <p:bldP spid="41059" grpId="0"/>
      <p:bldP spid="41060" grpId="0"/>
      <p:bldP spid="41069" grpId="0"/>
      <p:bldP spid="4107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2003" name="组合 42002"/>
          <p:cNvGrpSpPr/>
          <p:nvPr/>
        </p:nvGrpSpPr>
        <p:grpSpPr>
          <a:xfrm>
            <a:off x="2590800" y="457200"/>
            <a:ext cx="2819400" cy="685800"/>
            <a:chOff x="1632" y="288"/>
            <a:chExt cx="1776" cy="432"/>
          </a:xfrm>
        </p:grpSpPr>
        <p:sp>
          <p:nvSpPr>
            <p:cNvPr id="41986" name="椭圆 41985"/>
            <p:cNvSpPr/>
            <p:nvPr/>
          </p:nvSpPr>
          <p:spPr>
            <a:xfrm>
              <a:off x="1632" y="336"/>
              <a:ext cx="1776" cy="384"/>
            </a:xfrm>
            <a:prstGeom prst="ellipse">
              <a:avLst/>
            </a:prstGeom>
            <a:gradFill rotWithShape="0">
              <a:gsLst>
                <a:gs pos="0">
                  <a:srgbClr val="FFFF99">
                    <a:gamma/>
                    <a:shade val="46275"/>
                    <a:invGamma/>
                  </a:srgbClr>
                </a:gs>
                <a:gs pos="50000">
                  <a:srgbClr val="FFFF99"/>
                </a:gs>
                <a:gs pos="100000">
                  <a:srgbClr val="FFFF99">
                    <a:gamma/>
                    <a:shade val="46275"/>
                    <a:invGamma/>
                  </a:srgbClr>
                </a:gs>
              </a:gsLst>
              <a:lin ang="5400000" scaled="1"/>
              <a:tileRect/>
            </a:gradFill>
            <a:ln w="381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1987" name="文本框 41986"/>
            <p:cNvSpPr txBox="1"/>
            <p:nvPr/>
          </p:nvSpPr>
          <p:spPr>
            <a:xfrm>
              <a:off x="1968" y="288"/>
              <a:ext cx="984" cy="40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zh-CN" altLang="en-US" sz="3600" dirty="0">
                  <a:solidFill>
                    <a:srgbClr val="A5002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小  结</a:t>
              </a:r>
              <a:endParaRPr lang="zh-CN" altLang="en-US" sz="3600"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41988" name="文本框 41987"/>
          <p:cNvSpPr txBox="1"/>
          <p:nvPr/>
        </p:nvSpPr>
        <p:spPr>
          <a:xfrm>
            <a:off x="533400" y="1204913"/>
            <a:ext cx="7696200" cy="944562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p>
            <a:pPr algn="l" eaLnBrk="1" hangingPunct="1"/>
            <a:r>
              <a:rPr lang="en-US" altLang="zh-CN" sz="3200" dirty="0">
                <a:solidFill>
                  <a:srgbClr val="A5002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</a:t>
            </a:r>
            <a:r>
              <a:rPr lang="en-US" altLang="zh-CN" dirty="0"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latin typeface="宋体" panose="02010600030101010101" pitchFamily="2" charset="-122"/>
              </a:rPr>
              <a:t>时序电路通常由记忆电路及组合电路两部分组成，具有记忆作用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41990" name="文本框 41989"/>
          <p:cNvSpPr txBox="1"/>
          <p:nvPr/>
        </p:nvSpPr>
        <p:spPr>
          <a:xfrm>
            <a:off x="635000" y="2209800"/>
            <a:ext cx="75374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宋体" panose="02010600030101010101" pitchFamily="2" charset="-122"/>
              </a:rPr>
              <a:t>时序电路可分为同步及异步时序电路、穆尓型和米萊型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41991" name="文本框 41990"/>
          <p:cNvSpPr txBox="1"/>
          <p:nvPr/>
        </p:nvSpPr>
        <p:spPr>
          <a:xfrm>
            <a:off x="3200400" y="2895600"/>
            <a:ext cx="3505200" cy="457200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p>
            <a:pPr algn="ctr" eaLnBrk="1" hangingPunct="1"/>
            <a:r>
              <a:rPr lang="zh-CN" altLang="en-US" dirty="0">
                <a:latin typeface="宋体" panose="02010600030101010101" pitchFamily="2" charset="-122"/>
              </a:rPr>
              <a:t>同步时序电路的分析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41992" name="文本框 41991"/>
          <p:cNvSpPr txBox="1"/>
          <p:nvPr/>
        </p:nvSpPr>
        <p:spPr>
          <a:xfrm>
            <a:off x="3500438" y="3429000"/>
            <a:ext cx="29368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宋体" panose="02010600030101010101" pitchFamily="2" charset="-122"/>
              </a:rPr>
              <a:t>同步时序电路的设计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41993" name="文本框 41992"/>
          <p:cNvSpPr txBox="1"/>
          <p:nvPr/>
        </p:nvSpPr>
        <p:spPr>
          <a:xfrm>
            <a:off x="609600" y="3048000"/>
            <a:ext cx="2357438" cy="579438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 sz="3200" dirty="0">
                <a:solidFill>
                  <a:srgbClr val="A5002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</a:t>
            </a:r>
            <a:r>
              <a:rPr lang="en-US" altLang="zh-CN" b="0" dirty="0"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同步时序电路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1994" name="左大括号 41993"/>
          <p:cNvSpPr/>
          <p:nvPr/>
        </p:nvSpPr>
        <p:spPr>
          <a:xfrm>
            <a:off x="3352800" y="3048000"/>
            <a:ext cx="76200" cy="685800"/>
          </a:xfrm>
          <a:prstGeom prst="leftBrace">
            <a:avLst>
              <a:gd name="adj1" fmla="val 75000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1995" name="文本框 41994"/>
          <p:cNvSpPr txBox="1"/>
          <p:nvPr/>
        </p:nvSpPr>
        <p:spPr>
          <a:xfrm>
            <a:off x="609600" y="4130675"/>
            <a:ext cx="2357438" cy="579438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 sz="3200" dirty="0">
                <a:solidFill>
                  <a:srgbClr val="A5002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</a:t>
            </a:r>
            <a:r>
              <a:rPr lang="en-US" altLang="zh-CN" b="0" dirty="0"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异步时序电路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1996" name="左大括号 41995"/>
          <p:cNvSpPr/>
          <p:nvPr/>
        </p:nvSpPr>
        <p:spPr>
          <a:xfrm>
            <a:off x="3352800" y="41148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1997" name="文本框 41996"/>
          <p:cNvSpPr txBox="1"/>
          <p:nvPr/>
        </p:nvSpPr>
        <p:spPr>
          <a:xfrm>
            <a:off x="3505200" y="3962400"/>
            <a:ext cx="26352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脉冲异步时序电路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1998" name="文本框 41997"/>
          <p:cNvSpPr txBox="1"/>
          <p:nvPr/>
        </p:nvSpPr>
        <p:spPr>
          <a:xfrm>
            <a:off x="3508375" y="4648200"/>
            <a:ext cx="26289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电平异步时序电路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1999" name="文本框 41998"/>
          <p:cNvSpPr txBox="1"/>
          <p:nvPr/>
        </p:nvSpPr>
        <p:spPr>
          <a:xfrm>
            <a:off x="1143000" y="5334000"/>
            <a:ext cx="47847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主要介绍脉冲异步时序电路的分析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2000" name="文本框 41999">
            <a:hlinkClick r:id="rId1" action="ppaction://hlinksldjump"/>
          </p:cNvPr>
          <p:cNvSpPr txBox="1"/>
          <p:nvPr/>
        </p:nvSpPr>
        <p:spPr>
          <a:xfrm>
            <a:off x="6591300" y="2895600"/>
            <a:ext cx="8001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u="sng" dirty="0">
                <a:solidFill>
                  <a:schemeClr val="accent2"/>
                </a:solidFill>
                <a:latin typeface="Times New Roman" panose="02020603050405020304" pitchFamily="18" charset="0"/>
              </a:rPr>
              <a:t>步骤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2001" name="文本框 42000">
            <a:hlinkClick r:id="rId2" action="ppaction://hlinksldjump"/>
          </p:cNvPr>
          <p:cNvSpPr txBox="1"/>
          <p:nvPr/>
        </p:nvSpPr>
        <p:spPr>
          <a:xfrm>
            <a:off x="6591300" y="3429000"/>
            <a:ext cx="8001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u="sng" dirty="0">
                <a:solidFill>
                  <a:schemeClr val="accent2"/>
                </a:solidFill>
                <a:latin typeface="Times New Roman" panose="02020603050405020304" pitchFamily="18" charset="0"/>
              </a:rPr>
              <a:t>步骤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2002" name="文本框 42001">
            <a:hlinkClick r:id="rId3" action="ppaction://hlinksldjump"/>
          </p:cNvPr>
          <p:cNvSpPr txBox="1"/>
          <p:nvPr/>
        </p:nvSpPr>
        <p:spPr>
          <a:xfrm>
            <a:off x="6515100" y="5257800"/>
            <a:ext cx="8001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u="sng" dirty="0">
                <a:solidFill>
                  <a:schemeClr val="accent2"/>
                </a:solidFill>
                <a:latin typeface="Times New Roman" panose="02020603050405020304" pitchFamily="18" charset="0"/>
              </a:rPr>
              <a:t>步骤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pic>
        <p:nvPicPr>
          <p:cNvPr id="42004" name="图片 42003" descr="wb01508_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7600" y="58674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2005" name="文本框 42004">
            <a:hlinkClick r:id="rId4" action="ppaction://hlinksldjump"/>
          </p:cNvPr>
          <p:cNvSpPr txBox="1"/>
          <p:nvPr/>
        </p:nvSpPr>
        <p:spPr>
          <a:xfrm>
            <a:off x="7664450" y="59436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u="sng" dirty="0">
                <a:solidFill>
                  <a:schemeClr val="accent2"/>
                </a:solidFill>
                <a:latin typeface="Times New Roman" panose="02020603050405020304" pitchFamily="18" charset="0"/>
              </a:rPr>
              <a:t>返  回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2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2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2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1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1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1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1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2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8" grpId="0"/>
      <p:bldP spid="41990" grpId="0"/>
      <p:bldP spid="41991" grpId="0"/>
      <p:bldP spid="41992" grpId="0"/>
      <p:bldP spid="41993" grpId="0"/>
      <p:bldP spid="41995" grpId="0"/>
      <p:bldP spid="41997" grpId="0"/>
      <p:bldP spid="41998" grpId="0"/>
      <p:bldP spid="41999" grpId="0"/>
      <p:bldP spid="42000" grpId="0"/>
      <p:bldP spid="42001" grpId="0"/>
      <p:bldP spid="4200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3012" name="组合 43011"/>
          <p:cNvGrpSpPr/>
          <p:nvPr/>
        </p:nvGrpSpPr>
        <p:grpSpPr>
          <a:xfrm>
            <a:off x="2590800" y="457200"/>
            <a:ext cx="2819400" cy="685800"/>
            <a:chOff x="1632" y="288"/>
            <a:chExt cx="1776" cy="432"/>
          </a:xfrm>
        </p:grpSpPr>
        <p:sp>
          <p:nvSpPr>
            <p:cNvPr id="43013" name="椭圆 43012"/>
            <p:cNvSpPr/>
            <p:nvPr/>
          </p:nvSpPr>
          <p:spPr>
            <a:xfrm>
              <a:off x="1632" y="336"/>
              <a:ext cx="1776" cy="384"/>
            </a:xfrm>
            <a:prstGeom prst="ellipse">
              <a:avLst/>
            </a:prstGeom>
            <a:gradFill rotWithShape="0">
              <a:gsLst>
                <a:gs pos="0">
                  <a:srgbClr val="FFFF99">
                    <a:gamma/>
                    <a:shade val="46275"/>
                    <a:invGamma/>
                  </a:srgbClr>
                </a:gs>
                <a:gs pos="50000">
                  <a:srgbClr val="FFFF99"/>
                </a:gs>
                <a:gs pos="100000">
                  <a:srgbClr val="FFFF99">
                    <a:gamma/>
                    <a:shade val="46275"/>
                    <a:invGamma/>
                  </a:srgbClr>
                </a:gs>
              </a:gsLst>
              <a:lin ang="5400000" scaled="1"/>
              <a:tileRect/>
            </a:gradFill>
            <a:ln w="381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3014" name="文本框 43013"/>
            <p:cNvSpPr txBox="1"/>
            <p:nvPr/>
          </p:nvSpPr>
          <p:spPr>
            <a:xfrm>
              <a:off x="1968" y="288"/>
              <a:ext cx="984" cy="40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zh-CN" altLang="en-US" sz="3600" dirty="0">
                  <a:solidFill>
                    <a:srgbClr val="A5002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作  业</a:t>
              </a:r>
              <a:endParaRPr lang="zh-CN" altLang="en-US" sz="3600"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43016" name="矩形 43015"/>
          <p:cNvSpPr/>
          <p:nvPr/>
        </p:nvSpPr>
        <p:spPr>
          <a:xfrm>
            <a:off x="533400" y="1676400"/>
            <a:ext cx="8001000" cy="2362200"/>
          </a:xfrm>
          <a:prstGeom prst="rect">
            <a:avLst/>
          </a:prstGeom>
          <a:noFill/>
          <a:ln w="57150" cap="flat" cmpd="thinThick">
            <a:solidFill>
              <a:srgbClr val="33CCCC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3017" name="文本框 43016"/>
          <p:cNvSpPr txBox="1"/>
          <p:nvPr/>
        </p:nvSpPr>
        <p:spPr>
          <a:xfrm>
            <a:off x="620713" y="2057400"/>
            <a:ext cx="8921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5-1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3018" name="文本框 43017"/>
          <p:cNvSpPr txBox="1"/>
          <p:nvPr/>
        </p:nvSpPr>
        <p:spPr>
          <a:xfrm>
            <a:off x="1468438" y="2057400"/>
            <a:ext cx="8921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5-2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3019" name="文本框 43018"/>
          <p:cNvSpPr txBox="1"/>
          <p:nvPr/>
        </p:nvSpPr>
        <p:spPr>
          <a:xfrm>
            <a:off x="609600" y="3429000"/>
            <a:ext cx="8921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5-5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3020" name="文本框 43019"/>
          <p:cNvSpPr txBox="1"/>
          <p:nvPr/>
        </p:nvSpPr>
        <p:spPr>
          <a:xfrm>
            <a:off x="2384425" y="2057400"/>
            <a:ext cx="8921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5-6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3021" name="文本框 43020"/>
          <p:cNvSpPr txBox="1"/>
          <p:nvPr/>
        </p:nvSpPr>
        <p:spPr>
          <a:xfrm>
            <a:off x="1546225" y="3429000"/>
            <a:ext cx="8921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5-8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3022" name="文本框 43021"/>
          <p:cNvSpPr txBox="1"/>
          <p:nvPr/>
        </p:nvSpPr>
        <p:spPr>
          <a:xfrm>
            <a:off x="3276600" y="2057400"/>
            <a:ext cx="8921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5-9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3023" name="文本框 43022"/>
          <p:cNvSpPr txBox="1"/>
          <p:nvPr/>
        </p:nvSpPr>
        <p:spPr>
          <a:xfrm>
            <a:off x="4267200" y="2057400"/>
            <a:ext cx="10445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5-10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3024" name="文本框 43023"/>
          <p:cNvSpPr txBox="1"/>
          <p:nvPr/>
        </p:nvSpPr>
        <p:spPr>
          <a:xfrm>
            <a:off x="5334000" y="2057400"/>
            <a:ext cx="10445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5-12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3025" name="文本框 43024"/>
          <p:cNvSpPr txBox="1"/>
          <p:nvPr/>
        </p:nvSpPr>
        <p:spPr>
          <a:xfrm>
            <a:off x="6400800" y="2057400"/>
            <a:ext cx="10445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5-13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3026" name="文本框 43025"/>
          <p:cNvSpPr txBox="1"/>
          <p:nvPr/>
        </p:nvSpPr>
        <p:spPr>
          <a:xfrm>
            <a:off x="2438400" y="3429000"/>
            <a:ext cx="10445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5-16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3027" name="文本框 43026"/>
          <p:cNvSpPr txBox="1"/>
          <p:nvPr/>
        </p:nvSpPr>
        <p:spPr>
          <a:xfrm>
            <a:off x="533400" y="2743200"/>
            <a:ext cx="10445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5-17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3028" name="文本框 43027"/>
          <p:cNvSpPr txBox="1"/>
          <p:nvPr/>
        </p:nvSpPr>
        <p:spPr>
          <a:xfrm>
            <a:off x="1524000" y="2743200"/>
            <a:ext cx="10445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5-20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3029" name="文本框 43028"/>
          <p:cNvSpPr txBox="1"/>
          <p:nvPr/>
        </p:nvSpPr>
        <p:spPr>
          <a:xfrm>
            <a:off x="3429000" y="3429000"/>
            <a:ext cx="10445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5-22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3030" name="文本框 43029"/>
          <p:cNvSpPr txBox="1"/>
          <p:nvPr/>
        </p:nvSpPr>
        <p:spPr>
          <a:xfrm>
            <a:off x="2514600" y="2743200"/>
            <a:ext cx="7429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5-24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pic>
        <p:nvPicPr>
          <p:cNvPr id="43031" name="图片 43030" descr="wb01508_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8674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3032" name="文本框 43031">
            <a:hlinkClick r:id="rId1" action="ppaction://hlinksldjump"/>
          </p:cNvPr>
          <p:cNvSpPr txBox="1"/>
          <p:nvPr/>
        </p:nvSpPr>
        <p:spPr>
          <a:xfrm>
            <a:off x="7512050" y="59436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u="sng" dirty="0">
                <a:solidFill>
                  <a:schemeClr val="accent2"/>
                </a:solidFill>
                <a:latin typeface="Times New Roman" panose="02020603050405020304" pitchFamily="18" charset="0"/>
              </a:rPr>
              <a:t>返  回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3033" name="矩形 43032"/>
          <p:cNvSpPr/>
          <p:nvPr/>
        </p:nvSpPr>
        <p:spPr>
          <a:xfrm>
            <a:off x="609600" y="1981200"/>
            <a:ext cx="7162800" cy="11430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transition>
    <p:wip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4034" name="矩形 44033"/>
          <p:cNvSpPr/>
          <p:nvPr/>
        </p:nvSpPr>
        <p:spPr>
          <a:xfrm>
            <a:off x="533400" y="228600"/>
            <a:ext cx="4419600" cy="5334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9525">
            <a:noFill/>
          </a:ln>
          <a:effectLst>
            <a:outerShdw sy="50000" kx="-2453608" algn="br" rotWithShape="0">
              <a:srgbClr val="808080"/>
            </a:outerShdw>
          </a:effectLst>
        </p:spPr>
        <p:txBody>
          <a:bodyPr anchor="ctr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sz="4000" b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同步时序电路分析</a:t>
            </a:r>
            <a:endParaRPr lang="zh-CN" altLang="en-US" sz="7200" b="1">
              <a:effectLst>
                <a:outerShdw blurRad="38100" dist="38100" dir="2700000">
                  <a:srgbClr val="FFFFFF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44035" name="组合 44034"/>
          <p:cNvGrpSpPr/>
          <p:nvPr/>
        </p:nvGrpSpPr>
        <p:grpSpPr>
          <a:xfrm>
            <a:off x="2359025" y="1447800"/>
            <a:ext cx="3733800" cy="990600"/>
            <a:chOff x="1488" y="912"/>
            <a:chExt cx="2352" cy="624"/>
          </a:xfrm>
        </p:grpSpPr>
        <p:sp>
          <p:nvSpPr>
            <p:cNvPr id="44036" name="流程图: 可选过程 44035"/>
            <p:cNvSpPr/>
            <p:nvPr/>
          </p:nvSpPr>
          <p:spPr>
            <a:xfrm>
              <a:off x="1488" y="912"/>
              <a:ext cx="2352" cy="624"/>
            </a:xfrm>
            <a:prstGeom prst="flowChartAlternateProcess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4037" name="文本框 44036"/>
            <p:cNvSpPr txBox="1"/>
            <p:nvPr/>
          </p:nvSpPr>
          <p:spPr>
            <a:xfrm>
              <a:off x="1680" y="912"/>
              <a:ext cx="205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写各触发器的</a:t>
              </a:r>
              <a:r>
                <a:rPr lang="zh-CN" altLang="en-US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控制函数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4038" name="文本框 44037"/>
          <p:cNvSpPr txBox="1"/>
          <p:nvPr/>
        </p:nvSpPr>
        <p:spPr>
          <a:xfrm>
            <a:off x="2663825" y="1905000"/>
            <a:ext cx="2647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/>
            <a:r>
              <a:rPr lang="zh-CN" altLang="en-US" dirty="0">
                <a:latin typeface="Times New Roman" panose="02020603050405020304" pitchFamily="18" charset="0"/>
              </a:rPr>
              <a:t>写电路的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输出函数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4039" name="直接连接符 44038"/>
          <p:cNvSpPr/>
          <p:nvPr/>
        </p:nvSpPr>
        <p:spPr>
          <a:xfrm>
            <a:off x="4264025" y="2438400"/>
            <a:ext cx="0" cy="30480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44040" name="组合 44039"/>
          <p:cNvGrpSpPr/>
          <p:nvPr/>
        </p:nvGrpSpPr>
        <p:grpSpPr>
          <a:xfrm>
            <a:off x="2359025" y="2743200"/>
            <a:ext cx="3733800" cy="762000"/>
            <a:chOff x="1488" y="1728"/>
            <a:chExt cx="2352" cy="480"/>
          </a:xfrm>
        </p:grpSpPr>
        <p:sp>
          <p:nvSpPr>
            <p:cNvPr id="44041" name="流程图: 可选过程 44040"/>
            <p:cNvSpPr/>
            <p:nvPr/>
          </p:nvSpPr>
          <p:spPr>
            <a:xfrm>
              <a:off x="1488" y="1728"/>
              <a:ext cx="2352" cy="480"/>
            </a:xfrm>
            <a:prstGeom prst="flowChartAlternateProcess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4042" name="文本框 44041"/>
            <p:cNvSpPr txBox="1"/>
            <p:nvPr/>
          </p:nvSpPr>
          <p:spPr>
            <a:xfrm>
              <a:off x="1680" y="1837"/>
              <a:ext cx="185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写触发器的</a:t>
              </a:r>
              <a:r>
                <a:rPr lang="zh-CN" altLang="en-US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状态方程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44043" name="直接连接符 44042"/>
          <p:cNvSpPr/>
          <p:nvPr/>
        </p:nvSpPr>
        <p:spPr>
          <a:xfrm>
            <a:off x="4264025" y="3505200"/>
            <a:ext cx="0" cy="30480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44044" name="组合 44043"/>
          <p:cNvGrpSpPr/>
          <p:nvPr/>
        </p:nvGrpSpPr>
        <p:grpSpPr>
          <a:xfrm>
            <a:off x="2282825" y="3810000"/>
            <a:ext cx="3886200" cy="609600"/>
            <a:chOff x="1440" y="2400"/>
            <a:chExt cx="2448" cy="384"/>
          </a:xfrm>
        </p:grpSpPr>
        <p:sp>
          <p:nvSpPr>
            <p:cNvPr id="44045" name="流程图: 可选过程 44044"/>
            <p:cNvSpPr/>
            <p:nvPr/>
          </p:nvSpPr>
          <p:spPr>
            <a:xfrm>
              <a:off x="1440" y="2400"/>
              <a:ext cx="2448" cy="384"/>
            </a:xfrm>
            <a:prstGeom prst="flowChartAlternateProcess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4046" name="文本框 44045"/>
            <p:cNvSpPr txBox="1"/>
            <p:nvPr/>
          </p:nvSpPr>
          <p:spPr>
            <a:xfrm>
              <a:off x="1440" y="2448"/>
              <a:ext cx="242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作</a:t>
              </a:r>
              <a:r>
                <a:rPr lang="zh-CN" altLang="en-US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状态转换表</a:t>
              </a:r>
              <a:r>
                <a:rPr lang="zh-CN" altLang="en-US" dirty="0">
                  <a:latin typeface="Times New Roman" panose="02020603050405020304" pitchFamily="18" charset="0"/>
                </a:rPr>
                <a:t>及</a:t>
              </a:r>
              <a:r>
                <a:rPr lang="zh-CN" altLang="en-US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状态转换图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44047" name="直接连接符 44046"/>
          <p:cNvSpPr/>
          <p:nvPr/>
        </p:nvSpPr>
        <p:spPr>
          <a:xfrm>
            <a:off x="4264025" y="4419600"/>
            <a:ext cx="0" cy="30480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44048" name="组合 44047"/>
          <p:cNvGrpSpPr/>
          <p:nvPr/>
        </p:nvGrpSpPr>
        <p:grpSpPr>
          <a:xfrm>
            <a:off x="2282825" y="4724400"/>
            <a:ext cx="3886200" cy="609600"/>
            <a:chOff x="1440" y="2976"/>
            <a:chExt cx="2448" cy="384"/>
          </a:xfrm>
        </p:grpSpPr>
        <p:sp>
          <p:nvSpPr>
            <p:cNvPr id="44049" name="文本框 44048"/>
            <p:cNvSpPr txBox="1"/>
            <p:nvPr/>
          </p:nvSpPr>
          <p:spPr>
            <a:xfrm>
              <a:off x="1968" y="3024"/>
              <a:ext cx="12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作</a:t>
              </a:r>
              <a:r>
                <a:rPr lang="zh-CN" altLang="en-US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时序波形图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44050" name="流程图: 可选过程 44049"/>
            <p:cNvSpPr/>
            <p:nvPr/>
          </p:nvSpPr>
          <p:spPr>
            <a:xfrm>
              <a:off x="1440" y="2976"/>
              <a:ext cx="2448" cy="384"/>
            </a:xfrm>
            <a:prstGeom prst="flowChartAlternateProcess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44051" name="直接连接符 44050"/>
          <p:cNvSpPr/>
          <p:nvPr/>
        </p:nvSpPr>
        <p:spPr>
          <a:xfrm>
            <a:off x="4264025" y="5334000"/>
            <a:ext cx="0" cy="30480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44052" name="组合 44051"/>
          <p:cNvGrpSpPr/>
          <p:nvPr/>
        </p:nvGrpSpPr>
        <p:grpSpPr>
          <a:xfrm>
            <a:off x="2282825" y="5638800"/>
            <a:ext cx="3886200" cy="609600"/>
            <a:chOff x="1440" y="3552"/>
            <a:chExt cx="2448" cy="384"/>
          </a:xfrm>
        </p:grpSpPr>
        <p:sp>
          <p:nvSpPr>
            <p:cNvPr id="44053" name="流程图: 可选过程 44052"/>
            <p:cNvSpPr/>
            <p:nvPr/>
          </p:nvSpPr>
          <p:spPr>
            <a:xfrm>
              <a:off x="1440" y="3552"/>
              <a:ext cx="2448" cy="384"/>
            </a:xfrm>
            <a:prstGeom prst="flowChartAlternateProcess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4054" name="文本框 44053"/>
            <p:cNvSpPr txBox="1"/>
            <p:nvPr/>
          </p:nvSpPr>
          <p:spPr>
            <a:xfrm>
              <a:off x="1690" y="3600"/>
              <a:ext cx="186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得到电路的逻辑功能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4055" name="组合 44054"/>
          <p:cNvGrpSpPr/>
          <p:nvPr/>
        </p:nvGrpSpPr>
        <p:grpSpPr>
          <a:xfrm>
            <a:off x="533400" y="1295400"/>
            <a:ext cx="914400" cy="5181600"/>
            <a:chOff x="624" y="768"/>
            <a:chExt cx="576" cy="3264"/>
          </a:xfrm>
        </p:grpSpPr>
        <p:sp>
          <p:nvSpPr>
            <p:cNvPr id="44056" name="椭圆 44055"/>
            <p:cNvSpPr/>
            <p:nvPr/>
          </p:nvSpPr>
          <p:spPr>
            <a:xfrm>
              <a:off x="624" y="768"/>
              <a:ext cx="576" cy="3264"/>
            </a:xfrm>
            <a:prstGeom prst="ellipse">
              <a:avLst/>
            </a:prstGeom>
            <a:gradFill rotWithShape="0">
              <a:gsLst>
                <a:gs pos="0">
                  <a:srgbClr val="FFFF99">
                    <a:gamma/>
                    <a:shade val="46275"/>
                    <a:invGamma/>
                  </a:srgbClr>
                </a:gs>
                <a:gs pos="50000">
                  <a:srgbClr val="FFFF99"/>
                </a:gs>
                <a:gs pos="100000">
                  <a:srgbClr val="FFFF99">
                    <a:gamma/>
                    <a:shade val="46275"/>
                    <a:invGamma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4057" name="文本框 44056"/>
            <p:cNvSpPr txBox="1"/>
            <p:nvPr/>
          </p:nvSpPr>
          <p:spPr>
            <a:xfrm>
              <a:off x="762" y="910"/>
              <a:ext cx="342" cy="297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sz="28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同</a:t>
              </a:r>
              <a:endParaRPr lang="zh-CN" altLang="en-US" sz="2800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sz="28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步</a:t>
              </a:r>
              <a:endParaRPr lang="zh-CN" altLang="en-US" sz="2800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sz="28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时</a:t>
              </a:r>
              <a:endParaRPr lang="zh-CN" altLang="en-US" sz="2800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sz="28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序</a:t>
              </a:r>
              <a:endParaRPr lang="zh-CN" altLang="en-US" sz="2800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sz="28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电</a:t>
              </a:r>
              <a:endParaRPr lang="zh-CN" altLang="en-US" sz="2800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sz="28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路</a:t>
              </a:r>
              <a:endParaRPr lang="zh-CN" altLang="en-US" sz="2800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sz="28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的</a:t>
              </a:r>
              <a:endParaRPr lang="zh-CN" altLang="en-US" sz="2800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sz="28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分</a:t>
              </a:r>
              <a:endParaRPr lang="zh-CN" altLang="en-US" sz="2800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sz="28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析</a:t>
              </a:r>
              <a:endParaRPr lang="zh-CN" altLang="en-US" sz="2800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sz="28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方</a:t>
              </a:r>
              <a:endParaRPr lang="zh-CN" altLang="en-US" sz="2800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法</a:t>
              </a:r>
              <a:endParaRPr lang="zh-CN" altLang="en-US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4059" name="圆角矩形标注 44058"/>
          <p:cNvSpPr/>
          <p:nvPr/>
        </p:nvSpPr>
        <p:spPr>
          <a:xfrm>
            <a:off x="6092825" y="2819400"/>
            <a:ext cx="2743200" cy="1219200"/>
          </a:xfrm>
          <a:prstGeom prst="wedgeRoundRectCallout">
            <a:avLst>
              <a:gd name="adj1" fmla="val -55963"/>
              <a:gd name="adj2" fmla="val 66667"/>
              <a:gd name="adj3" fmla="val 16667"/>
            </a:avLst>
          </a:prstGeom>
          <a:gradFill rotWithShape="0">
            <a:gsLst>
              <a:gs pos="0">
                <a:srgbClr val="FFFF99">
                  <a:gamma/>
                  <a:shade val="46275"/>
                  <a:invGamma/>
                </a:srgbClr>
              </a:gs>
              <a:gs pos="50000">
                <a:srgbClr val="FFFF99"/>
              </a:gs>
              <a:gs pos="100000">
                <a:srgbClr val="FFFF99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38100">
            <a:noFill/>
          </a:ln>
        </p:spPr>
        <p:txBody>
          <a:bodyPr wrap="none" anchor="ctr" anchorCtr="0"/>
          <a:p>
            <a:pPr algn="just"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简单的电路可直接</a:t>
            </a:r>
            <a:endParaRPr lang="zh-CN" altLang="en-US" dirty="0">
              <a:solidFill>
                <a:srgbClr val="A50021"/>
              </a:solidFill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绘出状态转换图</a:t>
            </a:r>
            <a:endParaRPr lang="zh-CN" altLang="en-US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60" name="文本框 44059"/>
          <p:cNvSpPr txBox="1"/>
          <p:nvPr/>
        </p:nvSpPr>
        <p:spPr>
          <a:xfrm>
            <a:off x="6229350" y="3048000"/>
            <a:ext cx="2911475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algn="l" eaLnBrk="1" hangingPunct="1"/>
            <a:endParaRPr b="0" dirty="0">
              <a:latin typeface="Times New Roman" panose="02020603050405020304" pitchFamily="18" charset="0"/>
            </a:endParaRPr>
          </a:p>
        </p:txBody>
      </p:sp>
      <p:grpSp>
        <p:nvGrpSpPr>
          <p:cNvPr id="44061" name="组合 44060"/>
          <p:cNvGrpSpPr/>
          <p:nvPr/>
        </p:nvGrpSpPr>
        <p:grpSpPr>
          <a:xfrm>
            <a:off x="6169025" y="4495800"/>
            <a:ext cx="2209800" cy="838200"/>
            <a:chOff x="3888" y="2832"/>
            <a:chExt cx="1392" cy="528"/>
          </a:xfrm>
        </p:grpSpPr>
        <p:sp>
          <p:nvSpPr>
            <p:cNvPr id="44062" name="圆角矩形标注 44061"/>
            <p:cNvSpPr/>
            <p:nvPr/>
          </p:nvSpPr>
          <p:spPr>
            <a:xfrm>
              <a:off x="3888" y="2832"/>
              <a:ext cx="1392" cy="528"/>
            </a:xfrm>
            <a:prstGeom prst="wedgeRoundRectCallout">
              <a:avLst>
                <a:gd name="adj1" fmla="val -96912"/>
                <a:gd name="adj2" fmla="val 20454"/>
                <a:gd name="adj3" fmla="val 16667"/>
              </a:avLst>
            </a:prstGeom>
            <a:gradFill rotWithShape="0">
              <a:gsLst>
                <a:gs pos="0">
                  <a:srgbClr val="FFFF99">
                    <a:gamma/>
                    <a:shade val="46275"/>
                    <a:invGamma/>
                  </a:srgbClr>
                </a:gs>
                <a:gs pos="50000">
                  <a:srgbClr val="FFFF99"/>
                </a:gs>
                <a:gs pos="100000">
                  <a:srgbClr val="FFFF99">
                    <a:gamma/>
                    <a:shade val="46275"/>
                    <a:invGamma/>
                  </a:srgbClr>
                </a:gs>
              </a:gsLst>
              <a:lin ang="54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 eaLnBrk="1" hangingPunct="1"/>
              <a:endParaRPr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63" name="文本框 44062"/>
            <p:cNvSpPr txBox="1"/>
            <p:nvPr/>
          </p:nvSpPr>
          <p:spPr>
            <a:xfrm>
              <a:off x="3888" y="2928"/>
              <a:ext cx="1280" cy="288"/>
            </a:xfrm>
            <a:prstGeom prst="rect">
              <a:avLst/>
            </a:prstGeom>
            <a:gradFill rotWithShape="0">
              <a:gsLst>
                <a:gs pos="0">
                  <a:srgbClr val="FFFF99">
                    <a:gamma/>
                    <a:shade val="46275"/>
                    <a:invGamma/>
                  </a:srgbClr>
                </a:gs>
                <a:gs pos="50000">
                  <a:srgbClr val="FFFF99"/>
                </a:gs>
                <a:gs pos="100000">
                  <a:srgbClr val="FFFF99">
                    <a:gamma/>
                    <a:shade val="46275"/>
                    <a:invGamma/>
                  </a:srgbClr>
                </a:gs>
              </a:gsLst>
              <a:lin ang="5400000" scaled="1"/>
              <a:tileRect/>
            </a:gradFill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无要求可不画</a:t>
              </a:r>
              <a:endParaRPr lang="zh-CN" altLang="en-US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4064" name="文本框 44063">
            <a:hlinkClick r:id="rId1" action="ppaction://hlinksldjump"/>
          </p:cNvPr>
          <p:cNvSpPr txBox="1"/>
          <p:nvPr/>
        </p:nvSpPr>
        <p:spPr>
          <a:xfrm>
            <a:off x="6972300" y="5791200"/>
            <a:ext cx="8001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u="sng" dirty="0">
                <a:solidFill>
                  <a:schemeClr val="accent2"/>
                </a:solidFill>
                <a:latin typeface="Times New Roman" panose="02020603050405020304" pitchFamily="18" charset="0"/>
              </a:rPr>
              <a:t>返回</a:t>
            </a:r>
            <a:endParaRPr lang="zh-CN" altLang="en-US" u="sng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4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4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4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4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4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4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4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4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44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44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8" grpId="0"/>
      <p:bldP spid="4405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5058" name="矩形 45057"/>
          <p:cNvSpPr/>
          <p:nvPr/>
        </p:nvSpPr>
        <p:spPr>
          <a:xfrm>
            <a:off x="152400" y="152400"/>
            <a:ext cx="3581400" cy="5334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9525">
            <a:noFill/>
          </a:ln>
          <a:effectLst>
            <a:outerShdw dist="107763" dir="18900000" algn="ctr" rotWithShape="0">
              <a:srgbClr val="808080"/>
            </a:outerShdw>
          </a:effectLst>
        </p:spPr>
        <p:txBody>
          <a:bodyPr anchor="ctr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 algn="l"/>
            <a:r>
              <a:rPr lang="zh-CN" altLang="en-US" sz="3200" b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同步时序电路设计</a:t>
            </a:r>
            <a:endParaRPr lang="zh-CN" altLang="en-US" sz="7200" b="1">
              <a:effectLst>
                <a:outerShdw blurRad="38100" dist="38100" dir="2700000">
                  <a:srgbClr val="FFFFFF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5059" name="矩形 45058"/>
          <p:cNvSpPr/>
          <p:nvPr/>
        </p:nvSpPr>
        <p:spPr>
          <a:xfrm>
            <a:off x="152400" y="152400"/>
            <a:ext cx="3581400" cy="5334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9525"/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 anchorCtr="0">
            <a:flatTx/>
          </a:bodyPr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 algn="l"/>
            <a:r>
              <a:rPr lang="zh-CN" altLang="en-US" sz="3200" b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同步时序电路设计</a:t>
            </a:r>
            <a:endParaRPr lang="zh-CN" altLang="en-US" sz="7200" b="1">
              <a:effectLst>
                <a:outerShdw blurRad="38100" dist="38100" dir="2700000">
                  <a:srgbClr val="FFFFFF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45060" name="组合 45059"/>
          <p:cNvGrpSpPr/>
          <p:nvPr/>
        </p:nvGrpSpPr>
        <p:grpSpPr>
          <a:xfrm>
            <a:off x="762000" y="2057400"/>
            <a:ext cx="1066800" cy="3505200"/>
            <a:chOff x="480" y="1296"/>
            <a:chExt cx="672" cy="2208"/>
          </a:xfrm>
        </p:grpSpPr>
        <p:sp>
          <p:nvSpPr>
            <p:cNvPr id="45061" name="椭圆 45060"/>
            <p:cNvSpPr/>
            <p:nvPr/>
          </p:nvSpPr>
          <p:spPr>
            <a:xfrm>
              <a:off x="480" y="1296"/>
              <a:ext cx="672" cy="2208"/>
            </a:xfrm>
            <a:prstGeom prst="ellipse">
              <a:avLst/>
            </a:prstGeom>
            <a:gradFill rotWithShape="0">
              <a:gsLst>
                <a:gs pos="0">
                  <a:srgbClr val="FFFF99">
                    <a:gamma/>
                    <a:shade val="46275"/>
                    <a:invGamma/>
                  </a:srgbClr>
                </a:gs>
                <a:gs pos="50000">
                  <a:srgbClr val="FFFF99"/>
                </a:gs>
                <a:gs pos="100000">
                  <a:srgbClr val="FFFF99">
                    <a:gamma/>
                    <a:shade val="46275"/>
                    <a:invGamma/>
                  </a:srgbClr>
                </a:gs>
              </a:gsLst>
              <a:lin ang="5400000" scaled="1"/>
              <a:tileRect/>
            </a:gradFill>
            <a:ln w="381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5062" name="文本框 45061"/>
            <p:cNvSpPr txBox="1"/>
            <p:nvPr/>
          </p:nvSpPr>
          <p:spPr>
            <a:xfrm>
              <a:off x="576" y="1728"/>
              <a:ext cx="374" cy="1286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sz="32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设</a:t>
              </a:r>
              <a:endParaRPr lang="zh-CN" altLang="en-US" sz="3200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sz="32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计</a:t>
              </a:r>
              <a:endParaRPr lang="zh-CN" altLang="en-US" sz="3200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sz="32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方</a:t>
              </a:r>
              <a:endParaRPr lang="zh-CN" altLang="en-US" sz="3200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  <a:p>
              <a:pPr algn="l" eaLnBrk="1" hangingPunct="1"/>
              <a:r>
                <a:rPr lang="zh-CN" altLang="en-US" sz="3200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法</a:t>
              </a:r>
              <a:endParaRPr lang="zh-CN" altLang="en-US" sz="320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5063" name="组合 45062"/>
          <p:cNvGrpSpPr/>
          <p:nvPr/>
        </p:nvGrpSpPr>
        <p:grpSpPr>
          <a:xfrm>
            <a:off x="3808413" y="547688"/>
            <a:ext cx="2439987" cy="458787"/>
            <a:chOff x="2399" y="345"/>
            <a:chExt cx="1537" cy="289"/>
          </a:xfrm>
        </p:grpSpPr>
        <p:sp>
          <p:nvSpPr>
            <p:cNvPr id="45064" name="流程图: 可选过程 45063"/>
            <p:cNvSpPr/>
            <p:nvPr/>
          </p:nvSpPr>
          <p:spPr>
            <a:xfrm>
              <a:off x="2399" y="345"/>
              <a:ext cx="1537" cy="288"/>
            </a:xfrm>
            <a:prstGeom prst="flowChartAlternateProcess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5065" name="文本框 45064"/>
            <p:cNvSpPr txBox="1"/>
            <p:nvPr/>
          </p:nvSpPr>
          <p:spPr>
            <a:xfrm>
              <a:off x="2543" y="346"/>
              <a:ext cx="128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给定逻辑功能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45066" name="直接连接符 45065"/>
          <p:cNvSpPr/>
          <p:nvPr/>
        </p:nvSpPr>
        <p:spPr>
          <a:xfrm>
            <a:off x="4949825" y="1004888"/>
            <a:ext cx="0" cy="230187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45067" name="组合 45066"/>
          <p:cNvGrpSpPr/>
          <p:nvPr/>
        </p:nvGrpSpPr>
        <p:grpSpPr>
          <a:xfrm>
            <a:off x="3732213" y="1158875"/>
            <a:ext cx="2438400" cy="822325"/>
            <a:chOff x="1824" y="1296"/>
            <a:chExt cx="1536" cy="518"/>
          </a:xfrm>
        </p:grpSpPr>
        <p:sp>
          <p:nvSpPr>
            <p:cNvPr id="45068" name="流程图: 可选过程 45067"/>
            <p:cNvSpPr/>
            <p:nvPr/>
          </p:nvSpPr>
          <p:spPr>
            <a:xfrm>
              <a:off x="1824" y="1344"/>
              <a:ext cx="1536" cy="432"/>
            </a:xfrm>
            <a:prstGeom prst="flowChartAlternateProcess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5069" name="文本框 45068"/>
            <p:cNvSpPr txBox="1"/>
            <p:nvPr/>
          </p:nvSpPr>
          <p:spPr>
            <a:xfrm>
              <a:off x="1968" y="1296"/>
              <a:ext cx="1280" cy="51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ctr" eaLnBrk="1" hangingPunct="1"/>
              <a:r>
                <a:rPr lang="zh-CN" altLang="en-US" dirty="0">
                  <a:latin typeface="Times New Roman" panose="02020603050405020304" pitchFamily="18" charset="0"/>
                </a:rPr>
                <a:t>写原始状态图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zh-CN" altLang="en-US" dirty="0">
                  <a:latin typeface="Times New Roman" panose="02020603050405020304" pitchFamily="18" charset="0"/>
                </a:rPr>
                <a:t>原始状态表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45070" name="直接连接符 45069"/>
          <p:cNvSpPr/>
          <p:nvPr/>
        </p:nvSpPr>
        <p:spPr>
          <a:xfrm>
            <a:off x="4953000" y="1905000"/>
            <a:ext cx="0" cy="3048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45071" name="组合 45070"/>
          <p:cNvGrpSpPr/>
          <p:nvPr/>
        </p:nvGrpSpPr>
        <p:grpSpPr>
          <a:xfrm>
            <a:off x="3124200" y="2209800"/>
            <a:ext cx="3581400" cy="609600"/>
            <a:chOff x="1968" y="1392"/>
            <a:chExt cx="2256" cy="384"/>
          </a:xfrm>
        </p:grpSpPr>
        <p:sp>
          <p:nvSpPr>
            <p:cNvPr id="45072" name="流程图: 可选过程 45071"/>
            <p:cNvSpPr/>
            <p:nvPr/>
          </p:nvSpPr>
          <p:spPr>
            <a:xfrm>
              <a:off x="2016" y="1392"/>
              <a:ext cx="2208" cy="384"/>
            </a:xfrm>
            <a:prstGeom prst="flowChartAlternateProcess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5073" name="文本框 45072"/>
            <p:cNvSpPr txBox="1"/>
            <p:nvPr/>
          </p:nvSpPr>
          <p:spPr>
            <a:xfrm>
              <a:off x="1968" y="1440"/>
              <a:ext cx="225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状态简化得最小化状态表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45074" name="直接连接符 45073"/>
          <p:cNvSpPr/>
          <p:nvPr/>
        </p:nvSpPr>
        <p:spPr>
          <a:xfrm>
            <a:off x="4876800" y="2819400"/>
            <a:ext cx="0" cy="3048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45075" name="组合 45074"/>
          <p:cNvGrpSpPr/>
          <p:nvPr/>
        </p:nvGrpSpPr>
        <p:grpSpPr>
          <a:xfrm>
            <a:off x="3962400" y="3124200"/>
            <a:ext cx="1828800" cy="457200"/>
            <a:chOff x="2496" y="1968"/>
            <a:chExt cx="1152" cy="288"/>
          </a:xfrm>
        </p:grpSpPr>
        <p:sp>
          <p:nvSpPr>
            <p:cNvPr id="45076" name="流程图: 可选过程 45075"/>
            <p:cNvSpPr/>
            <p:nvPr/>
          </p:nvSpPr>
          <p:spPr>
            <a:xfrm>
              <a:off x="2496" y="1968"/>
              <a:ext cx="1152" cy="288"/>
            </a:xfrm>
            <a:prstGeom prst="flowChartAlternateProcess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5077" name="文本框 45076"/>
            <p:cNvSpPr txBox="1"/>
            <p:nvPr/>
          </p:nvSpPr>
          <p:spPr>
            <a:xfrm>
              <a:off x="2592" y="1968"/>
              <a:ext cx="89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状态编码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45078" name="直接连接符 45077"/>
          <p:cNvSpPr/>
          <p:nvPr/>
        </p:nvSpPr>
        <p:spPr>
          <a:xfrm>
            <a:off x="4867275" y="3581400"/>
            <a:ext cx="0" cy="3048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45079" name="组合 45078"/>
          <p:cNvGrpSpPr/>
          <p:nvPr/>
        </p:nvGrpSpPr>
        <p:grpSpPr>
          <a:xfrm>
            <a:off x="2057400" y="3886200"/>
            <a:ext cx="5638800" cy="534988"/>
            <a:chOff x="1488" y="2495"/>
            <a:chExt cx="3552" cy="337"/>
          </a:xfrm>
        </p:grpSpPr>
        <p:sp>
          <p:nvSpPr>
            <p:cNvPr id="45080" name="流程图: 可选过程 45079"/>
            <p:cNvSpPr/>
            <p:nvPr/>
          </p:nvSpPr>
          <p:spPr>
            <a:xfrm>
              <a:off x="1488" y="2496"/>
              <a:ext cx="3552" cy="336"/>
            </a:xfrm>
            <a:prstGeom prst="flowChartAlternateProcess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5081" name="文本框 45080"/>
            <p:cNvSpPr txBox="1"/>
            <p:nvPr/>
          </p:nvSpPr>
          <p:spPr>
            <a:xfrm>
              <a:off x="1578" y="2495"/>
              <a:ext cx="341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l" eaLnBrk="1" hangingPunct="1"/>
              <a:r>
                <a:rPr lang="zh-CN" altLang="en-US" dirty="0">
                  <a:latin typeface="Times New Roman" panose="02020603050405020304" pitchFamily="18" charset="0"/>
                </a:rPr>
                <a:t>选触发器类型，求控制函数、输出函数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45082" name="直接连接符 45081"/>
          <p:cNvSpPr/>
          <p:nvPr/>
        </p:nvSpPr>
        <p:spPr>
          <a:xfrm>
            <a:off x="4800600" y="4419600"/>
            <a:ext cx="0" cy="3048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5083" name="流程图: 可选过程 45082"/>
          <p:cNvSpPr/>
          <p:nvPr/>
        </p:nvSpPr>
        <p:spPr>
          <a:xfrm>
            <a:off x="3505200" y="4724400"/>
            <a:ext cx="2514600" cy="457200"/>
          </a:xfrm>
          <a:prstGeom prst="flowChartAlternateProcess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画逻辑电路图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5084" name="直接连接符 45083"/>
          <p:cNvSpPr/>
          <p:nvPr/>
        </p:nvSpPr>
        <p:spPr>
          <a:xfrm>
            <a:off x="4800600" y="5181600"/>
            <a:ext cx="0" cy="3048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5085" name="流程图: 可选过程 45084"/>
          <p:cNvSpPr/>
          <p:nvPr/>
        </p:nvSpPr>
        <p:spPr>
          <a:xfrm>
            <a:off x="3429000" y="5486400"/>
            <a:ext cx="2743200" cy="1143000"/>
          </a:xfrm>
          <a:prstGeom prst="flowChartAlternateProcess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画出全状态图，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检查设计，如不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符合要求，重新设计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5086" name="文本框 45085">
            <a:hlinkClick r:id="rId1" action="ppaction://hlinksldjump"/>
          </p:cNvPr>
          <p:cNvSpPr txBox="1"/>
          <p:nvPr/>
        </p:nvSpPr>
        <p:spPr>
          <a:xfrm>
            <a:off x="6972300" y="6096000"/>
            <a:ext cx="8001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u="sng" dirty="0">
                <a:solidFill>
                  <a:schemeClr val="accent2"/>
                </a:solidFill>
                <a:latin typeface="Times New Roman" panose="02020603050405020304" pitchFamily="18" charset="0"/>
              </a:rPr>
              <a:t>返回</a:t>
            </a:r>
            <a:endParaRPr lang="zh-CN" altLang="en-US" u="sng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4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5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45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5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45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5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45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5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45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45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7" dur="500"/>
                                        <p:tgtEl>
                                          <p:spTgt spid="45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animBg="1"/>
      <p:bldP spid="45083" grpId="0" animBg="1"/>
      <p:bldP spid="4508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6082" name="矩形 46081"/>
          <p:cNvSpPr/>
          <p:nvPr/>
        </p:nvSpPr>
        <p:spPr>
          <a:xfrm>
            <a:off x="533400" y="304800"/>
            <a:ext cx="4876800" cy="6096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9525">
            <a:noFill/>
          </a:ln>
          <a:effectLst>
            <a:outerShdw sy="50000" kx="2453608" rotWithShape="0">
              <a:srgbClr val="808080"/>
            </a:outerShdw>
          </a:effectLst>
        </p:spPr>
        <p:txBody>
          <a:bodyPr anchor="ctr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sz="4000" b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异步时序电路分析</a:t>
            </a:r>
            <a:endParaRPr lang="zh-CN" altLang="en-US" sz="7200" b="1">
              <a:effectLst>
                <a:outerShdw blurRad="38100" dist="38100" dir="2700000">
                  <a:srgbClr val="FFFFFF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6083" name="文本框 46082"/>
          <p:cNvSpPr txBox="1"/>
          <p:nvPr/>
        </p:nvSpPr>
        <p:spPr>
          <a:xfrm>
            <a:off x="476250" y="1143000"/>
            <a:ext cx="49339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宋体" panose="02010600030101010101" pitchFamily="2" charset="-122"/>
              </a:rPr>
              <a:t>1. </a:t>
            </a:r>
            <a:r>
              <a:rPr lang="zh-CN" altLang="en-US" dirty="0">
                <a:latin typeface="宋体" panose="02010600030101010101" pitchFamily="2" charset="-122"/>
              </a:rPr>
              <a:t>各触发器的控制函数和时钟方程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46084" name="文本框 46083"/>
          <p:cNvSpPr txBox="1"/>
          <p:nvPr/>
        </p:nvSpPr>
        <p:spPr>
          <a:xfrm>
            <a:off x="438150" y="1828800"/>
            <a:ext cx="33623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>
                <a:latin typeface="宋体" panose="02010600030101010101" pitchFamily="2" charset="-122"/>
              </a:rPr>
              <a:t>2. </a:t>
            </a:r>
            <a:r>
              <a:rPr lang="zh-CN" altLang="en-US" dirty="0">
                <a:latin typeface="宋体" panose="02010600030101010101" pitchFamily="2" charset="-122"/>
              </a:rPr>
              <a:t>各触发器的状态方程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46085" name="文本框 46084"/>
          <p:cNvSpPr txBox="1"/>
          <p:nvPr/>
        </p:nvSpPr>
        <p:spPr>
          <a:xfrm>
            <a:off x="444500" y="2438400"/>
            <a:ext cx="1612900" cy="457200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、态序表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6086" name="文本框 46085"/>
          <p:cNvSpPr txBox="1"/>
          <p:nvPr/>
        </p:nvSpPr>
        <p:spPr>
          <a:xfrm>
            <a:off x="381000" y="3048000"/>
            <a:ext cx="1828800" cy="457200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</a:rPr>
              <a:t>、时序图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6087" name="文本框 46086"/>
          <p:cNvSpPr txBox="1"/>
          <p:nvPr/>
        </p:nvSpPr>
        <p:spPr>
          <a:xfrm>
            <a:off x="533400" y="3657600"/>
            <a:ext cx="35528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最后得到电路的逻辑功能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6088" name="文本框 46087">
            <a:hlinkClick r:id="rId1" action="ppaction://hlinksldjump"/>
          </p:cNvPr>
          <p:cNvSpPr txBox="1"/>
          <p:nvPr/>
        </p:nvSpPr>
        <p:spPr>
          <a:xfrm>
            <a:off x="685800" y="5791200"/>
            <a:ext cx="8001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u="sng" dirty="0">
                <a:solidFill>
                  <a:schemeClr val="accent2"/>
                </a:solidFill>
                <a:latin typeface="Times New Roman" panose="02020603050405020304" pitchFamily="18" charset="0"/>
              </a:rPr>
              <a:t>返回</a:t>
            </a:r>
            <a:endParaRPr lang="zh-CN" altLang="en-US" u="sng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/>
      <p:bldP spid="46084" grpId="0"/>
      <p:bldP spid="46085" grpId="0"/>
      <p:bldP spid="46086" grpId="0"/>
      <p:bldP spid="46087" grpId="0"/>
    </p:bldLst>
  </p:timing>
</p:sld>
</file>

<file path=ppt/theme/theme1.xml><?xml version="1.0" encoding="utf-8"?>
<a:theme xmlns:a="http://schemas.openxmlformats.org/drawingml/2006/main" name="空演示文稿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33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1E1E1"/>
        </a:accent5>
        <a:accent6>
          <a:srgbClr val="787878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1E1E1"/>
        </a:accent5>
        <a:accent6>
          <a:srgbClr val="005BE5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Office\Templates\空演示文稿.pot</Template>
  <TotalTime>0</TotalTime>
  <Words>6949</Words>
  <Application>WPS 演示</Application>
  <PresentationFormat>在屏幕上显示</PresentationFormat>
  <Paragraphs>2810</Paragraphs>
  <Slides>44</Slides>
  <Notes>0</Notes>
  <HiddenSlides>5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57</vt:i4>
      </vt:variant>
      <vt:variant>
        <vt:lpstr>幻灯片标题</vt:lpstr>
      </vt:variant>
      <vt:variant>
        <vt:i4>44</vt:i4>
      </vt:variant>
    </vt:vector>
  </HeadingPairs>
  <TitlesOfParts>
    <vt:vector size="111" baseType="lpstr">
      <vt:lpstr>Arial</vt:lpstr>
      <vt:lpstr>宋体</vt:lpstr>
      <vt:lpstr>Wingdings</vt:lpstr>
      <vt:lpstr>Times New Roman</vt:lpstr>
      <vt:lpstr>黑体</vt:lpstr>
      <vt:lpstr>Symbol</vt:lpstr>
      <vt:lpstr>隶书</vt:lpstr>
      <vt:lpstr>微软雅黑</vt:lpstr>
      <vt:lpstr>Arial Unicode MS</vt:lpstr>
      <vt:lpstr>空演示文稿</vt:lpstr>
      <vt:lpstr>Equation.3</vt:lpstr>
      <vt:lpstr>Equation.3</vt:lpstr>
      <vt:lpstr>Equation.3</vt:lpstr>
      <vt:lpstr>Paint.Picture</vt:lpstr>
      <vt:lpstr>Equation.3</vt:lpstr>
      <vt:lpstr>Equation.3</vt:lpstr>
      <vt:lpstr>Equation.3</vt:lpstr>
      <vt:lpstr>Paint.Picture</vt:lpstr>
      <vt:lpstr>Equation.3</vt:lpstr>
      <vt:lpstr>Equation.3</vt:lpstr>
      <vt:lpstr>Equation.3</vt:lpstr>
      <vt:lpstr>Equation.3</vt:lpstr>
      <vt:lpstr>Paint.Picture</vt:lpstr>
      <vt:lpstr>Paint.Picture</vt:lpstr>
      <vt:lpstr>Paint.Picture</vt:lpstr>
      <vt:lpstr>Equation.3</vt:lpstr>
      <vt:lpstr>Equation.3</vt:lpstr>
      <vt:lpstr>Equation.3</vt:lpstr>
      <vt:lpstr>Equation.3</vt:lpstr>
      <vt:lpstr>Paint.Picture</vt:lpstr>
      <vt:lpstr>Equation.3</vt:lpstr>
      <vt:lpstr>Equation.3</vt:lpstr>
      <vt:lpstr>Paint.Picture</vt:lpstr>
      <vt:lpstr>Equation.3</vt:lpstr>
      <vt:lpstr>Equation.3</vt:lpstr>
      <vt:lpstr>Paint.Picture</vt:lpstr>
      <vt:lpstr>Paint.Picture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Paint.Picture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d7</dc:creator>
  <cp:lastModifiedBy>WPS_1640354101</cp:lastModifiedBy>
  <cp:revision>105</cp:revision>
  <dcterms:created xsi:type="dcterms:W3CDTF">1999-07-02T02:57:32Z</dcterms:created>
  <dcterms:modified xsi:type="dcterms:W3CDTF">2024-05-17T13:59:25Z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EF737FC09CFB48F8A7CD477FDB434515_13</vt:lpwstr>
  </property>
  <property fmtid="{D5CDD505-2E9C-101B-9397-08002B2CF9AE}" pid="3" name="KSOProductBuildVer">
    <vt:lpwstr>2052-12.1.0.16729</vt:lpwstr>
  </property>
</Properties>
</file>