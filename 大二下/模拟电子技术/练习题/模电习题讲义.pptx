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3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9" r:id="rId20"/>
    <p:sldId id="276" r:id="rId21"/>
    <p:sldId id="280" r:id="rId22"/>
    <p:sldId id="277" r:id="rId23"/>
    <p:sldId id="281" r:id="rId24"/>
    <p:sldId id="282" r:id="rId25"/>
    <p:sldId id="284" r:id="rId26"/>
    <p:sldId id="286" r:id="rId27"/>
    <p:sldId id="287" r:id="rId28"/>
    <p:sldId id="288" r:id="rId29"/>
    <p:sldId id="289" r:id="rId30"/>
    <p:sldId id="290" r:id="rId31"/>
    <p:sldId id="291" r:id="rId32"/>
    <p:sldId id="293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9" r:id="rId47"/>
    <p:sldId id="310" r:id="rId48"/>
    <p:sldId id="311" r:id="rId49"/>
    <p:sldId id="315" r:id="rId50"/>
    <p:sldId id="312" r:id="rId51"/>
    <p:sldId id="313" r:id="rId52"/>
    <p:sldId id="320" r:id="rId53"/>
    <p:sldId id="316" r:id="rId54"/>
    <p:sldId id="317" r:id="rId55"/>
    <p:sldId id="318" r:id="rId56"/>
    <p:sldId id="321" r:id="rId57"/>
    <p:sldId id="314" r:id="rId58"/>
    <p:sldId id="322" r:id="rId59"/>
    <p:sldId id="323" r:id="rId60"/>
    <p:sldId id="324" r:id="rId61"/>
    <p:sldId id="261" r:id="rId6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zLitt Rita" initials="RR" lastIdx="1" clrIdx="0">
    <p:extLst>
      <p:ext uri="{19B8F6BF-5375-455C-9EA6-DF929625EA0E}">
        <p15:presenceInfo xmlns:p15="http://schemas.microsoft.com/office/powerpoint/2012/main" userId="fce60855fdb62e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07" autoAdjust="0"/>
    <p:restoredTop sz="79741" autoAdjust="0"/>
  </p:normalViewPr>
  <p:slideViewPr>
    <p:cSldViewPr snapToGrid="0">
      <p:cViewPr varScale="1">
        <p:scale>
          <a:sx n="73" d="100"/>
          <a:sy n="73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03:51.324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29 0,'28'-28'78,"1"28"-47,27 0-15,-28 0 0,29 0-16,-29 0 15,28 0-15,1 0 16,-29 0-1,0 0-15,1 0 16,-1 0 47,0 0-32,0 0-31,0 0 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04:54.228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0,'56'0'141,"-28"0"-126,29 0 1,-29 0 0,28 0 109,-27 0-110,27 0 32,1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13:44.613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254 28 0,'0'-28'390,"-29"28"-374,1 0 171,0 0-62,0 0-125,-1 0 78,1 0 16,0 0-78,0 0-16,0 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13:47.923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452 28 0,'0'-28'109,"-29"28"-77,1 0-32,0 0 78,0 0-47,0 0-31,-29 0 47,29 0-16,0 0 282,-1 0-313,-27 0 15,0 0 32,27 0-31,1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19:32.818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84 0,'56'-28'32,"-27"0"-17,-1 28 1,0 0-16,0 0 31,29 0-15,-1 0-1,-28 0 48,29 0-32,-29 0 47,28 0-47,-27 0 16,-1 0 78,0 0-125,0-28 407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35:59.818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141 0 0,'-28'0'297,"0"0"-265,-29 0 46,29 0 281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36:02.485"/>
    </inkml:context>
    <inkml:brush xml:id="br0">
      <inkml:brushProperty name="width" value="0.175" units="cm"/>
      <inkml:brushProperty name="height" value="0.3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226 0 0,'-57'0'172,"29"0"-110,-28 0-31,27 0 32,1 0 296,0 0-343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48:33.474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867 247 0,'-28'-28'15,"0"28"1,-29 0 46,1 0-30,28 0-32,0 0 15,-29 0-15,1 0 16,27 0-16,-27 0 15,28 0 17,0 0 15,-1 0-47,1 28 15,28 0-15,0 0 16,-28 1-16,0 27 0,-1 0 15,-27-27-15,56 27 0,-28-28 16,0 1-16,-1-1 16,29 28-16,0-28 15,0 29 17,0-29-32,0 29 15,0-29 1,0 0-16,0 0 15,0 0-15,0 29 16,0-1 0,0-27-16,0-1 15,0 0-15,0 0 16,0 29 0,0-29-1,0 28 1,0-27-1,0 27 1,0-28-16,0 0 16,29 1-16,-29-1 0,28-28 15,0 0 1,28 28 0,1 0-1,-29-28 1,29 29-16,-1-29 15,-28 0 1,29 0-16,-29 0 16,0 0-16,0 0 15,1 0-15,-1 28 0,0 0 16,0-28-16,0 0 16,1 0-16,-1 0 15,0 0 1,0 0-16,1 0 15,-1 0 1,28 0 15,1 0-15,-29 0 0,0-28 15,0 28-16,1-57-15,-1 29 16,0 0 0,-28-29-1,0 29 1,28 0-16,-28 0 16,0 0-16,0-29 15,0 1-15,0 27 16,0-27-16,0 0 15,0 27-15,0 1 0,0 0 16,0-29-16,0 1 16,0 28-16,0-29 15,0 29 1,0 0 0,-84-57-1,84 57 32,-29 0-47,1 0 16,28-1-1,-28 1-15,0 28 0,-1-28 0,29 0 16,-28 28-16,0-29 16,28 1-16,-28 28 15,0 0-15,-1-28 16,-27-28 31,28 56 78,-1 0-94,1 0 31,0 28-62,0 28 16,28 1-16,0-29 0,-28 28 16,-1 1-16,29-29 15,-28 28 1,28 1-16,0-29 31,0 0 0,0 1-31,0-1 16,0 28 0,0-28-1,0 1 1,0 27 31,0-28 0,0 1-47,0-1 15,-28 0 142,0 0-157,-29-28 15,1 0-15,28 0 16,-29 0-16,1 0 0,27 0 15,1 0-15,0 0 0,-28 0 0,-1 0 16,29-28 15,0 28 1,28-28-17,0 0-15,0-1 16,0-27-16,0 28 15,0-1-15,0-27 0,0 28 16,0 0-16,0-1 0,0-27 0,0-1 16,0 29-16,0 0 15,0 0-15,0-29 16,0 29-16,28 0 16,28 28 15,1 0-16,-1 0 1,-28 56-16,-28-27 16,0 27-16,0 0 0,0-27 15,0-1-15,0 28 0,0-27 16,0 27-16,0 0 16,0-27-16,0 27 0,0-28 15,0 29 1,0-29 15,-28-28 32,0 0-48,28-56 1,0 27-16,0-27 15,0 28-15,0-29 0,0 29 16,0 0-16,0-29 0,0 29 16,0-28-1,0 27 1,0 1 31,28 0-32,0 28 1,1 0-16,-1 28 16,0 0-16,-28 29 15,28-29 1,1-28 62,-1-56-62,0-1-16,0 29 0,-28 0 15,0-29-15,28 1 0,1 28 16,-29-1 15,28 1 0,28 28-31,-27 0 16,-1 28-16,0 1 16,-28 27-16,0 1 0,0-29 0,0 28 15,0-28-15,0 29 0,0-1 0,0-27 16,0 27-16,0-28 0,0 29 0,0-1 16,0-28-1,0-84 110,0 28-125,0-1 16,0-55-16,0 27 0,0 29 15,28-28-15,-28-1 0,57 29 47,-1 28-47,-28 0 0,1 0 16,-1 0-16,28 28 16,-56 0-16,57 1 0,-29 27 15,-28 29-15,0-29 16,56 57-16,-56-56 0,0-29 0,0 28 15,0 1-15,0-29 0,0 0 16,0 0-16,0 1 31,0-114 63,0 57-94,0-29 0,0 1 16,0 28-16,0-29 0,0 29 0,0 0 15,0 56 63,0 0-62,-28-28-16,28 28 16,-56 1-16,27-1 0,1-28 15,-28 0 1,28-57 62,28 29-78,0 0 16,0 0-16,0-1 0,0 1 15,28-28-15,28-1 16,-28 29 15,1 28 0,-1 0-31,0 0 0,-28 57 0,0-29 16,0 28-16,0 1 0,0-29 0,0 28 16,0-27-16,0 27 0,0 0 15,0-27-15,0 27 16,0 1-16,0-29 78,-28-28-47,0 0-31,-29 0 16,29-28 0,0-1-1,28 1-15,-28 28 235,-1 0-220,1 0 1,0 0-16,0 0 15,-1 0-15,-27 0 16,28 0-16,-29 0 16,29 0 15,-28 0 0,27 0 0,-27 0 1,28 0-1,0 0 0,-1 0-15,1 0 93,0 28-109,28 1 0,0-1 16,-28 0-16,-1-28 15,1 56-15,0 1 16,28-29 0,0 0-16,0 1 140,28-58-108,0 29-32,1 0 15,-1-28-15,0 0 0,29 0 16,-1-1-16,-28 29 15,0-28-15,1 0 0,-1 28 47,28 0-15,-27-28-32,27 28 15,-28 0 16,29 0-15,-29 0 15,28 0 1,1 0 30,-29 0 32,28 0-79,-27 0 1,-1-28 0,0-1-1,0 29-15,-28-28 0,0 0 16,0 0 0,0-1-1,0-27-15,0 28 16,0-29-1,0 29-15,0-28 16,0 27-16,0 1 16,0 0-16,0 0 15,0-29 1,0 29-16,-56-28 16,56 27-16,0 1 0,-57 0 15,57 0 1,0 0-1,0-1 1,0 1-16,0-28 16,0-1-1,0 29 17,0-28-32,0 27 15,0 1 1,-28 28 62,0-28-78,0 28 62,0 0-46,-1 0 31,-27 0-16,28 0 32,-29 0-48,29 0-15,-28 0 16,27 0 15,1 0 32,0 0-63,0 0 62,-1 0 32,1 0-94,0 0 16,-28 0 15,27 0-31,-27 0 15,28 0 79,-1 0-78,29-28-1,0-1 1,-28 1 0,0 0-1,28 0 17,0 0-32,0-1 31,0 1 94,28 28-110,29 0 1,-29 0 0,28 0 15,1 0-15,-29 0 15,0 0 16,0 0-32,1 0-15,-1 0 16,28 0-16,-27 0 16,27 0-1,-28 0 1,29 0-16,-1 0 15,-28 0 48,29 0-16,-29 0-32,0 0 17,29 0 46,-1 0 0,1 0 16,-29 0-79,-28 57-15,28-1 16,-28-28-16,28 29 16,0-29-1,1 0-15,-29 0 16,0 1 93,0 27-93,0-28-1,0 0 1,0 1-16,0-1 16,0 0-1,0 0-15,0 1 32,0 27-17,0-28 1,0 29-16,0-29 47,0 28-32,0-27-15,0-1 0,0 0 16,0 0-16,0 29 16,0-29-1,0 0 16,0 0-15,0 1 0,0 27-1,0-28 1,0 0-16,0 1 16,0-1 15,-29 0-31,1 0 47,0 1 31,0-1-78,-29-28 47,29 0-16,-28 0-15,-1 0 30,29 0-14,-28 0-17,27 0-15,-27 0 16,28 0-16,-29 0 16,1 0-1,28 0 1,-1 0 109,1 0-125,28-28 187,0-1-171,0 1-16,0-28 0,0-29 16,0 57-16,0-85 15,0 85-15,0-57 0,0 29 16,0-1-16,0 29 15,0 0-15,0-1 0,0-27 16,0 28-16,0 0 0,0-1 16,0 1-16,0 0 0,0 0 0,0-1 15,0-27-15,0 28 16,0 0-16,0-1 0,0 1 16,0 0-16,0 0 0,0-1 0,0 1 15,0-28-15,0 28 16,0-1-16,-28 1 47,0 28-16,-1 0-15,1 0-16,0 0 15,28 28-15,-28-28 0,0 29 16,28 27-16,-29-56 0,1 28 15,0 29-15,0-29 16,-29 0 47,29-28-32,0-28-16,0 0-15,28-1 16,-29 29 0,1-28-16,28 56 156,0 1-140,0-1-1,0 0 16,0 0-31,0 29 16,0-1-16,0-28 16,0 29-1,0-29 1,0 29 0,0-1-1,0-28 1,0 29-1,0-29 1,0 28-16,0-27 16,0-1-16,0 0 15,0 28-15,0 1 16,0-29-16,0 29 16,0-29-1,0 0-15,0 28 16,0-27 15,0 27-31,0-28 16,0 29-16,0-29 15,0 28-15,0-27 16,0 27 0,0-28 15,0 1-31,0-1 0,0 0 15,0 0 48,0 0-1,28-28-62,29 0 63,-1 0-1,-28-28-46,1 28 0,27 0-1,1 0 1,-29 0-16,28-28 31,-56 0-15,28 0-16,1 28 0,-1-29 15,0 29 1,0 0 62,29 0-62,-29 0-16,28 0 15,1 0 17,-29 0 61,29 0-93,-29 0 16,28 0 0,1 0-16,-29 0 15,28 0 63,-27 0-62,-1 0-16,0 0 16,0 0-1,0-28 329,1 0-344,-29 0 16,0-29-1,0 29 1,0 0 0,0-29-1,0 1 1,0 28-1,0-29 1,0 29 0,0 0-1,0 0 1,0-1-16,-29 29 16,29-28-1,0 0 1,0 0-1,0-1 1,0 1-16,0 0 16,0-28-1,0 27-15,0 1 16,0-28 0,0 27-1,0-27 1,0 28-1,0-29-15,0 1 16,0 28 0,0-1-1,-28 1-15,28 0 47,0-28 0,0 27-31,0-27-1,0 28 1,0-29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48:37.36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85 0,'28'0'93,"0"0"-77,1 0 0,-1 0-16,0 0 15,29 0 1,-29 0 0,0 0-16,0 0 0,0 0 15,1 0-15,-1-29 0,0 29 16,0 0-1,1 0 1,-1 0-16,0-28 188,-28 0-157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0:48:39.494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0,'0'28'93,"0"0"-77,28-28 0,0 0-1,0 0 1,1 0-16,-1 0 0,28 0 15,-28 0-15,29 0 16,-29 0-16,29 0 31,-29 0-15,28 0 15,-28 0-15,29 0-1,-1 0 1,-56 28 31,29-28-47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2:32.740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0,'0'28'47,"28"0"-32,0-28 1,0 28-16,1-28 16,-1 0-1,28 0 79,-27 0-47,27 0-47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2:40.757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0,'28'0'297,"-28"29"-235,28-29-30,0 0-32,1 0 62,27 0 501,-28 0-548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2:58.987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57 0,'0'-29'78,"0"1"-62,29 28-16,-1 0 15,0 0-15,0 0 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3:02.566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0,'57'0'94,"-29"0"-63,28 0 0,-27 0-15,27 0 15,-28 0 0,29 0-15,-29 0-16,0 0 31,0 0-31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3:04.105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0,'28'0'78,"-28"28"-78,28-28 0,1 0 15,-1 0-15,0 0 16,0 0-16,29 0 16,-29 0-1,0 0 1,0 0 0,29 0 30,-29 0-30,29 0-16,-29 0 16,28 0-1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3:06.831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0,'29'0'110,"27"0"-64,-28 0-14,29 0-17,-29 0 1,28 0 0,1 0-1,-29 0 16,0 0-15,0 0-16,1 0 16,27 0 31,-28 0 46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3:10.940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0,'28'29'31,"1"-29"0,27 0-15,1 0 0,-57 28-1,28-28-15,28 0 31,-28 0-15,29 0 15,-29 0-15,29 0 0,-1 0-1,-28 0 1,0 0 15,1 0-15,-1 0-1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3:44.721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0,'29'28'79,"-1"-28"-79,0 0 15,28 0 1,-27 0-16,-1 0 15,0 0-15,0 0 0,29 0 16,-1 0-16,-28 0 0,29 0 16,-29 0-16,29 0 0,-29 0 15,28 0 1,-28 0-16,29 0 47,-29 0-32,29 0 1,-29 0 0,28 0-1,1 0 235,-29 0-218,28 0 124,-27 0-16,27 0-77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3:59.159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0,'0'29'78,"28"-29"-46,0 0-32,1 0 15,-1 0-15,28 0 16,-28 0-16,29 0 15,-1 0-15,-27 0 16,-1 0-16,0 0 16,0 0-16,29 0 15,-29 0-15,28 0 16,-27 0 0,27 0 15,-28 0 0,0 0-15,29 0-16,-29 0 15,29 0 32,-29 0 0,28 0-16,1 0 141,-29 0-78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4:09.077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0,'0'28'187,"0"1"-171,0-1-16,0 0 0,0 0 16,0 1-1,0-1 1,0 0-16,0 0 16,0 29-1,0-1 1,0-28-1,0 29 1,0-29 78,0 28-63,0-27 32,0-1 1077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4:11.839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0,'0'28'109,"0"29"-93,0-1-1,0-28-15,0 29 16,0-29 0,0 28-16,0-27 15,0 27-15,0-28 16,0 29 0,0-29-1,0 28-15,0-27 16,0-1-16,0 0 15,0 0 1,0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14:14.952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0,'0'28'78,"0"0"-62,28-28-1,0 0-15,0 0 16,29 0 0,-1 0-16,1 0 15,-1 0-15,1 0 16,-1 0-1,-28 0-15,29 0 16,-29 0 0,28 0 77,1 0-77,-29 0-16,28 0 16,-27 0-1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00.147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0,'56'0'78,"-27"0"-62,27 0-16,-28 0 0,29 0 16,-1 0-16,-28 0 15,29 0-15,-29 0 0,28 0 16,-27 0-16,-1 0 0,0 0 0,29 0 31,-1 0-15,-28 0-1,29 0 1,-29 0-16,28 0 16,1 0-1,-29 0-15,28 0 16,-27 0-1,-1 0 1,0 0-16,0 0 16,29 0-1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7:57.87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04.537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20.718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18 0 0,'0'29'235,"0"-1"-204,0 28-31,0 1 31,0-29-15,0 0 31,0 0-32,0 1 1,0 27 0,0-28-1,0 29 1,0-29-1,0 28 17,0-27 77,0 27-93,28-28-1,0-28-15,0 29 657,-28-1-267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22.390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28.246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33.109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20 0 0,'0'28'110,"0"1"-110,0-1 15,0 28-15,0 1 16,0-29 0,0 28-16,0-27 15,0 27-15,0-28 16,0 0-16,0 1 0,0-1 16,0 28-1,0-27 16,0 27-15,0 0-16,0-27 16,0 27-1,28-56 1,0 57 0,-28-29-16,0 28 46,0 1-30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36.252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49.307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0,'28'0'125,"-28"28"-94,0 0-31,0 0 0,0 29 16,0-29-1,0 0 1,0 0-16,0 1 15,0-1 1,0 0 15,0 0-15,0 1 15,0 27 16,0 0-31,0-27 46,0 27-31,0 1 48,0-29-64,0 0 1,0 0-16,0 0 15,0 29 126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50.946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55.393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39 0 0,'28'0'47,"-28"28"-1,0 0-14,0 1-17,0-1 1,0 0 0,0 29-1,0-29 16,0 28-15,0-28-16,0 29 16,0-29 15,0 0-15,-28 1 15,28-1 0,0 0-15,0 0-16,0 0 15,-29 1-15,29-1 16,0 0 15,0 29-15,0-29 46,0 0-62,0 0 0,0 29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56.238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28 0,'0'-28'31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8:59.564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28 0 0,'-28'28'219,"28"29"-203,0-29-1,0 28 1,0-27 15,0-1 125,0 0-140,0 0 15,0 1 0,0-1-31,0 0 32,0 0-1,0 0-31,0 1 47,0-1-32,0 28 48,0 1-16,0-29 0,0 28-16,0-27-15,0 27 30,0-28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9:01.234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0,'0'28'219,"0"1"-141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9:06.800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9:41.179"/>
    </inkml:context>
    <inkml:brush xml:id="br0">
      <inkml:brushProperty name="width" value="0.2" units="cm"/>
      <inkml:brushProperty name="height" value="0.4" units="cm"/>
      <inkml:brushProperty name="color" value="#FFC0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9:43.128"/>
    </inkml:context>
    <inkml:brush xml:id="br0">
      <inkml:brushProperty name="width" value="0.2" units="cm"/>
      <inkml:brushProperty name="height" value="0.4" units="cm"/>
      <inkml:brushProperty name="color" value="#FFC0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0,'0'28'93,"0"0"-77,0 1-16,0 27 16,0-28-16,0 29 31,0-1-16,0-28 48,0 29-63,0-29 16,0 29-1,0-29 1,0 0-1,0 0 1,0 0 0,0 29-1,0-29 17,0 29 280,0-29-234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09:50.658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0,'28'0'62,"0"56"-46,-28-27-16,0 27 16,0 1-16,0-29 15,0 0-15,0 0 0,0 0 0,0 29 16,0-29-1,0 29 1,0-29 0,0 0-16,0 0 0,0 0 15,0 29 1,0-29 0,0 0 15,0 1-31,0-1 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10:03.488"/>
    </inkml:context>
    <inkml:brush xml:id="br0">
      <inkml:brushProperty name="width" value="0.2" units="cm"/>
      <inkml:brushProperty name="height" value="0.4" units="cm"/>
      <inkml:brushProperty name="color" value="#00B05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0,'0'56'110,"0"-27"-95,0-1-15,0 0 16,0 0-16,0 29 15,0-29 1,0 0 0,0 0-16,0 1 15,0-1 1,0 0-16,0 0 47,0 29-16,0-1-31,0-28 78,0 29 110,0-29-48,0 29 188,0-29-312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10:05.737"/>
    </inkml:context>
    <inkml:brush xml:id="br0">
      <inkml:brushProperty name="width" value="0.2" units="cm"/>
      <inkml:brushProperty name="height" value="0.4" units="cm"/>
      <inkml:brushProperty name="color" value="#00B05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10:11.808"/>
    </inkml:context>
    <inkml:brush xml:id="br0">
      <inkml:brushProperty name="width" value="0.2" units="cm"/>
      <inkml:brushProperty name="height" value="0.4" units="cm"/>
      <inkml:brushProperty name="color" value="#00B0F0"/>
      <inkml:brushProperty name="tip" value="rectangle"/>
      <inkml:brushProperty name="rasterOp" value="maskPen"/>
      <inkml:brushProperty name="fitToCurve" value="1"/>
    </inkml:brush>
  </inkml:definitions>
  <inkml:trace contextRef="#ctx0" brushRef="#br0">29 0 0,'0'29'47,"0"27"-32,0-28 1,0 29-16,0-29 16,0 0-16,0 29 0,0-29 15,0 0-15,0 0 0,0 29 16,0-29-16,0 28 0,0-27 0,0-1 16,0 0-16,0 0 0,0 29 15,0-1-15,0-28 16,0 1-16,0-1 0,0 0 15,0 0 1,0 0-16,-29 1 16,29-1-1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10:12.900"/>
    </inkml:context>
    <inkml:brush xml:id="br0">
      <inkml:brushProperty name="width" value="0.2" units="cm"/>
      <inkml:brushProperty name="height" value="0.4" units="cm"/>
      <inkml:brushProperty name="color" value="#00B0F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10:19.251"/>
    </inkml:context>
    <inkml:brush xml:id="br0">
      <inkml:brushProperty name="width" value="0.2" units="cm"/>
      <inkml:brushProperty name="height" value="0.4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33 0 0,'0'28'172,"0"0"-172,0 1 16,0-1-16,0 0 15,0 29-15,0-29 32,0 28-17,0-28 1,0 29-1,0-1 1,0-27 0,0 27-1,0-28 17,0 29-1,0-29-16,0 28-15,0 1 16,0-29-16,0 28 16,0-27-1,28-1 17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10:21.205"/>
    </inkml:context>
    <inkml:brush xml:id="br0">
      <inkml:brushProperty name="width" value="0.2" units="cm"/>
      <inkml:brushProperty name="height" value="0.4" units="cm"/>
      <inkml:brushProperty name="color" value="#0070C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5:20:20.078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0,'28'0'94,"0"0"-94,0 0 0,0 0 15,1 0-15,27 0 16,1 0-16,-29 0 16,28 0-16,-28 0 0,57 0 15,-28 0-15,-29 0 0,0 0 16,0 0-16,0 0 0,1 0 0,-1 0 15,28 0 1,1 0 15,-29 0 47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6:39.942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 0 0,'0'28'156,"0"28"-140,0-27-1,0-1-15,0 0 16,0 0-1,0 29-15,0-29 16,0 0-16,0 0 16,0 1-16,0 27 78,0-28-63,0 29-15,28-1 32,-28-28-32,0 29 31,0-29-15,0 28 30,0-27-30,0-1 0,0 0-16,0 0 0,0 29 15,0-29-15,0 0 32,0 0-32,0 1 187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6:41.736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28 0,'28'0'171,"29"0"-139,-57-28 171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6:52.774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28 0 0,'-28'0'94,"28"28"-78,0 0-1,0 1-15,0-1 0,0 0 16,0 29-16,0-1 0,0-28 15,0 29 1,0-29 0,0 28 15,0 1-15,0-29-16,0 0 15,0 0-15,0 1 0,0-1 16,0 28-1,0-27 17,0 27-17,0-28 1,0 29 0,0-1 155,0-28-155,0 29 359,0-29-375,0 0 0,0 0 16,0 1-16,0-1 62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00.060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0,'28'0'62,"-28"28"-30,0 1-17,0 27-15,0-28 16,0 29 0,0-29-1,0 28 1,0-27-1,0 27 1,0-28 0,0 29-1,0-1 1,0-28 15,0 1-15,0-1-1,0 0 17,0 29-32,0-29 15,0 28 32,0-28-31,0 29 203,0-29-173,0 0-46,0 1 16,0-1 0,0 28-1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20.007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23.390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36 0 0,'0'28'141,"0"0"-141,0 1 15,0-1 1,0 28 0,0-27-1,0 27-15,0-28 16,0 29-16,0-29 16,0 0-1,0 0-15,0 1 16,0-1-1,0 0-15,0 0 63,0 0-47,0 1-16,0-1 31,0 0-16,0 0-15,0 1 16,0 27 0,0-28-1,0 0 17,0 1-32,0-1 15,0 28 1,0-27 46,0 27-46,28-28 78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26.506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28.731"/>
    </inkml:context>
    <inkml:brush xml:id="br0">
      <inkml:brushProperty name="width" value="0.2" units="cm"/>
      <inkml:brushProperty name="height" value="0.4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20 0 0,'0'28'109,"0"0"-93,0 0-1,0 0-15,0 1 16,0 27-16,0-28 31,0 29-31,0-29 31,0 28-15,0-27-16,0-1 0,0 0 0,0 0 16,0 29 15,0-29-15,0 28 15,28-27 0,0-29 125,-28 56-140,0-28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42.699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46.020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0,'28'0'31,"28"0"0,1 0 16,-29 0-47,0 0 16,29 0-1,-1 0-15,-28 0 32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1:47:47.846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0,'28'0'15,"0"0"17,1 0-32,-1 0 47,0 0-47,0 0 15,1 0-15,27 0 16,-28 0-1,29 0-15,-29 0 0,0 0 16,0 0-16,1 0 0,-1 0 0,0 0 16,0 0-16,0 0 0,29 0 15,-1 0-15,-27 0 0,27 0 16,-28 0-16,29 0 16,-29 0-16,28 0 15,1 0 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3:01:43.884"/>
    </inkml:context>
    <inkml:brush xml:id="br0">
      <inkml:brushProperty name="width" value="0.2" units="cm"/>
      <inkml:brushProperty name="height" value="0.4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0,'0'29'110,"0"-1"-95,0 0-15,0 0 0,0 29 16,0-29-16,0 28 16,0 1-16,0-29 15,0 28-15,0-27 16,0 27-16,0-28 16,0 29-1,0-1 32,0-28-31,0 29 15,0-29 313,0 29-329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6:59.358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0,'28'0'31,"0"0"0,29 0-15,-29 0-16,28 0 16,-28 0-1,29 0 17,-29 0-17,29 0 16,-29 0-15,28 0 0,-28 0-16,29 0 0,-29 0 0,29 0 15,-29 0-15,28 0 16,-28 0-16,29 0 16,-29 0-16,29 0 15,-1 0-15,-28 0 0,29 0 16,-29 0-16,28 0 15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06.491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20.844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02.543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11.145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0,'0'28'109,"0"0"-93,0 0-1,0 1-15,0-1 16,0 28 15,0-27 16,0 27-31,0 0-1,0-27 1,0-1-16,0 0 0,0 0 0,0 29 16,0-29-16,0 28 0,0-27 15,0 27-15,0 1 0,0-29 16,0 28 124,0-28-140,0 1 16,0-1 0,0 0 15,0 29-31,0-29 16,0 0-1,0 0-15,0 0 16,0 29-16,0-29 15,0 29-15,0-29 0,0 0 16,0 0-16,0 0 0,0 29 0,0-29 16,0 29-16,0-1 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15.271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17.411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49 0,'28'0'157,"1"0"-142,27 0-15,-28 0 16,0 0-16,1 0 15,-1 0-15,28 0 16,-27 0-16,27 0 16,-28 0-16,29 0 15,-29 0-15,28 0 16,-27 0 0,27 0 15,0 0 0,-27-28 16,27 28-31,-28 0-1,29 0-15,-29 0 16,28 0-16,1 0 15,-29 0 1,29 0 0,-29 0-1,0 0 17,28 0 46,-27 0-16,27 0-46,1 0-1,-29 0 1,0 0 0,0 0-16,0 0 15,1 0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38.450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0,'28'0'31,"0"0"0,29 0-15,-29 0-16,28 0 16,-28 0-1,29 0 17,-29 0-17,29 0 16,-29 0-15,28 0 0,-28 0-16,29 0 0,-29 0 0,29 0 15,-29 0-15,28 0 16,-28 0-16,29 0 16,-29 0-16,29 0 15,-1 0-15,-28 0 0,29 0 16,-29 0-16,28 0 15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38.451"/>
    </inkml:context>
    <inkml:brush xml:id="br0">
      <inkml:brushProperty name="width" value="0.2" units="cm"/>
      <inkml:brushProperty name="height" value="0.4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1.93548" units="1/cm"/>
          <inkml:channelProperty channel="Y" name="resolution" value="63.52941" units="1/cm"/>
          <inkml:channelProperty channel="T" name="resolution" value="1" units="1/dev"/>
        </inkml:channelProperties>
      </inkml:inkSource>
      <inkml:timestamp xml:id="ts0" timeString="2018-12-24T14:57:38.452"/>
    </inkml:context>
    <inkml:brush xml:id="br0">
      <inkml:brushProperty name="width" value="0.2" units="cm"/>
      <inkml:brushProperty name="height" value="0.4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C0BA83-3808-416F-A70E-92AD16319953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26A05-3B58-46C9-A963-68DD89F487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56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本次的习题课主要讲应付考试的一些技巧，并不打算讲的有多深的理论深度。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9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学习模电，其基本就是掌握二极管</a:t>
            </a:r>
            <a:r>
              <a:rPr lang="en-US" altLang="zh-CN" dirty="0"/>
              <a:t>/BJT/JFET/MOSFET</a:t>
            </a:r>
            <a:r>
              <a:rPr lang="zh-CN" altLang="en-US" dirty="0"/>
              <a:t>的大小信号模型以及运放的虚断、虚断模型。尤其是</a:t>
            </a:r>
            <a:r>
              <a:rPr lang="en-US" altLang="zh-CN" dirty="0"/>
              <a:t>BJT</a:t>
            </a:r>
            <a:r>
              <a:rPr lang="zh-CN" altLang="en-US" dirty="0"/>
              <a:t>的</a:t>
            </a:r>
            <a:r>
              <a:rPr lang="en-US" altLang="zh-CN" dirty="0"/>
              <a:t>h</a:t>
            </a:r>
            <a:r>
              <a:rPr lang="zh-CN" altLang="en-US" dirty="0"/>
              <a:t>参数模型，广泛的应用在各种计算题中（或者说公式推导）。在记住并会灵活运用模型的基础上，记忆一些细碎的知识，就可以基本满足考试的要求了。</a:t>
            </a:r>
            <a:endParaRPr lang="en-US" altLang="zh-CN" dirty="0"/>
          </a:p>
          <a:p>
            <a:r>
              <a:rPr lang="zh-CN" altLang="en-US" dirty="0"/>
              <a:t>其理由在于：模型方便记忆，从而能推出所有需要的公式，而很多公式过于复杂不便记忆；模型是一种灵活的方法，书上的公式往往限于某一具体电路而不具有广泛的适用性，灵活的运用模型能够很好地应对不同的题型。</a:t>
            </a:r>
            <a:endParaRPr lang="en-US" altLang="zh-CN" dirty="0"/>
          </a:p>
          <a:p>
            <a:r>
              <a:rPr lang="zh-CN" altLang="en-US" dirty="0"/>
              <a:t>但是同时，希望大家能够更灵活的，去记忆一下一些非常简单而且广泛适用的公式和小结论（比如后面提到的反馈类型的判断及其对输入输出电阻的影响），这个时候利用公式远比用模型来解题快得多。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874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戴维宁和诺顿其实都没区别，因为在模型里都是求输出电阻，不会涉及到电源的问题。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426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考题一般是不会出这种明目张胆送分的题目的，更多的，射极会直接接地；或者像</a:t>
            </a:r>
            <a:r>
              <a:rPr lang="en-US" altLang="zh-CN" dirty="0"/>
              <a:t>12-13</a:t>
            </a:r>
            <a:r>
              <a:rPr lang="zh-CN" altLang="en-US" dirty="0"/>
              <a:t>年的卷子那样，有一个电阻接在基极和射极之间。这个时候就要用已知条件取准确计算各个静态工作点了。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113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rb</a:t>
            </a:r>
            <a:r>
              <a:rPr lang="zh-CN" altLang="en-US" dirty="0"/>
              <a:t>是三极管的体电阻，</a:t>
            </a:r>
            <a:r>
              <a:rPr lang="en-US" altLang="zh-CN" dirty="0"/>
              <a:t>re</a:t>
            </a:r>
            <a:r>
              <a:rPr lang="zh-CN" altLang="en-US" dirty="0"/>
              <a:t>是三极管射极的交流电阻，</a:t>
            </a:r>
            <a:r>
              <a:rPr lang="en-US" altLang="zh-CN" dirty="0" err="1"/>
              <a:t>rce</a:t>
            </a:r>
            <a:r>
              <a:rPr lang="zh-CN" altLang="en-US" dirty="0"/>
              <a:t>是输出电导的倒数。</a:t>
            </a:r>
            <a:endParaRPr lang="en-US" altLang="zh-CN" dirty="0"/>
          </a:p>
          <a:p>
            <a:r>
              <a:rPr lang="zh-CN" altLang="en-US" dirty="0"/>
              <a:t>具体的物理含义并不是很明晰的情况下，推荐记住图中对应的各部分就好。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196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比如射极与地之间接有电阻</a:t>
            </a:r>
            <a:r>
              <a:rPr lang="en-US" altLang="zh-CN" dirty="0"/>
              <a:t>RE</a:t>
            </a:r>
            <a:r>
              <a:rPr lang="zh-CN" altLang="en-US" dirty="0"/>
              <a:t>且该电阻没有并联电容，则原公式变为</a:t>
            </a:r>
            <a:r>
              <a:rPr lang="en-US" altLang="zh-CN" dirty="0" err="1"/>
              <a:t>rbe</a:t>
            </a:r>
            <a:r>
              <a:rPr lang="en-US" altLang="zh-CN" dirty="0"/>
              <a:t>=</a:t>
            </a:r>
            <a:r>
              <a:rPr lang="en-US" altLang="zh-CN" dirty="0" err="1"/>
              <a:t>rb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1+β</a:t>
            </a:r>
            <a:r>
              <a:rPr lang="zh-CN" altLang="en-US" dirty="0"/>
              <a:t>）（</a:t>
            </a:r>
            <a:r>
              <a:rPr lang="en-US" altLang="zh-CN" dirty="0" err="1"/>
              <a:t>re+RE</a:t>
            </a:r>
            <a:r>
              <a:rPr lang="zh-CN" altLang="en-US" dirty="0"/>
              <a:t>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176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194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试题里可能有不止一个偏置电压，微变等效模型中，请将这些偏置电压全部接地。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536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959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假设</a:t>
            </a:r>
            <a:r>
              <a:rPr lang="en-US" altLang="zh-CN" dirty="0" err="1"/>
              <a:t>rce</a:t>
            </a:r>
            <a:r>
              <a:rPr lang="zh-CN" altLang="en-US" dirty="0"/>
              <a:t>被忽略掉，同时有集极电阻</a:t>
            </a:r>
            <a:r>
              <a:rPr lang="en-US" altLang="zh-CN" dirty="0"/>
              <a:t>RC</a:t>
            </a:r>
            <a:r>
              <a:rPr lang="zh-CN" altLang="en-US" dirty="0"/>
              <a:t>以及负载电阻</a:t>
            </a:r>
            <a:r>
              <a:rPr lang="en-US" altLang="zh-CN" dirty="0"/>
              <a:t>RL</a:t>
            </a:r>
            <a:r>
              <a:rPr lang="zh-CN" altLang="en-US" dirty="0"/>
              <a:t>并联在</a:t>
            </a:r>
            <a:r>
              <a:rPr lang="en-US" altLang="zh-CN" dirty="0"/>
              <a:t>CCCS</a:t>
            </a:r>
            <a:r>
              <a:rPr lang="zh-CN" altLang="en-US" dirty="0"/>
              <a:t>上，则</a:t>
            </a:r>
            <a:r>
              <a:rPr lang="en-US" altLang="zh-CN" dirty="0"/>
              <a:t>Av=-gm</a:t>
            </a:r>
            <a:r>
              <a:rPr lang="zh-CN" altLang="en-US" dirty="0"/>
              <a:t>（</a:t>
            </a:r>
            <a:r>
              <a:rPr lang="en-US" altLang="zh-CN" dirty="0"/>
              <a:t>RC||RL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089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理论上（强行理论）我们不考正反馈我们就直接写负反馈咯，想保险一点就写反馈，除非老师说不写负字一分不给。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504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实际上需要先推到</a:t>
            </a:r>
            <a:r>
              <a:rPr lang="en-US" altLang="zh-CN" dirty="0"/>
              <a:t>vi</a:t>
            </a:r>
            <a:r>
              <a:rPr lang="zh-CN" altLang="en-US" dirty="0"/>
              <a:t>↑→</a:t>
            </a:r>
            <a:r>
              <a:rPr lang="en-US" altLang="zh-CN" dirty="0" err="1"/>
              <a:t>vo</a:t>
            </a:r>
            <a:r>
              <a:rPr lang="zh-CN" altLang="en-US" dirty="0"/>
              <a:t>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653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985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注意，这并不是绝对的。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6188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26A05-3B58-46C9-A963-68DD89F487B5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313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623AB-435E-4368-BD1A-C6B7F6A14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7C2818-A68C-448D-AB8F-C1244CA19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14B066-4190-4A73-A410-7CB1213A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929B4-3232-49B7-A370-FBA9F57A3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F6A1F7-0FAF-4121-8A60-3270F858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875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B30B1-88FD-4B06-9865-A355D5EAE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2E325-15FB-44A7-A7B0-1A2CFFA76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74370-2D2C-4483-A9EC-589F9579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1FB69F-55A5-411E-A4B4-454C0A2E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FB1DA3-FE32-4779-998C-9464C6A2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757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9F5741-7E79-4E4B-BB6D-382BBE78D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100023-6D42-4B8F-8C60-74BF70A5E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806A8E-A6EB-418A-9470-513F95190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57B032-BE10-4450-AC0E-47C93387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3B5D7-7991-4682-9597-0E1655FC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32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E744F6-D525-46ED-9D3B-F73A97F9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A8E99-B710-4457-B415-769641561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E4350F-0383-47AC-BA39-1D8230726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657923-02D8-4CB6-B8CA-00980127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D2FDB0-3DF3-4A9D-BB50-BB22CBDC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D8A8F-2D39-4315-B070-16C6C1C8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975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F1C1F-AA7C-4FA3-B6EA-EB850B1D9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21019E-F74B-4905-8208-543E29596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A94EEC-4EF9-4F61-BAE1-0AEA72DF9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F2B99C5-FFB9-45C4-ADE4-0355605D3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91B9FF-F5E9-48B3-B282-81A0E29E45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AAB5872-2505-4E01-9317-4E623AD1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EE41F8-26B6-4B5F-997E-5C5B942B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3C2AC1-FB1A-4908-B48B-2DAB7B93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62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9A496-636B-49B3-B170-3EAF9607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1518655-706B-4215-98ED-F6D692B3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687F8F-EAAE-43FB-88C5-169B12C9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47A957-BAC9-4905-B7E3-D89BC8D6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11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053EB8-44F6-4C73-B29D-6C855129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BE8E94-2B81-488B-BF73-5AE7EC834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7C4AAF-2861-4436-BD86-FB3FB2E6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77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823FE-5058-4E09-930D-DAEA22F9B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22FF90-FD5D-4D9F-A2F9-F89C14968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3E8B5D-66AB-4174-812B-9DB65C2C9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377CFD-EFFD-44D3-8713-45728B98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18E0C-EE9F-48E5-99C5-1B0896A4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667A8A-66F9-4FAF-AC35-ABC3784B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01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327EA3-E730-4ED2-8916-A05ACDEC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D0D832E-0F3A-4405-A219-00C588B66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EFEE03-F1AA-4F53-9B27-79CFF9E12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BF8FBF9-58B9-4817-8065-DE0135B5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FDD30C-EDDC-4B40-B7E3-269047C29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9345AB-8184-437C-B306-747299AFE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88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18255-CF62-4CFF-9E2E-04E53D53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5E99AA-1661-4D37-8BD8-8B99AEF0C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BFA456-F5BB-452E-B641-8A543D6A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0479E-AA4B-4639-BE2A-97AD6FF1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2914DD-2323-45C7-9BF8-F12D51036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088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11BCEA-8B09-408F-8E06-F57705F7F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C7154B-0DF5-425D-B135-F692978D6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448FFC-CE89-4479-BDA1-3ABC6E9A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29B2DB-D4E7-4006-9FE2-75AC8E705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08498-2529-48AE-89E1-08BF5D17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51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143C68-5A8B-4F72-A6B2-7D8B6C3A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E0DDF4-2F91-4B2E-8128-5B2D244EF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B964C3-7930-48AE-AE36-0D9558A30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53BFF8-8BED-41D6-A100-FC8833600F21}" type="datetimeFigureOut">
              <a:rPr lang="zh-CN" altLang="en-US" smtClean="0"/>
              <a:t>2018/12/28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4933E-0494-4936-BB1A-5A6E348080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DF7F9-0E4D-4404-8258-85119939C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5F2A0-44F5-4EAB-81EF-EAFFC280ED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4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3" Type="http://schemas.openxmlformats.org/officeDocument/2006/relationships/customXml" Target="../ink/ink1.xml"/><Relationship Id="rId7" Type="http://schemas.openxmlformats.org/officeDocument/2006/relationships/image" Target="../media/image69.png"/><Relationship Id="rId12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11" Type="http://schemas.openxmlformats.org/officeDocument/2006/relationships/image" Target="../media/image73.emf"/><Relationship Id="rId5" Type="http://schemas.openxmlformats.org/officeDocument/2006/relationships/customXml" Target="../ink/ink2.xml"/><Relationship Id="rId10" Type="http://schemas.openxmlformats.org/officeDocument/2006/relationships/customXml" Target="../ink/ink4.xml"/><Relationship Id="rId4" Type="http://schemas.openxmlformats.org/officeDocument/2006/relationships/image" Target="../media/image69.emf"/><Relationship Id="rId9" Type="http://schemas.openxmlformats.org/officeDocument/2006/relationships/image" Target="../media/image72.emf"/><Relationship Id="rId14" Type="http://schemas.openxmlformats.org/officeDocument/2006/relationships/image" Target="../media/image75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82.emf"/><Relationship Id="rId3" Type="http://schemas.openxmlformats.org/officeDocument/2006/relationships/customXml" Target="../ink/ink6.xml"/><Relationship Id="rId7" Type="http://schemas.openxmlformats.org/officeDocument/2006/relationships/image" Target="../media/image72.png"/><Relationship Id="rId12" Type="http://schemas.openxmlformats.org/officeDocument/2006/relationships/customXml" Target="../ink/ink10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emf"/><Relationship Id="rId11" Type="http://schemas.openxmlformats.org/officeDocument/2006/relationships/image" Target="../media/image81.emf"/><Relationship Id="rId5" Type="http://schemas.openxmlformats.org/officeDocument/2006/relationships/customXml" Target="../ink/ink7.xml"/><Relationship Id="rId10" Type="http://schemas.openxmlformats.org/officeDocument/2006/relationships/customXml" Target="../ink/ink9.xml"/><Relationship Id="rId4" Type="http://schemas.openxmlformats.org/officeDocument/2006/relationships/image" Target="../media/image77.emf"/><Relationship Id="rId9" Type="http://schemas.openxmlformats.org/officeDocument/2006/relationships/image" Target="../media/image80.emf"/><Relationship Id="rId14" Type="http://schemas.openxmlformats.org/officeDocument/2006/relationships/image" Target="../media/image8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customXml" Target="../ink/ink16.xml"/><Relationship Id="rId18" Type="http://schemas.openxmlformats.org/officeDocument/2006/relationships/image" Target="../media/image92.emf"/><Relationship Id="rId26" Type="http://schemas.openxmlformats.org/officeDocument/2006/relationships/image" Target="../media/image96.emf"/><Relationship Id="rId3" Type="http://schemas.openxmlformats.org/officeDocument/2006/relationships/customXml" Target="../ink/ink11.xml"/><Relationship Id="rId21" Type="http://schemas.openxmlformats.org/officeDocument/2006/relationships/customXml" Target="../ink/ink20.xml"/><Relationship Id="rId7" Type="http://schemas.openxmlformats.org/officeDocument/2006/relationships/customXml" Target="../ink/ink13.xml"/><Relationship Id="rId12" Type="http://schemas.openxmlformats.org/officeDocument/2006/relationships/image" Target="../media/image89.emf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2" Type="http://schemas.openxmlformats.org/officeDocument/2006/relationships/image" Target="../media/image73.png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emf"/><Relationship Id="rId11" Type="http://schemas.openxmlformats.org/officeDocument/2006/relationships/customXml" Target="../ink/ink15.xml"/><Relationship Id="rId24" Type="http://schemas.openxmlformats.org/officeDocument/2006/relationships/image" Target="../media/image95.emf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10" Type="http://schemas.openxmlformats.org/officeDocument/2006/relationships/image" Target="../media/image88.emf"/><Relationship Id="rId19" Type="http://schemas.openxmlformats.org/officeDocument/2006/relationships/customXml" Target="../ink/ink19.xml"/><Relationship Id="rId4" Type="http://schemas.openxmlformats.org/officeDocument/2006/relationships/image" Target="../media/image85.emf"/><Relationship Id="rId9" Type="http://schemas.openxmlformats.org/officeDocument/2006/relationships/customXml" Target="../ink/ink14.xml"/><Relationship Id="rId14" Type="http://schemas.openxmlformats.org/officeDocument/2006/relationships/image" Target="../media/image90.emf"/><Relationship Id="rId22" Type="http://schemas.openxmlformats.org/officeDocument/2006/relationships/image" Target="../media/image94.emf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.xml"/><Relationship Id="rId18" Type="http://schemas.openxmlformats.org/officeDocument/2006/relationships/customXml" Target="../ink/ink31.xml"/><Relationship Id="rId26" Type="http://schemas.openxmlformats.org/officeDocument/2006/relationships/image" Target="../media/image107.emf"/><Relationship Id="rId39" Type="http://schemas.openxmlformats.org/officeDocument/2006/relationships/customXml" Target="../ink/ink42.xml"/><Relationship Id="rId3" Type="http://schemas.openxmlformats.org/officeDocument/2006/relationships/customXml" Target="../ink/ink23.xml"/><Relationship Id="rId21" Type="http://schemas.openxmlformats.org/officeDocument/2006/relationships/customXml" Target="../ink/ink33.xml"/><Relationship Id="rId34" Type="http://schemas.openxmlformats.org/officeDocument/2006/relationships/image" Target="../media/image111.emf"/><Relationship Id="rId42" Type="http://schemas.openxmlformats.org/officeDocument/2006/relationships/image" Target="../media/image115.emf"/><Relationship Id="rId47" Type="http://schemas.openxmlformats.org/officeDocument/2006/relationships/customXml" Target="../ink/ink46.xml"/><Relationship Id="rId50" Type="http://schemas.openxmlformats.org/officeDocument/2006/relationships/image" Target="../media/image119.emf"/><Relationship Id="rId7" Type="http://schemas.openxmlformats.org/officeDocument/2006/relationships/image" Target="../media/image99.emf"/><Relationship Id="rId12" Type="http://schemas.openxmlformats.org/officeDocument/2006/relationships/image" Target="../media/image101.emf"/><Relationship Id="rId17" Type="http://schemas.openxmlformats.org/officeDocument/2006/relationships/image" Target="../media/image103.emf"/><Relationship Id="rId25" Type="http://schemas.openxmlformats.org/officeDocument/2006/relationships/customXml" Target="../ink/ink35.xml"/><Relationship Id="rId33" Type="http://schemas.openxmlformats.org/officeDocument/2006/relationships/customXml" Target="../ink/ink39.xml"/><Relationship Id="rId38" Type="http://schemas.openxmlformats.org/officeDocument/2006/relationships/image" Target="../media/image113.emf"/><Relationship Id="rId46" Type="http://schemas.openxmlformats.org/officeDocument/2006/relationships/image" Target="../media/image117.emf"/><Relationship Id="rId2" Type="http://schemas.openxmlformats.org/officeDocument/2006/relationships/notesSlide" Target="../notesSlides/notesSlide13.xml"/><Relationship Id="rId16" Type="http://schemas.openxmlformats.org/officeDocument/2006/relationships/customXml" Target="../ink/ink30.xml"/><Relationship Id="rId20" Type="http://schemas.openxmlformats.org/officeDocument/2006/relationships/customXml" Target="../ink/ink32.xml"/><Relationship Id="rId29" Type="http://schemas.openxmlformats.org/officeDocument/2006/relationships/customXml" Target="../ink/ink37.xml"/><Relationship Id="rId41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customXml" Target="../ink/ink27.xml"/><Relationship Id="rId24" Type="http://schemas.openxmlformats.org/officeDocument/2006/relationships/image" Target="../media/image106.emf"/><Relationship Id="rId32" Type="http://schemas.openxmlformats.org/officeDocument/2006/relationships/image" Target="../media/image110.emf"/><Relationship Id="rId37" Type="http://schemas.openxmlformats.org/officeDocument/2006/relationships/customXml" Target="../ink/ink41.xml"/><Relationship Id="rId40" Type="http://schemas.openxmlformats.org/officeDocument/2006/relationships/image" Target="../media/image114.emf"/><Relationship Id="rId45" Type="http://schemas.openxmlformats.org/officeDocument/2006/relationships/customXml" Target="../ink/ink45.xml"/><Relationship Id="rId5" Type="http://schemas.openxmlformats.org/officeDocument/2006/relationships/image" Target="../media/image74.png"/><Relationship Id="rId15" Type="http://schemas.openxmlformats.org/officeDocument/2006/relationships/image" Target="../media/image102.emf"/><Relationship Id="rId23" Type="http://schemas.openxmlformats.org/officeDocument/2006/relationships/customXml" Target="../ink/ink34.xml"/><Relationship Id="rId28" Type="http://schemas.openxmlformats.org/officeDocument/2006/relationships/image" Target="../media/image108.emf"/><Relationship Id="rId36" Type="http://schemas.openxmlformats.org/officeDocument/2006/relationships/image" Target="../media/image112.emf"/><Relationship Id="rId49" Type="http://schemas.openxmlformats.org/officeDocument/2006/relationships/customXml" Target="../ink/ink47.xml"/><Relationship Id="rId10" Type="http://schemas.openxmlformats.org/officeDocument/2006/relationships/image" Target="../media/image100.emf"/><Relationship Id="rId19" Type="http://schemas.openxmlformats.org/officeDocument/2006/relationships/image" Target="../media/image104.emf"/><Relationship Id="rId31" Type="http://schemas.openxmlformats.org/officeDocument/2006/relationships/customXml" Target="../ink/ink38.xml"/><Relationship Id="rId44" Type="http://schemas.openxmlformats.org/officeDocument/2006/relationships/image" Target="../media/image116.emf"/><Relationship Id="rId4" Type="http://schemas.openxmlformats.org/officeDocument/2006/relationships/image" Target="../media/image97.emf"/><Relationship Id="rId9" Type="http://schemas.openxmlformats.org/officeDocument/2006/relationships/customXml" Target="../ink/ink26.xml"/><Relationship Id="rId14" Type="http://schemas.openxmlformats.org/officeDocument/2006/relationships/customXml" Target="../ink/ink29.xml"/><Relationship Id="rId22" Type="http://schemas.openxmlformats.org/officeDocument/2006/relationships/image" Target="../media/image105.emf"/><Relationship Id="rId27" Type="http://schemas.openxmlformats.org/officeDocument/2006/relationships/customXml" Target="../ink/ink36.xml"/><Relationship Id="rId30" Type="http://schemas.openxmlformats.org/officeDocument/2006/relationships/image" Target="../media/image109.emf"/><Relationship Id="rId35" Type="http://schemas.openxmlformats.org/officeDocument/2006/relationships/customXml" Target="../ink/ink40.xml"/><Relationship Id="rId43" Type="http://schemas.openxmlformats.org/officeDocument/2006/relationships/customXml" Target="../ink/ink44.xml"/><Relationship Id="rId48" Type="http://schemas.openxmlformats.org/officeDocument/2006/relationships/image" Target="../media/image118.emf"/><Relationship Id="rId8" Type="http://schemas.openxmlformats.org/officeDocument/2006/relationships/customXml" Target="../ink/ink2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emf"/><Relationship Id="rId13" Type="http://schemas.openxmlformats.org/officeDocument/2006/relationships/customXml" Target="../ink/ink53.xml"/><Relationship Id="rId18" Type="http://schemas.openxmlformats.org/officeDocument/2006/relationships/image" Target="../media/image126.emf"/><Relationship Id="rId26" Type="http://schemas.openxmlformats.org/officeDocument/2006/relationships/image" Target="../media/image129.emf"/><Relationship Id="rId3" Type="http://schemas.openxmlformats.org/officeDocument/2006/relationships/customXml" Target="../ink/ink48.xml"/><Relationship Id="rId21" Type="http://schemas.openxmlformats.org/officeDocument/2006/relationships/customXml" Target="../ink/ink57.xml"/><Relationship Id="rId7" Type="http://schemas.openxmlformats.org/officeDocument/2006/relationships/customXml" Target="../ink/ink50.xml"/><Relationship Id="rId12" Type="http://schemas.openxmlformats.org/officeDocument/2006/relationships/image" Target="../media/image101.emf"/><Relationship Id="rId17" Type="http://schemas.openxmlformats.org/officeDocument/2006/relationships/customXml" Target="../ink/ink55.xml"/><Relationship Id="rId25" Type="http://schemas.openxmlformats.org/officeDocument/2006/relationships/customXml" Target="../ink/ink59.xml"/><Relationship Id="rId2" Type="http://schemas.openxmlformats.org/officeDocument/2006/relationships/image" Target="../media/image75.png"/><Relationship Id="rId16" Type="http://schemas.openxmlformats.org/officeDocument/2006/relationships/image" Target="../media/image103.emf"/><Relationship Id="rId20" Type="http://schemas.openxmlformats.org/officeDocument/2006/relationships/image" Target="../media/image10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emf"/><Relationship Id="rId11" Type="http://schemas.openxmlformats.org/officeDocument/2006/relationships/customXml" Target="../ink/ink52.xml"/><Relationship Id="rId24" Type="http://schemas.openxmlformats.org/officeDocument/2006/relationships/image" Target="../media/image128.emf"/><Relationship Id="rId5" Type="http://schemas.openxmlformats.org/officeDocument/2006/relationships/customXml" Target="../ink/ink49.xml"/><Relationship Id="rId15" Type="http://schemas.openxmlformats.org/officeDocument/2006/relationships/customXml" Target="../ink/ink54.xml"/><Relationship Id="rId23" Type="http://schemas.openxmlformats.org/officeDocument/2006/relationships/customXml" Target="../ink/ink58.xml"/><Relationship Id="rId10" Type="http://schemas.openxmlformats.org/officeDocument/2006/relationships/image" Target="../media/image124.emf"/><Relationship Id="rId19" Type="http://schemas.openxmlformats.org/officeDocument/2006/relationships/customXml" Target="../ink/ink56.xml"/><Relationship Id="rId4" Type="http://schemas.openxmlformats.org/officeDocument/2006/relationships/image" Target="../media/image121.emf"/><Relationship Id="rId9" Type="http://schemas.openxmlformats.org/officeDocument/2006/relationships/customXml" Target="../ink/ink51.xml"/><Relationship Id="rId14" Type="http://schemas.openxmlformats.org/officeDocument/2006/relationships/image" Target="../media/image125.emf"/><Relationship Id="rId22" Type="http://schemas.openxmlformats.org/officeDocument/2006/relationships/image" Target="../media/image127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customXml" Target="../ink/ink66.xml"/><Relationship Id="rId3" Type="http://schemas.openxmlformats.org/officeDocument/2006/relationships/image" Target="../media/image130.emf"/><Relationship Id="rId7" Type="http://schemas.openxmlformats.org/officeDocument/2006/relationships/image" Target="../media/image101.emf"/><Relationship Id="rId12" Type="http://schemas.openxmlformats.org/officeDocument/2006/relationships/customXml" Target="../ink/ink65.xml"/><Relationship Id="rId17" Type="http://schemas.openxmlformats.org/officeDocument/2006/relationships/customXml" Target="../ink/ink69.xml"/><Relationship Id="rId2" Type="http://schemas.openxmlformats.org/officeDocument/2006/relationships/customXml" Target="../ink/ink60.xml"/><Relationship Id="rId16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.xml"/><Relationship Id="rId11" Type="http://schemas.openxmlformats.org/officeDocument/2006/relationships/image" Target="../media/image132.emf"/><Relationship Id="rId5" Type="http://schemas.openxmlformats.org/officeDocument/2006/relationships/image" Target="../media/image99.emf"/><Relationship Id="rId15" Type="http://schemas.openxmlformats.org/officeDocument/2006/relationships/customXml" Target="../ink/ink67.xml"/><Relationship Id="rId10" Type="http://schemas.openxmlformats.org/officeDocument/2006/relationships/customXml" Target="../ink/ink64.xml"/><Relationship Id="rId4" Type="http://schemas.openxmlformats.org/officeDocument/2006/relationships/customXml" Target="../ink/ink61.xml"/><Relationship Id="rId9" Type="http://schemas.openxmlformats.org/officeDocument/2006/relationships/customXml" Target="../ink/ink63.xml"/><Relationship Id="rId14" Type="http://schemas.openxmlformats.org/officeDocument/2006/relationships/image" Target="../media/image133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8E6EA2-F1D6-4BC0-8FED-D3FEFD090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9400"/>
            <a:ext cx="9144000" cy="2387600"/>
          </a:xfrm>
        </p:spPr>
        <p:txBody>
          <a:bodyPr/>
          <a:lstStyle/>
          <a:p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模电习题解答</a:t>
            </a:r>
          </a:p>
        </p:txBody>
      </p:sp>
    </p:spTree>
    <p:extLst>
      <p:ext uri="{BB962C8B-B14F-4D97-AF65-F5344CB8AC3E}">
        <p14:creationId xmlns:p14="http://schemas.microsoft.com/office/powerpoint/2010/main" val="48588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20FA-3EFF-4FB4-8EC4-C7C0C5C1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417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dirty="0">
                <a:latin typeface="KaiTi" panose="02010609060101010101" pitchFamily="49" charset="-122"/>
                <a:ea typeface="KaiTi" panose="02010609060101010101" pitchFamily="49" charset="-122"/>
              </a:rPr>
              <a:t>一个核心思想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DC7C02-06F1-42ED-BF22-8A82F6E404D0}"/>
              </a:ext>
            </a:extLst>
          </p:cNvPr>
          <p:cNvSpPr/>
          <p:nvPr/>
        </p:nvSpPr>
        <p:spPr>
          <a:xfrm>
            <a:off x="5311169" y="3429001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模型</a:t>
            </a:r>
          </a:p>
        </p:txBody>
      </p:sp>
    </p:spTree>
    <p:extLst>
      <p:ext uri="{BB962C8B-B14F-4D97-AF65-F5344CB8AC3E}">
        <p14:creationId xmlns:p14="http://schemas.microsoft.com/office/powerpoint/2010/main" val="65443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D238-6637-4312-8566-C51B0D87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815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第六章  放大器的单元电路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508BD-A37B-4C40-83C5-36B0C8B8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2954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6.1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放大电路题型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一个前置步骤：计算静态工作点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一个核心模型：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BJT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参数模型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一个可能会利用到的定理：戴维宁定理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一个近似处理：微变等效电路中电容短路</a:t>
            </a: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一个默认参数：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BE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=0.7V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NPN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管）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/-0.2V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PNP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管）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839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91908-001A-4D31-90B2-4216BF39F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6453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6.1.1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计算静态工作点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50A2CE-FE84-41ED-B301-3E909C4DB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18" y="2242016"/>
            <a:ext cx="3535986" cy="36274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7971A55-B135-4EE0-88BB-27884397CF3B}"/>
              </a:ext>
            </a:extLst>
          </p:cNvPr>
          <p:cNvSpPr txBox="1"/>
          <p:nvPr/>
        </p:nvSpPr>
        <p:spPr>
          <a:xfrm>
            <a:off x="4435434" y="2548281"/>
            <a:ext cx="726352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最常见的情况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将所有的电容断路；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忽略基极电流，利用分压公式计算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并利用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BE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=0.7V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进一步算出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计算射极电流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，集极电流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近似于与之相等。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计算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，并求出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5.I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就是所求的静态工作点。（记得加脚标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822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AFC4ED4-4066-4756-8CA9-E7DA8CDE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391" y="1356037"/>
            <a:ext cx="3661206" cy="355352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6D11359-12F0-498F-B170-6048BD4657E3}"/>
              </a:ext>
            </a:extLst>
          </p:cNvPr>
          <p:cNvSpPr txBox="1"/>
          <p:nvPr/>
        </p:nvSpPr>
        <p:spPr>
          <a:xfrm>
            <a:off x="733437" y="1839191"/>
            <a:ext cx="7277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6-6         </a:t>
            </a:r>
            <a:r>
              <a:rPr lang="zh-CN" altLang="en-US" dirty="0"/>
              <a:t>设晶体管的</a:t>
            </a:r>
            <a:r>
              <a:rPr lang="en-US" altLang="zh-CN" dirty="0"/>
              <a:t>V</a:t>
            </a:r>
            <a:r>
              <a:rPr lang="en-US" altLang="zh-CN" baseline="-25000" dirty="0"/>
              <a:t>BE</a:t>
            </a:r>
            <a:r>
              <a:rPr lang="en-US" altLang="zh-CN" dirty="0"/>
              <a:t>=0.7V</a:t>
            </a:r>
            <a:r>
              <a:rPr lang="zh-CN" altLang="en-US" dirty="0"/>
              <a:t>，</a:t>
            </a:r>
            <a:r>
              <a:rPr lang="en-US" altLang="zh-CN" dirty="0"/>
              <a:t>β=100</a:t>
            </a:r>
            <a:r>
              <a:rPr lang="zh-CN" altLang="en-US" dirty="0"/>
              <a:t>，求如图所示简单偏置电路</a:t>
            </a:r>
            <a:endParaRPr lang="en-US" altLang="zh-CN" dirty="0"/>
          </a:p>
          <a:p>
            <a:r>
              <a:rPr lang="zh-CN" altLang="en-US" dirty="0"/>
              <a:t>               的静态工作点，说明工作点稳定的过程。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7DE3B72-B4F5-4E33-8642-B472ED415035}"/>
                  </a:ext>
                </a:extLst>
              </p:cNvPr>
              <p:cNvSpPr txBox="1"/>
              <p:nvPr/>
            </p:nvSpPr>
            <p:spPr>
              <a:xfrm>
                <a:off x="1641763" y="2682949"/>
                <a:ext cx="6186309" cy="37304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 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+V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BE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=0.7V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设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=x V</a:t>
                </a: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由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R1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上的电流等于集极电流，以及晶体管的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β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，可得：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d>
                          <m:dPr>
                            <m:begChr m:val="（"/>
                            <m:endChr m:val="）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·</m:t>
                    </m:r>
                    <m:r>
                      <m:rPr>
                        <m:nor/>
                      </m:rPr>
                      <a:rPr lang="en-US" altLang="zh-CN" dirty="0" smtClean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R</m:t>
                    </m:r>
                    <m:r>
                      <m:rPr>
                        <m:nor/>
                      </m:rPr>
                      <a:rPr lang="en-US" altLang="zh-CN" baseline="-25000" dirty="0" smtClean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1</m:t>
                    </m:r>
                    <m:r>
                      <m:rPr>
                        <m:nor/>
                      </m:rPr>
                      <a:rPr lang="en-US" altLang="zh-CN" dirty="0" smtClean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m:t>= 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𝐵𝐸</m:t>
                        </m:r>
                      </m:sub>
                    </m:sSub>
                  </m:oMath>
                </a14:m>
                <a:endParaRPr lang="en-US" altLang="zh-CN" baseline="-25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把所有已知数据代入，可以解得：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    x=0.788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 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CEQ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 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 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– V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=0.788V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也即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        I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CQ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begChr m:val="（"/>
                            <m:endChr m:val="）"/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b="0" i="0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=0.88mA</a:t>
                </a:r>
              </a:p>
              <a:p>
                <a:r>
                  <a:rPr lang="en-US" altLang="zh-CN" dirty="0"/>
                  <a:t>       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7DE3B72-B4F5-4E33-8642-B472ED415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763" y="2682949"/>
                <a:ext cx="6186309" cy="3730445"/>
              </a:xfrm>
              <a:prstGeom prst="rect">
                <a:avLst/>
              </a:prstGeom>
              <a:blipFill>
                <a:blip r:embed="rId3"/>
                <a:stretch>
                  <a:fillRect l="-788" t="-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9B9D9E40-8A42-4CE5-B0E4-E9A894B118FB}"/>
              </a:ext>
            </a:extLst>
          </p:cNvPr>
          <p:cNvSpPr/>
          <p:nvPr/>
        </p:nvSpPr>
        <p:spPr>
          <a:xfrm>
            <a:off x="4859608" y="2485522"/>
            <a:ext cx="365516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注意：集极电流不为</a:t>
            </a:r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zh-CN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endParaRPr lang="en-US" altLang="zh-CN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不能直接利用分压公式计算</a:t>
            </a:r>
            <a:r>
              <a:rPr lang="en-US" altLang="zh-CN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r>
              <a:rPr lang="en-US" altLang="zh-CN" sz="2000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CQ</a:t>
            </a:r>
            <a:endParaRPr lang="zh-CN" altLang="en-US" sz="2000" b="0" cap="none" spc="0" baseline="-25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7722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4B802-C578-4F92-8F32-CB0C8863C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7016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6.1.2 BJT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参数模型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350C62-73F1-492C-A003-FCC646011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74866"/>
            <a:ext cx="10608872" cy="302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09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EF4F694-C1EB-4EC2-AF58-65947E0E8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71" y="1294172"/>
            <a:ext cx="4101106" cy="24873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752C91-A1FE-4C37-A679-7EA18CC2B590}"/>
              </a:ext>
            </a:extLst>
          </p:cNvPr>
          <p:cNvSpPr txBox="1"/>
          <p:nvPr/>
        </p:nvSpPr>
        <p:spPr>
          <a:xfrm>
            <a:off x="5427823" y="2293619"/>
            <a:ext cx="556553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由题目给定，不给则默认为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=26mV/I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EQ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；（一般都是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26mV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，老师应该不会在计算题里给非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300K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的温度）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ce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=V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/I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CQ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是厄利电压；除非题目给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sz="24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，否则</a:t>
            </a:r>
            <a:r>
              <a:rPr lang="en-US" altLang="zh-CN" sz="2400" dirty="0" err="1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ce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默认为正无穷，即此处开路）；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be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en-US" altLang="zh-CN" sz="24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1+β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sz="24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BAB3286-9FD2-480E-9A52-EC12A2E9F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646" y="3937514"/>
            <a:ext cx="3612756" cy="280618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4943614-4D54-4BC3-8196-B4DB3F0AE4B6}"/>
              </a:ext>
            </a:extLst>
          </p:cNvPr>
          <p:cNvSpPr/>
          <p:nvPr/>
        </p:nvSpPr>
        <p:spPr>
          <a:xfrm>
            <a:off x="5378722" y="5261448"/>
            <a:ext cx="566373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注意：</a:t>
            </a:r>
            <a:r>
              <a:rPr lang="en-US" altLang="zh-CN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altLang="zh-CN" b="0" cap="none" spc="0" baseline="-25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r>
              <a:rPr lang="zh-CN" altLang="en-US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可能与其他电阻串</a:t>
            </a:r>
            <a:r>
              <a:rPr lang="en-US" altLang="zh-CN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zh-CN" altLang="en-US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并联，此时需对</a:t>
            </a:r>
            <a:r>
              <a:rPr lang="en-US" altLang="zh-CN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altLang="zh-CN" b="0" cap="none" spc="0" baseline="-25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r>
              <a:rPr lang="zh-CN" altLang="en-US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进行替换</a:t>
            </a:r>
          </a:p>
        </p:txBody>
      </p:sp>
    </p:spTree>
    <p:extLst>
      <p:ext uri="{BB962C8B-B14F-4D97-AF65-F5344CB8AC3E}">
        <p14:creationId xmlns:p14="http://schemas.microsoft.com/office/powerpoint/2010/main" val="281939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B1749E7-1AC5-409C-B67F-7DFC886503DE}"/>
              </a:ext>
            </a:extLst>
          </p:cNvPr>
          <p:cNvSpPr/>
          <p:nvPr/>
        </p:nvSpPr>
        <p:spPr>
          <a:xfrm>
            <a:off x="849923" y="134955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6-7      </a:t>
            </a:r>
            <a:r>
              <a:rPr lang="zh-CN" altLang="en-US" dirty="0"/>
              <a:t>图中晶体管的</a:t>
            </a:r>
            <a:r>
              <a:rPr lang="en-US" altLang="zh-CN" dirty="0"/>
              <a:t>β=100</a:t>
            </a:r>
            <a:r>
              <a:rPr lang="zh-CN" altLang="en-US" dirty="0"/>
              <a:t>，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=300Ω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BE</a:t>
            </a:r>
            <a:r>
              <a:rPr lang="en-US" altLang="zh-CN" dirty="0"/>
              <a:t>=0.7V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              V</a:t>
            </a:r>
            <a:r>
              <a:rPr lang="en-US" altLang="zh-CN" baseline="-25000" dirty="0"/>
              <a:t>A</a:t>
            </a:r>
            <a:r>
              <a:rPr lang="zh-CN" altLang="en-US" dirty="0"/>
              <a:t>无穷大，</a:t>
            </a:r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zh-CN" altLang="en-US" dirty="0"/>
              <a:t>足够大，求：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）静态工作点。</a:t>
            </a:r>
            <a:endParaRPr lang="en-US" altLang="zh-CN" dirty="0"/>
          </a:p>
          <a:p>
            <a:r>
              <a:rPr lang="en-US" altLang="zh-CN" dirty="0"/>
              <a:t>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）输入电阻</a:t>
            </a:r>
            <a:r>
              <a:rPr lang="en-US" altLang="zh-CN" dirty="0"/>
              <a:t>R</a:t>
            </a:r>
            <a:r>
              <a:rPr lang="en-US" altLang="zh-CN" baseline="-25000" dirty="0"/>
              <a:t>in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            （</a:t>
            </a:r>
            <a:r>
              <a:rPr lang="en-US" altLang="zh-CN" dirty="0"/>
              <a:t>3</a:t>
            </a:r>
            <a:r>
              <a:rPr lang="zh-CN" altLang="en-US" dirty="0"/>
              <a:t>）输出电阻</a:t>
            </a:r>
            <a:r>
              <a:rPr lang="en-US" altLang="zh-CN" dirty="0"/>
              <a:t>R</a:t>
            </a:r>
            <a:r>
              <a:rPr lang="en-US" altLang="zh-CN" baseline="-25000" dirty="0"/>
              <a:t>out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            （</a:t>
            </a:r>
            <a:r>
              <a:rPr lang="en-US" altLang="zh-CN" dirty="0"/>
              <a:t>4</a:t>
            </a:r>
            <a:r>
              <a:rPr lang="zh-CN" altLang="en-US" dirty="0"/>
              <a:t>）电压增益。</a:t>
            </a:r>
            <a:r>
              <a:rPr lang="en-US" altLang="zh-CN" dirty="0"/>
              <a:t> 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B39B39-CE63-4E73-82AE-A0AD2EAD9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515" y="1349550"/>
            <a:ext cx="4935595" cy="32721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ECDBC5A-95FA-4F74-A73D-757430091CF2}"/>
                  </a:ext>
                </a:extLst>
              </p:cNvPr>
              <p:cNvSpPr txBox="1"/>
              <p:nvPr/>
            </p:nvSpPr>
            <p:spPr>
              <a:xfrm>
                <a:off x="1740877" y="3103876"/>
                <a:ext cx="3669210" cy="30181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解</a:t>
                </a:r>
                <a:r>
                  <a:rPr lang="en-US" altLang="zh-CN" dirty="0">
                    <a:sym typeface="Wingdings" panose="05000000000000000000" pitchFamily="2" charset="2"/>
                  </a:rPr>
                  <a:t>:</a:t>
                </a:r>
                <a:r>
                  <a:rPr lang="zh-CN" altLang="en-US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dirty="0"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sym typeface="Wingdings" panose="05000000000000000000" pitchFamily="2" charset="2"/>
                  </a:rPr>
                  <a:t>）</a:t>
                </a:r>
                <a:r>
                  <a:rPr lang="en-US" altLang="zh-CN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𝐵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𝐵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𝐵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</m:oMath>
                </a14:m>
                <a:r>
                  <a:rPr lang="en-US" altLang="zh-CN" dirty="0"/>
                  <a:t>1V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𝐵𝑄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0.3</m:t>
                    </m:r>
                  </m:oMath>
                </a14:m>
                <a:r>
                  <a:rPr lang="en-US" altLang="zh-CN" dirty="0"/>
                  <a:t>V</a:t>
                </a:r>
              </a:p>
              <a:p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               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𝑄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𝑉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𝐸𝑄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−0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𝑅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𝐸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/>
                  <a:t>mA</a:t>
                </a:r>
                <a:r>
                  <a:rPr lang="zh-CN" altLang="en-US" dirty="0"/>
                  <a:t>≈</a:t>
                </a:r>
                <a:r>
                  <a:rPr lang="en-US" altLang="zh-CN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𝐼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𝐶𝑄</m:t>
                    </m:r>
                  </m:oMath>
                </a14:m>
                <a:endParaRPr lang="en-US" altLang="zh-CN" i="1" baseline="-25000" dirty="0"/>
              </a:p>
              <a:p>
                <a:endParaRPr lang="en-US" altLang="zh-CN" baseline="-25000" dirty="0"/>
              </a:p>
              <a:p>
                <a:r>
                  <a:rPr lang="en-US" altLang="zh-CN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𝐶𝑄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=</a:t>
                </a:r>
                <a:r>
                  <a:rPr lang="en-US" altLang="zh-CN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E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𝐼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𝐶𝑄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·</a:t>
                </a:r>
                <a:r>
                  <a:rPr lang="en-US" altLang="zh-CN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𝑅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/>
                  <a:t>V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               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𝐶𝐸𝑄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𝐶𝑄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b="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𝐸𝑄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151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</m:oMath>
                </a14:m>
                <a:r>
                  <a:rPr lang="en-US" altLang="zh-CN" dirty="0"/>
                  <a:t>V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ECDBC5A-95FA-4F74-A73D-757430091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877" y="3103876"/>
                <a:ext cx="3669210" cy="3018199"/>
              </a:xfrm>
              <a:prstGeom prst="rect">
                <a:avLst/>
              </a:prstGeom>
              <a:blipFill>
                <a:blip r:embed="rId4"/>
                <a:stretch>
                  <a:fillRect l="-1498" b="-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45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DBACA09-C415-4257-A951-8738B0CD78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00901" y="1939131"/>
                <a:ext cx="4300376" cy="34505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26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𝑚𝑉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𝐼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𝐸𝑄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=15.6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Ω</m:t>
                    </m:r>
                  </m:oMath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β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=1.8756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Ω</m:t>
                    </m:r>
                  </m:oMath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𝑖𝑛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𝐵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r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𝑏𝑒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1.557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sz="1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Ω</m:t>
                    </m:r>
                  </m:oMath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𝑜𝑢𝑡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𝑅𝑐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=4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Ω</m:t>
                    </m:r>
                  </m:oMath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4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𝑏𝑒</m:t>
                        </m:r>
                      </m:den>
                    </m:f>
                  </m:oMath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𝑉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𝑜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β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·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𝑖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𝑏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·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||</m:t>
                    </m:r>
                    <m:sSub>
                      <m:sSub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𝐿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𝐴</m:t>
                    </m:r>
                    <m:r>
                      <a:rPr lang="en-US" altLang="zh-CN" sz="1800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𝑣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β</m:t>
                    </m:r>
                    <m:f>
                      <m:f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||</m:t>
                        </m:r>
                        <m:sSub>
                          <m:sSub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𝑏𝑒</m:t>
                        </m:r>
                      </m:den>
                    </m:f>
                    <m:r>
                      <a:rPr lang="en-US" altLang="zh-CN" sz="18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</m:oMath>
                </a14:m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71.09</a:t>
                </a:r>
                <a:endParaRPr lang="zh-CN" altLang="en-US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DBACA09-C415-4257-A951-8738B0CD78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00901" y="1939131"/>
                <a:ext cx="4300376" cy="3450554"/>
              </a:xfrm>
              <a:blipFill>
                <a:blip r:embed="rId3"/>
                <a:stretch>
                  <a:fillRect l="-1133" t="-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DB60BB36-612D-471B-A4D5-5CAFD4F61658}"/>
              </a:ext>
            </a:extLst>
          </p:cNvPr>
          <p:cNvGrpSpPr/>
          <p:nvPr/>
        </p:nvGrpSpPr>
        <p:grpSpPr>
          <a:xfrm>
            <a:off x="802595" y="2236026"/>
            <a:ext cx="6398306" cy="3250429"/>
            <a:chOff x="820179" y="1216118"/>
            <a:chExt cx="6398306" cy="325042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432C724-5CB3-447B-A953-8013277E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0179" y="1216118"/>
              <a:ext cx="6398306" cy="261454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8B9717D-25D2-4A07-9D34-7A029937FD7E}"/>
                </a:ext>
              </a:extLst>
            </p:cNvPr>
            <p:cNvSpPr txBox="1"/>
            <p:nvPr/>
          </p:nvSpPr>
          <p:spPr>
            <a:xfrm>
              <a:off x="820179" y="4097215"/>
              <a:ext cx="6398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/>
                <a:t>微变等效电路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8DACACE4-B358-428E-9BC8-95DE132B06FB}"/>
              </a:ext>
            </a:extLst>
          </p:cNvPr>
          <p:cNvSpPr/>
          <p:nvPr/>
        </p:nvSpPr>
        <p:spPr>
          <a:xfrm>
            <a:off x="802595" y="1384702"/>
            <a:ext cx="67505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注意将电容短路，集极偏置电压接地</a:t>
            </a:r>
          </a:p>
        </p:txBody>
      </p:sp>
    </p:spTree>
    <p:extLst>
      <p:ext uri="{BB962C8B-B14F-4D97-AF65-F5344CB8AC3E}">
        <p14:creationId xmlns:p14="http://schemas.microsoft.com/office/powerpoint/2010/main" val="128017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04FF9F4-B4EA-46C1-A30C-7A800F8F451D}"/>
              </a:ext>
            </a:extLst>
          </p:cNvPr>
          <p:cNvSpPr/>
          <p:nvPr/>
        </p:nvSpPr>
        <p:spPr>
          <a:xfrm>
            <a:off x="410308" y="1452798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6-11 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）求图中放大电路的增益，设</a:t>
            </a:r>
            <a:r>
              <a:rPr lang="en-US" altLang="zh-CN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BE</a:t>
            </a:r>
            <a:r>
              <a:rPr lang="en-US" altLang="zh-CN" dirty="0">
                <a:solidFill>
                  <a:srgbClr val="FF0000"/>
                </a:solidFill>
              </a:rPr>
              <a:t>=-0.3V</a:t>
            </a:r>
            <a:r>
              <a:rPr lang="zh-CN" altLang="en-US" dirty="0"/>
              <a:t>，     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/>
              <a:t>β=50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）换成</a:t>
            </a:r>
            <a:r>
              <a:rPr lang="en-US" altLang="zh-CN" dirty="0"/>
              <a:t>β=500</a:t>
            </a:r>
            <a:r>
              <a:rPr lang="zh-CN" altLang="en-US" dirty="0"/>
              <a:t>的晶体管，但集电极电流不</a:t>
            </a:r>
            <a:endParaRPr lang="en-US" altLang="zh-CN" dirty="0"/>
          </a:p>
          <a:p>
            <a:r>
              <a:rPr lang="en-US" altLang="zh-CN" dirty="0"/>
              <a:t>                </a:t>
            </a:r>
            <a:r>
              <a:rPr lang="zh-CN" altLang="en-US" dirty="0"/>
              <a:t>变，求电压增益。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61A2371-6C9A-4FE2-BCDD-41259344C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553" y="1452798"/>
            <a:ext cx="4004139" cy="32225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9089F3-4FFF-4386-B23B-9608A1EAB61F}"/>
                  </a:ext>
                </a:extLst>
              </p:cNvPr>
              <p:cNvSpPr txBox="1"/>
              <p:nvPr/>
            </p:nvSpPr>
            <p:spPr>
              <a:xfrm>
                <a:off x="1389185" y="2879423"/>
                <a:ext cx="5389684" cy="2866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解：（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       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𝐸𝑄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𝐵𝑄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𝐵𝐸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=−0.3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570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𝑢𝐴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𝐸𝑄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𝐵𝑄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𝐶𝑄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𝐶𝐸𝑄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4.5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9089F3-4FFF-4386-B23B-9608A1EAB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185" y="2879423"/>
                <a:ext cx="5389684" cy="2866041"/>
              </a:xfrm>
              <a:prstGeom prst="rect">
                <a:avLst/>
              </a:prstGeom>
              <a:blipFill>
                <a:blip r:embed="rId3"/>
                <a:stretch>
                  <a:fillRect l="-1018" t="-851" b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35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44068C3-268F-49E6-B8BA-7CF0629F9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622" y="2449060"/>
            <a:ext cx="4102240" cy="24346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CB54F81-987A-4F2E-BD33-D5CAA3870DBD}"/>
                  </a:ext>
                </a:extLst>
              </p:cNvPr>
              <p:cNvSpPr txBox="1"/>
              <p:nvPr/>
            </p:nvSpPr>
            <p:spPr>
              <a:xfrm>
                <a:off x="844061" y="1087713"/>
                <a:ext cx="5389684" cy="5915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 （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续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𝑚𝑉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𝐸𝑄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=52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1)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=2652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altLang="zh-CN" b="0" dirty="0"/>
              </a:p>
              <a:p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||570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||570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𝑜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||570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||570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𝑏𝑒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m:rPr>
                          <m:nor/>
                        </m:rPr>
                        <a:rPr lang="en-US" altLang="zh-CN" b="0" i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m:t>32.18</m:t>
                      </m:r>
                    </m:oMath>
                  </m:oMathPara>
                </a14:m>
                <a:endParaRPr lang="en-US" altLang="zh-CN" b="0" dirty="0">
                  <a:ea typeface="楷体" panose="02010609060101010101" pitchFamily="49" charset="-122"/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相当于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</a:rPr>
                      <m:t>𝑏𝑒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β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1)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=26052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将数据代入上式，得，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𝑜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′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||570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CN" b="0" i="1" baseline="-25000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||570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  <m:r>
                            <a:rPr lang="en-US" altLang="zh-CN" i="1" baseline="-2500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𝑏𝑒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r>
                        <m:rPr>
                          <m:nor/>
                        </m:rPr>
                        <a:rPr lang="en-US" altLang="zh-CN" b="0" i="0" dirty="0" smtClean="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m:t>50.30</m:t>
                      </m:r>
                    </m:oMath>
                  </m:oMathPara>
                </a14:m>
                <a:endParaRPr lang="en-US" altLang="zh-CN" b="0" dirty="0">
                  <a:ea typeface="楷体" panose="02010609060101010101" pitchFamily="49" charset="-122"/>
                </a:endParaRPr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CB54F81-987A-4F2E-BD33-D5CAA3870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1" y="1087713"/>
                <a:ext cx="5389684" cy="5915402"/>
              </a:xfrm>
              <a:prstGeom prst="rect">
                <a:avLst/>
              </a:prstGeom>
              <a:blipFill>
                <a:blip r:embed="rId3"/>
                <a:stretch>
                  <a:fillRect l="-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66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839929-78D5-42EB-975B-24729252EFE1}"/>
              </a:ext>
            </a:extLst>
          </p:cNvPr>
          <p:cNvSpPr/>
          <p:nvPr/>
        </p:nvSpPr>
        <p:spPr>
          <a:xfrm>
            <a:off x="366346" y="139125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6-12</a:t>
            </a:r>
            <a:r>
              <a:rPr lang="en-US" altLang="zh-CN" dirty="0"/>
              <a:t>      </a:t>
            </a:r>
            <a:r>
              <a:rPr lang="zh-CN" altLang="en-US" dirty="0"/>
              <a:t>图中晶体管的</a:t>
            </a:r>
            <a:r>
              <a:rPr lang="en-US" altLang="zh-CN" dirty="0"/>
              <a:t>β=80</a:t>
            </a:r>
            <a:r>
              <a:rPr lang="zh-CN" altLang="en-US" dirty="0"/>
              <a:t>，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be</a:t>
            </a:r>
            <a:r>
              <a:rPr lang="en-US" altLang="zh-CN" dirty="0"/>
              <a:t>=2.5kΩ</a:t>
            </a:r>
            <a:r>
              <a:rPr lang="zh-CN" altLang="en-US" dirty="0"/>
              <a:t>，求输出电阻</a:t>
            </a:r>
            <a:endParaRPr lang="en-US" altLang="zh-CN" dirty="0"/>
          </a:p>
          <a:p>
            <a:r>
              <a:rPr lang="en-US" altLang="zh-CN" dirty="0"/>
              <a:t>              </a:t>
            </a:r>
            <a:r>
              <a:rPr lang="zh-CN" altLang="en-US" dirty="0"/>
              <a:t>和电压增益。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A0EC38-13E2-474A-A9DE-BD7F40925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620" y="641068"/>
            <a:ext cx="2659783" cy="246923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D67A4CF-DF45-40B1-9F83-2E6B1344E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491" y="3995298"/>
            <a:ext cx="3638040" cy="22525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0AB553D-6385-4288-86EE-7884FF2CAD9D}"/>
                  </a:ext>
                </a:extLst>
              </p:cNvPr>
              <p:cNvSpPr/>
              <p:nvPr/>
            </p:nvSpPr>
            <p:spPr>
              <a:xfrm>
                <a:off x="1201616" y="2235343"/>
                <a:ext cx="6096000" cy="379591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解：题目已经给出了</a:t>
                </a:r>
                <a:r>
                  <a:rPr lang="en-US" altLang="zh-CN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en-US" altLang="zh-CN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be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直接画出微变等效电路</a:t>
                </a:r>
                <a:endParaRPr lang="en-US" altLang="zh-CN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对</a:t>
                </a:r>
                <a:r>
                  <a:rPr lang="en-US" altLang="zh-CN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en-US" altLang="zh-CN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be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CCCS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R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部分电路利用戴维宁定理，当输入电 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流为</a:t>
                </a:r>
                <a:r>
                  <a:rPr lang="en-US" altLang="zh-CN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i</a:t>
                </a:r>
                <a:r>
                  <a:rPr lang="en-US" altLang="zh-CN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时，相应的端电压为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b="0" baseline="-25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方括号内的式子即为二端口等效电阻，则有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||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=93.17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可以进一步算出增益：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US" altLang="zh-CN" baseline="-25000" dirty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</m:oMath>
                  </m:oMathPara>
                </a14:m>
                <a:endParaRPr lang="en-US" altLang="zh-CN" baseline="-25000" dirty="0">
                  <a:latin typeface="Cambria Math" panose="02040503050406030204" pitchFamily="18" charset="0"/>
                </a:endParaRPr>
              </a:p>
              <a:p>
                <a:endParaRPr lang="en-US" altLang="zh-CN" baseline="-250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altLang="zh-CN" baseline="-25000" dirty="0">
                  <a:latin typeface="Cambria Math" panose="02040503050406030204" pitchFamily="18" charset="0"/>
                </a:endParaRPr>
              </a:p>
              <a:p>
                <a:endParaRPr lang="en-US" altLang="zh-CN" baseline="-2500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sty m:val="p"/>
                            </m:rPr>
                            <a:rPr lang="en-US" altLang="zh-CN" i="1" baseline="-25000"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=0.644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C0AB553D-6385-4288-86EE-7884FF2CA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616" y="2235343"/>
                <a:ext cx="6096000" cy="3795911"/>
              </a:xfrm>
              <a:prstGeom prst="rect">
                <a:avLst/>
              </a:prstGeom>
              <a:blipFill>
                <a:blip r:embed="rId4"/>
                <a:stretch>
                  <a:fillRect l="-800" t="-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63939787-98E5-49D3-A905-2AEBB69D6A77}"/>
              </a:ext>
            </a:extLst>
          </p:cNvPr>
          <p:cNvSpPr txBox="1"/>
          <p:nvPr/>
        </p:nvSpPr>
        <p:spPr>
          <a:xfrm>
            <a:off x="5640265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0A4A8B9-DECC-46C6-82FF-4A5CC8A26D40}"/>
              </a:ext>
            </a:extLst>
          </p:cNvPr>
          <p:cNvSpPr/>
          <p:nvPr/>
        </p:nvSpPr>
        <p:spPr>
          <a:xfrm>
            <a:off x="7784826" y="3110299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当感觉微变等效电路比较难画时，</a:t>
            </a:r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找出元件两端的等势点，</a:t>
            </a:r>
            <a:endParaRPr lang="en-US" altLang="zh-CN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把元件画在两点之间即可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103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F4E6777-32C4-49ED-863A-CA6438ED0E1F}"/>
              </a:ext>
            </a:extLst>
          </p:cNvPr>
          <p:cNvSpPr/>
          <p:nvPr/>
        </p:nvSpPr>
        <p:spPr>
          <a:xfrm>
            <a:off x="366346" y="139125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6-23</a:t>
            </a:r>
            <a:r>
              <a:rPr lang="en-US" altLang="zh-CN" dirty="0"/>
              <a:t>      </a:t>
            </a:r>
            <a:r>
              <a:rPr lang="zh-CN" altLang="en-US" dirty="0"/>
              <a:t>求图中放大电路的增益，设图中晶体管的</a:t>
            </a:r>
            <a:endParaRPr lang="en-US" altLang="zh-CN" dirty="0"/>
          </a:p>
          <a:p>
            <a:r>
              <a:rPr lang="en-US" altLang="zh-CN" dirty="0"/>
              <a:t>               β=100</a:t>
            </a:r>
            <a:r>
              <a:rPr lang="zh-CN" altLang="en-US" dirty="0"/>
              <a:t>，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=0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baseline="-25000" dirty="0"/>
              <a:t>A</a:t>
            </a:r>
            <a:r>
              <a:rPr lang="zh-CN" altLang="en-US" dirty="0"/>
              <a:t>很大，</a:t>
            </a:r>
            <a:r>
              <a:rPr lang="en-US" altLang="zh-CN" dirty="0"/>
              <a:t>V</a:t>
            </a:r>
            <a:r>
              <a:rPr lang="en-US" altLang="zh-CN" baseline="-25000" dirty="0"/>
              <a:t>BE</a:t>
            </a:r>
            <a:r>
              <a:rPr lang="en-US" altLang="zh-CN" dirty="0"/>
              <a:t>=0.7V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9DD6F4-CFF5-40A0-A12F-EB23C6FA2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718" y="1782607"/>
            <a:ext cx="4873636" cy="42833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571AC6E-B1F6-4752-92FE-EE18E5F3CADA}"/>
                  </a:ext>
                </a:extLst>
              </p:cNvPr>
              <p:cNvSpPr/>
              <p:nvPr/>
            </p:nvSpPr>
            <p:spPr>
              <a:xfrm>
                <a:off x="1207710" y="2151885"/>
                <a:ext cx="6096000" cy="456964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忽略两个基极电流，此时</a:t>
                </a:r>
                <a:r>
                  <a:rPr lang="zh-CN" altLang="en-US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注意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altLang="zh-CN" b="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则可以推出各静态工作点（过程从略）</a:t>
                </a:r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:</a:t>
                </a:r>
                <a:endParaRPr lang="en-US" altLang="zh-CN" b="0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=−0.7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=10.7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=9.3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𝐼𝐸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=0.93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=10.7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从而有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BJT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的交流电阻：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=(1+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=2626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=(1+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2824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571AC6E-B1F6-4752-92FE-EE18E5F3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710" y="2151885"/>
                <a:ext cx="6096000" cy="4569649"/>
              </a:xfrm>
              <a:prstGeom prst="rect">
                <a:avLst/>
              </a:prstGeom>
              <a:blipFill>
                <a:blip r:embed="rId3"/>
                <a:stretch>
                  <a:fillRect l="-800" t="-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80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6DB27B6-190E-4E0E-9493-946FE624F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83" y="1795414"/>
            <a:ext cx="5635730" cy="16870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98E6A3-34B9-4435-9ACF-B23836C5F31C}"/>
                  </a:ext>
                </a:extLst>
              </p:cNvPr>
              <p:cNvSpPr txBox="1"/>
              <p:nvPr/>
            </p:nvSpPr>
            <p:spPr>
              <a:xfrm>
                <a:off x="6435970" y="1795414"/>
                <a:ext cx="5955476" cy="22926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先求竖线右侧二端口的输出电阻，显然，由戴维宁定理：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+(1+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:r>
                  <a:rPr lang="zh-CN" altLang="en-US" dirty="0"/>
                  <a:t>则有：</a:t>
                </a:r>
                <a:br>
                  <a:rPr lang="en-US" altLang="zh-CN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=(1+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098E6A3-34B9-4435-9ACF-B23836C5F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970" y="1795414"/>
                <a:ext cx="5955476" cy="2292615"/>
              </a:xfrm>
              <a:prstGeom prst="rect">
                <a:avLst/>
              </a:prstGeom>
              <a:blipFill>
                <a:blip r:embed="rId3"/>
                <a:stretch>
                  <a:fillRect l="-921" t="-1596" r="-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745C40F-9AE4-4404-BFEE-29EF1AE4D8F8}"/>
                  </a:ext>
                </a:extLst>
              </p:cNvPr>
              <p:cNvSpPr txBox="1"/>
              <p:nvPr/>
            </p:nvSpPr>
            <p:spPr>
              <a:xfrm>
                <a:off x="3493204" y="4589585"/>
                <a:ext cx="5232779" cy="946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即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=−(1+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)=−77.24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745C40F-9AE4-4404-BFEE-29EF1AE4D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04" y="4589585"/>
                <a:ext cx="5232779" cy="946093"/>
              </a:xfrm>
              <a:prstGeom prst="rect">
                <a:avLst/>
              </a:prstGeom>
              <a:blipFill>
                <a:blip r:embed="rId4"/>
                <a:stretch>
                  <a:fillRect l="-932" t="-3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11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5F460-0AC1-462F-9208-6F5C5F58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940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8C4EF-3C44-458B-8A72-95B0B6F7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452"/>
            <a:ext cx="10515600" cy="3908548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第一步：求静态工作点。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第二步：计算交流电阻等参数，画出微变等效电路图。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第三步：利用戴维宁定理将部分电路等效为一个电阻，简化模型。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第四步：写出输入输出电压相关的表达式，计算电压增益。</a:t>
            </a:r>
          </a:p>
        </p:txBody>
      </p:sp>
    </p:spTree>
    <p:extLst>
      <p:ext uri="{BB962C8B-B14F-4D97-AF65-F5344CB8AC3E}">
        <p14:creationId xmlns:p14="http://schemas.microsoft.com/office/powerpoint/2010/main" val="2906784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508BD-A37B-4C40-83C5-36B0C8B8BA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6316" y="1562846"/>
                <a:ext cx="10565422" cy="4881915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6.2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功率输出级题型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·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一组简单的功率公式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甲类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𝑃</m:t>
                                    </m:r>
                                    <m:r>
                                      <a:rPr lang="en-US" altLang="zh-CN" b="0" i="1" baseline="-25000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𝐸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=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𝐸</m:t>
                                    </m:r>
                                    <m:r>
                                      <a:rPr lang="en-US" altLang="zh-CN" i="1" baseline="-2500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𝐼</m:t>
                                    </m:r>
                                    <m:r>
                                      <a:rPr lang="en-US" altLang="zh-CN" i="1" baseline="-2500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𝐶𝑄</m:t>
                                    </m:r>
                                  </m: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𝑃</m:t>
                                    </m:r>
                                    <m:r>
                                      <a:rPr lang="en-US" altLang="zh-CN" b="0" i="1" baseline="-25000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𝑜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𝐸</m:t>
                                        </m:r>
                                        <m:r>
                                          <a:rPr lang="en-US" altLang="zh-CN" b="0" i="1" baseline="-2500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𝐶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𝐼</m:t>
                                        </m:r>
                                        <m:r>
                                          <a:rPr lang="en-US" altLang="zh-CN" b="0" i="1" baseline="-2500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𝐶𝑄</m:t>
                                        </m:r>
                                      </m:num>
                                      <m:den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eqArr>
                              </m:e>
                            </m:d>
                          </m:e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乙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类</m:t>
                            </m:r>
                            <m:d>
                              <m:dPr>
                                <m:begChr m:val="{"/>
                                <m:endChr m:val="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𝑃</m:t>
                                    </m:r>
                                    <m:r>
                                      <a:rPr lang="en-US" altLang="zh-CN" b="0" i="1" baseline="-25000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𝐸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𝐼</m:t>
                                        </m:r>
                                        <m:r>
                                          <a:rPr lang="en-US" altLang="zh-CN" b="0" i="1" baseline="-2500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𝑜𝑚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π</m:t>
                                        </m:r>
                                      </m:den>
                                    </m:f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𝐸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𝑉</m:t>
                                        </m:r>
                                        <m:r>
                                          <a:rPr lang="en-US" altLang="zh-CN" b="0" i="1" baseline="-2500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𝑜𝑚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i="1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π</m:t>
                                        </m:r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𝑅</m:t>
                                        </m:r>
                                        <m:r>
                                          <a:rPr lang="en-US" altLang="zh-CN" b="0" i="1" baseline="-25000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𝐿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𝑃</m:t>
                                    </m:r>
                                    <m:r>
                                      <a:rPr lang="en-US" altLang="zh-CN" b="0" i="1" baseline="-25000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𝑜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=</m:t>
                                    </m:r>
                                    <m:f>
                                      <m:f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𝑜𝑚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  <a:ea typeface="楷体" panose="02010609060101010101" pitchFamily="49" charset="-122"/>
                                          </a:rPr>
                                          <m:t>2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𝑅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  <a:ea typeface="楷体" panose="02010609060101010101" pitchFamily="49" charset="-122"/>
                                              </a:rPr>
                                              <m:t>𝐿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eqArr>
                              </m:e>
                            </m:d>
                          </m:e>
                          <m:e>
                            <m:r>
                              <a:rPr lang="el-GR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𝜂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lang="en-US" altLang="zh-CN" b="0" i="1" baseline="-2500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𝑜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𝑃</m:t>
                                </m:r>
                                <m:r>
                                  <a:rPr lang="en-US" altLang="zh-CN" b="0" i="1" baseline="-25000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𝐸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  <m:r>
                              <a:rPr lang="en-US" altLang="zh-CN" b="0" i="1" baseline="-250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𝑇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𝐸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𝑂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508BD-A37B-4C40-83C5-36B0C8B8B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6316" y="1562846"/>
                <a:ext cx="10565422" cy="4881915"/>
              </a:xfrm>
              <a:blipFill>
                <a:blip r:embed="rId3"/>
                <a:stretch>
                  <a:fillRect l="-1212" t="-29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6218C4B2-4C1E-48A2-BF67-EC2533A13E66}"/>
              </a:ext>
            </a:extLst>
          </p:cNvPr>
          <p:cNvSpPr/>
          <p:nvPr/>
        </p:nvSpPr>
        <p:spPr>
          <a:xfrm>
            <a:off x="4637510" y="5922950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总管耗</a:t>
            </a:r>
          </a:p>
        </p:txBody>
      </p:sp>
    </p:spTree>
    <p:extLst>
      <p:ext uri="{BB962C8B-B14F-4D97-AF65-F5344CB8AC3E}">
        <p14:creationId xmlns:p14="http://schemas.microsoft.com/office/powerpoint/2010/main" val="89283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8C40750-CEB9-49CB-A175-B7663F4B40F1}"/>
              </a:ext>
            </a:extLst>
          </p:cNvPr>
          <p:cNvSpPr/>
          <p:nvPr/>
        </p:nvSpPr>
        <p:spPr>
          <a:xfrm>
            <a:off x="287216" y="147046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6-20      </a:t>
            </a:r>
            <a:r>
              <a:rPr lang="zh-CN" altLang="en-US" dirty="0"/>
              <a:t>图中是乙类功率放大器的示意图，若不考虑交</a:t>
            </a:r>
            <a:endParaRPr lang="en-US" altLang="zh-CN" dirty="0"/>
          </a:p>
          <a:p>
            <a:r>
              <a:rPr lang="en-US" altLang="zh-CN" dirty="0"/>
              <a:t>               </a:t>
            </a:r>
            <a:r>
              <a:rPr lang="zh-CN" altLang="en-US" dirty="0"/>
              <a:t>越失真，则试做：</a:t>
            </a:r>
            <a:endParaRPr lang="en-US" altLang="zh-CN" dirty="0"/>
          </a:p>
          <a:p>
            <a:r>
              <a:rPr lang="en-US" altLang="zh-CN" dirty="0"/>
              <a:t>              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）求输出整线幅度为</a:t>
            </a:r>
            <a:r>
              <a:rPr lang="en-US" altLang="zh-CN" dirty="0"/>
              <a:t>14.4V</a:t>
            </a:r>
            <a:r>
              <a:rPr lang="zh-CN" altLang="en-US" dirty="0"/>
              <a:t>时负载上的输出功</a:t>
            </a:r>
            <a:endParaRPr lang="en-US" altLang="zh-CN" dirty="0"/>
          </a:p>
          <a:p>
            <a:r>
              <a:rPr lang="en-US" altLang="zh-CN" dirty="0"/>
              <a:t>               </a:t>
            </a:r>
            <a:r>
              <a:rPr lang="zh-CN" altLang="en-US" dirty="0"/>
              <a:t>率、效率、电源消耗的总功率和每管的管耗。</a:t>
            </a:r>
            <a:endParaRPr lang="en-US" altLang="zh-CN" dirty="0"/>
          </a:p>
          <a:p>
            <a:r>
              <a:rPr lang="zh-CN" altLang="en-US" dirty="0"/>
              <a:t>               （</a:t>
            </a:r>
            <a:r>
              <a:rPr lang="en-US" altLang="zh-CN" dirty="0"/>
              <a:t>2</a:t>
            </a:r>
            <a:r>
              <a:rPr lang="zh-CN" altLang="en-US" dirty="0"/>
              <a:t>）若出输出正弦幅度为</a:t>
            </a:r>
            <a:r>
              <a:rPr lang="en-US" altLang="zh-CN" dirty="0"/>
              <a:t>5V</a:t>
            </a:r>
            <a:r>
              <a:rPr lang="zh-CN" altLang="en-US" dirty="0"/>
              <a:t>，则重求上面的值。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66759B-F8D2-4B41-A377-9842185F9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976" y="1470465"/>
            <a:ext cx="3334808" cy="2760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F9B2008-1096-4515-83FC-E5505A599C4C}"/>
                  </a:ext>
                </a:extLst>
              </p:cNvPr>
              <p:cNvSpPr txBox="1"/>
              <p:nvPr/>
            </p:nvSpPr>
            <p:spPr>
              <a:xfrm>
                <a:off x="1345224" y="2947793"/>
                <a:ext cx="4750776" cy="2568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：（</a:t>
                </a:r>
                <a:r>
                  <a:rPr lang="en-US" altLang="zh-CN" dirty="0">
                    <a:latin typeface="Cambria" panose="02040503050406030204" pitchFamily="18" charset="0"/>
                    <a:ea typeface="Cambria" panose="02040503050406030204" pitchFamily="18" charset="0"/>
                  </a:rPr>
                  <a:t>1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l-GR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π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𝑉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𝑜𝑚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4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𝐸𝐶</m:t>
                        </m:r>
                      </m:den>
                    </m:f>
                  </m:oMath>
                </a14:m>
                <a:r>
                  <a:rPr lang="en-US" altLang="zh-CN" dirty="0">
                    <a:latin typeface="Cambria" panose="02040503050406030204" pitchFamily="18" charset="0"/>
                    <a:ea typeface="Cambria" panose="02040503050406030204" pitchFamily="18" charset="0"/>
                  </a:rPr>
                  <a:t>=75.4%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（</a:t>
                </a:r>
                <a:r>
                  <a:rPr lang="en-US" altLang="zh-CN" dirty="0">
                    <a:latin typeface="Cambria" panose="02040503050406030204" pitchFamily="18" charset="0"/>
                    <a:ea typeface="Cambria" panose="02040503050406030204" pitchFamily="18" charset="0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）</a:t>
                </a:r>
                <a:r>
                  <a:rPr lang="en-US" altLang="zh-CN" dirty="0">
                    <a:latin typeface="Cambria" panose="02040503050406030204" pitchFamily="18" charset="0"/>
                    <a:ea typeface="Cambria" panose="02040503050406030204" pitchFamily="18" charset="0"/>
                  </a:rPr>
                  <a:t>26.2%</a:t>
                </a:r>
              </a:p>
              <a:p>
                <a:endParaRPr lang="en-US" altLang="zh-C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altLang="zh-CN" b="0" dirty="0">
                    <a:ea typeface="楷体" panose="02010609060101010101" pitchFamily="49" charset="-122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𝑜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𝑜𝑚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207.36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n-US" altLang="zh-CN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         25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mW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altLang="zh-CN" b="0" dirty="0">
                    <a:ea typeface="楷体" panose="02010609060101010101" pitchFamily="49" charset="-122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b="0" i="1" baseline="-2500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o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π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275</m:t>
                    </m:r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m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W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            95.4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mW</m:t>
                    </m:r>
                    <m:r>
                      <m:rPr>
                        <m:nor/>
                      </m:rPr>
                      <a:rPr lang="en-US" altLang="zh-CN" b="0" i="0" dirty="0" smtClean="0">
                        <a:latin typeface="Cambria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en-US" altLang="zh-CN" b="0" dirty="0">
                    <a:solidFill>
                      <a:schemeClr val="tx1"/>
                    </a:solidFill>
                    <a:ea typeface="楷体" panose="02010609060101010101" pitchFamily="49" charset="-122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𝐸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𝑂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33.8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       35.2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𝑚𝑊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F9B2008-1096-4515-83FC-E5505A599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224" y="2947793"/>
                <a:ext cx="4750776" cy="2568395"/>
              </a:xfrm>
              <a:prstGeom prst="rect">
                <a:avLst/>
              </a:prstGeom>
              <a:blipFill>
                <a:blip r:embed="rId3"/>
                <a:stretch>
                  <a:fillRect l="-1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23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D238-6637-4312-8566-C51B0D87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815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第七章  放大器的频率特性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508BD-A37B-4C40-83C5-36B0C8B8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5856"/>
            <a:ext cx="10515600" cy="4351338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一个重要概念：时间常数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一个核心模型：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BJT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参数模型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一个近似方法：高频时只考虑极间电容，低频时只考虑大电容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一个可能会利用到的定理：米勒定理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三个重要参数：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en-US" altLang="zh-CN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μ</a:t>
            </a:r>
            <a:endParaRPr lang="en-US" altLang="zh-CN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461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508BD-A37B-4C40-83C5-36B0C8B8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316" y="156284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7.1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时间常数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τ</a:t>
            </a: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   τ=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CR</a:t>
            </a:r>
            <a:r>
              <a:rPr lang="en-US" altLang="zh-CN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endParaRPr lang="en-US" altLang="zh-CN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27DFFD-FECA-4D2B-A7CC-35793A287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719" y="2516893"/>
            <a:ext cx="4612520" cy="314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8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4BC19D9-7411-4809-869F-AC5348FFB82A}"/>
                  </a:ext>
                </a:extLst>
              </p:cNvPr>
              <p:cNvSpPr/>
              <p:nvPr/>
            </p:nvSpPr>
            <p:spPr>
              <a:xfrm>
                <a:off x="401516" y="1320998"/>
                <a:ext cx="6096000" cy="29779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习题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7-11</a:t>
                </a:r>
                <a:r>
                  <a:rPr lang="en-US" altLang="zh-CN" dirty="0"/>
                  <a:t>      </a:t>
                </a:r>
                <a:r>
                  <a:rPr lang="zh-CN" altLang="en-US" dirty="0"/>
                  <a:t>如果单独考虑图中</a:t>
                </a:r>
                <a:r>
                  <a:rPr lang="en-US" altLang="zh-CN" dirty="0"/>
                  <a:t>C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,C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,C</a:t>
                </a:r>
                <a:r>
                  <a:rPr lang="en-US" altLang="zh-CN" baseline="-25000" dirty="0"/>
                  <a:t>E</a:t>
                </a:r>
                <a:r>
                  <a:rPr lang="zh-CN" altLang="en-US" dirty="0"/>
                  <a:t>的作用，则他们引    </a:t>
                </a:r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:r>
                  <a:rPr lang="zh-CN" altLang="en-US" dirty="0"/>
                  <a:t>进的时间常数分别为：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 </a:t>
                </a:r>
                <a:r>
                  <a:rPr lang="zh-CN" altLang="en-US" dirty="0"/>
                  <a:t>              </a:t>
                </a:r>
                <a:r>
                  <a:rPr lang="en-US" altLang="zh-CN" dirty="0"/>
                  <a:t>τ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=C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(R</a:t>
                </a:r>
                <a:r>
                  <a:rPr lang="en-US" altLang="zh-CN" baseline="-25000" dirty="0"/>
                  <a:t>B1</a:t>
                </a:r>
                <a:r>
                  <a:rPr lang="en-US" altLang="zh-CN" dirty="0"/>
                  <a:t>||R</a:t>
                </a:r>
                <a:r>
                  <a:rPr lang="en-US" altLang="zh-CN" baseline="-25000" dirty="0"/>
                  <a:t>B2</a:t>
                </a:r>
                <a:r>
                  <a:rPr lang="en-US" altLang="zh-CN" dirty="0"/>
                  <a:t>||</a:t>
                </a:r>
                <a:r>
                  <a:rPr lang="en-US" altLang="zh-CN" dirty="0" err="1"/>
                  <a:t>r</a:t>
                </a:r>
                <a:r>
                  <a:rPr lang="en-US" altLang="zh-CN" baseline="-25000" dirty="0" err="1"/>
                  <a:t>be</a:t>
                </a:r>
                <a:r>
                  <a:rPr lang="en-US" altLang="zh-CN" dirty="0"/>
                  <a:t>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              τ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=C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R</a:t>
                </a:r>
                <a:r>
                  <a:rPr lang="en-US" altLang="zh-CN" baseline="-25000" dirty="0" err="1"/>
                  <a:t>ce</a:t>
                </a:r>
                <a:r>
                  <a:rPr lang="en-US" altLang="zh-CN" dirty="0"/>
                  <a:t>||R</a:t>
                </a:r>
                <a:r>
                  <a:rPr lang="en-US" altLang="zh-CN" baseline="-25000" dirty="0"/>
                  <a:t>C</a:t>
                </a:r>
                <a:r>
                  <a:rPr lang="en-US" altLang="zh-CN" dirty="0"/>
                  <a:t>+R</a:t>
                </a:r>
                <a:r>
                  <a:rPr lang="en-US" altLang="zh-CN" baseline="-25000" dirty="0"/>
                  <a:t>L</a:t>
                </a:r>
                <a:r>
                  <a:rPr lang="en-US" altLang="zh-CN" dirty="0"/>
                  <a:t>)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τ</a:t>
                </a:r>
                <a:r>
                  <a:rPr lang="en-US" altLang="zh-CN" baseline="-25000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=C</a:t>
                </a:r>
                <a:r>
                  <a:rPr lang="en-US" altLang="zh-CN" baseline="-25000" dirty="0">
                    <a:solidFill>
                      <a:srgbClr val="FF0000"/>
                    </a:solidFill>
                  </a:rPr>
                  <a:t>E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[R</a:t>
                </a:r>
                <a:r>
                  <a:rPr lang="en-US" altLang="zh-CN" baseline="-25000" dirty="0">
                    <a:solidFill>
                      <a:srgbClr val="FF0000"/>
                    </a:solidFill>
                  </a:rPr>
                  <a:t>E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||(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r</a:t>
                </a:r>
                <a:r>
                  <a:rPr lang="en-US" altLang="zh-CN" baseline="-25000" dirty="0" err="1">
                    <a:solidFill>
                      <a:srgbClr val="FF0000"/>
                    </a:solidFill>
                  </a:rPr>
                  <a:t>e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+r</a:t>
                </a:r>
                <a:r>
                  <a:rPr lang="en-US" altLang="zh-CN" baseline="-25000" dirty="0" err="1">
                    <a:solidFill>
                      <a:srgbClr val="FF0000"/>
                    </a:solidFill>
                  </a:rPr>
                  <a:t>b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/(1+β)]</a:t>
                </a:r>
              </a:p>
              <a:p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en-US" altLang="zh-CN" dirty="0"/>
                  <a:t>                    </a:t>
                </a:r>
                <a:r>
                  <a:rPr lang="zh-CN" altLang="en-US" dirty="0"/>
                  <a:t>设</a:t>
                </a:r>
                <a:r>
                  <a:rPr lang="en-US" altLang="zh-CN" dirty="0"/>
                  <a:t>τ1&gt;&gt;τ2&gt;&gt;τ3</a:t>
                </a:r>
                <a:r>
                  <a:rPr lang="zh-CN" altLang="en-US" dirty="0"/>
                  <a:t>，则电路的下界频率</a:t>
                </a:r>
                <a:r>
                  <a:rPr lang="en-US" altLang="zh-CN" dirty="0" err="1"/>
                  <a:t>f</a:t>
                </a:r>
                <a:r>
                  <a:rPr lang="en-US" altLang="zh-CN" baseline="-25000" dirty="0" err="1"/>
                  <a:t>L</a:t>
                </a: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pitchFamily="18" charset="0"/>
                          </a:rPr>
                          <m:t>τ</m:t>
                        </m:r>
                        <m:r>
                          <a:rPr lang="en-US" altLang="zh-CN" b="0" i="1" baseline="-2500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F4BC19D9-7411-4809-869F-AC5348FFB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16" y="1320998"/>
                <a:ext cx="6096000" cy="2977931"/>
              </a:xfrm>
              <a:prstGeom prst="rect">
                <a:avLst/>
              </a:prstGeom>
              <a:blipFill>
                <a:blip r:embed="rId2"/>
                <a:stretch>
                  <a:fillRect l="-900" t="-1230" b="-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F4B0C3F-E330-4AA6-8C12-80AF6929C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763" y="1159408"/>
            <a:ext cx="3299290" cy="28254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6FB115E-131D-4C6F-94F1-1E9F06B5F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70" y="4292054"/>
            <a:ext cx="2060473" cy="20032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645E97-67E9-442B-8C26-4D43D2A71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937" y="4292054"/>
            <a:ext cx="1520755" cy="202767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BC1B2B-476C-46AF-A400-78D3287E2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7693" y="4285888"/>
            <a:ext cx="4603715" cy="2003238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D21F22A-1534-4EC8-A4D6-C8AFA4D3BE61}"/>
              </a:ext>
            </a:extLst>
          </p:cNvPr>
          <p:cNvSpPr/>
          <p:nvPr/>
        </p:nvSpPr>
        <p:spPr>
          <a:xfrm>
            <a:off x="3611720" y="3059668"/>
            <a:ext cx="1103187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b="0" cap="none" spc="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altLang="zh-CN" b="0" cap="none" spc="0" baseline="-25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断路？</a:t>
            </a:r>
            <a:endParaRPr lang="zh-CN" altLang="en-US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8872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508BD-A37B-4C40-83C5-36B0C8B8BA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1147" y="1158400"/>
                <a:ext cx="10515600" cy="5444623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7.2  π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型等效电路及参数</a:t>
                </a:r>
                <a:r>
                  <a:rPr lang="en-US" altLang="zh-CN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f</a:t>
                </a:r>
                <a:r>
                  <a:rPr lang="en-US" altLang="zh-CN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T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π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μ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之间的关系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由米勒定理，</a:t>
                </a:r>
                <a:r>
                  <a:rPr lang="en-US" altLang="zh-CN" sz="18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1800" baseline="-25000" dirty="0" err="1">
                    <a:latin typeface="楷体" panose="02010609060101010101" pitchFamily="49" charset="-122"/>
                    <a:ea typeface="楷体" panose="02010609060101010101" pitchFamily="49" charset="-122"/>
                  </a:rPr>
                  <a:t>μ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可以等价为两个电容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1800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μ1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en-US" altLang="zh-CN" sz="1800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μ2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，分别位于左右两侧。其中：</a:t>
                </a: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sz="180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μ</m:t>
                      </m:r>
                      <m:r>
                        <a:rPr lang="en-US" altLang="zh-CN" sz="1800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μ</m:t>
                      </m:r>
                    </m:oMath>
                  </m:oMathPara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sz="1800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μ</m:t>
                      </m:r>
                      <m:r>
                        <a:rPr lang="en-US" altLang="zh-CN" sz="1800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1−1/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𝑣</m:t>
                              </m:r>
                            </m:sub>
                          </m:sSub>
                        </m:e>
                      </m:d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μ</m:t>
                      </m:r>
                    </m:oMath>
                  </m:oMathPara>
                </a14:m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式中</a:t>
                </a:r>
                <a:r>
                  <a:rPr lang="en-US" altLang="zh-CN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en-US" altLang="zh-CN" sz="1800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v</a:t>
                </a:r>
                <a:r>
                  <a:rPr lang="zh-CN" altLang="en-US" sz="18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近似的为：</a:t>
                </a: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 altLang="zh-CN" sz="1800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v</m:t>
                      </m:r>
                      <m:r>
                        <a:rPr lang="en-US" altLang="zh-CN" sz="1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=−</m:t>
                      </m:r>
                      <m:sSub>
                        <m:sSubPr>
                          <m:ctrlP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𝑚</m:t>
                          </m:r>
                        </m:sub>
                      </m:sSub>
                      <m:r>
                        <a:rPr lang="en-US" altLang="zh-CN" sz="18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·</m:t>
                      </m:r>
                      <m:r>
                        <a:rPr lang="en-US" altLang="zh-CN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r>
                        <a:rPr lang="en-US" altLang="zh-CN" sz="1800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𝑐𝑒</m:t>
                      </m:r>
                    </m:oMath>
                  </m:oMathPara>
                </a14:m>
                <a:endParaRPr lang="en-US" altLang="zh-CN" sz="1800" baseline="-250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en-US" altLang="zh-CN" sz="18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508BD-A37B-4C40-83C5-36B0C8B8B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1147" y="1158400"/>
                <a:ext cx="10515600" cy="5444623"/>
              </a:xfrm>
              <a:blipFill>
                <a:blip r:embed="rId3"/>
                <a:stretch>
                  <a:fillRect t="-1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B5184FE-05B5-44B1-92B4-896B384BB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253" y="1724263"/>
            <a:ext cx="6649158" cy="21443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D04292-A390-4E4A-BED4-46EB72BEA0AF}"/>
              </a:ext>
            </a:extLst>
          </p:cNvPr>
          <p:cNvSpPr txBox="1"/>
          <p:nvPr/>
        </p:nvSpPr>
        <p:spPr>
          <a:xfrm>
            <a:off x="8494684" y="2083734"/>
            <a:ext cx="20569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</a:t>
            </a:r>
            <a:r>
              <a:rPr lang="en-US" altLang="zh-CN" baseline="-25000" dirty="0"/>
              <a:t>π</a:t>
            </a:r>
            <a:r>
              <a:rPr lang="en-US" altLang="zh-CN" dirty="0"/>
              <a:t>=(1+β</a:t>
            </a:r>
            <a:r>
              <a:rPr lang="zh-CN" altLang="en-US" dirty="0"/>
              <a:t>）</a:t>
            </a:r>
            <a:r>
              <a:rPr lang="en-US" altLang="zh-CN" dirty="0"/>
              <a:t>r</a:t>
            </a:r>
            <a:r>
              <a:rPr lang="en-US" altLang="zh-CN" baseline="-25000" dirty="0"/>
              <a:t>e</a:t>
            </a:r>
          </a:p>
          <a:p>
            <a:endParaRPr lang="en-US" altLang="zh-CN" baseline="-25000" dirty="0"/>
          </a:p>
          <a:p>
            <a:r>
              <a:rPr lang="en-US" altLang="zh-CN" dirty="0" err="1"/>
              <a:t>f</a:t>
            </a:r>
            <a:r>
              <a:rPr lang="en-US" altLang="zh-CN" baseline="-25000" dirty="0" err="1"/>
              <a:t>T</a:t>
            </a:r>
            <a:r>
              <a:rPr lang="en-US" altLang="zh-CN" dirty="0"/>
              <a:t>=g</a:t>
            </a:r>
            <a:r>
              <a:rPr lang="en-US" altLang="zh-CN" baseline="-25000" dirty="0"/>
              <a:t>m</a:t>
            </a:r>
            <a:r>
              <a:rPr lang="en-US" altLang="zh-CN" dirty="0"/>
              <a:t>/[2π(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μ</a:t>
            </a:r>
            <a:r>
              <a:rPr lang="en-US" altLang="zh-CN" dirty="0" err="1"/>
              <a:t>+C</a:t>
            </a:r>
            <a:r>
              <a:rPr lang="en-US" altLang="zh-CN" baseline="-25000" dirty="0"/>
              <a:t>π</a:t>
            </a:r>
            <a:r>
              <a:rPr lang="en-US" altLang="zh-CN" dirty="0"/>
              <a:t>)]</a:t>
            </a:r>
          </a:p>
          <a:p>
            <a:endParaRPr lang="en-US" altLang="zh-CN" dirty="0"/>
          </a:p>
          <a:p>
            <a:r>
              <a:rPr lang="en-US" altLang="zh-CN" dirty="0"/>
              <a:t>g</a:t>
            </a:r>
            <a:r>
              <a:rPr lang="en-US" altLang="zh-CN" baseline="-25000" dirty="0"/>
              <a:t>m</a:t>
            </a:r>
            <a:r>
              <a:rPr lang="zh-CN" altLang="en-US" dirty="0"/>
              <a:t>≈</a:t>
            </a:r>
            <a:r>
              <a:rPr lang="en-US" altLang="zh-CN" dirty="0"/>
              <a:t>1/r</a:t>
            </a:r>
            <a:r>
              <a:rPr lang="en-US" altLang="zh-CN" baseline="-25000" dirty="0"/>
              <a:t>e</a:t>
            </a:r>
            <a:endParaRPr lang="zh-CN" altLang="en-US" baseline="-25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428099-EB89-4B59-B505-26D0702ED5AA}"/>
              </a:ext>
            </a:extLst>
          </p:cNvPr>
          <p:cNvSpPr/>
          <p:nvPr/>
        </p:nvSpPr>
        <p:spPr>
          <a:xfrm>
            <a:off x="3207173" y="5956692"/>
            <a:ext cx="602600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书上此处的电阻是负载电阻和集极电阻的并联，忽略</a:t>
            </a:r>
            <a:r>
              <a:rPr lang="en-US" altLang="zh-CN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</a:t>
            </a:r>
            <a:r>
              <a:rPr lang="en-US" altLang="zh-CN" baseline="-250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endParaRPr lang="en-US" altLang="zh-CN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CN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ppt</a:t>
            </a:r>
            <a:r>
              <a:rPr lang="zh-CN" altLang="en-US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上只是一个参考，具体题目中需要替换为相应的电阻</a:t>
            </a:r>
            <a:endParaRPr lang="zh-CN" altLang="en-US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583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3754CD-30AF-442D-8B49-C40E17A34FF7}"/>
              </a:ext>
            </a:extLst>
          </p:cNvPr>
          <p:cNvSpPr/>
          <p:nvPr/>
        </p:nvSpPr>
        <p:spPr>
          <a:xfrm>
            <a:off x="313593" y="13737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7-12      </a:t>
            </a:r>
            <a:r>
              <a:rPr lang="zh-CN" altLang="en-US" dirty="0"/>
              <a:t>设图中晶体管的</a:t>
            </a:r>
            <a:r>
              <a:rPr lang="en-US" altLang="zh-CN" dirty="0"/>
              <a:t>β=50</a:t>
            </a:r>
            <a:r>
              <a:rPr lang="zh-CN" altLang="en-US" dirty="0"/>
              <a:t>，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</a:t>
            </a:r>
            <a:r>
              <a:rPr lang="en-US" altLang="zh-CN" dirty="0"/>
              <a:t>=200Ω</a:t>
            </a:r>
            <a:r>
              <a:rPr lang="zh-CN" altLang="en-US" dirty="0"/>
              <a:t>，</a:t>
            </a:r>
            <a:r>
              <a:rPr lang="en-US" altLang="zh-CN" dirty="0" err="1"/>
              <a:t>C</a:t>
            </a:r>
            <a:r>
              <a:rPr lang="en-US" altLang="zh-CN" baseline="-25000" dirty="0" err="1"/>
              <a:t>μ</a:t>
            </a:r>
            <a:r>
              <a:rPr lang="en-US" altLang="zh-CN" dirty="0"/>
              <a:t>=5pF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                V</a:t>
            </a:r>
            <a:r>
              <a:rPr lang="en-US" altLang="zh-CN" baseline="-25000" dirty="0"/>
              <a:t>BE</a:t>
            </a:r>
            <a:r>
              <a:rPr lang="en-US" altLang="zh-CN" dirty="0"/>
              <a:t>=0.7V</a:t>
            </a:r>
            <a:r>
              <a:rPr lang="zh-CN" altLang="en-US" dirty="0"/>
              <a:t>，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T</a:t>
            </a:r>
            <a:r>
              <a:rPr lang="en-US" altLang="zh-CN" dirty="0"/>
              <a:t>=150MHz</a:t>
            </a:r>
            <a:r>
              <a:rPr lang="zh-CN" altLang="en-US" dirty="0"/>
              <a:t>，求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H</a:t>
            </a:r>
            <a:r>
              <a:rPr lang="zh-CN" altLang="en-US" dirty="0"/>
              <a:t>和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L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BF7326-AD0F-4C7C-846D-87006DA74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870" y="1373750"/>
            <a:ext cx="3956538" cy="37490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B5D6362-DC4E-497B-B823-2963C9714555}"/>
                  </a:ext>
                </a:extLst>
              </p:cNvPr>
              <p:cNvSpPr/>
              <p:nvPr/>
            </p:nvSpPr>
            <p:spPr>
              <a:xfrm>
                <a:off x="1271172" y="2020081"/>
                <a:ext cx="5202963" cy="4452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：先求静态工作点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        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𝐵𝑄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=0.7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𝐵𝑄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0.04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𝑚𝐴</m:t>
                      </m:r>
                    </m:oMath>
                  </m:oMathPara>
                </a14:m>
                <a:endParaRPr lang="en-US" altLang="zh-CN" b="0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endParaRPr lang="en-US" altLang="zh-CN" b="0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𝐶𝑄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𝐸𝑄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2.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04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    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𝑉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𝐶𝐸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𝑄</m:t>
                          </m:r>
                        </m:sub>
                      </m:sSub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6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即有：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𝑚𝑉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𝐸𝑄</m:t>
                          </m:r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12.7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即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𝑔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=78.6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𝑚𝑆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(1+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）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648.85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又由</a:t>
                </a:r>
                <a:r>
                  <a:rPr lang="en-US" altLang="zh-CN" dirty="0" err="1"/>
                  <a:t>f</a:t>
                </a:r>
                <a:r>
                  <a:rPr lang="en-US" altLang="zh-CN" baseline="-25000" dirty="0" err="1"/>
                  <a:t>T</a:t>
                </a:r>
                <a:r>
                  <a:rPr lang="en-US" altLang="zh-CN" dirty="0"/>
                  <a:t>=150MHz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:r>
                  <a:rPr lang="en-US" altLang="zh-CN" dirty="0" err="1"/>
                  <a:t>C</a:t>
                </a:r>
                <a:r>
                  <a:rPr lang="en-US" altLang="zh-CN" baseline="-25000" dirty="0" err="1"/>
                  <a:t>μ</a:t>
                </a:r>
                <a:r>
                  <a:rPr lang="en-US" altLang="zh-CN" dirty="0"/>
                  <a:t>=5pF</a:t>
                </a:r>
                <a:r>
                  <a:rPr lang="zh-CN" altLang="en-US" dirty="0"/>
                  <a:t>，可得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π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𝑔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𝑚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π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𝑓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𝑇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μ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78.4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𝑝𝐹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BB5D6362-DC4E-497B-B823-2963C9714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172" y="2020081"/>
                <a:ext cx="5202963" cy="4452437"/>
              </a:xfrm>
              <a:prstGeom prst="rect">
                <a:avLst/>
              </a:prstGeom>
              <a:blipFill>
                <a:blip r:embed="rId3"/>
                <a:stretch>
                  <a:fillRect l="-1055" t="-1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460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0D7B7FC-0D01-4D28-94AB-E30A1440D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618" y="1063869"/>
            <a:ext cx="9190764" cy="30597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6BFE37C-B0DC-4084-A91B-1BF0F0CE0CEE}"/>
              </a:ext>
            </a:extLst>
          </p:cNvPr>
          <p:cNvSpPr txBox="1"/>
          <p:nvPr/>
        </p:nvSpPr>
        <p:spPr>
          <a:xfrm>
            <a:off x="615462" y="1503485"/>
            <a:ext cx="4154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</a:t>
            </a:r>
            <a:endParaRPr lang="en-US" altLang="zh-CN" dirty="0"/>
          </a:p>
          <a:p>
            <a:r>
              <a:rPr lang="zh-CN" altLang="en-US" dirty="0"/>
              <a:t>频</a:t>
            </a:r>
            <a:endParaRPr lang="en-US" altLang="zh-CN" dirty="0"/>
          </a:p>
          <a:p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效</a:t>
            </a:r>
            <a:endParaRPr lang="en-US" altLang="zh-CN" dirty="0"/>
          </a:p>
          <a:p>
            <a:r>
              <a:rPr lang="zh-CN" altLang="en-US" dirty="0"/>
              <a:t>电</a:t>
            </a:r>
            <a:endParaRPr lang="en-US" altLang="zh-CN" dirty="0"/>
          </a:p>
          <a:p>
            <a:r>
              <a:rPr lang="zh-CN" altLang="en-US" dirty="0"/>
              <a:t>路</a:t>
            </a:r>
            <a:endParaRPr lang="en-US" altLang="zh-CN" dirty="0"/>
          </a:p>
          <a:p>
            <a:r>
              <a:rPr lang="zh-CN" altLang="en-US" dirty="0"/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8B25A94-466C-4994-811C-389F36F64456}"/>
                  </a:ext>
                </a:extLst>
              </p:cNvPr>
              <p:cNvSpPr txBox="1"/>
              <p:nvPr/>
            </p:nvSpPr>
            <p:spPr>
              <a:xfrm>
                <a:off x="1897575" y="4369778"/>
                <a:ext cx="8521885" cy="22747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</a:t>
                </a:r>
                <a:r>
                  <a:rPr lang="en-US" altLang="zh-CN" baseline="-25000" dirty="0" err="1"/>
                  <a:t>μ</a:t>
                </a:r>
                <a:r>
                  <a:rPr lang="zh-CN" altLang="en-US" dirty="0"/>
                  <a:t>两端电压的中频增益为：</a:t>
                </a:r>
                <a:r>
                  <a:rPr lang="en-US" altLang="zh-CN" dirty="0"/>
                  <a:t>A</a:t>
                </a:r>
                <a:r>
                  <a:rPr lang="en-US" altLang="zh-CN" baseline="-25000" dirty="0"/>
                  <a:t>v</a:t>
                </a:r>
                <a:r>
                  <a:rPr lang="en-US" altLang="zh-CN" dirty="0"/>
                  <a:t>=g</a:t>
                </a:r>
                <a:r>
                  <a:rPr lang="en-US" altLang="zh-CN" baseline="-25000" dirty="0"/>
                  <a:t>m</a:t>
                </a:r>
                <a:r>
                  <a:rPr lang="en-US" altLang="zh-CN" dirty="0"/>
                  <a:t>(R</a:t>
                </a:r>
                <a:r>
                  <a:rPr lang="en-US" altLang="zh-CN" baseline="-25000" dirty="0"/>
                  <a:t>C</a:t>
                </a:r>
                <a:r>
                  <a:rPr lang="en-US" altLang="zh-CN" dirty="0"/>
                  <a:t>||R</a:t>
                </a:r>
                <a:r>
                  <a:rPr lang="en-US" altLang="zh-CN" baseline="-25000" dirty="0"/>
                  <a:t>L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≈</a:t>
                </a:r>
                <a:r>
                  <a:rPr lang="en-US" altLang="zh-CN" dirty="0"/>
                  <a:t>117.9</a:t>
                </a:r>
              </a:p>
              <a:p>
                <a:r>
                  <a:rPr lang="zh-CN" altLang="en-US" dirty="0"/>
                  <a:t>由米勒定理可将</a:t>
                </a:r>
                <a:r>
                  <a:rPr lang="en-US" altLang="zh-CN" dirty="0" err="1"/>
                  <a:t>C</a:t>
                </a:r>
                <a:r>
                  <a:rPr lang="en-US" altLang="zh-CN" baseline="-25000" dirty="0" err="1"/>
                  <a:t>μ</a:t>
                </a:r>
                <a:r>
                  <a:rPr lang="zh-CN" altLang="en-US" dirty="0"/>
                  <a:t>分解为：</a:t>
                </a:r>
                <a:r>
                  <a:rPr lang="en-US" altLang="zh-CN" dirty="0"/>
                  <a:t>C</a:t>
                </a:r>
                <a:r>
                  <a:rPr lang="en-US" altLang="zh-CN" baseline="-25000" dirty="0"/>
                  <a:t>μ1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1+A</a:t>
                </a:r>
                <a:r>
                  <a:rPr lang="en-US" altLang="zh-CN" baseline="-25000" dirty="0"/>
                  <a:t>v</a:t>
                </a:r>
                <a:r>
                  <a:rPr lang="zh-CN" altLang="en-US" dirty="0"/>
                  <a:t>）</a:t>
                </a:r>
                <a:r>
                  <a:rPr lang="en-US" altLang="zh-CN" dirty="0" err="1"/>
                  <a:t>C</a:t>
                </a:r>
                <a:r>
                  <a:rPr lang="en-US" altLang="zh-CN" baseline="-25000" dirty="0" err="1"/>
                  <a:t>μ</a:t>
                </a:r>
                <a:r>
                  <a:rPr lang="zh-CN" altLang="en-US" dirty="0"/>
                  <a:t>≈</a:t>
                </a:r>
                <a:r>
                  <a:rPr lang="en-US" altLang="zh-CN" dirty="0"/>
                  <a:t>594.5pF   C</a:t>
                </a:r>
                <a:r>
                  <a:rPr lang="en-US" altLang="zh-CN" baseline="-25000" dirty="0"/>
                  <a:t>μ2</a:t>
                </a:r>
                <a:r>
                  <a:rPr lang="en-US" altLang="zh-CN" dirty="0"/>
                  <a:t>=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1+1/A</a:t>
                </a:r>
                <a:r>
                  <a:rPr lang="en-US" altLang="zh-CN" baseline="-25000" dirty="0"/>
                  <a:t>v</a:t>
                </a:r>
                <a:r>
                  <a:rPr lang="zh-CN" altLang="en-US" dirty="0"/>
                  <a:t>）</a:t>
                </a:r>
                <a:r>
                  <a:rPr lang="en-US" altLang="zh-CN" dirty="0" err="1"/>
                  <a:t>C</a:t>
                </a:r>
                <a:r>
                  <a:rPr lang="en-US" altLang="zh-CN" baseline="-25000" dirty="0" err="1"/>
                  <a:t>μ</a:t>
                </a:r>
                <a:r>
                  <a:rPr lang="zh-CN" altLang="en-US" baseline="-25000" dirty="0"/>
                  <a:t>≈</a:t>
                </a:r>
                <a:r>
                  <a:rPr lang="en-US" altLang="zh-CN" dirty="0"/>
                  <a:t>5.04pF</a:t>
                </a:r>
              </a:p>
              <a:p>
                <a:r>
                  <a:rPr lang="zh-CN" altLang="en-US" dirty="0"/>
                  <a:t>左右两部分电路独立，可以单独计算时间常数：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b="0" i="1" baseline="-25000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m:rPr>
                              <m:sty m:val="p"/>
                            </m:rP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m:rPr>
                              <m:sty m:val="p"/>
                            </m:rP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μ</m:t>
                          </m:r>
                          <m:r>
                            <a:rPr lang="en-US" altLang="zh-CN" b="0" i="1" baseline="-250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=102.9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m:rPr>
                          <m:sty m:val="p"/>
                        </m:rP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μ</m:t>
                      </m:r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b="0" i="1" baseline="-25000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7.56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则有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τ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15.47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𝑀𝐻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8B25A94-466C-4994-811C-389F36F64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575" y="4369778"/>
                <a:ext cx="8521885" cy="2274790"/>
              </a:xfrm>
              <a:prstGeom prst="rect">
                <a:avLst/>
              </a:prstGeom>
              <a:blipFill>
                <a:blip r:embed="rId3"/>
                <a:stretch>
                  <a:fillRect l="-572" t="-1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8511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39CC7C9-D1FD-46EC-896F-F2A827965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25" y="1449246"/>
            <a:ext cx="6752950" cy="22962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926C4BF-C597-49E1-AC69-925454B2FD2B}"/>
              </a:ext>
            </a:extLst>
          </p:cNvPr>
          <p:cNvSpPr txBox="1"/>
          <p:nvPr/>
        </p:nvSpPr>
        <p:spPr>
          <a:xfrm>
            <a:off x="835270" y="1581721"/>
            <a:ext cx="4154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低</a:t>
            </a:r>
            <a:endParaRPr lang="en-US" altLang="zh-CN" dirty="0"/>
          </a:p>
          <a:p>
            <a:r>
              <a:rPr lang="zh-CN" altLang="en-US" dirty="0"/>
              <a:t>频</a:t>
            </a:r>
            <a:endParaRPr lang="en-US" altLang="zh-CN" dirty="0"/>
          </a:p>
          <a:p>
            <a:r>
              <a:rPr lang="zh-CN" altLang="en-US" dirty="0"/>
              <a:t>等</a:t>
            </a:r>
            <a:endParaRPr lang="en-US" altLang="zh-CN" dirty="0"/>
          </a:p>
          <a:p>
            <a:r>
              <a:rPr lang="zh-CN" altLang="en-US" dirty="0"/>
              <a:t>效</a:t>
            </a:r>
            <a:endParaRPr lang="en-US" altLang="zh-CN" dirty="0"/>
          </a:p>
          <a:p>
            <a:r>
              <a:rPr lang="zh-CN" altLang="en-US" dirty="0"/>
              <a:t>电</a:t>
            </a:r>
            <a:endParaRPr lang="en-US" altLang="zh-CN" dirty="0"/>
          </a:p>
          <a:p>
            <a:r>
              <a:rPr lang="zh-CN" altLang="en-US" dirty="0"/>
              <a:t>路</a:t>
            </a:r>
            <a:endParaRPr lang="en-US" altLang="zh-CN" dirty="0"/>
          </a:p>
          <a:p>
            <a:r>
              <a:rPr lang="zh-CN" altLang="en-US" dirty="0"/>
              <a:t>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1415AC7-5A19-402F-95BC-BE2E298B09BE}"/>
                  </a:ext>
                </a:extLst>
              </p:cNvPr>
              <p:cNvSpPr/>
              <p:nvPr/>
            </p:nvSpPr>
            <p:spPr>
              <a:xfrm>
                <a:off x="3048000" y="4486227"/>
                <a:ext cx="6096000" cy="146334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||(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π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)]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4.315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i="1" baseline="-25000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𝐶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𝐿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πτ</m:t>
                          </m:r>
                          <m:r>
                            <a:rPr lang="en-US" altLang="zh-CN" b="0" i="1" baseline="-25000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36.4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1415AC7-5A19-402F-95BC-BE2E298B09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486227"/>
                <a:ext cx="6096000" cy="14633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518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5F460-0AC1-462F-9208-6F5C5F58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940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8C4EF-3C44-458B-8A72-95B0B6F7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3120"/>
            <a:ext cx="10515600" cy="3908548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第一步：求静态工作点。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第二步：计算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参数模型中各个参数，画出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π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参数等效电路图。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第三步：利用米勒定理将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C</a:t>
            </a:r>
            <a:r>
              <a:rPr lang="en-US" altLang="zh-CN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μ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等效为两个电容，分别计算各部分的 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时间常数，求上界频率。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第四步：去掉极间电容，将其他（一般是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uF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数量级）的电容画到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  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相应位置，分别计算各部分时间常数，求下界频率。</a:t>
            </a:r>
          </a:p>
        </p:txBody>
      </p:sp>
    </p:spTree>
    <p:extLst>
      <p:ext uri="{BB962C8B-B14F-4D97-AF65-F5344CB8AC3E}">
        <p14:creationId xmlns:p14="http://schemas.microsoft.com/office/powerpoint/2010/main" val="222108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D238-6637-4312-8566-C51B0D87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815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第八章  模拟集成电路中的单元电路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508BD-A37B-4C40-83C5-36B0C8B8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2954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8.1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电流源题型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一个起点：计算“输入”电流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一个计算方法：对称性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一个误差计算：不同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V</a:t>
            </a:r>
            <a:r>
              <a:rPr lang="en-US" altLang="zh-CN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CE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引起的误差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一个注意点：计算输出阻抗时，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en-US" altLang="zh-CN" baseline="-25000" dirty="0" err="1">
                <a:latin typeface="楷体" panose="02010609060101010101" pitchFamily="49" charset="-122"/>
                <a:ea typeface="楷体" panose="02010609060101010101" pitchFamily="49" charset="-122"/>
              </a:rPr>
              <a:t>ce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不可忽略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576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D692895-D16A-4D79-8AA7-B8D1D5F9F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717" y="1372523"/>
            <a:ext cx="2379784" cy="384918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2DBC2E-A3F4-46E1-869C-0024D2051850}"/>
              </a:ext>
            </a:extLst>
          </p:cNvPr>
          <p:cNvSpPr/>
          <p:nvPr/>
        </p:nvSpPr>
        <p:spPr>
          <a:xfrm>
            <a:off x="313593" y="137375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8-3      </a:t>
            </a:r>
            <a:r>
              <a:rPr lang="zh-CN" altLang="en-US" dirty="0"/>
              <a:t>设图中晶体管完全匹配，</a:t>
            </a:r>
            <a:r>
              <a:rPr lang="en-US" altLang="zh-CN" dirty="0"/>
              <a:t>β</a:t>
            </a:r>
            <a:r>
              <a:rPr lang="zh-CN" altLang="en-US" dirty="0"/>
              <a:t>很大，</a:t>
            </a:r>
            <a:r>
              <a:rPr lang="en-US" altLang="zh-CN" dirty="0"/>
              <a:t>V</a:t>
            </a:r>
            <a:r>
              <a:rPr lang="en-US" altLang="zh-CN" baseline="-25000" dirty="0"/>
              <a:t>A</a:t>
            </a:r>
            <a:r>
              <a:rPr lang="en-US" altLang="zh-CN" dirty="0"/>
              <a:t>=80V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             V</a:t>
            </a:r>
            <a:r>
              <a:rPr lang="en-US" altLang="zh-CN" baseline="-25000" dirty="0"/>
              <a:t>BE</a:t>
            </a:r>
            <a:r>
              <a:rPr lang="en-US" altLang="zh-CN" dirty="0"/>
              <a:t>=0.7V</a:t>
            </a:r>
            <a:r>
              <a:rPr lang="zh-CN" altLang="en-US" dirty="0"/>
              <a:t>，求输出电流</a:t>
            </a:r>
            <a:r>
              <a:rPr lang="en-US" altLang="zh-CN" dirty="0"/>
              <a:t>I</a:t>
            </a:r>
            <a:r>
              <a:rPr lang="en-US" altLang="zh-CN" baseline="-25000" dirty="0"/>
              <a:t>o</a:t>
            </a:r>
            <a:r>
              <a:rPr lang="zh-CN" altLang="en-US" dirty="0"/>
              <a:t>和输出电阻</a:t>
            </a:r>
            <a:r>
              <a:rPr lang="en-US" altLang="zh-CN" dirty="0"/>
              <a:t>R</a:t>
            </a:r>
            <a:r>
              <a:rPr lang="en-US" altLang="zh-CN" baseline="-25000" dirty="0"/>
              <a:t>o</a:t>
            </a:r>
            <a:r>
              <a:rPr lang="zh-CN" altLang="en-US" dirty="0"/>
              <a:t>。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31846E6-8183-4899-AF13-766AE75CAA34}"/>
                  </a:ext>
                </a:extLst>
              </p:cNvPr>
              <p:cNvSpPr/>
              <p:nvPr/>
            </p:nvSpPr>
            <p:spPr>
              <a:xfrm>
                <a:off x="1078521" y="2126512"/>
                <a:ext cx="6632331" cy="36891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：先求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上的电流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𝑉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𝐸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0.7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     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=1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𝑚𝐴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由晶体管的对称性，二者基极电流相等，从而可得：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𝐼𝑅</m:t>
                      </m:r>
                    </m:oMath>
                  </m:oMathPara>
                </a14:m>
                <a:endParaRPr lang="en-US" altLang="zh-CN" baseline="-25000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从而有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o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𝑚𝐴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考虑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CE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15V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直接接到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Q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的集极）带来的误差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o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𝐶𝐸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𝐶𝐸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𝐴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b="0" i="1" baseline="-2500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1.18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𝑚𝐴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由微变等效电路（图略）可以易知输出电阻即为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Q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的</a:t>
                </a:r>
                <a:r>
                  <a:rPr lang="en-US" altLang="zh-CN" dirty="0" err="1">
                    <a:latin typeface="Cambria" panose="02040503050406030204" pitchFamily="18" charset="0"/>
                    <a:ea typeface="楷体" panose="02010609060101010101" pitchFamily="49" charset="-122"/>
                  </a:rPr>
                  <a:t>r</a:t>
                </a:r>
                <a:r>
                  <a:rPr lang="en-US" altLang="zh-CN" baseline="-25000" dirty="0" err="1">
                    <a:latin typeface="Cambria" panose="02040503050406030204" pitchFamily="18" charset="0"/>
                    <a:ea typeface="楷体" panose="02010609060101010101" pitchFamily="49" charset="-122"/>
                  </a:rPr>
                  <a:t>ce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o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ce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𝑉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𝐴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  <m:r>
                            <a:rPr lang="en-US" altLang="zh-CN" b="0" i="1" baseline="-2500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𝑂</m:t>
                          </m:r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67.95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31846E6-8183-4899-AF13-766AE75CAA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21" y="2126512"/>
                <a:ext cx="6632331" cy="3689151"/>
              </a:xfrm>
              <a:prstGeom prst="rect">
                <a:avLst/>
              </a:prstGeom>
              <a:blipFill>
                <a:blip r:embed="rId3"/>
                <a:stretch>
                  <a:fillRect l="-827" t="-1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6DA506D1-2ABA-478B-8834-40B12039C7DD}"/>
              </a:ext>
            </a:extLst>
          </p:cNvPr>
          <p:cNvSpPr/>
          <p:nvPr/>
        </p:nvSpPr>
        <p:spPr>
          <a:xfrm>
            <a:off x="3977722" y="5754117"/>
            <a:ext cx="833930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(I</a:t>
            </a:r>
            <a:r>
              <a:rPr lang="en-US" altLang="zh-CN" baseline="-25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</a:t>
            </a:r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</a:t>
            </a:r>
            <a:r>
              <a:rPr lang="en-US" altLang="zh-CN" b="0" cap="none" spc="0" baseline="-25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en-US" altLang="zh-C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322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B6D4EDC-4411-47D0-AA31-86A0E0D1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775" y="1503485"/>
            <a:ext cx="2359696" cy="33059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271EBCB-50D3-473D-808B-2985622B4429}"/>
                  </a:ext>
                </a:extLst>
              </p:cNvPr>
              <p:cNvSpPr/>
              <p:nvPr/>
            </p:nvSpPr>
            <p:spPr>
              <a:xfrm>
                <a:off x="709246" y="1503485"/>
                <a:ext cx="6096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/>
                  <a:t>习题</a:t>
                </a:r>
                <a:r>
                  <a:rPr lang="en-US" altLang="zh-CN" dirty="0"/>
                  <a:t>8-5      </a:t>
                </a:r>
                <a:r>
                  <a:rPr lang="zh-CN" altLang="en-US" dirty="0"/>
                  <a:t>设图中晶体管相同，</a:t>
                </a:r>
                <a:r>
                  <a:rPr lang="en-US" altLang="zh-CN" dirty="0"/>
                  <a:t>β=50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A</a:t>
                </a: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，问：</a:t>
                </a:r>
                <a:endParaRPr lang="en-US" altLang="zh-CN" dirty="0"/>
              </a:p>
              <a:p>
                <a:r>
                  <a:rPr lang="en-US" altLang="zh-CN" dirty="0"/>
                  <a:t>  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）当</a:t>
                </a:r>
                <a:r>
                  <a:rPr lang="en-US" altLang="zh-CN" dirty="0"/>
                  <a:t>S1</a:t>
                </a:r>
                <a:r>
                  <a:rPr lang="zh-CN" altLang="en-US" dirty="0"/>
                  <a:t>闭合时，电流</a:t>
                </a:r>
                <a:r>
                  <a:rPr lang="en-US" altLang="zh-CN" dirty="0"/>
                  <a:t>I=</a:t>
                </a:r>
                <a:r>
                  <a:rPr lang="zh-CN" altLang="en-US" dirty="0"/>
                  <a:t>？</a:t>
                </a:r>
                <a:endParaRPr lang="en-US" altLang="zh-CN" dirty="0"/>
              </a:p>
              <a:p>
                <a:r>
                  <a:rPr lang="en-US" altLang="zh-CN" dirty="0"/>
                  <a:t>  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）当</a:t>
                </a:r>
                <a:r>
                  <a:rPr lang="en-US" altLang="zh-CN" dirty="0"/>
                  <a:t>S1</a:t>
                </a:r>
                <a:r>
                  <a:rPr lang="zh-CN" altLang="en-US" dirty="0"/>
                  <a:t>断开时，电流</a:t>
                </a:r>
                <a:r>
                  <a:rPr lang="en-US" altLang="zh-CN" dirty="0"/>
                  <a:t>I</a:t>
                </a:r>
                <a:r>
                  <a:rPr lang="zh-CN" altLang="en-US" dirty="0"/>
                  <a:t>是否变化？为什么？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271EBCB-50D3-473D-808B-2985622B4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46" y="1503485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800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CF0E9B3-D1BC-4A31-9505-852BC2635BC6}"/>
                  </a:ext>
                </a:extLst>
              </p:cNvPr>
              <p:cNvSpPr/>
              <p:nvPr/>
            </p:nvSpPr>
            <p:spPr>
              <a:xfrm>
                <a:off x="1271954" y="2523148"/>
                <a:ext cx="6457736" cy="28754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）由晶体管的对称性，三个基极电流相等，从而可得：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+3</m:t>
                          </m:r>
                        </m:e>
                      </m:d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𝐼𝑅</m:t>
                      </m:r>
                    </m:oMath>
                  </m:oMathPara>
                </a14:m>
                <a:endParaRPr lang="en-US" altLang="zh-CN" baseline="-25000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从而有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β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+3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0.94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𝐼</m:t>
                      </m:r>
                      <m:r>
                        <a:rPr lang="en-US" altLang="zh-CN" i="1" baseline="-2500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𝑅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由于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A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为无穷，此处不考虑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CE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差异带来的失配。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） 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K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断开后，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Q3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变为正向导通的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PN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结，电流明显增大，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   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使得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I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变小。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</a:rPr>
                  <a:t>         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CF0E9B3-D1BC-4A31-9505-852BC2635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954" y="2523148"/>
                <a:ext cx="6457736" cy="2875467"/>
              </a:xfrm>
              <a:prstGeom prst="rect">
                <a:avLst/>
              </a:prstGeom>
              <a:blipFill>
                <a:blip r:embed="rId4"/>
                <a:stretch>
                  <a:fillRect l="-850" t="-1907" r="-2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4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2ABD6E2-1B09-48AD-9D43-478432E5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6815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8.2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差动放大级题型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一个核心模型：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BJT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参数模型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一个记忆点：负载的处理方法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982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6D54971-E8A5-4673-9A08-BD23F34322CE}"/>
                  </a:ext>
                </a:extLst>
              </p:cNvPr>
              <p:cNvSpPr/>
              <p:nvPr/>
            </p:nvSpPr>
            <p:spPr>
              <a:xfrm>
                <a:off x="120161" y="1136358"/>
                <a:ext cx="6096000" cy="258532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/>
                  <a:t>习题</a:t>
                </a:r>
                <a:r>
                  <a:rPr lang="en-US" altLang="zh-CN" dirty="0"/>
                  <a:t>8-12      </a:t>
                </a:r>
                <a:r>
                  <a:rPr lang="zh-CN" altLang="en-US" dirty="0"/>
                  <a:t>设图中晶体管和集电极电阻相互对称， </a:t>
                </a:r>
                <a:endParaRPr lang="en-US" altLang="zh-CN" dirty="0"/>
              </a:p>
              <a:p>
                <a:r>
                  <a:rPr lang="en-US" altLang="zh-CN" dirty="0"/>
                  <a:t>                V</a:t>
                </a:r>
                <a:r>
                  <a:rPr lang="en-US" altLang="zh-CN" baseline="-25000" dirty="0"/>
                  <a:t>BE</a:t>
                </a:r>
                <a:r>
                  <a:rPr lang="en-US" altLang="zh-CN" dirty="0"/>
                  <a:t>=0.7V 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β=100</a:t>
                </a:r>
                <a:r>
                  <a:rPr lang="zh-CN" altLang="en-US" dirty="0"/>
                  <a:t>，</a:t>
                </a:r>
                <a:r>
                  <a:rPr lang="en-US" altLang="zh-CN" dirty="0" err="1"/>
                  <a:t>r</a:t>
                </a:r>
                <a:r>
                  <a:rPr lang="en-US" altLang="zh-CN" baseline="-25000" dirty="0" err="1"/>
                  <a:t>b</a:t>
                </a:r>
                <a:r>
                  <a:rPr lang="en-US" altLang="zh-CN" dirty="0"/>
                  <a:t>=100Ω</a:t>
                </a:r>
                <a:r>
                  <a:rPr lang="zh-CN" altLang="en-US" dirty="0"/>
                  <a:t>，试做：</a:t>
                </a:r>
                <a:endParaRPr lang="en-US" altLang="zh-CN" dirty="0"/>
              </a:p>
              <a:p>
                <a:r>
                  <a:rPr lang="en-US" altLang="zh-CN" dirty="0"/>
                  <a:t>    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）求晶体管的静态工作电流。</a:t>
                </a:r>
                <a:endParaRPr lang="en-US" altLang="zh-CN" dirty="0"/>
              </a:p>
              <a:p>
                <a:r>
                  <a:rPr lang="en-US" altLang="zh-CN" dirty="0"/>
                  <a:t>    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）当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i1</a:t>
                </a:r>
                <a:r>
                  <a:rPr lang="en-US" altLang="zh-CN" dirty="0"/>
                  <a:t>=20mV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i2</a:t>
                </a:r>
                <a:r>
                  <a:rPr lang="en-US" altLang="zh-CN" dirty="0"/>
                  <a:t>=10mV</a:t>
                </a:r>
                <a:r>
                  <a:rPr lang="zh-CN" altLang="en-US" dirty="0"/>
                  <a:t>时，</a:t>
                </a:r>
                <a:endParaRPr lang="en-US" altLang="zh-CN" dirty="0"/>
              </a:p>
              <a:p>
                <a:r>
                  <a:rPr lang="en-US" altLang="zh-CN" dirty="0"/>
                  <a:t>                            </a:t>
                </a:r>
                <a:r>
                  <a:rPr lang="zh-CN" altLang="en-US" dirty="0"/>
                  <a:t>求差动输出电压。</a:t>
                </a:r>
                <a:endParaRPr lang="en-US" altLang="zh-CN" dirty="0"/>
              </a:p>
              <a:p>
                <a:r>
                  <a:rPr lang="en-US" altLang="zh-CN" dirty="0"/>
                  <a:t>    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）当</a:t>
                </a:r>
                <a:r>
                  <a:rPr lang="en-US" altLang="zh-CN" dirty="0"/>
                  <a:t>V</a:t>
                </a:r>
                <a:r>
                  <a:rPr lang="en-US" altLang="zh-CN" baseline="-25000" dirty="0"/>
                  <a:t>i1</a:t>
                </a:r>
                <a:r>
                  <a:rPr lang="en-US" altLang="zh-CN" dirty="0"/>
                  <a:t>=( 20+Asin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)mV</a:t>
                </a:r>
                <a:r>
                  <a:rPr lang="zh-CN" altLang="en-US" dirty="0"/>
                  <a:t>，</a:t>
                </a:r>
                <a:endParaRPr lang="en-US" altLang="zh-CN" dirty="0"/>
              </a:p>
              <a:p>
                <a:r>
                  <a:rPr lang="en-US" altLang="zh-CN" dirty="0"/>
                  <a:t>                                V</a:t>
                </a:r>
                <a:r>
                  <a:rPr lang="en-US" altLang="zh-CN" baseline="-25000" dirty="0"/>
                  <a:t>i2</a:t>
                </a:r>
                <a:r>
                  <a:rPr lang="en-US" altLang="zh-CN" dirty="0"/>
                  <a:t>=( 10+Asin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)mV,</a:t>
                </a:r>
              </a:p>
              <a:p>
                <a:r>
                  <a:rPr lang="en-US" altLang="zh-CN" dirty="0"/>
                  <a:t>                                </a:t>
                </a:r>
                <a:r>
                  <a:rPr lang="zh-CN" altLang="en-US" dirty="0"/>
                  <a:t>求差动输出电压。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36D54971-E8A5-4673-9A08-BD23F34322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61" y="1136358"/>
                <a:ext cx="6096000" cy="2585323"/>
              </a:xfrm>
              <a:prstGeom prst="rect">
                <a:avLst/>
              </a:prstGeom>
              <a:blipFill>
                <a:blip r:embed="rId2"/>
                <a:stretch>
                  <a:fillRect l="-900" t="-1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538DBF7-B2A2-4BA7-BEB8-4CEB6E42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016" y="1842860"/>
            <a:ext cx="3311768" cy="41620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2E2185-02B8-4008-A200-E572B0ECDD5D}"/>
                  </a:ext>
                </a:extLst>
              </p:cNvPr>
              <p:cNvSpPr/>
              <p:nvPr/>
            </p:nvSpPr>
            <p:spPr>
              <a:xfrm>
                <a:off x="773216" y="3426145"/>
                <a:ext cx="6823337" cy="35502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）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B1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B2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=0   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E1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E2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=-0.7V </a:t>
                </a: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           I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E1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=I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E2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=I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C1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=I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C2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=(V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-V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EE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)/(2·R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)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0.1mA</a:t>
                </a: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  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且有</a:t>
                </a:r>
                <a:r>
                  <a:rPr lang="en-US" altLang="zh-CN" dirty="0" err="1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en-US" altLang="zh-CN" baseline="-25000" dirty="0" err="1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be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</a:t>
                </a:r>
                <a:r>
                  <a:rPr lang="en-US" altLang="zh-CN" dirty="0" err="1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en-US" altLang="zh-CN" baseline="-25000" dirty="0" err="1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b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+(1+β)r</a:t>
                </a:r>
                <a:r>
                  <a:rPr lang="en-US" altLang="zh-CN" baseline="-25000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e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=26.23kΩ</a:t>
                </a:r>
                <a:endParaRPr lang="en-US" altLang="zh-CN" baseline="-25000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    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𝑖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𝑏</m:t>
                    </m:r>
                    <m:r>
                      <a:rPr lang="en-US" altLang="zh-CN" i="1" baseline="-2500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1=</m:t>
                    </m:r>
                    <m:f>
                      <m:f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𝑣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𝑖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𝑟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𝑏𝑒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1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      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𝑜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=−6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𝑘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·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β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𝑖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𝑏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=−455.2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𝑚𝑉</m:t>
                    </m:r>
                  </m:oMath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b="0" baseline="-25000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𝑖</m:t>
                      </m:r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𝑏</m:t>
                      </m:r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2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  <m:r>
                            <a:rPr lang="en-US" altLang="zh-CN" b="0" i="1" baseline="-25000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num>
                        <m:den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𝑟</m:t>
                          </m:r>
                          <m:r>
                            <a:rPr lang="en-US" altLang="zh-CN" i="1" baseline="-25000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𝑏𝑒</m:t>
                          </m:r>
                          <m:r>
                            <a:rPr lang="en-US" altLang="zh-CN" b="0" i="1" baseline="-25000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b="0" i="1" baseline="-2500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            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6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Ω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β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𝑏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=−227.6</m:t>
                      </m:r>
                      <m:r>
                        <m:rPr>
                          <m:sty m:val="p"/>
                        </m:rPr>
                        <a:rPr lang="en-US" altLang="zh-CN" b="0" i="0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mV</m:t>
                      </m:r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=6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Ω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β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𝑟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𝑏𝑒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𝑟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𝑏𝑒</m:t>
                              </m:r>
                              <m:r>
                                <a:rPr lang="en-US" altLang="zh-CN" i="1" baseline="-25000" dirty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=−228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𝑚𝑉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       </a:t>
                </a:r>
                <a:endParaRPr lang="en-US" altLang="zh-CN" dirty="0"/>
              </a:p>
              <a:p>
                <a:r>
                  <a:rPr lang="en-US" altLang="zh-CN" dirty="0"/>
                  <a:t>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）由于</a:t>
                </a:r>
                <a:r>
                  <a:rPr lang="en-US" altLang="zh-CN" dirty="0" err="1"/>
                  <a:t>r</a:t>
                </a:r>
                <a:r>
                  <a:rPr lang="en-US" altLang="zh-CN" baseline="-25000" dirty="0" err="1"/>
                  <a:t>be</a:t>
                </a:r>
                <a:r>
                  <a:rPr lang="zh-CN" altLang="en-US" dirty="0"/>
                  <a:t>对称，差动输入电压不变，故差动输出电压不变。</a:t>
                </a: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2E2185-02B8-4008-A200-E572B0ECDD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216" y="3426145"/>
                <a:ext cx="6823337" cy="3550203"/>
              </a:xfrm>
              <a:prstGeom prst="rect">
                <a:avLst/>
              </a:prstGeom>
              <a:blipFill>
                <a:blip r:embed="rId4"/>
                <a:stretch>
                  <a:fillRect l="-804" t="-1375" r="-2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9BD7BF65-F367-4FAB-9CE3-CD52A4EA7E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313" y="1551906"/>
            <a:ext cx="2682472" cy="17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1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98FC710-5874-4286-A232-53F93D810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175" y="1373539"/>
            <a:ext cx="2514818" cy="25986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053BF7-E12B-4059-93EC-4A6658061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175" y="4146345"/>
            <a:ext cx="2461473" cy="246909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F115003-A05A-4065-A34D-D64536FA66CA}"/>
              </a:ext>
            </a:extLst>
          </p:cNvPr>
          <p:cNvSpPr/>
          <p:nvPr/>
        </p:nvSpPr>
        <p:spPr>
          <a:xfrm>
            <a:off x="463171" y="137353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8-15</a:t>
            </a:r>
            <a:r>
              <a:rPr lang="en-US" altLang="zh-CN" dirty="0"/>
              <a:t>      </a:t>
            </a:r>
            <a:r>
              <a:rPr lang="zh-CN" altLang="en-US" dirty="0"/>
              <a:t>设图中晶体管对称 ，</a:t>
            </a:r>
            <a:r>
              <a:rPr lang="en-US" altLang="zh-CN" dirty="0"/>
              <a:t>β=50</a:t>
            </a:r>
            <a:r>
              <a:rPr lang="zh-CN" altLang="en-US" dirty="0"/>
              <a:t>，</a:t>
            </a:r>
            <a:r>
              <a:rPr lang="en-US" altLang="zh-CN" dirty="0" err="1"/>
              <a:t>r</a:t>
            </a:r>
            <a:r>
              <a:rPr lang="en-US" altLang="zh-CN" baseline="-25000" dirty="0" err="1"/>
              <a:t>be</a:t>
            </a:r>
            <a:r>
              <a:rPr lang="en-US" altLang="zh-CN" dirty="0"/>
              <a:t>=1kΩ</a:t>
            </a:r>
            <a:r>
              <a:rPr lang="zh-CN" altLang="en-US" dirty="0"/>
              <a:t>，求</a:t>
            </a:r>
            <a:endParaRPr lang="en-US" altLang="zh-CN" dirty="0"/>
          </a:p>
          <a:p>
            <a:r>
              <a:rPr lang="en-US" altLang="zh-CN" dirty="0"/>
              <a:t>                R</a:t>
            </a:r>
            <a:r>
              <a:rPr lang="en-US" altLang="zh-CN" baseline="-25000" dirty="0"/>
              <a:t>E</a:t>
            </a:r>
            <a:r>
              <a:rPr lang="en-US" altLang="zh-CN" dirty="0"/>
              <a:t>=50Ω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en-US" altLang="zh-CN" baseline="-25000" dirty="0"/>
              <a:t>E</a:t>
            </a:r>
            <a:r>
              <a:rPr lang="en-US" altLang="zh-CN" dirty="0"/>
              <a:t>=0</a:t>
            </a:r>
            <a:r>
              <a:rPr lang="zh-CN" altLang="en-US" dirty="0"/>
              <a:t>两种情况下的差模增益。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BC0ACD-F6A2-43EA-9EE2-4F4FD41F3008}"/>
              </a:ext>
            </a:extLst>
          </p:cNvPr>
          <p:cNvSpPr/>
          <p:nvPr/>
        </p:nvSpPr>
        <p:spPr>
          <a:xfrm>
            <a:off x="1238234" y="2112296"/>
            <a:ext cx="44662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ambria" panose="02040503050406030204" pitchFamily="18" charset="0"/>
              </a:rPr>
              <a:t>解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：先利用米勒效应把电容等效到两侧，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再利用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h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参数模型画出微变等效电路：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9FFED9F-0AE8-4EF9-9266-9787D4A3A489}"/>
                  </a:ext>
                </a:extLst>
              </p:cNvPr>
              <p:cNvSpPr/>
              <p:nvPr/>
            </p:nvSpPr>
            <p:spPr>
              <a:xfrm>
                <a:off x="1709575" y="2672861"/>
                <a:ext cx="5508431" cy="15145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这里的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就相当于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h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参数模型里的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可以把它等效到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上去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𝑏𝑒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1(2)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𝑏𝑒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1(2)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+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β</m:t>
                          </m:r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由于计算的是差模增益，不妨令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也即有：</a:t>
                </a: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9FFED9F-0AE8-4EF9-9266-9787D4A3A4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75" y="2672861"/>
                <a:ext cx="5508431" cy="1514517"/>
              </a:xfrm>
              <a:prstGeom prst="rect">
                <a:avLst/>
              </a:prstGeom>
              <a:blipFill>
                <a:blip r:embed="rId4"/>
                <a:stretch>
                  <a:fillRect l="-885" t="-2811" b="-4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98E2B6-BC12-4F02-ABFA-ACB9058B6C57}"/>
                  </a:ext>
                </a:extLst>
              </p:cNvPr>
              <p:cNvSpPr/>
              <p:nvPr/>
            </p:nvSpPr>
            <p:spPr>
              <a:xfrm>
                <a:off x="1844291" y="5093203"/>
                <a:ext cx="5141536" cy="628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=−(1.5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Ω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||1.5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Ω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)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β</m:t>
                      </m:r>
                      <m:f>
                        <m:f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𝑏𝑒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500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598E2B6-BC12-4F02-ABFA-ACB9058B6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291" y="5093203"/>
                <a:ext cx="5141536" cy="6288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79116F9-7C9A-405E-B3E2-23F1DDDF3ADB}"/>
                  </a:ext>
                </a:extLst>
              </p:cNvPr>
              <p:cNvSpPr txBox="1"/>
              <p:nvPr/>
            </p:nvSpPr>
            <p:spPr>
              <a:xfrm>
                <a:off x="3145904" y="4159925"/>
                <a:ext cx="2510624" cy="5364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𝑏𝑒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500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79116F9-7C9A-405E-B3E2-23F1DDDF3A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5904" y="4159925"/>
                <a:ext cx="2510624" cy="536494"/>
              </a:xfrm>
              <a:prstGeom prst="rect">
                <a:avLst/>
              </a:prstGeom>
              <a:blipFill>
                <a:blip r:embed="rId6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35F535-350E-4310-92CB-BCD1440461C0}"/>
                  </a:ext>
                </a:extLst>
              </p:cNvPr>
              <p:cNvSpPr txBox="1"/>
              <p:nvPr/>
            </p:nvSpPr>
            <p:spPr>
              <a:xfrm>
                <a:off x="2665156" y="4827179"/>
                <a:ext cx="3597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(1.5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||1.5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B35F535-350E-4310-92CB-BCD144046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156" y="4827179"/>
                <a:ext cx="3597267" cy="276999"/>
              </a:xfrm>
              <a:prstGeom prst="rect">
                <a:avLst/>
              </a:prstGeom>
              <a:blipFill>
                <a:blip r:embed="rId7"/>
                <a:stretch>
                  <a:fillRect l="-339" t="-2222" r="-1864" b="-3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392067B-A3B8-469F-ABBF-C5AAC5DE80F1}"/>
                  </a:ext>
                </a:extLst>
              </p:cNvPr>
              <p:cNvSpPr txBox="1"/>
              <p:nvPr/>
            </p:nvSpPr>
            <p:spPr>
              <a:xfrm>
                <a:off x="2818820" y="5705197"/>
                <a:ext cx="3330527" cy="587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𝑣𝑑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β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0.75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𝑏𝑒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500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Ω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392067B-A3B8-469F-ABBF-C5AAC5DE8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820" y="5705197"/>
                <a:ext cx="3330527" cy="587661"/>
              </a:xfrm>
              <a:prstGeom prst="rect">
                <a:avLst/>
              </a:prstGeom>
              <a:blipFill>
                <a:blip r:embed="rId8"/>
                <a:stretch>
                  <a:fillRect b="-10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5143537-874F-4D9D-930C-7B203C4DD699}"/>
                  </a:ext>
                </a:extLst>
              </p:cNvPr>
              <p:cNvSpPr/>
              <p:nvPr/>
            </p:nvSpPr>
            <p:spPr>
              <a:xfrm>
                <a:off x="6037098" y="5705197"/>
                <a:ext cx="3877986" cy="175432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zh-CN" altLang="en-US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cap="none" spc="0" smtClean="0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0</a:t>
                </a:r>
                <a:r>
                  <a:rPr lang="zh-CN" altLang="en-US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，</a:t>
                </a:r>
                <a:r>
                  <a: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差模增益为</a:t>
                </a:r>
                <a:r>
                  <a:rPr lang="en-US" altLang="zh-CN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-25</a:t>
                </a:r>
              </a:p>
              <a:p>
                <a:pPr algn="ctr"/>
                <a:r>
                  <a: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zh-CN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US" altLang="zh-CN" i="1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，差模增益为</a:t>
                </a:r>
                <a:r>
                  <a:rPr lang="en-US" altLang="zh-CN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-9.26</a:t>
                </a:r>
              </a:p>
              <a:p>
                <a:pPr algn="ctr"/>
                <a:r>
                  <a:rPr lang="zh-CN" altLang="en-US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书上并不是纯差模信号，但增益不变</a:t>
                </a:r>
              </a:p>
              <a:p>
                <a:pPr algn="ctr"/>
                <a:endParaRPr lang="zh-CN" alt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5143537-874F-4D9D-930C-7B203C4DD6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098" y="5705197"/>
                <a:ext cx="3877986" cy="1754326"/>
              </a:xfrm>
              <a:prstGeom prst="rect">
                <a:avLst/>
              </a:prstGeom>
              <a:blipFill>
                <a:blip r:embed="rId9"/>
                <a:stretch>
                  <a:fillRect l="-1415" t="-2431" r="-1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4EEBF9E4-D8B1-4B36-8525-C9179979D7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04796" y="1977598"/>
            <a:ext cx="3051432" cy="144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0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85F460-0AC1-462F-9208-6F5C5F587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1940"/>
            <a:ext cx="10515600" cy="1325563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8C4EF-3C44-458B-8A72-95B0B6F79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5151"/>
            <a:ext cx="10515600" cy="3908548"/>
          </a:xfrm>
        </p:spPr>
        <p:txBody>
          <a:bodyPr/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第一步：求静态工作点。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第二步：有负载则把负载等效为两个电阻。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第三步：画出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参数等效电路图。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第三步：写出两个输出电压表达式，并计算差模增益。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684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D238-6637-4312-8566-C51B0D87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853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第九章  负反馈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508BD-A37B-4C40-83C5-36B0C8B8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323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9.1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反馈类型判断题型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一个前提：找到反馈电阻（网络）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一个技巧：经验判断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正负反馈的判断方法：突变小信号</a:t>
            </a:r>
            <a:r>
              <a:rPr lang="zh-CN" altLang="en-US" strike="sngStrike" dirty="0">
                <a:latin typeface="楷体" panose="02010609060101010101" pitchFamily="49" charset="-122"/>
                <a:ea typeface="楷体" panose="02010609060101010101" pitchFamily="49" charset="-122"/>
              </a:rPr>
              <a:t>（直接写负反馈）</a:t>
            </a:r>
            <a:endParaRPr lang="en-US" altLang="zh-CN" strike="sngStrike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一个辅助检查手段：微变等效电路图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387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0A7E64C-5A95-4124-BF6C-AEC2A3B80A08}"/>
              </a:ext>
            </a:extLst>
          </p:cNvPr>
          <p:cNvSpPr/>
          <p:nvPr/>
        </p:nvSpPr>
        <p:spPr>
          <a:xfrm>
            <a:off x="3936023" y="1274884"/>
            <a:ext cx="4319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反馈类型的判断技巧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FDA6F02-A1EC-41EA-9FF9-C8A3C4A38B9D}"/>
              </a:ext>
            </a:extLst>
          </p:cNvPr>
          <p:cNvGrpSpPr/>
          <p:nvPr/>
        </p:nvGrpSpPr>
        <p:grpSpPr>
          <a:xfrm>
            <a:off x="731096" y="2268414"/>
            <a:ext cx="2341944" cy="3600547"/>
            <a:chOff x="810227" y="2268414"/>
            <a:chExt cx="2341944" cy="3600547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FF2C74B-62FB-4554-94C9-3E8F2CFEF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0227" y="2268414"/>
              <a:ext cx="2341944" cy="2954216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EE8AA5F-08E2-4755-8C71-9C8302D704DA}"/>
                </a:ext>
              </a:extLst>
            </p:cNvPr>
            <p:cNvSpPr/>
            <p:nvPr/>
          </p:nvSpPr>
          <p:spPr>
            <a:xfrm>
              <a:off x="965536" y="5222630"/>
              <a:ext cx="2031325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电流反馈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4C11F7B-B918-4859-A79B-8C66D5BBD5E3}"/>
              </a:ext>
            </a:extLst>
          </p:cNvPr>
          <p:cNvGrpSpPr/>
          <p:nvPr/>
        </p:nvGrpSpPr>
        <p:grpSpPr>
          <a:xfrm>
            <a:off x="3490900" y="2268414"/>
            <a:ext cx="2452700" cy="3600546"/>
            <a:chOff x="3570031" y="2268414"/>
            <a:chExt cx="2452700" cy="3600546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D0FC5BF-9EA7-4983-ABA0-F3CAFAE55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70031" y="2268414"/>
              <a:ext cx="2452700" cy="295810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6840717-F9BE-404C-B892-02F2E0A54A6D}"/>
                </a:ext>
              </a:extLst>
            </p:cNvPr>
            <p:cNvSpPr/>
            <p:nvPr/>
          </p:nvSpPr>
          <p:spPr>
            <a:xfrm>
              <a:off x="3780718" y="5222629"/>
              <a:ext cx="2031325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电压反馈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2284A3-8201-4C7D-B979-8D631F41CFF3}"/>
              </a:ext>
            </a:extLst>
          </p:cNvPr>
          <p:cNvGrpSpPr/>
          <p:nvPr/>
        </p:nvGrpSpPr>
        <p:grpSpPr>
          <a:xfrm>
            <a:off x="6364391" y="2268414"/>
            <a:ext cx="2243278" cy="3534537"/>
            <a:chOff x="6443522" y="2268414"/>
            <a:chExt cx="2243278" cy="353453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FA02AFC1-68CB-4E42-BEF5-372E011CB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43522" y="2268414"/>
              <a:ext cx="2243278" cy="2954215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A4F1AEF-4115-442C-8F26-1882F0FCB3C7}"/>
                </a:ext>
              </a:extLst>
            </p:cNvPr>
            <p:cNvSpPr/>
            <p:nvPr/>
          </p:nvSpPr>
          <p:spPr>
            <a:xfrm>
              <a:off x="6549498" y="5156620"/>
              <a:ext cx="2031325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串联反馈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CD78849-477A-4BF1-9EDA-45C4C86C57C5}"/>
              </a:ext>
            </a:extLst>
          </p:cNvPr>
          <p:cNvGrpSpPr/>
          <p:nvPr/>
        </p:nvGrpSpPr>
        <p:grpSpPr>
          <a:xfrm>
            <a:off x="9052678" y="2268413"/>
            <a:ext cx="2341944" cy="3600546"/>
            <a:chOff x="9052678" y="2268413"/>
            <a:chExt cx="2341944" cy="3600546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47924B91-061C-4D26-85F0-6462987BE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52678" y="2268413"/>
              <a:ext cx="2341944" cy="2954215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962FB1F-6D9C-4D79-9E99-351413A04DC4}"/>
                </a:ext>
              </a:extLst>
            </p:cNvPr>
            <p:cNvSpPr/>
            <p:nvPr/>
          </p:nvSpPr>
          <p:spPr>
            <a:xfrm>
              <a:off x="9207987" y="5222628"/>
              <a:ext cx="2031325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6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并联反馈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584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535CD73-A5BE-4002-AFF9-5F91B09F7C0E}"/>
              </a:ext>
            </a:extLst>
          </p:cNvPr>
          <p:cNvSpPr/>
          <p:nvPr/>
        </p:nvSpPr>
        <p:spPr>
          <a:xfrm>
            <a:off x="278423" y="129462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9-24</a:t>
            </a:r>
            <a:r>
              <a:rPr lang="en-US" altLang="zh-CN" dirty="0"/>
              <a:t>      </a:t>
            </a:r>
            <a:r>
              <a:rPr lang="zh-CN" altLang="en-US" dirty="0"/>
              <a:t>求图中各电路的反馈类型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4ADF59-6293-4647-A3C0-1C1834463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160" y="1718515"/>
            <a:ext cx="3159370" cy="44151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70D082-DB42-4607-A149-23CE6DFF807D}"/>
                  </a:ext>
                </a:extLst>
              </p:cNvPr>
              <p:cNvSpPr/>
              <p:nvPr/>
            </p:nvSpPr>
            <p:spPr>
              <a:xfrm>
                <a:off x="1093279" y="1663952"/>
                <a:ext cx="5262979" cy="45243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：反馈电阻：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经验判断为电压串联反馈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</a:t>
                </a: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画出微变等效电路，可以验证判断是正确的：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</a:t>
                </a: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</a:t>
                </a: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570D082-DB42-4607-A149-23CE6DFF80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3279" y="1663952"/>
                <a:ext cx="5262979" cy="4524315"/>
              </a:xfrm>
              <a:prstGeom prst="rect">
                <a:avLst/>
              </a:prstGeom>
              <a:blipFill>
                <a:blip r:embed="rId4"/>
                <a:stretch>
                  <a:fillRect l="-926" t="-1213" r="-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D04AA7E-6885-4247-A9C0-3D333648356E}"/>
                  </a:ext>
                </a:extLst>
              </p:cNvPr>
              <p:cNvSpPr/>
              <p:nvPr/>
            </p:nvSpPr>
            <p:spPr>
              <a:xfrm>
                <a:off x="6855360" y="2967335"/>
                <a:ext cx="181383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ea typeface="楷体" panose="02010609060101010101" pitchFamily="49" charset="-122"/>
                    <a:sym typeface="Wingdings" panose="05000000000000000000" pitchFamily="2" charset="2"/>
                  </a:rPr>
                  <a:t>又注意到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𝑜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在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上的分压使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下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降，故为负反馈</a:t>
                </a: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D04AA7E-6885-4247-A9C0-3D33364835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360" y="2967335"/>
                <a:ext cx="1813830" cy="923330"/>
              </a:xfrm>
              <a:prstGeom prst="rect">
                <a:avLst/>
              </a:prstGeom>
              <a:blipFill>
                <a:blip r:embed="rId5"/>
                <a:stretch>
                  <a:fillRect l="-3030" t="-5960" r="-1010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组合 19">
            <a:extLst>
              <a:ext uri="{FF2B5EF4-FFF2-40B4-BE49-F238E27FC236}">
                <a16:creationId xmlns:a16="http://schemas.microsoft.com/office/drawing/2014/main" id="{385A1EA8-6973-401F-AE60-B5F75A8F9744}"/>
              </a:ext>
            </a:extLst>
          </p:cNvPr>
          <p:cNvGrpSpPr/>
          <p:nvPr/>
        </p:nvGrpSpPr>
        <p:grpSpPr>
          <a:xfrm>
            <a:off x="1534262" y="2587673"/>
            <a:ext cx="5321098" cy="1904712"/>
            <a:chOff x="1534262" y="2587673"/>
            <a:chExt cx="5321098" cy="190471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917D445-9AE6-474C-AA63-458E2CB31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34262" y="2587673"/>
              <a:ext cx="5321098" cy="1904712"/>
            </a:xfrm>
            <a:prstGeom prst="rect">
              <a:avLst/>
            </a:prstGeom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3278FEF-9BC7-430F-94EA-864B89CFD610}"/>
                </a:ext>
              </a:extLst>
            </p:cNvPr>
            <p:cNvGrpSpPr/>
            <p:nvPr/>
          </p:nvGrpSpPr>
          <p:grpSpPr>
            <a:xfrm>
              <a:off x="2418080" y="2641600"/>
              <a:ext cx="121920" cy="121920"/>
              <a:chOff x="2418080" y="2641600"/>
              <a:chExt cx="121920" cy="121920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964B3AD6-3B9F-46A2-90C9-85BA3BEAE487}"/>
                  </a:ext>
                </a:extLst>
              </p:cNvPr>
              <p:cNvCxnSpPr/>
              <p:nvPr/>
            </p:nvCxnSpPr>
            <p:spPr>
              <a:xfrm flipV="1">
                <a:off x="2418080" y="2641600"/>
                <a:ext cx="12192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CD27A0E-0D23-432F-8A2F-24364623E160}"/>
                  </a:ext>
                </a:extLst>
              </p:cNvPr>
              <p:cNvCxnSpPr/>
              <p:nvPr/>
            </p:nvCxnSpPr>
            <p:spPr>
              <a:xfrm>
                <a:off x="2418080" y="2641600"/>
                <a:ext cx="12192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E3A0897-F4FE-4A60-8821-74BD82535380}"/>
              </a:ext>
            </a:extLst>
          </p:cNvPr>
          <p:cNvGrpSpPr/>
          <p:nvPr/>
        </p:nvGrpSpPr>
        <p:grpSpPr>
          <a:xfrm>
            <a:off x="1534262" y="4685580"/>
            <a:ext cx="5321098" cy="1755600"/>
            <a:chOff x="1534262" y="4685580"/>
            <a:chExt cx="5321098" cy="175560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7E3B8A9-41EF-466C-B570-8C91A4C0F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4262" y="4685580"/>
              <a:ext cx="5321098" cy="1755600"/>
            </a:xfrm>
            <a:prstGeom prst="rect">
              <a:avLst/>
            </a:prstGeom>
          </p:spPr>
        </p:pic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66EC4940-9497-4D7E-84FA-B5D3BD482CBB}"/>
                </a:ext>
              </a:extLst>
            </p:cNvPr>
            <p:cNvGrpSpPr/>
            <p:nvPr/>
          </p:nvGrpSpPr>
          <p:grpSpPr>
            <a:xfrm>
              <a:off x="2651760" y="4800757"/>
              <a:ext cx="121920" cy="121920"/>
              <a:chOff x="2418080" y="2641600"/>
              <a:chExt cx="121920" cy="121920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718E9C9-F8A1-4706-AE6A-E6892D8E5D55}"/>
                  </a:ext>
                </a:extLst>
              </p:cNvPr>
              <p:cNvCxnSpPr/>
              <p:nvPr/>
            </p:nvCxnSpPr>
            <p:spPr>
              <a:xfrm flipV="1">
                <a:off x="2418080" y="2641600"/>
                <a:ext cx="12192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9591DC80-FC88-4A0C-82D9-5768758BF752}"/>
                  </a:ext>
                </a:extLst>
              </p:cNvPr>
              <p:cNvCxnSpPr/>
              <p:nvPr/>
            </p:nvCxnSpPr>
            <p:spPr>
              <a:xfrm>
                <a:off x="2418080" y="2641600"/>
                <a:ext cx="121920" cy="1219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FDD5385-8637-45B9-8CB9-9C13E982E8A3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336800" y="3890665"/>
            <a:ext cx="5425475" cy="1762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21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1B102590-C1D7-48B2-9A8D-583CD0AA5C94}"/>
              </a:ext>
            </a:extLst>
          </p:cNvPr>
          <p:cNvGrpSpPr/>
          <p:nvPr/>
        </p:nvGrpSpPr>
        <p:grpSpPr>
          <a:xfrm>
            <a:off x="879039" y="1879600"/>
            <a:ext cx="3240642" cy="3688080"/>
            <a:chOff x="1082239" y="1584960"/>
            <a:chExt cx="3240642" cy="368808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C0981FF-0C57-4C48-96F1-C5ED2B50F9F5}"/>
                </a:ext>
              </a:extLst>
            </p:cNvPr>
            <p:cNvGrpSpPr/>
            <p:nvPr/>
          </p:nvGrpSpPr>
          <p:grpSpPr>
            <a:xfrm>
              <a:off x="1082239" y="1584960"/>
              <a:ext cx="3240642" cy="2956560"/>
              <a:chOff x="1082239" y="1584960"/>
              <a:chExt cx="3240642" cy="2956560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BEAA557C-B539-45F0-8CC7-35862B0C50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82239" y="1584960"/>
                <a:ext cx="3240642" cy="2956560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12" name="墨迹 11">
                    <a:extLst>
                      <a:ext uri="{FF2B5EF4-FFF2-40B4-BE49-F238E27FC236}">
                        <a16:creationId xmlns:a16="http://schemas.microsoft.com/office/drawing/2014/main" id="{3F510ADC-42C1-429A-B498-B71037366562}"/>
                      </a:ext>
                    </a:extLst>
                  </p14:cNvPr>
                  <p14:cNvContentPartPr/>
                  <p14:nvPr/>
                </p14:nvContentPartPr>
                <p14:xfrm>
                  <a:off x="1981120" y="3525320"/>
                  <a:ext cx="193320" cy="10800"/>
                </p14:xfrm>
              </p:contentPart>
            </mc:Choice>
            <mc:Fallback xmlns="">
              <p:pic>
                <p:nvPicPr>
                  <p:cNvPr id="12" name="墨迹 11">
                    <a:extLst>
                      <a:ext uri="{FF2B5EF4-FFF2-40B4-BE49-F238E27FC236}">
                        <a16:creationId xmlns:a16="http://schemas.microsoft.com/office/drawing/2014/main" id="{3F510ADC-42C1-429A-B498-B71037366562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949800" y="3462320"/>
                    <a:ext cx="255960" cy="136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8" name="墨迹 17">
                    <a:extLst>
                      <a:ext uri="{FF2B5EF4-FFF2-40B4-BE49-F238E27FC236}">
                        <a16:creationId xmlns:a16="http://schemas.microsoft.com/office/drawing/2014/main" id="{D2289E10-1D59-4239-A9CB-579C67FBDAC2}"/>
                      </a:ext>
                    </a:extLst>
                  </p14:cNvPr>
                  <p14:cNvContentPartPr/>
                  <p14:nvPr/>
                </p14:nvContentPartPr>
                <p14:xfrm>
                  <a:off x="3556120" y="2611280"/>
                  <a:ext cx="132480" cy="360"/>
                </p14:xfrm>
              </p:contentPart>
            </mc:Choice>
            <mc:Fallback xmlns="">
              <p:pic>
                <p:nvPicPr>
                  <p:cNvPr id="18" name="墨迹 17">
                    <a:extLst>
                      <a:ext uri="{FF2B5EF4-FFF2-40B4-BE49-F238E27FC236}">
                        <a16:creationId xmlns:a16="http://schemas.microsoft.com/office/drawing/2014/main" id="{D2289E10-1D59-4239-A9CB-579C67FBDAC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3524800" y="2548280"/>
                    <a:ext cx="195120" cy="126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00CD2C1-6AD8-436E-AADA-769DB36B74A4}"/>
                </a:ext>
              </a:extLst>
            </p:cNvPr>
            <p:cNvSpPr/>
            <p:nvPr/>
          </p:nvSpPr>
          <p:spPr>
            <a:xfrm>
              <a:off x="1173936" y="4688265"/>
              <a:ext cx="305724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电流并联负反馈</a:t>
              </a:r>
              <a:endPara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84EB216-8AE1-440A-B38A-9BE5C481241C}"/>
              </a:ext>
            </a:extLst>
          </p:cNvPr>
          <p:cNvGrpSpPr/>
          <p:nvPr/>
        </p:nvGrpSpPr>
        <p:grpSpPr>
          <a:xfrm>
            <a:off x="4567376" y="1879600"/>
            <a:ext cx="3057247" cy="3688079"/>
            <a:chOff x="4567376" y="1879600"/>
            <a:chExt cx="3057247" cy="3688079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6F995DC4-624B-454E-BD5E-68D4C2705D76}"/>
                </a:ext>
              </a:extLst>
            </p:cNvPr>
            <p:cNvGrpSpPr/>
            <p:nvPr/>
          </p:nvGrpSpPr>
          <p:grpSpPr>
            <a:xfrm>
              <a:off x="5018562" y="1879600"/>
              <a:ext cx="2256514" cy="2965238"/>
              <a:chOff x="5018562" y="1879600"/>
              <a:chExt cx="2256514" cy="2965238"/>
            </a:xfrm>
          </p:grpSpPr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D514600C-7886-491C-9CB2-77A6A5557F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18562" y="1879600"/>
                <a:ext cx="2256514" cy="2965238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23" name="墨迹 22">
                    <a:extLst>
                      <a:ext uri="{FF2B5EF4-FFF2-40B4-BE49-F238E27FC236}">
                        <a16:creationId xmlns:a16="http://schemas.microsoft.com/office/drawing/2014/main" id="{4E3CDC85-BD7A-47B5-8309-4CD84471097B}"/>
                      </a:ext>
                    </a:extLst>
                  </p14:cNvPr>
                  <p14:cNvContentPartPr/>
                  <p14:nvPr/>
                </p14:nvContentPartPr>
                <p14:xfrm>
                  <a:off x="6705760" y="3942200"/>
                  <a:ext cx="91800" cy="10440"/>
                </p14:xfrm>
              </p:contentPart>
            </mc:Choice>
            <mc:Fallback xmlns="">
              <p:pic>
                <p:nvPicPr>
                  <p:cNvPr id="23" name="墨迹 22">
                    <a:extLst>
                      <a:ext uri="{FF2B5EF4-FFF2-40B4-BE49-F238E27FC236}">
                        <a16:creationId xmlns:a16="http://schemas.microsoft.com/office/drawing/2014/main" id="{4E3CDC85-BD7A-47B5-8309-4CD84471097B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6674440" y="3879200"/>
                    <a:ext cx="154440" cy="136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4" name="墨迹 23">
                    <a:extLst>
                      <a:ext uri="{FF2B5EF4-FFF2-40B4-BE49-F238E27FC236}">
                        <a16:creationId xmlns:a16="http://schemas.microsoft.com/office/drawing/2014/main" id="{6AE42949-F11F-4A13-A50C-EBC7A0E30CE2}"/>
                      </a:ext>
                    </a:extLst>
                  </p14:cNvPr>
                  <p14:cNvContentPartPr/>
                  <p14:nvPr/>
                </p14:nvContentPartPr>
                <p14:xfrm>
                  <a:off x="5496520" y="3942200"/>
                  <a:ext cx="163080" cy="10440"/>
                </p14:xfrm>
              </p:contentPart>
            </mc:Choice>
            <mc:Fallback xmlns="">
              <p:pic>
                <p:nvPicPr>
                  <p:cNvPr id="24" name="墨迹 23">
                    <a:extLst>
                      <a:ext uri="{FF2B5EF4-FFF2-40B4-BE49-F238E27FC236}">
                        <a16:creationId xmlns:a16="http://schemas.microsoft.com/office/drawing/2014/main" id="{6AE42949-F11F-4A13-A50C-EBC7A0E30CE2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5465200" y="3879200"/>
                    <a:ext cx="225720" cy="13608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77275D3-4EB5-44A8-B557-B2F93B65B05A}"/>
                </a:ext>
              </a:extLst>
            </p:cNvPr>
            <p:cNvSpPr/>
            <p:nvPr/>
          </p:nvSpPr>
          <p:spPr>
            <a:xfrm>
              <a:off x="4567376" y="4982904"/>
              <a:ext cx="305724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电流串联负反馈</a:t>
              </a:r>
              <a:endPara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3E6B66A-0AE3-4E16-A388-0568993999A2}"/>
              </a:ext>
            </a:extLst>
          </p:cNvPr>
          <p:cNvGrpSpPr/>
          <p:nvPr/>
        </p:nvGrpSpPr>
        <p:grpSpPr>
          <a:xfrm>
            <a:off x="7956645" y="1879600"/>
            <a:ext cx="3057247" cy="3574837"/>
            <a:chOff x="7956645" y="1879600"/>
            <a:chExt cx="3057247" cy="3574837"/>
          </a:xfrm>
        </p:grpSpPr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931968E8-FCF7-4A29-BF75-9FBBB9ABD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549921" y="1879600"/>
              <a:ext cx="1870696" cy="2956560"/>
            </a:xfrm>
            <a:prstGeom prst="rect">
              <a:avLst/>
            </a:prstGeom>
          </p:spPr>
        </p:pic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EBA2905-E8C7-4BB9-9DAC-911AA8353BD0}"/>
                </a:ext>
              </a:extLst>
            </p:cNvPr>
            <p:cNvSpPr/>
            <p:nvPr/>
          </p:nvSpPr>
          <p:spPr>
            <a:xfrm>
              <a:off x="7956645" y="4869662"/>
              <a:ext cx="305724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电压串联负反馈</a:t>
              </a:r>
              <a:endPara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E84C7ED9-DD19-420C-8034-27DB349230AF}"/>
                    </a:ext>
                  </a:extLst>
                </p14:cNvPr>
                <p14:cNvContentPartPr/>
                <p14:nvPr/>
              </p14:nvContentPartPr>
              <p14:xfrm>
                <a:off x="9875560" y="3800000"/>
                <a:ext cx="203400" cy="306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E84C7ED9-DD19-420C-8034-27DB349230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44240" y="3737000"/>
                  <a:ext cx="266040" cy="15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715353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DC9267D-BBCA-473D-A58D-456CD0EE2103}"/>
              </a:ext>
            </a:extLst>
          </p:cNvPr>
          <p:cNvGrpSpPr/>
          <p:nvPr/>
        </p:nvGrpSpPr>
        <p:grpSpPr>
          <a:xfrm>
            <a:off x="1648300" y="1296504"/>
            <a:ext cx="4080626" cy="5021533"/>
            <a:chOff x="842527" y="1205064"/>
            <a:chExt cx="4080626" cy="5021533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92E8BC0-DD99-447C-BC45-3283784905F7}"/>
                </a:ext>
              </a:extLst>
            </p:cNvPr>
            <p:cNvSpPr/>
            <p:nvPr/>
          </p:nvSpPr>
          <p:spPr>
            <a:xfrm>
              <a:off x="1354217" y="5641822"/>
              <a:ext cx="3057247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32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电压并联负反馈</a:t>
              </a:r>
              <a:endPara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CC3DF7-62B1-4DF9-B881-83CB86B4A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2527" y="1205064"/>
              <a:ext cx="4080626" cy="4173632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83DF512-C1A4-4BCD-85C2-FCEF1AB88E05}"/>
                    </a:ext>
                  </a:extLst>
                </p14:cNvPr>
                <p14:cNvContentPartPr/>
                <p14:nvPr/>
              </p14:nvContentPartPr>
              <p14:xfrm>
                <a:off x="4287480" y="3789840"/>
                <a:ext cx="5112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83DF512-C1A4-4BCD-85C2-FCEF1AB88E0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56160" y="3726840"/>
                  <a:ext cx="113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8276951A-4C3F-4670-9B97-8A3B767A1A8F}"/>
                    </a:ext>
                  </a:extLst>
                </p14:cNvPr>
                <p14:cNvContentPartPr/>
                <p14:nvPr/>
              </p14:nvContentPartPr>
              <p14:xfrm>
                <a:off x="1940600" y="3429000"/>
                <a:ext cx="81720" cy="3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8276951A-4C3F-4670-9B97-8A3B767A1A8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09280" y="3366000"/>
                  <a:ext cx="14436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B049430-456F-42B1-ABB7-D1FEE92EF936}"/>
              </a:ext>
            </a:extLst>
          </p:cNvPr>
          <p:cNvGrpSpPr/>
          <p:nvPr/>
        </p:nvGrpSpPr>
        <p:grpSpPr>
          <a:xfrm>
            <a:off x="7310937" y="1370513"/>
            <a:ext cx="3145004" cy="5021533"/>
            <a:chOff x="7310937" y="1370513"/>
            <a:chExt cx="3145004" cy="502153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8B1467AA-622A-456D-A74F-59FEAD327678}"/>
                </a:ext>
              </a:extLst>
            </p:cNvPr>
            <p:cNvGrpSpPr/>
            <p:nvPr/>
          </p:nvGrpSpPr>
          <p:grpSpPr>
            <a:xfrm>
              <a:off x="7310937" y="1370513"/>
              <a:ext cx="3145004" cy="5021533"/>
              <a:chOff x="6914697" y="1296504"/>
              <a:chExt cx="3145004" cy="5021533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F7DC1206-D8CD-4C2D-B2F0-DF50E4B55300}"/>
                  </a:ext>
                </a:extLst>
              </p:cNvPr>
              <p:cNvGrpSpPr/>
              <p:nvPr/>
            </p:nvGrpSpPr>
            <p:grpSpPr>
              <a:xfrm>
                <a:off x="6914697" y="1296504"/>
                <a:ext cx="3145004" cy="4173632"/>
                <a:chOff x="6914697" y="1296504"/>
                <a:chExt cx="3145004" cy="4173632"/>
              </a:xfrm>
            </p:grpSpPr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0EFE12B7-1B8A-40AB-A370-514F856215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14697" y="1296504"/>
                  <a:ext cx="3145004" cy="417363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p14="http://schemas.microsoft.com/office/powerpoint/2010/main">
              <mc:Choice Requires="p14">
                <p:contentPart p14:bwMode="auto" r:id="rId8">
                  <p14:nvContentPartPr>
                    <p14:cNvPr id="17" name="墨迹 16">
                      <a:extLst>
                        <a:ext uri="{FF2B5EF4-FFF2-40B4-BE49-F238E27FC236}">
                          <a16:creationId xmlns:a16="http://schemas.microsoft.com/office/drawing/2014/main" id="{27AEED6A-9189-40A1-A3F1-7D5518FAC92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034960" y="2583200"/>
                    <a:ext cx="477360" cy="617400"/>
                  </p14:xfrm>
                </p:contentPart>
              </mc:Choice>
              <mc:Fallback xmlns="">
                <p:pic>
                  <p:nvPicPr>
                    <p:cNvPr id="17" name="墨迹 16">
                      <a:extLst>
                        <a:ext uri="{FF2B5EF4-FFF2-40B4-BE49-F238E27FC236}">
                          <a16:creationId xmlns:a16="http://schemas.microsoft.com/office/drawing/2014/main" id="{27AEED6A-9189-40A1-A3F1-7D5518FAC925}"/>
                        </a:ext>
                      </a:extLst>
                    </p:cNvPr>
                    <p:cNvPicPr/>
                    <p:nvPr/>
                  </p:nvPicPr>
                  <p:blipFill>
                    <a:blip r:embed="rId9"/>
                    <a:stretch>
                      <a:fillRect/>
                    </a:stretch>
                  </p:blipFill>
                  <p:spPr>
                    <a:xfrm>
                      <a:off x="8998960" y="2511200"/>
                      <a:ext cx="549000" cy="76104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0">
                  <p14:nvContentPartPr>
                    <p14:cNvPr id="18" name="墨迹 17">
                      <a:extLst>
                        <a:ext uri="{FF2B5EF4-FFF2-40B4-BE49-F238E27FC236}">
                          <a16:creationId xmlns:a16="http://schemas.microsoft.com/office/drawing/2014/main" id="{C7DCB6E0-128D-41F9-B2F7-62408EC8FE1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9286240" y="3637280"/>
                    <a:ext cx="183240" cy="31320"/>
                  </p14:xfrm>
                </p:contentPart>
              </mc:Choice>
              <mc:Fallback xmlns="">
                <p:pic>
                  <p:nvPicPr>
                    <p:cNvPr id="18" name="墨迹 17">
                      <a:extLst>
                        <a:ext uri="{FF2B5EF4-FFF2-40B4-BE49-F238E27FC236}">
                          <a16:creationId xmlns:a16="http://schemas.microsoft.com/office/drawing/2014/main" id="{C7DCB6E0-128D-41F9-B2F7-62408EC8FE16}"/>
                        </a:ext>
                      </a:extLst>
                    </p:cNvPr>
                    <p:cNvPicPr/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9250240" y="3565280"/>
                      <a:ext cx="254880" cy="1749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2">
                  <p14:nvContentPartPr>
                    <p14:cNvPr id="19" name="墨迹 18">
                      <a:extLst>
                        <a:ext uri="{FF2B5EF4-FFF2-40B4-BE49-F238E27FC236}">
                          <a16:creationId xmlns:a16="http://schemas.microsoft.com/office/drawing/2014/main" id="{BB28C95B-5559-4DE3-98D5-F496C5600A4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7762360" y="2977040"/>
                    <a:ext cx="223920" cy="32040"/>
                  </p14:xfrm>
                </p:contentPart>
              </mc:Choice>
              <mc:Fallback xmlns="">
                <p:pic>
                  <p:nvPicPr>
                    <p:cNvPr id="19" name="墨迹 18">
                      <a:extLst>
                        <a:ext uri="{FF2B5EF4-FFF2-40B4-BE49-F238E27FC236}">
                          <a16:creationId xmlns:a16="http://schemas.microsoft.com/office/drawing/2014/main" id="{BB28C95B-5559-4DE3-98D5-F496C5600A4B}"/>
                        </a:ext>
                      </a:extLst>
                    </p:cNvPr>
                    <p:cNvPicPr/>
                    <p:nvPr/>
                  </p:nvPicPr>
                  <p:blipFill>
                    <a:blip r:embed="rId13"/>
                    <a:stretch>
                      <a:fillRect/>
                    </a:stretch>
                  </p:blipFill>
                  <p:spPr>
                    <a:xfrm>
                      <a:off x="7726360" y="2905040"/>
                      <a:ext cx="295560" cy="17568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DB36E21-09B3-46B3-AEA1-3FDF40715851}"/>
                  </a:ext>
                </a:extLst>
              </p:cNvPr>
              <p:cNvSpPr/>
              <p:nvPr/>
            </p:nvSpPr>
            <p:spPr>
              <a:xfrm>
                <a:off x="6958575" y="5733262"/>
                <a:ext cx="3057247" cy="584775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zh-CN" altLang="en-US" sz="32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电压串联负反馈</a:t>
                </a:r>
                <a:endParaRPr lang="zh-CN" altLang="en-US" sz="32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A4F8F7E-F4BC-4F40-B24C-35397EDDDBAD}"/>
                    </a:ext>
                  </a:extLst>
                </p:cNvPr>
                <p:cNvSpPr txBox="1"/>
                <p:nvPr/>
              </p:nvSpPr>
              <p:spPr>
                <a:xfrm>
                  <a:off x="9146061" y="4297680"/>
                  <a:ext cx="4883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A4F8F7E-F4BC-4F40-B24C-35397EDDDB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6061" y="4297680"/>
                  <a:ext cx="48833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48097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5AC670C-1C59-4F73-ADA9-D622D59BA594}"/>
              </a:ext>
            </a:extLst>
          </p:cNvPr>
          <p:cNvSpPr/>
          <p:nvPr/>
        </p:nvSpPr>
        <p:spPr>
          <a:xfrm>
            <a:off x="295734" y="1313934"/>
            <a:ext cx="5195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9-25      </a:t>
            </a:r>
            <a:r>
              <a:rPr lang="zh-CN" altLang="en-US" dirty="0"/>
              <a:t>求图中各电路的反馈元件与反馈类型</a:t>
            </a:r>
            <a:endParaRPr lang="en-US" altLang="zh-CN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BDDDE5-64E0-4997-9294-506245F9B992}"/>
              </a:ext>
            </a:extLst>
          </p:cNvPr>
          <p:cNvSpPr/>
          <p:nvPr/>
        </p:nvSpPr>
        <p:spPr>
          <a:xfrm>
            <a:off x="5491387" y="2860181"/>
            <a:ext cx="520366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ambria" panose="02040503050406030204" pitchFamily="18" charset="0"/>
              </a:rPr>
              <a:t>解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R1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来讲，是直流的电流串联负反馈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T1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来讲，是交直流的电流串联负反馈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R3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来讲，是交流的电压并联负反馈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R4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：整体的，交直流的电流并联负反馈</a:t>
            </a:r>
            <a:endParaRPr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4D16E28-419C-46C8-B772-E1629DC22375}"/>
              </a:ext>
            </a:extLst>
          </p:cNvPr>
          <p:cNvGrpSpPr/>
          <p:nvPr/>
        </p:nvGrpSpPr>
        <p:grpSpPr>
          <a:xfrm>
            <a:off x="1110457" y="2286238"/>
            <a:ext cx="3566206" cy="3237334"/>
            <a:chOff x="1110457" y="2286238"/>
            <a:chExt cx="3566206" cy="3237334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667A0369-1243-4573-98EB-83143C7C69E5}"/>
                </a:ext>
              </a:extLst>
            </p:cNvPr>
            <p:cNvGrpSpPr/>
            <p:nvPr/>
          </p:nvGrpSpPr>
          <p:grpSpPr>
            <a:xfrm>
              <a:off x="1110457" y="2286238"/>
              <a:ext cx="3566206" cy="3237334"/>
              <a:chOff x="978377" y="2306732"/>
              <a:chExt cx="3566206" cy="3237334"/>
            </a:xfrm>
          </p:grpSpPr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8149B418-AB88-4BC1-B909-56BF9AEF5955}"/>
                  </a:ext>
                </a:extLst>
              </p:cNvPr>
              <p:cNvGrpSpPr/>
              <p:nvPr/>
            </p:nvGrpSpPr>
            <p:grpSpPr>
              <a:xfrm>
                <a:off x="978377" y="2306732"/>
                <a:ext cx="3566206" cy="3237334"/>
                <a:chOff x="1110457" y="2374625"/>
                <a:chExt cx="3566206" cy="3237334"/>
              </a:xfrm>
            </p:grpSpPr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id="{EDB5AD87-6EAF-4186-B74C-232E7EEE7DD4}"/>
                    </a:ext>
                  </a:extLst>
                </p:cNvPr>
                <p:cNvGrpSpPr/>
                <p:nvPr/>
              </p:nvGrpSpPr>
              <p:grpSpPr>
                <a:xfrm>
                  <a:off x="1110457" y="2374625"/>
                  <a:ext cx="3566206" cy="3237334"/>
                  <a:chOff x="1095895" y="2005226"/>
                  <a:chExt cx="3566206" cy="3237334"/>
                </a:xfrm>
              </p:grpSpPr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FE1C22B7-DC7F-4827-A133-42EC7A7C5A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095895" y="2005226"/>
                    <a:ext cx="3566206" cy="3237334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3">
                    <p14:nvContentPartPr>
                      <p14:cNvPr id="7" name="墨迹 6">
                        <a:extLst>
                          <a:ext uri="{FF2B5EF4-FFF2-40B4-BE49-F238E27FC236}">
                            <a16:creationId xmlns:a16="http://schemas.microsoft.com/office/drawing/2014/main" id="{CAC46448-207A-4D1E-9C60-337116866277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2418160" y="3850760"/>
                      <a:ext cx="101880" cy="33480"/>
                    </p14:xfrm>
                  </p:contentPart>
                </mc:Choice>
                <mc:Fallback xmlns="">
                  <p:pic>
                    <p:nvPicPr>
                      <p:cNvPr id="7" name="墨迹 6">
                        <a:extLst>
                          <a:ext uri="{FF2B5EF4-FFF2-40B4-BE49-F238E27FC236}">
                            <a16:creationId xmlns:a16="http://schemas.microsoft.com/office/drawing/2014/main" id="{CAC46448-207A-4D1E-9C60-337116866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2160" y="3778760"/>
                        <a:ext cx="173520" cy="1771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5">
                    <p14:nvContentPartPr>
                      <p14:cNvPr id="8" name="墨迹 7">
                        <a:extLst>
                          <a:ext uri="{FF2B5EF4-FFF2-40B4-BE49-F238E27FC236}">
                            <a16:creationId xmlns:a16="http://schemas.microsoft.com/office/drawing/2014/main" id="{EF4F743B-4ACC-446A-8CD7-801F621BE479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013320" y="4297520"/>
                      <a:ext cx="71280" cy="11520"/>
                    </p14:xfrm>
                  </p:contentPart>
                </mc:Choice>
                <mc:Fallback xmlns="">
                  <p:pic>
                    <p:nvPicPr>
                      <p:cNvPr id="8" name="墨迹 7">
                        <a:extLst>
                          <a:ext uri="{FF2B5EF4-FFF2-40B4-BE49-F238E27FC236}">
                            <a16:creationId xmlns:a16="http://schemas.microsoft.com/office/drawing/2014/main" id="{EF4F743B-4ACC-446A-8CD7-801F621BE4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77320" y="4225520"/>
                        <a:ext cx="142920" cy="1551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7">
                    <p14:nvContentPartPr>
                      <p14:cNvPr id="11" name="墨迹 10">
                        <a:extLst>
                          <a:ext uri="{FF2B5EF4-FFF2-40B4-BE49-F238E27FC236}">
                            <a16:creationId xmlns:a16="http://schemas.microsoft.com/office/drawing/2014/main" id="{498A4FBA-74FE-49E0-8BA5-801291A2764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2763400" y="4145240"/>
                      <a:ext cx="41040" cy="20880"/>
                    </p14:xfrm>
                  </p:contentPart>
                </mc:Choice>
                <mc:Fallback xmlns="">
                  <p:pic>
                    <p:nvPicPr>
                      <p:cNvPr id="11" name="墨迹 10">
                        <a:extLst>
                          <a:ext uri="{FF2B5EF4-FFF2-40B4-BE49-F238E27FC236}">
                            <a16:creationId xmlns:a16="http://schemas.microsoft.com/office/drawing/2014/main" id="{498A4FBA-74FE-49E0-8BA5-801291A276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27400" y="4073240"/>
                        <a:ext cx="112680" cy="16452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9">
                    <p14:nvContentPartPr>
                      <p14:cNvPr id="12" name="墨迹 11">
                        <a:extLst>
                          <a:ext uri="{FF2B5EF4-FFF2-40B4-BE49-F238E27FC236}">
                            <a16:creationId xmlns:a16="http://schemas.microsoft.com/office/drawing/2014/main" id="{607477E6-3E13-4393-B873-3FE62DDEE8E8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2712640" y="2875160"/>
                      <a:ext cx="142560" cy="360"/>
                    </p14:xfrm>
                  </p:contentPart>
                </mc:Choice>
                <mc:Fallback xmlns="">
                  <p:pic>
                    <p:nvPicPr>
                      <p:cNvPr id="12" name="墨迹 11">
                        <a:extLst>
                          <a:ext uri="{FF2B5EF4-FFF2-40B4-BE49-F238E27FC236}">
                            <a16:creationId xmlns:a16="http://schemas.microsoft.com/office/drawing/2014/main" id="{607477E6-3E13-4393-B873-3FE62DDEE8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76640" y="2803160"/>
                        <a:ext cx="214200" cy="144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1">
                    <p14:nvContentPartPr>
                      <p14:cNvPr id="13" name="墨迹 12">
                        <a:extLst>
                          <a:ext uri="{FF2B5EF4-FFF2-40B4-BE49-F238E27FC236}">
                            <a16:creationId xmlns:a16="http://schemas.microsoft.com/office/drawing/2014/main" id="{B69044CB-A85D-427E-9336-BA805C745432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982720" y="2855000"/>
                      <a:ext cx="193320" cy="11160"/>
                    </p14:xfrm>
                  </p:contentPart>
                </mc:Choice>
                <mc:Fallback xmlns="">
                  <p:pic>
                    <p:nvPicPr>
                      <p:cNvPr id="13" name="墨迹 12">
                        <a:extLst>
                          <a:ext uri="{FF2B5EF4-FFF2-40B4-BE49-F238E27FC236}">
                            <a16:creationId xmlns:a16="http://schemas.microsoft.com/office/drawing/2014/main" id="{B69044CB-A85D-427E-9336-BA805C7454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46720" y="2783000"/>
                        <a:ext cx="264960" cy="1548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3">
                    <p14:nvContentPartPr>
                      <p14:cNvPr id="14" name="墨迹 13">
                        <a:extLst>
                          <a:ext uri="{FF2B5EF4-FFF2-40B4-BE49-F238E27FC236}">
                            <a16:creationId xmlns:a16="http://schemas.microsoft.com/office/drawing/2014/main" id="{184C8E1A-AAB5-43D2-8619-E3A783EFED2B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3586360" y="2844920"/>
                      <a:ext cx="183240" cy="360"/>
                    </p14:xfrm>
                  </p:contentPart>
                </mc:Choice>
                <mc:Fallback xmlns="">
                  <p:pic>
                    <p:nvPicPr>
                      <p:cNvPr id="14" name="墨迹 13">
                        <a:extLst>
                          <a:ext uri="{FF2B5EF4-FFF2-40B4-BE49-F238E27FC236}">
                            <a16:creationId xmlns:a16="http://schemas.microsoft.com/office/drawing/2014/main" id="{184C8E1A-AAB5-43D2-8619-E3A783EFED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550360" y="2772920"/>
                        <a:ext cx="254880" cy="14400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  <mc:AlternateContent xmlns:mc="http://schemas.openxmlformats.org/markup-compatibility/2006" xmlns:p14="http://schemas.microsoft.com/office/powerpoint/2010/main">
                <mc:Choice Requires="p14">
                  <p:contentPart p14:bwMode="auto" r:id="rId15">
                    <p14:nvContentPartPr>
                      <p14:cNvPr id="15" name="墨迹 14">
                        <a:extLst>
                          <a:ext uri="{FF2B5EF4-FFF2-40B4-BE49-F238E27FC236}">
                            <a16:creationId xmlns:a16="http://schemas.microsoft.com/office/drawing/2014/main" id="{019B789E-92ED-4365-86DF-2B1A220F4370}"/>
                          </a:ext>
                        </a:extLst>
                      </p14:cNvPr>
                      <p14:cNvContentPartPr/>
                      <p14:nvPr/>
                    </p14:nvContentPartPr>
                    <p14:xfrm>
                      <a:off x="4358560" y="4663280"/>
                      <a:ext cx="213840" cy="22320"/>
                    </p14:xfrm>
                  </p:contentPart>
                </mc:Choice>
                <mc:Fallback xmlns="">
                  <p:pic>
                    <p:nvPicPr>
                      <p:cNvPr id="15" name="墨迹 14">
                        <a:extLst>
                          <a:ext uri="{FF2B5EF4-FFF2-40B4-BE49-F238E27FC236}">
                            <a16:creationId xmlns:a16="http://schemas.microsoft.com/office/drawing/2014/main" id="{019B789E-92ED-4365-86DF-2B1A220F43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22560" y="4591280"/>
                        <a:ext cx="285480" cy="165960"/>
                      </a:xfrm>
                      <a:prstGeom prst="rect">
                        <a:avLst/>
                      </a:prstGeom>
                    </p:spPr>
                  </p:pic>
                </mc:Fallback>
              </mc:AlternateContent>
            </p:grpSp>
            <mc:AlternateContent xmlns:mc="http://schemas.openxmlformats.org/markup-compatibility/2006" xmlns:p14="http://schemas.microsoft.com/office/powerpoint/2010/main">
              <mc:Choice Requires="p14">
                <p:contentPart p14:bwMode="auto" r:id="rId17">
                  <p14:nvContentPartPr>
                    <p14:cNvPr id="17" name="墨迹 16">
                      <a:extLst>
                        <a:ext uri="{FF2B5EF4-FFF2-40B4-BE49-F238E27FC236}">
                          <a16:creationId xmlns:a16="http://schemas.microsoft.com/office/drawing/2014/main" id="{4A0A30DB-3BE6-4350-8D85-DD965E2E31C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3860680" y="4643120"/>
                    <a:ext cx="396720" cy="10800"/>
                  </p14:xfrm>
                </p:contentPart>
              </mc:Choice>
              <mc:Fallback xmlns="">
                <p:pic>
                  <p:nvPicPr>
                    <p:cNvPr id="17" name="墨迹 16">
                      <a:extLst>
                        <a:ext uri="{FF2B5EF4-FFF2-40B4-BE49-F238E27FC236}">
                          <a16:creationId xmlns:a16="http://schemas.microsoft.com/office/drawing/2014/main" id="{4A0A30DB-3BE6-4350-8D85-DD965E2E31C5}"/>
                        </a:ext>
                      </a:extLst>
                    </p:cNvPr>
                    <p:cNvPicPr/>
                    <p:nvPr/>
                  </p:nvPicPr>
                  <p:blipFill>
                    <a:blip r:embed="rId18"/>
                    <a:stretch>
                      <a:fillRect/>
                    </a:stretch>
                  </p:blipFill>
                  <p:spPr>
                    <a:xfrm>
                      <a:off x="3824680" y="4571120"/>
                      <a:ext cx="468360" cy="15444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9" name="墨迹 18">
                    <a:extLst>
                      <a:ext uri="{FF2B5EF4-FFF2-40B4-BE49-F238E27FC236}">
                        <a16:creationId xmlns:a16="http://schemas.microsoft.com/office/drawing/2014/main" id="{00E596FE-B7D9-4922-BBA1-E41EB7211EEA}"/>
                      </a:ext>
                    </a:extLst>
                  </p14:cNvPr>
                  <p14:cNvContentPartPr/>
                  <p14:nvPr/>
                </p14:nvContentPartPr>
                <p14:xfrm>
                  <a:off x="3109000" y="4571840"/>
                  <a:ext cx="366120" cy="10800"/>
                </p14:xfrm>
              </p:contentPart>
            </mc:Choice>
            <mc:Fallback xmlns="">
              <p:pic>
                <p:nvPicPr>
                  <p:cNvPr id="19" name="墨迹 18">
                    <a:extLst>
                      <a:ext uri="{FF2B5EF4-FFF2-40B4-BE49-F238E27FC236}">
                        <a16:creationId xmlns:a16="http://schemas.microsoft.com/office/drawing/2014/main" id="{00E596FE-B7D9-4922-BBA1-E41EB7211EEA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3073000" y="4499840"/>
                    <a:ext cx="437760" cy="154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20" name="墨迹 19">
                    <a:extLst>
                      <a:ext uri="{FF2B5EF4-FFF2-40B4-BE49-F238E27FC236}">
                        <a16:creationId xmlns:a16="http://schemas.microsoft.com/office/drawing/2014/main" id="{20A73C3A-783E-420A-B2F2-79A7A970360A}"/>
                      </a:ext>
                    </a:extLst>
                  </p14:cNvPr>
                  <p14:cNvContentPartPr/>
                  <p14:nvPr/>
                </p14:nvContentPartPr>
                <p14:xfrm>
                  <a:off x="2651800" y="4744640"/>
                  <a:ext cx="360" cy="213840"/>
                </p14:xfrm>
              </p:contentPart>
            </mc:Choice>
            <mc:Fallback xmlns="">
              <p:pic>
                <p:nvPicPr>
                  <p:cNvPr id="20" name="墨迹 19">
                    <a:extLst>
                      <a:ext uri="{FF2B5EF4-FFF2-40B4-BE49-F238E27FC236}">
                        <a16:creationId xmlns:a16="http://schemas.microsoft.com/office/drawing/2014/main" id="{20A73C3A-783E-420A-B2F2-79A7A970360A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615800" y="4672640"/>
                    <a:ext cx="72000" cy="357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21" name="墨迹 20">
                    <a:extLst>
                      <a:ext uri="{FF2B5EF4-FFF2-40B4-BE49-F238E27FC236}">
                        <a16:creationId xmlns:a16="http://schemas.microsoft.com/office/drawing/2014/main" id="{D4308ECD-299F-4E09-B92F-C1F0FFAEE693}"/>
                      </a:ext>
                    </a:extLst>
                  </p14:cNvPr>
                  <p14:cNvContentPartPr/>
                  <p14:nvPr/>
                </p14:nvContentPartPr>
                <p14:xfrm>
                  <a:off x="3921880" y="4866680"/>
                  <a:ext cx="360" cy="254160"/>
                </p14:xfrm>
              </p:contentPart>
            </mc:Choice>
            <mc:Fallback xmlns="">
              <p:pic>
                <p:nvPicPr>
                  <p:cNvPr id="21" name="墨迹 20">
                    <a:extLst>
                      <a:ext uri="{FF2B5EF4-FFF2-40B4-BE49-F238E27FC236}">
                        <a16:creationId xmlns:a16="http://schemas.microsoft.com/office/drawing/2014/main" id="{D4308ECD-299F-4E09-B92F-C1F0FFAEE693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885880" y="4794680"/>
                    <a:ext cx="72000" cy="397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2" name="墨迹 21">
                    <a:extLst>
                      <a:ext uri="{FF2B5EF4-FFF2-40B4-BE49-F238E27FC236}">
                        <a16:creationId xmlns:a16="http://schemas.microsoft.com/office/drawing/2014/main" id="{BD29BD92-640A-489C-B452-E1782B2F403E}"/>
                      </a:ext>
                    </a:extLst>
                  </p14:cNvPr>
                  <p14:cNvContentPartPr/>
                  <p14:nvPr/>
                </p14:nvContentPartPr>
                <p14:xfrm>
                  <a:off x="2916040" y="3129320"/>
                  <a:ext cx="274680" cy="20520"/>
                </p14:xfrm>
              </p:contentPart>
            </mc:Choice>
            <mc:Fallback xmlns="">
              <p:pic>
                <p:nvPicPr>
                  <p:cNvPr id="22" name="墨迹 21">
                    <a:extLst>
                      <a:ext uri="{FF2B5EF4-FFF2-40B4-BE49-F238E27FC236}">
                        <a16:creationId xmlns:a16="http://schemas.microsoft.com/office/drawing/2014/main" id="{BD29BD92-640A-489C-B452-E1782B2F403E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2880040" y="3057320"/>
                    <a:ext cx="346320" cy="164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2EB13251-3367-48F8-ACCF-6343F5A22312}"/>
                </a:ext>
              </a:extLst>
            </p:cNvPr>
            <p:cNvSpPr txBox="1"/>
            <p:nvPr/>
          </p:nvSpPr>
          <p:spPr>
            <a:xfrm>
              <a:off x="2777962" y="3951880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T1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F3A1F43-F1EF-4B5C-84E0-96649F052B0B}"/>
                </a:ext>
              </a:extLst>
            </p:cNvPr>
            <p:cNvSpPr txBox="1"/>
            <p:nvPr/>
          </p:nvSpPr>
          <p:spPr>
            <a:xfrm>
              <a:off x="3977242" y="3460346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T2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46910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F9F2448-62CE-4A77-9760-5E31E718E937}"/>
                  </a:ext>
                </a:extLst>
              </p14:cNvPr>
              <p14:cNvContentPartPr/>
              <p14:nvPr/>
            </p14:nvContentPartPr>
            <p14:xfrm>
              <a:off x="4023400" y="4165760"/>
              <a:ext cx="406800" cy="3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F9F2448-62CE-4A77-9760-5E31E718E9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7400" y="4093760"/>
                <a:ext cx="478440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矩形 31">
            <a:extLst>
              <a:ext uri="{FF2B5EF4-FFF2-40B4-BE49-F238E27FC236}">
                <a16:creationId xmlns:a16="http://schemas.microsoft.com/office/drawing/2014/main" id="{A87D0E2D-68EB-4ABF-A25C-1BDCA20F637A}"/>
              </a:ext>
            </a:extLst>
          </p:cNvPr>
          <p:cNvSpPr/>
          <p:nvPr/>
        </p:nvSpPr>
        <p:spPr>
          <a:xfrm>
            <a:off x="6369097" y="2081271"/>
            <a:ext cx="5607625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ambria" panose="02040503050406030204" pitchFamily="18" charset="0"/>
              </a:rPr>
              <a:t>解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R1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：整体的，交直流的点流并联负反馈</a:t>
            </a:r>
            <a:endParaRPr lang="en-US" altLang="zh-CN" dirty="0">
              <a:solidFill>
                <a:srgbClr val="FF0000"/>
              </a:solidFill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R1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及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R4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T1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来讲，是交直流的电压并联负反馈</a:t>
            </a:r>
            <a:endParaRPr lang="en-US" altLang="zh-CN" dirty="0">
              <a:solidFill>
                <a:srgbClr val="FF0000"/>
              </a:solidFill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T1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交直流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电流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R3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T1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交直流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电流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R4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及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R6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T2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来讲，是交直流的电压并联负反馈</a:t>
            </a:r>
            <a:endParaRPr lang="en-US" altLang="zh-CN" dirty="0">
              <a:solidFill>
                <a:srgbClr val="FF0000"/>
              </a:solidFill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R5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交直流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电流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R6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T3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来讲，是交直流的电流串联负反馈</a:t>
            </a:r>
            <a:endParaRPr lang="en-US" altLang="zh-CN" dirty="0">
              <a:solidFill>
                <a:srgbClr val="FF0000"/>
              </a:solidFill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R7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T3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交直流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的电压串联负反馈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R8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及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R3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：整体的，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交直流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的电压串联负反馈</a:t>
            </a:r>
            <a:endParaRPr lang="zh-CN" altLang="en-US" dirty="0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3B2D396-E4A7-445C-A6F0-47C8A092A8C5}"/>
              </a:ext>
            </a:extLst>
          </p:cNvPr>
          <p:cNvGrpSpPr/>
          <p:nvPr/>
        </p:nvGrpSpPr>
        <p:grpSpPr>
          <a:xfrm>
            <a:off x="1001886" y="1607702"/>
            <a:ext cx="5293411" cy="4376538"/>
            <a:chOff x="1001886" y="1607702"/>
            <a:chExt cx="5293411" cy="4376538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FD3EAD13-1CE0-4EF8-A3E3-0592DCEC2DB2}"/>
                </a:ext>
              </a:extLst>
            </p:cNvPr>
            <p:cNvGrpSpPr/>
            <p:nvPr/>
          </p:nvGrpSpPr>
          <p:grpSpPr>
            <a:xfrm>
              <a:off x="1001886" y="1607702"/>
              <a:ext cx="5293411" cy="4376538"/>
              <a:chOff x="1001886" y="1607702"/>
              <a:chExt cx="5293411" cy="4376538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ACF9FD53-4947-43AD-80FB-BBEA208F29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1886" y="1607702"/>
                <a:ext cx="5293411" cy="4376538"/>
              </a:xfrm>
              <a:prstGeom prst="rect">
                <a:avLst/>
              </a:prstGeom>
            </p:spPr>
          </p:pic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5" name="墨迹 4">
                    <a:extLst>
                      <a:ext uri="{FF2B5EF4-FFF2-40B4-BE49-F238E27FC236}">
                        <a16:creationId xmlns:a16="http://schemas.microsoft.com/office/drawing/2014/main" id="{3EB342CE-7721-4960-87F8-D26263940DED}"/>
                      </a:ext>
                    </a:extLst>
                  </p14:cNvPr>
                  <p14:cNvContentPartPr/>
                  <p14:nvPr/>
                </p14:nvContentPartPr>
                <p14:xfrm>
                  <a:off x="2804080" y="5069720"/>
                  <a:ext cx="360" cy="360"/>
                </p14:xfrm>
              </p:contentPart>
            </mc:Choice>
            <mc:Fallback xmlns="">
              <p:pic>
                <p:nvPicPr>
                  <p:cNvPr id="5" name="墨迹 4">
                    <a:extLst>
                      <a:ext uri="{FF2B5EF4-FFF2-40B4-BE49-F238E27FC236}">
                        <a16:creationId xmlns:a16="http://schemas.microsoft.com/office/drawing/2014/main" id="{3EB342CE-7721-4960-87F8-D26263940DED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768080" y="499772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7" name="墨迹 6">
                    <a:extLst>
                      <a:ext uri="{FF2B5EF4-FFF2-40B4-BE49-F238E27FC236}">
                        <a16:creationId xmlns:a16="http://schemas.microsoft.com/office/drawing/2014/main" id="{FE291BCC-8262-4411-A9B7-B98F3D789C88}"/>
                      </a:ext>
                    </a:extLst>
                  </p14:cNvPr>
                  <p14:cNvContentPartPr/>
                  <p14:nvPr/>
                </p14:nvContentPartPr>
                <p14:xfrm>
                  <a:off x="4724320" y="4185920"/>
                  <a:ext cx="360" cy="360"/>
                </p14:xfrm>
              </p:contentPart>
            </mc:Choice>
            <mc:Fallback xmlns="">
              <p:pic>
                <p:nvPicPr>
                  <p:cNvPr id="7" name="墨迹 6">
                    <a:extLst>
                      <a:ext uri="{FF2B5EF4-FFF2-40B4-BE49-F238E27FC236}">
                        <a16:creationId xmlns:a16="http://schemas.microsoft.com/office/drawing/2014/main" id="{FE291BCC-8262-4411-A9B7-B98F3D789C88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688320" y="411392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8" name="墨迹 7">
                    <a:extLst>
                      <a:ext uri="{FF2B5EF4-FFF2-40B4-BE49-F238E27FC236}">
                        <a16:creationId xmlns:a16="http://schemas.microsoft.com/office/drawing/2014/main" id="{7423AB60-E276-4A6E-80A7-13A8924A8889}"/>
                      </a:ext>
                    </a:extLst>
                  </p14:cNvPr>
                  <p14:cNvContentPartPr/>
                  <p14:nvPr/>
                </p14:nvContentPartPr>
                <p14:xfrm>
                  <a:off x="3498880" y="2102960"/>
                  <a:ext cx="37080" cy="244440"/>
                </p14:xfrm>
              </p:contentPart>
            </mc:Choice>
            <mc:Fallback xmlns="">
              <p:pic>
                <p:nvPicPr>
                  <p:cNvPr id="8" name="墨迹 7">
                    <a:extLst>
                      <a:ext uri="{FF2B5EF4-FFF2-40B4-BE49-F238E27FC236}">
                        <a16:creationId xmlns:a16="http://schemas.microsoft.com/office/drawing/2014/main" id="{7423AB60-E276-4A6E-80A7-13A8924A8889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3462880" y="2030960"/>
                    <a:ext cx="108720" cy="38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9" name="墨迹 8">
                    <a:extLst>
                      <a:ext uri="{FF2B5EF4-FFF2-40B4-BE49-F238E27FC236}">
                        <a16:creationId xmlns:a16="http://schemas.microsoft.com/office/drawing/2014/main" id="{112EFE5B-2F66-49C4-8130-FECFFE8A2B04}"/>
                      </a:ext>
                    </a:extLst>
                  </p14:cNvPr>
                  <p14:cNvContentPartPr/>
                  <p14:nvPr/>
                </p14:nvContentPartPr>
                <p14:xfrm>
                  <a:off x="4663480" y="1717040"/>
                  <a:ext cx="360" cy="360"/>
                </p14:xfrm>
              </p:contentPart>
            </mc:Choice>
            <mc:Fallback xmlns="">
              <p:pic>
                <p:nvPicPr>
                  <p:cNvPr id="9" name="墨迹 8">
                    <a:extLst>
                      <a:ext uri="{FF2B5EF4-FFF2-40B4-BE49-F238E27FC236}">
                        <a16:creationId xmlns:a16="http://schemas.microsoft.com/office/drawing/2014/main" id="{112EFE5B-2F66-49C4-8130-FECFFE8A2B04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4627480" y="164504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0" name="墨迹 9">
                    <a:extLst>
                      <a:ext uri="{FF2B5EF4-FFF2-40B4-BE49-F238E27FC236}">
                        <a16:creationId xmlns:a16="http://schemas.microsoft.com/office/drawing/2014/main" id="{7002266C-3378-40D4-805A-B988D0B16F0B}"/>
                      </a:ext>
                    </a:extLst>
                  </p14:cNvPr>
                  <p14:cNvContentPartPr/>
                  <p14:nvPr/>
                </p14:nvContentPartPr>
                <p14:xfrm>
                  <a:off x="3505360" y="2651600"/>
                  <a:ext cx="360" cy="360"/>
                </p14:xfrm>
              </p:contentPart>
            </mc:Choice>
            <mc:Fallback xmlns="">
              <p:pic>
                <p:nvPicPr>
                  <p:cNvPr id="10" name="墨迹 9">
                    <a:extLst>
                      <a:ext uri="{FF2B5EF4-FFF2-40B4-BE49-F238E27FC236}">
                        <a16:creationId xmlns:a16="http://schemas.microsoft.com/office/drawing/2014/main" id="{7002266C-3378-40D4-805A-B988D0B16F0B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3469360" y="257960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1" name="墨迹 10">
                    <a:extLst>
                      <a:ext uri="{FF2B5EF4-FFF2-40B4-BE49-F238E27FC236}">
                        <a16:creationId xmlns:a16="http://schemas.microsoft.com/office/drawing/2014/main" id="{6D2FEED7-E717-4DE3-A730-987C3C1DEFCF}"/>
                      </a:ext>
                    </a:extLst>
                  </p14:cNvPr>
                  <p14:cNvContentPartPr/>
                  <p14:nvPr/>
                </p14:nvContentPartPr>
                <p14:xfrm>
                  <a:off x="2786800" y="2682200"/>
                  <a:ext cx="28440" cy="345960"/>
                </p14:xfrm>
              </p:contentPart>
            </mc:Choice>
            <mc:Fallback xmlns="">
              <p:pic>
                <p:nvPicPr>
                  <p:cNvPr id="11" name="墨迹 10">
                    <a:extLst>
                      <a:ext uri="{FF2B5EF4-FFF2-40B4-BE49-F238E27FC236}">
                        <a16:creationId xmlns:a16="http://schemas.microsoft.com/office/drawing/2014/main" id="{6D2FEED7-E717-4DE3-A730-987C3C1DEFCF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2750800" y="2610200"/>
                    <a:ext cx="100080" cy="48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2" name="墨迹 11">
                    <a:extLst>
                      <a:ext uri="{FF2B5EF4-FFF2-40B4-BE49-F238E27FC236}">
                        <a16:creationId xmlns:a16="http://schemas.microsoft.com/office/drawing/2014/main" id="{77470C6D-8B47-45BD-877F-E92928883272}"/>
                      </a:ext>
                    </a:extLst>
                  </p14:cNvPr>
                  <p14:cNvContentPartPr/>
                  <p14:nvPr/>
                </p14:nvContentPartPr>
                <p14:xfrm>
                  <a:off x="2814160" y="3312200"/>
                  <a:ext cx="360" cy="360"/>
                </p14:xfrm>
              </p:contentPart>
            </mc:Choice>
            <mc:Fallback xmlns="">
              <p:pic>
                <p:nvPicPr>
                  <p:cNvPr id="12" name="墨迹 11">
                    <a:extLst>
                      <a:ext uri="{FF2B5EF4-FFF2-40B4-BE49-F238E27FC236}">
                        <a16:creationId xmlns:a16="http://schemas.microsoft.com/office/drawing/2014/main" id="{77470C6D-8B47-45BD-877F-E92928883272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2778160" y="324020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墨迹 13">
                    <a:extLst>
                      <a:ext uri="{FF2B5EF4-FFF2-40B4-BE49-F238E27FC236}">
                        <a16:creationId xmlns:a16="http://schemas.microsoft.com/office/drawing/2014/main" id="{B9AE7766-B493-4BDA-AE7D-CA325E63820B}"/>
                      </a:ext>
                    </a:extLst>
                  </p14:cNvPr>
                  <p14:cNvContentPartPr/>
                  <p14:nvPr/>
                </p14:nvContentPartPr>
                <p14:xfrm>
                  <a:off x="3434080" y="2113400"/>
                  <a:ext cx="10440" cy="284760"/>
                </p14:xfrm>
              </p:contentPart>
            </mc:Choice>
            <mc:Fallback xmlns="">
              <p:pic>
                <p:nvPicPr>
                  <p:cNvPr id="14" name="墨迹 13">
                    <a:extLst>
                      <a:ext uri="{FF2B5EF4-FFF2-40B4-BE49-F238E27FC236}">
                        <a16:creationId xmlns:a16="http://schemas.microsoft.com/office/drawing/2014/main" id="{B9AE7766-B493-4BDA-AE7D-CA325E63820B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3398080" y="2041400"/>
                    <a:ext cx="82080" cy="428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5" name="墨迹 14">
                    <a:extLst>
                      <a:ext uri="{FF2B5EF4-FFF2-40B4-BE49-F238E27FC236}">
                        <a16:creationId xmlns:a16="http://schemas.microsoft.com/office/drawing/2014/main" id="{984EE31C-1638-462B-A141-5079D8F1E509}"/>
                      </a:ext>
                    </a:extLst>
                  </p14:cNvPr>
                  <p14:cNvContentPartPr/>
                  <p14:nvPr/>
                </p14:nvContentPartPr>
                <p14:xfrm>
                  <a:off x="3424000" y="2641520"/>
                  <a:ext cx="360" cy="360"/>
                </p14:xfrm>
              </p:contentPart>
            </mc:Choice>
            <mc:Fallback xmlns="">
              <p:pic>
                <p:nvPicPr>
                  <p:cNvPr id="15" name="墨迹 14">
                    <a:extLst>
                      <a:ext uri="{FF2B5EF4-FFF2-40B4-BE49-F238E27FC236}">
                        <a16:creationId xmlns:a16="http://schemas.microsoft.com/office/drawing/2014/main" id="{984EE31C-1638-462B-A141-5079D8F1E509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3388000" y="256952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16" name="墨迹 15">
                    <a:extLst>
                      <a:ext uri="{FF2B5EF4-FFF2-40B4-BE49-F238E27FC236}">
                        <a16:creationId xmlns:a16="http://schemas.microsoft.com/office/drawing/2014/main" id="{0BE85CDD-1A91-4BC3-8E55-FBEAB9ABAFA3}"/>
                      </a:ext>
                    </a:extLst>
                  </p14:cNvPr>
                  <p14:cNvContentPartPr/>
                  <p14:nvPr/>
                </p14:nvContentPartPr>
                <p14:xfrm>
                  <a:off x="2211160" y="3362960"/>
                  <a:ext cx="25560" cy="305280"/>
                </p14:xfrm>
              </p:contentPart>
            </mc:Choice>
            <mc:Fallback xmlns="">
              <p:pic>
                <p:nvPicPr>
                  <p:cNvPr id="16" name="墨迹 15">
                    <a:extLst>
                      <a:ext uri="{FF2B5EF4-FFF2-40B4-BE49-F238E27FC236}">
                        <a16:creationId xmlns:a16="http://schemas.microsoft.com/office/drawing/2014/main" id="{0BE85CDD-1A91-4BC3-8E55-FBEAB9ABAFA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2175160" y="3290960"/>
                    <a:ext cx="97200" cy="448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17" name="墨迹 16">
                    <a:extLst>
                      <a:ext uri="{FF2B5EF4-FFF2-40B4-BE49-F238E27FC236}">
                        <a16:creationId xmlns:a16="http://schemas.microsoft.com/office/drawing/2014/main" id="{639D274C-5FAE-49A6-89AB-B9DFF95E249A}"/>
                      </a:ext>
                    </a:extLst>
                  </p14:cNvPr>
                  <p14:cNvContentPartPr/>
                  <p14:nvPr/>
                </p14:nvContentPartPr>
                <p14:xfrm>
                  <a:off x="2235280" y="3911600"/>
                  <a:ext cx="360" cy="10440"/>
                </p14:xfrm>
              </p:contentPart>
            </mc:Choice>
            <mc:Fallback xmlns="">
              <p:pic>
                <p:nvPicPr>
                  <p:cNvPr id="17" name="墨迹 16">
                    <a:extLst>
                      <a:ext uri="{FF2B5EF4-FFF2-40B4-BE49-F238E27FC236}">
                        <a16:creationId xmlns:a16="http://schemas.microsoft.com/office/drawing/2014/main" id="{639D274C-5FAE-49A6-89AB-B9DFF95E249A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2199280" y="3839600"/>
                    <a:ext cx="72000" cy="154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18" name="墨迹 17">
                    <a:extLst>
                      <a:ext uri="{FF2B5EF4-FFF2-40B4-BE49-F238E27FC236}">
                        <a16:creationId xmlns:a16="http://schemas.microsoft.com/office/drawing/2014/main" id="{B0EAC5AD-2592-48F8-B110-1F7C659E11CB}"/>
                      </a:ext>
                    </a:extLst>
                  </p14:cNvPr>
                  <p14:cNvContentPartPr/>
                  <p14:nvPr/>
                </p14:nvContentPartPr>
                <p14:xfrm>
                  <a:off x="2702560" y="2682200"/>
                  <a:ext cx="10440" cy="284760"/>
                </p14:xfrm>
              </p:contentPart>
            </mc:Choice>
            <mc:Fallback xmlns="">
              <p:pic>
                <p:nvPicPr>
                  <p:cNvPr id="18" name="墨迹 17">
                    <a:extLst>
                      <a:ext uri="{FF2B5EF4-FFF2-40B4-BE49-F238E27FC236}">
                        <a16:creationId xmlns:a16="http://schemas.microsoft.com/office/drawing/2014/main" id="{B0EAC5AD-2592-48F8-B110-1F7C659E11CB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2666560" y="2610200"/>
                    <a:ext cx="82080" cy="428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19" name="墨迹 18">
                    <a:extLst>
                      <a:ext uri="{FF2B5EF4-FFF2-40B4-BE49-F238E27FC236}">
                        <a16:creationId xmlns:a16="http://schemas.microsoft.com/office/drawing/2014/main" id="{03F0D7AF-22BD-4025-BE40-3149C7682636}"/>
                      </a:ext>
                    </a:extLst>
                  </p14:cNvPr>
                  <p14:cNvContentPartPr/>
                  <p14:nvPr/>
                </p14:nvContentPartPr>
                <p14:xfrm>
                  <a:off x="2733160" y="3281600"/>
                  <a:ext cx="360" cy="20880"/>
                </p14:xfrm>
              </p:contentPart>
            </mc:Choice>
            <mc:Fallback xmlns="">
              <p:pic>
                <p:nvPicPr>
                  <p:cNvPr id="19" name="墨迹 18">
                    <a:extLst>
                      <a:ext uri="{FF2B5EF4-FFF2-40B4-BE49-F238E27FC236}">
                        <a16:creationId xmlns:a16="http://schemas.microsoft.com/office/drawing/2014/main" id="{03F0D7AF-22BD-4025-BE40-3149C7682636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2697160" y="3209600"/>
                    <a:ext cx="72000" cy="164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20" name="墨迹 19">
                    <a:extLst>
                      <a:ext uri="{FF2B5EF4-FFF2-40B4-BE49-F238E27FC236}">
                        <a16:creationId xmlns:a16="http://schemas.microsoft.com/office/drawing/2014/main" id="{47262C19-1CC1-4418-834D-089CAFA44871}"/>
                      </a:ext>
                    </a:extLst>
                  </p14:cNvPr>
                  <p14:cNvContentPartPr/>
                  <p14:nvPr/>
                </p14:nvContentPartPr>
                <p14:xfrm>
                  <a:off x="4602640" y="1706960"/>
                  <a:ext cx="360" cy="360"/>
                </p14:xfrm>
              </p:contentPart>
            </mc:Choice>
            <mc:Fallback xmlns="">
              <p:pic>
                <p:nvPicPr>
                  <p:cNvPr id="20" name="墨迹 19">
                    <a:extLst>
                      <a:ext uri="{FF2B5EF4-FFF2-40B4-BE49-F238E27FC236}">
                        <a16:creationId xmlns:a16="http://schemas.microsoft.com/office/drawing/2014/main" id="{47262C19-1CC1-4418-834D-089CAFA44871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4566640" y="163496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21" name="墨迹 20">
                    <a:extLst>
                      <a:ext uri="{FF2B5EF4-FFF2-40B4-BE49-F238E27FC236}">
                        <a16:creationId xmlns:a16="http://schemas.microsoft.com/office/drawing/2014/main" id="{61249DD1-2BEC-4DE7-AA2B-DD1D48743C9E}"/>
                      </a:ext>
                    </a:extLst>
                  </p14:cNvPr>
                  <p14:cNvContentPartPr/>
                  <p14:nvPr/>
                </p14:nvContentPartPr>
                <p14:xfrm>
                  <a:off x="2804080" y="4246760"/>
                  <a:ext cx="360" cy="360"/>
                </p14:xfrm>
              </p:contentPart>
            </mc:Choice>
            <mc:Fallback xmlns="">
              <p:pic>
                <p:nvPicPr>
                  <p:cNvPr id="21" name="墨迹 20">
                    <a:extLst>
                      <a:ext uri="{FF2B5EF4-FFF2-40B4-BE49-F238E27FC236}">
                        <a16:creationId xmlns:a16="http://schemas.microsoft.com/office/drawing/2014/main" id="{61249DD1-2BEC-4DE7-AA2B-DD1D48743C9E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2768080" y="417476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22" name="墨迹 21">
                    <a:extLst>
                      <a:ext uri="{FF2B5EF4-FFF2-40B4-BE49-F238E27FC236}">
                        <a16:creationId xmlns:a16="http://schemas.microsoft.com/office/drawing/2014/main" id="{2EFCD926-008C-458D-A014-05B063325AE9}"/>
                      </a:ext>
                    </a:extLst>
                  </p14:cNvPr>
                  <p14:cNvContentPartPr/>
                  <p14:nvPr/>
                </p14:nvContentPartPr>
                <p14:xfrm>
                  <a:off x="2804080" y="4551680"/>
                  <a:ext cx="360" cy="264600"/>
                </p14:xfrm>
              </p:contentPart>
            </mc:Choice>
            <mc:Fallback xmlns="">
              <p:pic>
                <p:nvPicPr>
                  <p:cNvPr id="22" name="墨迹 21">
                    <a:extLst>
                      <a:ext uri="{FF2B5EF4-FFF2-40B4-BE49-F238E27FC236}">
                        <a16:creationId xmlns:a16="http://schemas.microsoft.com/office/drawing/2014/main" id="{2EFCD926-008C-458D-A014-05B063325AE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768080" y="4479680"/>
                    <a:ext cx="72000" cy="40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23" name="墨迹 22">
                    <a:extLst>
                      <a:ext uri="{FF2B5EF4-FFF2-40B4-BE49-F238E27FC236}">
                        <a16:creationId xmlns:a16="http://schemas.microsoft.com/office/drawing/2014/main" id="{F9BA245F-9CFD-447A-A9F4-51F107FC94B8}"/>
                      </a:ext>
                    </a:extLst>
                  </p14:cNvPr>
                  <p14:cNvContentPartPr/>
                  <p14:nvPr/>
                </p14:nvContentPartPr>
                <p14:xfrm>
                  <a:off x="2783920" y="5283200"/>
                  <a:ext cx="20520" cy="264600"/>
                </p14:xfrm>
              </p:contentPart>
            </mc:Choice>
            <mc:Fallback xmlns="">
              <p:pic>
                <p:nvPicPr>
                  <p:cNvPr id="23" name="墨迹 22">
                    <a:extLst>
                      <a:ext uri="{FF2B5EF4-FFF2-40B4-BE49-F238E27FC236}">
                        <a16:creationId xmlns:a16="http://schemas.microsoft.com/office/drawing/2014/main" id="{F9BA245F-9CFD-447A-A9F4-51F107FC94B8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2747920" y="5211200"/>
                    <a:ext cx="92160" cy="40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24" name="墨迹 23">
                    <a:extLst>
                      <a:ext uri="{FF2B5EF4-FFF2-40B4-BE49-F238E27FC236}">
                        <a16:creationId xmlns:a16="http://schemas.microsoft.com/office/drawing/2014/main" id="{D92E62F6-8F44-4FAD-B098-3C602C5A4209}"/>
                      </a:ext>
                    </a:extLst>
                  </p14:cNvPr>
                  <p14:cNvContentPartPr/>
                  <p14:nvPr/>
                </p14:nvContentPartPr>
                <p14:xfrm>
                  <a:off x="2865280" y="5283200"/>
                  <a:ext cx="360" cy="264600"/>
                </p14:xfrm>
              </p:contentPart>
            </mc:Choice>
            <mc:Fallback xmlns="">
              <p:pic>
                <p:nvPicPr>
                  <p:cNvPr id="24" name="墨迹 23">
                    <a:extLst>
                      <a:ext uri="{FF2B5EF4-FFF2-40B4-BE49-F238E27FC236}">
                        <a16:creationId xmlns:a16="http://schemas.microsoft.com/office/drawing/2014/main" id="{D92E62F6-8F44-4FAD-B098-3C602C5A4209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2829280" y="5211200"/>
                    <a:ext cx="72000" cy="408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25" name="墨迹 24">
                    <a:extLst>
                      <a:ext uri="{FF2B5EF4-FFF2-40B4-BE49-F238E27FC236}">
                        <a16:creationId xmlns:a16="http://schemas.microsoft.com/office/drawing/2014/main" id="{1536283C-AC02-43E4-A91A-99FD518B9658}"/>
                      </a:ext>
                    </a:extLst>
                  </p14:cNvPr>
                  <p14:cNvContentPartPr/>
                  <p14:nvPr/>
                </p14:nvContentPartPr>
                <p14:xfrm>
                  <a:off x="2865280" y="4267280"/>
                  <a:ext cx="360" cy="360"/>
                </p14:xfrm>
              </p:contentPart>
            </mc:Choice>
            <mc:Fallback xmlns="">
              <p:pic>
                <p:nvPicPr>
                  <p:cNvPr id="25" name="墨迹 24">
                    <a:extLst>
                      <a:ext uri="{FF2B5EF4-FFF2-40B4-BE49-F238E27FC236}">
                        <a16:creationId xmlns:a16="http://schemas.microsoft.com/office/drawing/2014/main" id="{1536283C-AC02-43E4-A91A-99FD518B9658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2829280" y="419528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26" name="墨迹 25">
                    <a:extLst>
                      <a:ext uri="{FF2B5EF4-FFF2-40B4-BE49-F238E27FC236}">
                        <a16:creationId xmlns:a16="http://schemas.microsoft.com/office/drawing/2014/main" id="{58CB5285-38CB-45C0-8FE9-4BB2A833EE5D}"/>
                      </a:ext>
                    </a:extLst>
                  </p14:cNvPr>
                  <p14:cNvContentPartPr/>
                  <p14:nvPr/>
                </p14:nvContentPartPr>
                <p14:xfrm>
                  <a:off x="3494920" y="4703960"/>
                  <a:ext cx="18000" cy="345960"/>
                </p14:xfrm>
              </p:contentPart>
            </mc:Choice>
            <mc:Fallback xmlns="">
              <p:pic>
                <p:nvPicPr>
                  <p:cNvPr id="26" name="墨迹 25">
                    <a:extLst>
                      <a:ext uri="{FF2B5EF4-FFF2-40B4-BE49-F238E27FC236}">
                        <a16:creationId xmlns:a16="http://schemas.microsoft.com/office/drawing/2014/main" id="{58CB5285-38CB-45C0-8FE9-4BB2A833EE5D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458920" y="4631960"/>
                    <a:ext cx="89640" cy="489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27" name="墨迹 26">
                    <a:extLst>
                      <a:ext uri="{FF2B5EF4-FFF2-40B4-BE49-F238E27FC236}">
                        <a16:creationId xmlns:a16="http://schemas.microsoft.com/office/drawing/2014/main" id="{61E56D07-D252-4117-BED6-1591C02AA603}"/>
                      </a:ext>
                    </a:extLst>
                  </p14:cNvPr>
                  <p14:cNvContentPartPr/>
                  <p14:nvPr/>
                </p14:nvContentPartPr>
                <p14:xfrm>
                  <a:off x="3494920" y="3759320"/>
                  <a:ext cx="360" cy="360"/>
                </p14:xfrm>
              </p:contentPart>
            </mc:Choice>
            <mc:Fallback xmlns="">
              <p:pic>
                <p:nvPicPr>
                  <p:cNvPr id="27" name="墨迹 26">
                    <a:extLst>
                      <a:ext uri="{FF2B5EF4-FFF2-40B4-BE49-F238E27FC236}">
                        <a16:creationId xmlns:a16="http://schemas.microsoft.com/office/drawing/2014/main" id="{61E56D07-D252-4117-BED6-1591C02AA603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3458920" y="368732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28" name="墨迹 27">
                    <a:extLst>
                      <a:ext uri="{FF2B5EF4-FFF2-40B4-BE49-F238E27FC236}">
                        <a16:creationId xmlns:a16="http://schemas.microsoft.com/office/drawing/2014/main" id="{B5CE8122-ABA0-4A72-AB3D-4510D7F64041}"/>
                      </a:ext>
                    </a:extLst>
                  </p14:cNvPr>
                  <p14:cNvContentPartPr/>
                  <p14:nvPr/>
                </p14:nvContentPartPr>
                <p14:xfrm>
                  <a:off x="4702360" y="4460240"/>
                  <a:ext cx="22320" cy="315360"/>
                </p14:xfrm>
              </p:contentPart>
            </mc:Choice>
            <mc:Fallback xmlns="">
              <p:pic>
                <p:nvPicPr>
                  <p:cNvPr id="28" name="墨迹 27">
                    <a:extLst>
                      <a:ext uri="{FF2B5EF4-FFF2-40B4-BE49-F238E27FC236}">
                        <a16:creationId xmlns:a16="http://schemas.microsoft.com/office/drawing/2014/main" id="{B5CE8122-ABA0-4A72-AB3D-4510D7F64041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4666360" y="4388240"/>
                    <a:ext cx="93960" cy="45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29" name="墨迹 28">
                    <a:extLst>
                      <a:ext uri="{FF2B5EF4-FFF2-40B4-BE49-F238E27FC236}">
                        <a16:creationId xmlns:a16="http://schemas.microsoft.com/office/drawing/2014/main" id="{FE9A502C-0496-44B3-A5EF-8F09DA19AD2F}"/>
                      </a:ext>
                    </a:extLst>
                  </p14:cNvPr>
                  <p14:cNvContentPartPr/>
                  <p14:nvPr/>
                </p14:nvContentPartPr>
                <p14:xfrm>
                  <a:off x="4673560" y="3606680"/>
                  <a:ext cx="360" cy="360"/>
                </p14:xfrm>
              </p:contentPart>
            </mc:Choice>
            <mc:Fallback xmlns="">
              <p:pic>
                <p:nvPicPr>
                  <p:cNvPr id="29" name="墨迹 28">
                    <a:extLst>
                      <a:ext uri="{FF2B5EF4-FFF2-40B4-BE49-F238E27FC236}">
                        <a16:creationId xmlns:a16="http://schemas.microsoft.com/office/drawing/2014/main" id="{FE9A502C-0496-44B3-A5EF-8F09DA19AD2F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4637560" y="3534680"/>
                    <a:ext cx="72000" cy="14400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BE5B34CD-D44D-434F-8EAA-E65B00B10E35}"/>
                    </a:ext>
                  </a:extLst>
                </p14:cNvPr>
                <p14:cNvContentPartPr/>
                <p14:nvPr/>
              </p14:nvContentPartPr>
              <p14:xfrm>
                <a:off x="4145440" y="4185920"/>
                <a:ext cx="294840" cy="36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BE5B34CD-D44D-434F-8EAA-E65B00B10E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09440" y="4113920"/>
                  <a:ext cx="366480" cy="144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02726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5A38761-574B-4CDC-A814-46401EA2D7DD}"/>
              </a:ext>
            </a:extLst>
          </p:cNvPr>
          <p:cNvSpPr/>
          <p:nvPr/>
        </p:nvSpPr>
        <p:spPr>
          <a:xfrm>
            <a:off x="6375307" y="2426871"/>
            <a:ext cx="63065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ambria" panose="02040503050406030204" pitchFamily="18" charset="0"/>
              </a:rPr>
              <a:t>解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T1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来讲，是直流的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电流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R4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来讲，是直流的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电流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R5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：对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T2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来讲，是交直流的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电流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串联负反馈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（没有</a:t>
            </a:r>
            <a:r>
              <a:rPr lang="en-US" altLang="zh-CN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R4</a:t>
            </a:r>
            <a:r>
              <a:rPr lang="zh-CN" altLang="en-US" dirty="0">
                <a:solidFill>
                  <a:srgbClr val="FF0000"/>
                </a:solidFill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R5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及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R6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：整体的，交直流的电流并联负反馈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C94151E-6A69-48BC-8D74-14F1765E3931}"/>
              </a:ext>
            </a:extLst>
          </p:cNvPr>
          <p:cNvGrpSpPr/>
          <p:nvPr/>
        </p:nvGrpSpPr>
        <p:grpSpPr>
          <a:xfrm>
            <a:off x="1069209" y="1420026"/>
            <a:ext cx="4931621" cy="4330814"/>
            <a:chOff x="1069209" y="1420026"/>
            <a:chExt cx="4931621" cy="433081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A9621DA-AC45-41F6-952B-FB293BB23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9209" y="1420026"/>
              <a:ext cx="4931621" cy="433081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7CAE5F0D-7A44-40CD-8A70-D16954CDB179}"/>
                    </a:ext>
                  </a:extLst>
                </p14:cNvPr>
                <p14:cNvContentPartPr/>
                <p14:nvPr/>
              </p14:nvContentPartPr>
              <p14:xfrm>
                <a:off x="3169120" y="4490840"/>
                <a:ext cx="16200" cy="3661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7CAE5F0D-7A44-40CD-8A70-D16954CDB17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33120" y="4418840"/>
                  <a:ext cx="878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835A7C2-EC12-4E3A-9D04-8B96441EEE6E}"/>
                    </a:ext>
                  </a:extLst>
                </p14:cNvPr>
                <p14:cNvContentPartPr/>
                <p14:nvPr/>
              </p14:nvContentPartPr>
              <p14:xfrm>
                <a:off x="3159760" y="4145240"/>
                <a:ext cx="30960" cy="1044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835A7C2-EC12-4E3A-9D04-8B96441EEE6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23760" y="4073240"/>
                  <a:ext cx="1026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4777EA64-0C4E-4822-BC81-E7E4BCB0566F}"/>
                    </a:ext>
                  </a:extLst>
                </p14:cNvPr>
                <p14:cNvContentPartPr/>
                <p14:nvPr/>
              </p14:nvContentPartPr>
              <p14:xfrm>
                <a:off x="3789760" y="4460240"/>
                <a:ext cx="10440" cy="40680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4777EA64-0C4E-4822-BC81-E7E4BCB056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53760" y="4388240"/>
                  <a:ext cx="8208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D85B5886-3961-4967-9238-EDED44288FF1}"/>
                    </a:ext>
                  </a:extLst>
                </p14:cNvPr>
                <p14:cNvContentPartPr/>
                <p14:nvPr/>
              </p14:nvContentPartPr>
              <p14:xfrm>
                <a:off x="4673560" y="4561760"/>
                <a:ext cx="10440" cy="3661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D85B5886-3961-4967-9238-EDED44288FF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37560" y="4489760"/>
                  <a:ext cx="8208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5E1867EF-BCD4-4423-BDB8-5535DF013D40}"/>
                    </a:ext>
                  </a:extLst>
                </p14:cNvPr>
                <p14:cNvContentPartPr/>
                <p14:nvPr/>
              </p14:nvContentPartPr>
              <p14:xfrm>
                <a:off x="4632880" y="3627200"/>
                <a:ext cx="360" cy="3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5E1867EF-BCD4-4423-BDB8-5535DF013D4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96880" y="3555200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EF9A7302-9179-46B8-BDE3-8182D0EB09D0}"/>
                    </a:ext>
                  </a:extLst>
                </p14:cNvPr>
                <p14:cNvContentPartPr/>
                <p14:nvPr/>
              </p14:nvContentPartPr>
              <p14:xfrm>
                <a:off x="5189080" y="4551680"/>
                <a:ext cx="23400" cy="3762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EF9A7302-9179-46B8-BDE3-8182D0EB09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53080" y="4479680"/>
                  <a:ext cx="9504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8ABBAB05-F7C9-4BB4-A935-170584B196B5}"/>
                    </a:ext>
                  </a:extLst>
                </p14:cNvPr>
                <p14:cNvContentPartPr/>
                <p14:nvPr/>
              </p14:nvContentPartPr>
              <p14:xfrm>
                <a:off x="4704160" y="3627200"/>
                <a:ext cx="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8ABBAB05-F7C9-4BB4-A935-170584B196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68160" y="3555200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39CF3B55-70EE-44DC-8892-9EDCC63975DB}"/>
                    </a:ext>
                  </a:extLst>
                </p14:cNvPr>
                <p14:cNvContentPartPr/>
                <p14:nvPr/>
              </p14:nvContentPartPr>
              <p14:xfrm>
                <a:off x="4686880" y="3800000"/>
                <a:ext cx="28080" cy="2642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39CF3B55-70EE-44DC-8892-9EDCC63975D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650880" y="3728000"/>
                  <a:ext cx="997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7F305CE-0D64-4290-BDE5-7C46596299F5}"/>
                    </a:ext>
                  </a:extLst>
                </p14:cNvPr>
                <p14:cNvContentPartPr/>
                <p14:nvPr/>
              </p14:nvContentPartPr>
              <p14:xfrm>
                <a:off x="4775080" y="3627200"/>
                <a:ext cx="360" cy="3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7F305CE-0D64-4290-BDE5-7C46596299F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39080" y="3555200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E56426A2-0ED5-4229-88FC-B603010EF83F}"/>
                    </a:ext>
                  </a:extLst>
                </p14:cNvPr>
                <p14:cNvContentPartPr/>
                <p14:nvPr/>
              </p14:nvContentPartPr>
              <p14:xfrm>
                <a:off x="2692480" y="3769400"/>
                <a:ext cx="122040" cy="3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E56426A2-0ED5-4229-88FC-B603010EF83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656480" y="3697400"/>
                  <a:ext cx="193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33442423-7DC2-42BD-BF60-780EBF3789A6}"/>
                    </a:ext>
                  </a:extLst>
                </p14:cNvPr>
                <p14:cNvContentPartPr/>
                <p14:nvPr/>
              </p14:nvContentPartPr>
              <p14:xfrm>
                <a:off x="3159760" y="5374640"/>
                <a:ext cx="356040" cy="36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33442423-7DC2-42BD-BF60-780EBF3789A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23760" y="5302640"/>
                  <a:ext cx="427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88819516-76EA-45B9-A9C3-5CBA329CCC94}"/>
                    </a:ext>
                  </a:extLst>
                </p14:cNvPr>
                <p14:cNvContentPartPr/>
                <p14:nvPr/>
              </p14:nvContentPartPr>
              <p14:xfrm>
                <a:off x="4775080" y="3800000"/>
                <a:ext cx="360" cy="28512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88819516-76EA-45B9-A9C3-5CBA329CCC9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39080" y="3728000"/>
                  <a:ext cx="72000" cy="428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18934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EA969028-07F8-443E-857B-56B5F14B58AC}"/>
                  </a:ext>
                </a:extLst>
              </p14:cNvPr>
              <p14:cNvContentPartPr/>
              <p14:nvPr/>
            </p14:nvContentPartPr>
            <p14:xfrm>
              <a:off x="2550280" y="3800000"/>
              <a:ext cx="39636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EA969028-07F8-443E-857B-56B5F14B58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4280" y="3728000"/>
                <a:ext cx="468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0F79ECDC-6EC3-4168-9374-A0B3DA7538D1}"/>
                  </a:ext>
                </a:extLst>
              </p14:cNvPr>
              <p14:cNvContentPartPr/>
              <p14:nvPr/>
            </p14:nvContentPartPr>
            <p14:xfrm>
              <a:off x="2174080" y="4785320"/>
              <a:ext cx="360" cy="36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0F79ECDC-6EC3-4168-9374-A0B3DA7538D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8080" y="4713320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B057960-4D8E-4B2F-925C-D005139F6352}"/>
                  </a:ext>
                </a:extLst>
              </p14:cNvPr>
              <p14:cNvContentPartPr/>
              <p14:nvPr/>
            </p14:nvContentPartPr>
            <p14:xfrm>
              <a:off x="2235280" y="4785320"/>
              <a:ext cx="360" cy="36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B057960-4D8E-4B2F-925C-D005139F63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99280" y="4713320"/>
                <a:ext cx="7200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B4FF33C5-0125-4DFE-9A3B-740B356B83A8}"/>
              </a:ext>
            </a:extLst>
          </p:cNvPr>
          <p:cNvGrpSpPr/>
          <p:nvPr/>
        </p:nvGrpSpPr>
        <p:grpSpPr>
          <a:xfrm>
            <a:off x="1154329" y="1691754"/>
            <a:ext cx="4659528" cy="4216491"/>
            <a:chOff x="1123849" y="1655988"/>
            <a:chExt cx="4659528" cy="4216491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EE2FFDB4-377D-4104-9CEE-C36F10980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23849" y="1655988"/>
              <a:ext cx="4659528" cy="421649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61EDF40D-02D8-41C2-B9EE-CBE05D9CE140}"/>
                    </a:ext>
                  </a:extLst>
                </p14:cNvPr>
                <p14:cNvContentPartPr/>
                <p14:nvPr/>
              </p14:nvContentPartPr>
              <p14:xfrm>
                <a:off x="4480600" y="3810080"/>
                <a:ext cx="360" cy="36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61EDF40D-02D8-41C2-B9EE-CBE05D9CE1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4600" y="3738080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A91A3197-DAE3-4594-B05C-3EC441770DC0}"/>
                    </a:ext>
                  </a:extLst>
                </p14:cNvPr>
                <p14:cNvContentPartPr/>
                <p14:nvPr/>
              </p14:nvContentPartPr>
              <p14:xfrm>
                <a:off x="3312040" y="3992960"/>
                <a:ext cx="360" cy="55908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A91A3197-DAE3-4594-B05C-3EC441770D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76040" y="3920960"/>
                  <a:ext cx="72000" cy="70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DA82A60F-E260-42BB-8F87-6C70B84BEE7E}"/>
                    </a:ext>
                  </a:extLst>
                </p14:cNvPr>
                <p14:cNvContentPartPr/>
                <p14:nvPr/>
              </p14:nvContentPartPr>
              <p14:xfrm>
                <a:off x="4561960" y="3820160"/>
                <a:ext cx="360" cy="36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DA82A60F-E260-42BB-8F87-6C70B84BEE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25960" y="3748160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9597C310-348A-4CBD-A100-ED88929D627E}"/>
                    </a:ext>
                  </a:extLst>
                </p14:cNvPr>
                <p14:cNvContentPartPr/>
                <p14:nvPr/>
              </p14:nvContentPartPr>
              <p14:xfrm>
                <a:off x="3667720" y="3802520"/>
                <a:ext cx="528840" cy="190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9597C310-348A-4CBD-A100-ED88929D627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631720" y="3730520"/>
                  <a:ext cx="6004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5E186220-6460-48A0-A343-9020AA11F939}"/>
                    </a:ext>
                  </a:extLst>
                </p14:cNvPr>
                <p14:cNvContentPartPr/>
                <p14:nvPr/>
              </p14:nvContentPartPr>
              <p14:xfrm>
                <a:off x="2585560" y="3789586"/>
                <a:ext cx="396360" cy="36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5E186220-6460-48A0-A343-9020AA11F9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49560" y="3717586"/>
                  <a:ext cx="468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0273F14-FDF0-41FD-AEC3-DEB95C91CEDD}"/>
                    </a:ext>
                  </a:extLst>
                </p14:cNvPr>
                <p14:cNvContentPartPr/>
                <p14:nvPr/>
              </p14:nvContentPartPr>
              <p14:xfrm>
                <a:off x="2163640" y="4774906"/>
                <a:ext cx="360" cy="36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0273F14-FDF0-41FD-AEC3-DEB95C91CE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27640" y="4702906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EA22CF09-63AE-44B7-A1E1-182BE722C66A}"/>
                    </a:ext>
                  </a:extLst>
                </p14:cNvPr>
                <p14:cNvContentPartPr/>
                <p14:nvPr/>
              </p14:nvContentPartPr>
              <p14:xfrm>
                <a:off x="2280720" y="4774906"/>
                <a:ext cx="360" cy="36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EA22CF09-63AE-44B7-A1E1-182BE722C6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4720" y="4702906"/>
                  <a:ext cx="72000" cy="144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89C329EC-8DF9-4853-AA6B-FC2730AE52F1}"/>
              </a:ext>
            </a:extLst>
          </p:cNvPr>
          <p:cNvSpPr/>
          <p:nvPr/>
        </p:nvSpPr>
        <p:spPr>
          <a:xfrm>
            <a:off x="5886751" y="353276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Cambria" panose="02040503050406030204" pitchFamily="18" charset="0"/>
              </a:rPr>
              <a:t>解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R1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：直流的电压并联负反馈</a:t>
            </a:r>
            <a:endParaRPr lang="en-US" altLang="zh-CN" dirty="0">
              <a:latin typeface="Cambria" panose="02040503050406030204" pitchFamily="18" charset="0"/>
              <a:ea typeface="楷体" panose="02010609060101010101" pitchFamily="49" charset="-122"/>
              <a:sym typeface="Wingdings" panose="05000000000000000000" pitchFamily="2" charset="2"/>
            </a:endParaRPr>
          </a:p>
          <a:p>
            <a:r>
              <a:rPr lang="en-US" altLang="zh-CN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         R2</a:t>
            </a:r>
            <a:r>
              <a:rPr lang="zh-CN" altLang="en-US" dirty="0">
                <a:latin typeface="Cambria" panose="02040503050406030204" pitchFamily="18" charset="0"/>
                <a:ea typeface="楷体" panose="02010609060101010101" pitchFamily="49" charset="-122"/>
                <a:sym typeface="Wingdings" panose="05000000000000000000" pitchFamily="2" charset="2"/>
              </a:rPr>
              <a:t>：交直流的电压并联负反馈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0567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2C5ECC0-FA4F-4887-81A9-882BD87AB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299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9.2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近似计算题型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一个记忆点：反馈类型对输入输出阻抗的影响。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近似计算的主要方法：虚短、虚断。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366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7575B81-011D-4F79-A731-A1F828BCB31B}"/>
              </a:ext>
            </a:extLst>
          </p:cNvPr>
          <p:cNvSpPr/>
          <p:nvPr/>
        </p:nvSpPr>
        <p:spPr>
          <a:xfrm>
            <a:off x="2653811" y="1274884"/>
            <a:ext cx="68843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rPr>
              <a:t>反馈类型对输入输出电阻的影响</a:t>
            </a:r>
            <a:endParaRPr lang="en-US" altLang="zh-CN" sz="3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AAB0B1-1127-4863-9F84-53AC26F749E7}"/>
              </a:ext>
            </a:extLst>
          </p:cNvPr>
          <p:cNvSpPr txBox="1"/>
          <p:nvPr/>
        </p:nvSpPr>
        <p:spPr>
          <a:xfrm>
            <a:off x="2032000" y="2489200"/>
            <a:ext cx="469872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电流反馈：提高输出阻抗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电压反馈：降低输出阻抗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并联反馈：提高输入阻抗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串联反馈：降低输入阻抗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6F13AF-F05C-4F2C-8254-79AC1828CD1C}"/>
              </a:ext>
            </a:extLst>
          </p:cNvPr>
          <p:cNvSpPr txBox="1"/>
          <p:nvPr/>
        </p:nvSpPr>
        <p:spPr>
          <a:xfrm>
            <a:off x="7416800" y="3227863"/>
            <a:ext cx="34239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倍数均为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1+AF</a:t>
            </a:r>
          </a:p>
          <a:p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为开环放大系数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F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为反馈系数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AF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为环增益</a:t>
            </a:r>
          </a:p>
        </p:txBody>
      </p:sp>
    </p:spTree>
    <p:extLst>
      <p:ext uri="{BB962C8B-B14F-4D97-AF65-F5344CB8AC3E}">
        <p14:creationId xmlns:p14="http://schemas.microsoft.com/office/powerpoint/2010/main" val="2422395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A186D4-003B-42CA-A7FA-91E5A8BD0EBA}"/>
              </a:ext>
            </a:extLst>
          </p:cNvPr>
          <p:cNvSpPr/>
          <p:nvPr/>
        </p:nvSpPr>
        <p:spPr>
          <a:xfrm>
            <a:off x="490813" y="1364734"/>
            <a:ext cx="91198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9-11      </a:t>
            </a:r>
            <a:r>
              <a:rPr lang="zh-CN" altLang="en-US" dirty="0"/>
              <a:t>一放大器的开环增益为</a:t>
            </a:r>
            <a:r>
              <a:rPr lang="en-US" altLang="zh-CN" dirty="0"/>
              <a:t>100</a:t>
            </a:r>
            <a:r>
              <a:rPr lang="zh-CN" altLang="en-US" dirty="0"/>
              <a:t>倍，开环输入电阻等于</a:t>
            </a:r>
            <a:r>
              <a:rPr lang="en-US" altLang="zh-CN" dirty="0"/>
              <a:t>1kΩ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                     </a:t>
            </a:r>
            <a:r>
              <a:rPr lang="zh-CN" altLang="en-US" dirty="0"/>
              <a:t>要得到</a:t>
            </a:r>
            <a:r>
              <a:rPr lang="en-US" altLang="zh-CN" dirty="0"/>
              <a:t>8kΩ</a:t>
            </a:r>
            <a:r>
              <a:rPr lang="zh-CN" altLang="en-US" dirty="0"/>
              <a:t>的闭环输入电阻，应采用什么反馈？环增益和反馈系数是多大？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36F1473-DEA8-4EF6-AA7C-BE3323713F00}"/>
                  </a:ext>
                </a:extLst>
              </p:cNvPr>
              <p:cNvSpPr/>
              <p:nvPr/>
            </p:nvSpPr>
            <p:spPr>
              <a:xfrm>
                <a:off x="3201828" y="2679211"/>
                <a:ext cx="4339650" cy="14995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：想提高输入电阻，应该用并联反馈。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且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𝑖𝑓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𝐴𝐹</m:t>
                          </m:r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由此可得，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1+AF=8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，即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环增益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AF=7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，反馈系数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F=0.07</a:t>
                </a: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36F1473-DEA8-4EF6-AA7C-BE3323713F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828" y="2679211"/>
                <a:ext cx="4339650" cy="1499578"/>
              </a:xfrm>
              <a:prstGeom prst="rect">
                <a:avLst/>
              </a:prstGeom>
              <a:blipFill>
                <a:blip r:embed="rId2"/>
                <a:stretch>
                  <a:fillRect l="-1124" t="-3673" r="-702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9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D6A6AAF-67AF-47F8-82C6-52DD1DC1DD57}"/>
              </a:ext>
            </a:extLst>
          </p:cNvPr>
          <p:cNvSpPr/>
          <p:nvPr/>
        </p:nvSpPr>
        <p:spPr>
          <a:xfrm>
            <a:off x="711200" y="140643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9-27      </a:t>
            </a:r>
            <a:r>
              <a:rPr lang="zh-CN" altLang="en-US" dirty="0"/>
              <a:t>用近似法求</a:t>
            </a:r>
            <a:r>
              <a:rPr lang="en-US" altLang="zh-CN" dirty="0"/>
              <a:t>Vo/Vi</a:t>
            </a:r>
            <a:r>
              <a:rPr lang="zh-CN" altLang="en-US" dirty="0"/>
              <a:t>和</a:t>
            </a:r>
            <a:r>
              <a:rPr lang="en-US" altLang="zh-CN" dirty="0"/>
              <a:t>Io/Vi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F4CC4AF1-0C81-4368-B7D2-8857566D434D}"/>
              </a:ext>
            </a:extLst>
          </p:cNvPr>
          <p:cNvGrpSpPr/>
          <p:nvPr/>
        </p:nvGrpSpPr>
        <p:grpSpPr>
          <a:xfrm>
            <a:off x="6898640" y="1935480"/>
            <a:ext cx="3281679" cy="2987040"/>
            <a:chOff x="6898640" y="1935480"/>
            <a:chExt cx="3281679" cy="2987040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FD32E34-8AB8-4B9B-B06D-CE3C98A1D65F}"/>
                </a:ext>
              </a:extLst>
            </p:cNvPr>
            <p:cNvGrpSpPr/>
            <p:nvPr/>
          </p:nvGrpSpPr>
          <p:grpSpPr>
            <a:xfrm>
              <a:off x="6898640" y="1935480"/>
              <a:ext cx="3281679" cy="2987040"/>
              <a:chOff x="6898640" y="1935480"/>
              <a:chExt cx="3281679" cy="2987040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BDBC1DF9-B591-4552-B94E-F0B3B8617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898640" y="1935480"/>
                <a:ext cx="3281679" cy="298704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627CF167-3A59-4222-BC5D-6BB8ECB17DF4}"/>
                      </a:ext>
                    </a:extLst>
                  </p:cNvPr>
                  <p:cNvSpPr txBox="1"/>
                  <p:nvPr/>
                </p:nvSpPr>
                <p:spPr>
                  <a:xfrm>
                    <a:off x="9438640" y="2794000"/>
                    <a:ext cx="47134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627CF167-3A59-4222-BC5D-6BB8ECB17D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38640" y="2794000"/>
                    <a:ext cx="47134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C759D55-950D-40CE-9DC4-5F364A0115F5}"/>
                </a:ext>
              </a:extLst>
            </p:cNvPr>
            <p:cNvCxnSpPr/>
            <p:nvPr/>
          </p:nvCxnSpPr>
          <p:spPr>
            <a:xfrm>
              <a:off x="8808720" y="4582160"/>
              <a:ext cx="467360" cy="2641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8E65F3A-2968-44CB-BF1D-952DEBBA3051}"/>
                </a:ext>
              </a:extLst>
            </p:cNvPr>
            <p:cNvCxnSpPr/>
            <p:nvPr/>
          </p:nvCxnSpPr>
          <p:spPr>
            <a:xfrm flipV="1">
              <a:off x="8798560" y="4551680"/>
              <a:ext cx="436880" cy="2743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92B82B7-9CDC-47D8-82C0-EB3460ACAD3C}"/>
              </a:ext>
            </a:extLst>
          </p:cNvPr>
          <p:cNvSpPr txBox="1"/>
          <p:nvPr/>
        </p:nvSpPr>
        <p:spPr>
          <a:xfrm>
            <a:off x="8708815" y="4085828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GND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129ED28-7DE9-40B5-979D-0B29B98FAB66}"/>
                  </a:ext>
                </a:extLst>
              </p:cNvPr>
              <p:cNvSpPr/>
              <p:nvPr/>
            </p:nvSpPr>
            <p:spPr>
              <a:xfrm>
                <a:off x="1589375" y="2140731"/>
                <a:ext cx="5149167" cy="34980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：输入级的基极与射极电压近似相等（虚短）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同时基极电流近似为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（虚断），有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b="0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输出级的集极电流与射极电流近似相等，有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故有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=24.4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𝑆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=24.4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𝑚𝑆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129ED28-7DE9-40B5-979D-0B29B98FAB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375" y="2140731"/>
                <a:ext cx="5149167" cy="3498073"/>
              </a:xfrm>
              <a:prstGeom prst="rect">
                <a:avLst/>
              </a:prstGeom>
              <a:blipFill>
                <a:blip r:embed="rId4"/>
                <a:stretch>
                  <a:fillRect l="-1066" t="-1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71FA40B-9E9F-4F06-9B33-F26AC2C6F175}"/>
                  </a:ext>
                </a:extLst>
              </p:cNvPr>
              <p:cNvSpPr txBox="1"/>
              <p:nvPr/>
            </p:nvSpPr>
            <p:spPr>
              <a:xfrm>
                <a:off x="9159195" y="3647638"/>
                <a:ext cx="4335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71FA40B-9E9F-4F06-9B33-F26AC2C6F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195" y="3647638"/>
                <a:ext cx="4335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70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6BD238-6637-4312-8566-C51B0D87A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7669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第十章  集成运算放大器的运用</a:t>
            </a:r>
            <a:b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      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（习题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10-4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略，请自己看书上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</a:rPr>
              <a:t>396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</a:rPr>
              <a:t>页）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2508BD-A37B-4C40-83C5-36B0C8B8B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323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10.1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不含二极管的题型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核心模型：虚短，虚断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可能用到的定理：叠加定理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01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26E1E69-B84F-4CDC-AF36-01368927B1BE}"/>
                  </a:ext>
                </a:extLst>
              </p:cNvPr>
              <p:cNvSpPr/>
              <p:nvPr/>
            </p:nvSpPr>
            <p:spPr>
              <a:xfrm>
                <a:off x="782320" y="1375956"/>
                <a:ext cx="6096000" cy="64633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/>
                  <a:t>习题</a:t>
                </a:r>
                <a:r>
                  <a:rPr lang="en-US" altLang="zh-CN" dirty="0"/>
                  <a:t>10-6      </a:t>
                </a:r>
                <a:r>
                  <a:rPr lang="zh-CN" altLang="en-US" dirty="0"/>
                  <a:t>设图中的</a:t>
                </a:r>
                <a:r>
                  <a:rPr lang="en-US" altLang="zh-CN" dirty="0"/>
                  <a:t>Z</a:t>
                </a:r>
                <a:r>
                  <a:rPr lang="zh-CN" altLang="en-US" dirty="0"/>
                  <a:t>代表元件的阻抗，请用运放的基本    </a:t>
                </a:r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:r>
                  <a:rPr lang="zh-CN" altLang="en-US" dirty="0"/>
                  <a:t>特性求输入阻抗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26E1E69-B84F-4CDC-AF36-01368927B1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20" y="1375956"/>
                <a:ext cx="6096000" cy="646331"/>
              </a:xfrm>
              <a:prstGeom prst="rect">
                <a:avLst/>
              </a:prstGeom>
              <a:blipFill>
                <a:blip r:embed="rId2"/>
                <a:stretch>
                  <a:fillRect l="-800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800764B-FDE2-4081-87FA-10B8621DF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0138" y="1211218"/>
            <a:ext cx="3784472" cy="44355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02C6999-9B35-4EFC-B3D3-E2A0844B96D0}"/>
                  </a:ext>
                </a:extLst>
              </p:cNvPr>
              <p:cNvSpPr/>
              <p:nvPr/>
            </p:nvSpPr>
            <p:spPr>
              <a:xfrm>
                <a:off x="1223486" y="2126734"/>
                <a:ext cx="6452407" cy="3047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：由虚短原理有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𝑛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𝑝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𝑣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sym typeface="Wingdings" panose="05000000000000000000" pitchFamily="2" charset="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，从而有两个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上的压降相等，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但电流等大反向。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由虚断原理，输入电流等于上方的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的电流且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Z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上的电流等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于下方的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的电流。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故而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Z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上的电流与输入电流等大反向。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又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故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02C6999-9B35-4EFC-B3D3-E2A0844B96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486" y="2126734"/>
                <a:ext cx="6452407" cy="3047437"/>
              </a:xfrm>
              <a:prstGeom prst="rect">
                <a:avLst/>
              </a:prstGeom>
              <a:blipFill>
                <a:blip r:embed="rId4"/>
                <a:stretch>
                  <a:fillRect l="-851" t="-1800" r="-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40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3ACD663-BE62-48B9-AB7D-CB2D5CDA3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178" y="1717635"/>
            <a:ext cx="4814546" cy="342273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8AFD098-541E-4F73-A2BD-683A776465FE}"/>
              </a:ext>
            </a:extLst>
          </p:cNvPr>
          <p:cNvSpPr/>
          <p:nvPr/>
        </p:nvSpPr>
        <p:spPr>
          <a:xfrm>
            <a:off x="358276" y="1531035"/>
            <a:ext cx="6276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10-11      </a:t>
            </a:r>
            <a:r>
              <a:rPr lang="zh-CN" altLang="en-US" dirty="0"/>
              <a:t>设图中的运放是理想的，求输出电压的表达式。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96EBA17-63B9-4863-8468-59B9438C1E27}"/>
                  </a:ext>
                </a:extLst>
              </p:cNvPr>
              <p:cNvSpPr/>
              <p:nvPr/>
            </p:nvSpPr>
            <p:spPr>
              <a:xfrm>
                <a:off x="836086" y="2072153"/>
                <a:ext cx="5724644" cy="3715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：由虚短原理，左侧三个运放的输出电压分别为各自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的输入电压，右侧运放的输入电压等于输出电压。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故有三个电阻上的电流：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由虚断原理，三个电阻的电流值和应为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，故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96EBA17-63B9-4863-8468-59B9438C1E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86" y="2072153"/>
                <a:ext cx="5724644" cy="3715825"/>
              </a:xfrm>
              <a:prstGeom prst="rect">
                <a:avLst/>
              </a:prstGeom>
              <a:blipFill>
                <a:blip r:embed="rId3"/>
                <a:stretch>
                  <a:fillRect l="-852" t="-1478" r="-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26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C75F12-1E34-4C0F-9149-BF244474973D}"/>
              </a:ext>
            </a:extLst>
          </p:cNvPr>
          <p:cNvSpPr/>
          <p:nvPr/>
        </p:nvSpPr>
        <p:spPr>
          <a:xfrm>
            <a:off x="528320" y="149793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10-15</a:t>
            </a:r>
            <a:r>
              <a:rPr lang="en-US" altLang="zh-CN" dirty="0"/>
              <a:t>      </a:t>
            </a:r>
            <a:r>
              <a:rPr lang="zh-CN" altLang="en-US" dirty="0"/>
              <a:t>求</a:t>
            </a:r>
            <a:r>
              <a:rPr lang="en-US" altLang="zh-CN" dirty="0"/>
              <a:t>t=20ms</a:t>
            </a:r>
            <a:r>
              <a:rPr lang="zh-CN" altLang="en-US" dirty="0"/>
              <a:t>是图中的输出电压，设电容的初始</a:t>
            </a:r>
            <a:endParaRPr lang="en-US" altLang="zh-CN" dirty="0"/>
          </a:p>
          <a:p>
            <a:r>
              <a:rPr lang="en-US" altLang="zh-CN" dirty="0"/>
              <a:t>                 </a:t>
            </a:r>
            <a:r>
              <a:rPr lang="zh-CN" altLang="en-US" dirty="0"/>
              <a:t>电压为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7005D0-F625-437D-A88E-0B6CE4905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320" y="2415455"/>
            <a:ext cx="4914524" cy="2410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64C01C5-FDEA-4C29-9E38-8BF367244C4C}"/>
                  </a:ext>
                </a:extLst>
              </p:cNvPr>
              <p:cNvSpPr/>
              <p:nvPr/>
            </p:nvSpPr>
            <p:spPr>
              <a:xfrm>
                <a:off x="653156" y="2144261"/>
                <a:ext cx="6096000" cy="462088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：由虚短原理，三</a:t>
                </a:r>
                <a:r>
                  <a:rPr lang="zh-CN" altLang="en-US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个电阻右端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电势为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故有三个电阻上的电流：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Ω</m:t>
                          </m:r>
                        </m:den>
                      </m:f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0.05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𝑚𝐴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4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0.05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𝑚𝐴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−3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6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0.05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𝑚𝐴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由虚断原理，电容的充电电流为三者之和，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t=20ms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时，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电容上的总电荷为：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q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0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𝑡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=1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𝐶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电容的初始电压为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，同时电容左侧电势恒为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，故电容两端的电压差值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,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也即输出电压为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𝑈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𝑞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𝐶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=10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64C01C5-FDEA-4C29-9E38-8BF367244C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56" y="2144261"/>
                <a:ext cx="6096000" cy="4620880"/>
              </a:xfrm>
              <a:prstGeom prst="rect">
                <a:avLst/>
              </a:prstGeom>
              <a:blipFill>
                <a:blip r:embed="rId3"/>
                <a:stretch>
                  <a:fillRect l="-800" t="-1187" r="-3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47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1AE3A5-2ADB-47C4-82EA-ED7AFB2C2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611" y="1661083"/>
            <a:ext cx="3329277" cy="43637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0241857-9046-4E4F-955B-A732EE9F6A9C}"/>
                  </a:ext>
                </a:extLst>
              </p:cNvPr>
              <p:cNvSpPr/>
              <p:nvPr/>
            </p:nvSpPr>
            <p:spPr>
              <a:xfrm>
                <a:off x="497840" y="1337917"/>
                <a:ext cx="715264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习题</a:t>
                </a:r>
                <a:r>
                  <a:rPr lang="en-US" altLang="zh-CN" dirty="0"/>
                  <a:t>10-40      </a:t>
                </a:r>
                <a:r>
                  <a:rPr lang="zh-CN" altLang="en-US" dirty="0"/>
                  <a:t>图中运放的最大输出电压为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，最大输出电流</a:t>
                </a:r>
                <a:r>
                  <a:rPr lang="en-US" altLang="zh-CN" dirty="0"/>
                  <a:t>5mA</a:t>
                </a:r>
                <a:r>
                  <a:rPr lang="zh-CN" altLang="en-US" dirty="0"/>
                  <a:t>， </a:t>
                </a:r>
                <a:endParaRPr lang="en-US" altLang="zh-CN" dirty="0"/>
              </a:p>
              <a:p>
                <a:r>
                  <a:rPr lang="en-US" altLang="zh-CN" dirty="0"/>
                  <a:t>                 </a:t>
                </a:r>
                <a:r>
                  <a:rPr lang="zh-CN" altLang="en-US" dirty="0"/>
                  <a:t>求：</a:t>
                </a:r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）负载上的电流；</a:t>
                </a:r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）负载的最大值。</a:t>
                </a:r>
                <a:r>
                  <a:rPr lang="en-US" altLang="zh-CN" dirty="0"/>
                  <a:t>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0241857-9046-4E4F-955B-A732EE9F6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" y="1337917"/>
                <a:ext cx="7152640" cy="1200329"/>
              </a:xfrm>
              <a:prstGeom prst="rect">
                <a:avLst/>
              </a:prstGeom>
              <a:blipFill>
                <a:blip r:embed="rId3"/>
                <a:stretch>
                  <a:fillRect l="-767" t="-2538" r="-3922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CD5E9A0-CB59-47C2-B178-D5F35D500782}"/>
                  </a:ext>
                </a:extLst>
              </p:cNvPr>
              <p:cNvSpPr/>
              <p:nvPr/>
            </p:nvSpPr>
            <p:spPr>
              <a:xfrm>
                <a:off x="1235004" y="2965818"/>
                <a:ext cx="6665607" cy="17543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）由虚短原理，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两侧电压为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1V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，即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2mA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          由虚断原理，负载上的电流等于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上的电流，即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2mA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）运放的输出电压等于负载上的电压加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上的电压：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  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故有负载的最大值为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4.5kΩ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0CD5E9A0-CB59-47C2-B178-D5F35D500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004" y="2965818"/>
                <a:ext cx="6665607" cy="1754326"/>
              </a:xfrm>
              <a:prstGeom prst="rect">
                <a:avLst/>
              </a:prstGeom>
              <a:blipFill>
                <a:blip r:embed="rId4"/>
                <a:stretch>
                  <a:fillRect l="-823" t="-3136" r="-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099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FE2A2BD-91E0-4D49-9CE4-81A3867FA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564" y="1565812"/>
            <a:ext cx="3501120" cy="45606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DDA92D9-0782-4FCA-8535-6E87EEC0791B}"/>
                  </a:ext>
                </a:extLst>
              </p:cNvPr>
              <p:cNvSpPr/>
              <p:nvPr/>
            </p:nvSpPr>
            <p:spPr>
              <a:xfrm>
                <a:off x="548640" y="1369536"/>
                <a:ext cx="6096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dirty="0"/>
                  <a:t>习题</a:t>
                </a:r>
                <a:r>
                  <a:rPr lang="en-US" altLang="zh-CN" dirty="0"/>
                  <a:t>10-46     </a:t>
                </a:r>
                <a:r>
                  <a:rPr lang="zh-CN" altLang="en-US" dirty="0"/>
                  <a:t>图中是晶体管的</a:t>
                </a:r>
                <a:r>
                  <a:rPr lang="en-US" altLang="zh-CN" dirty="0"/>
                  <a:t>β</a:t>
                </a:r>
                <a:r>
                  <a:rPr lang="zh-CN" altLang="en-US" dirty="0"/>
                  <a:t>测试电路，设运放是理想的，                  </a:t>
                </a:r>
                <a:endParaRPr lang="en-US" altLang="zh-CN" dirty="0"/>
              </a:p>
              <a:p>
                <a:r>
                  <a:rPr lang="en-US" altLang="zh-CN" dirty="0"/>
                  <a:t>                  </a:t>
                </a:r>
                <a:r>
                  <a:rPr lang="zh-CN" altLang="en-US" dirty="0"/>
                  <a:t>测试条件是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</m:oMath>
                </a14:m>
                <a:r>
                  <a:rPr lang="en-US" altLang="zh-CN" dirty="0"/>
                  <a:t>=5V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altLang="zh-CN" dirty="0"/>
                  <a:t>=1mA.</a:t>
                </a:r>
                <a:r>
                  <a:rPr lang="zh-CN" altLang="en-US" dirty="0"/>
                  <a:t>求：</a:t>
                </a:r>
                <a:endParaRPr lang="en-US" altLang="zh-CN" dirty="0"/>
              </a:p>
              <a:p>
                <a:r>
                  <a:rPr lang="zh-CN" altLang="en-US" dirty="0"/>
                  <a:t>               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en-US" altLang="zh-CN" dirty="0"/>
                  <a:t>               </a:t>
                </a: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）电流表的读数与</a:t>
                </a:r>
                <a:r>
                  <a:rPr lang="en-US" altLang="zh-CN" dirty="0"/>
                  <a:t>β</a:t>
                </a:r>
                <a:r>
                  <a:rPr lang="zh-CN" altLang="en-US" dirty="0"/>
                  <a:t>的关系。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DDA92D9-0782-4FCA-8535-6E87EEC079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369536"/>
                <a:ext cx="6096000" cy="1200329"/>
              </a:xfrm>
              <a:prstGeom prst="rect">
                <a:avLst/>
              </a:prstGeom>
              <a:blipFill>
                <a:blip r:embed="rId3"/>
                <a:stretch>
                  <a:fillRect l="-800" t="-3046" r="-3300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C2E332-6114-4AC5-A024-2A596D352507}"/>
                  </a:ext>
                </a:extLst>
              </p:cNvPr>
              <p:cNvSpPr/>
              <p:nvPr/>
            </p:nvSpPr>
            <p:spPr>
              <a:xfrm>
                <a:off x="1235004" y="2965818"/>
                <a:ext cx="5739072" cy="2357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）由虚短原理，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𝐶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𝐶𝐸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𝐸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           由虚断原理，集极电流等于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R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上的电流，故而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𝑅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𝐶𝐶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10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（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）由集极电流和基极电流的关系：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sym typeface="Wingdings" panose="05000000000000000000" pitchFamily="2" charset="2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β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𝑚𝐴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β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6C2E332-6114-4AC5-A024-2A596D352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004" y="2965818"/>
                <a:ext cx="5739072" cy="2357184"/>
              </a:xfrm>
              <a:prstGeom prst="rect">
                <a:avLst/>
              </a:prstGeom>
              <a:blipFill>
                <a:blip r:embed="rId4"/>
                <a:stretch>
                  <a:fillRect l="-956" t="-2332" r="-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218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508BD-A37B-4C40-83C5-36B0C8B8BA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8192"/>
                <a:ext cx="105156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10.2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含二极管的题型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r>
                  <a:rPr lang="en-US" altLang="zh-CN">
                    <a:latin typeface="楷体" panose="02010609060101010101" pitchFamily="49" charset="-122"/>
                    <a:ea typeface="楷体" panose="02010609060101010101" pitchFamily="49" charset="-122"/>
                  </a:rPr>
                  <a:t>10.2.1    </a:t>
                </a:r>
                <a:r>
                  <a:rPr lang="zh-CN" altLang="en-US">
                    <a:latin typeface="楷体" panose="02010609060101010101" pitchFamily="49" charset="-122"/>
                    <a:ea typeface="楷体" panose="02010609060101010101" pitchFamily="49" charset="-122"/>
                  </a:rPr>
                  <a:t>含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齐纳二极管的题型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 algn="ctr">
                  <a:buNone/>
                </a:pP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不适用的原理：虚短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规则：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＞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sub>
                    </m:sSub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       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＞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𝑜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𝑣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𝑍</m:t>
                        </m:r>
                      </m:sub>
                    </m:sSub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A2508BD-A37B-4C40-83C5-36B0C8B8BA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8192"/>
                <a:ext cx="10515600" cy="4351338"/>
              </a:xfrm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54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6F51EEC-50B9-4F32-8606-8988014F7544}"/>
              </a:ext>
            </a:extLst>
          </p:cNvPr>
          <p:cNvSpPr/>
          <p:nvPr/>
        </p:nvSpPr>
        <p:spPr>
          <a:xfrm>
            <a:off x="619760" y="143959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 dirty="0"/>
              <a:t>10-25      </a:t>
            </a:r>
            <a:r>
              <a:rPr lang="zh-CN" altLang="en-US" dirty="0"/>
              <a:t>画出图中</a:t>
            </a:r>
            <a:r>
              <a:rPr lang="en-US" altLang="zh-CN" dirty="0"/>
              <a:t>A,B,C</a:t>
            </a:r>
            <a:r>
              <a:rPr lang="zh-CN" altLang="en-US" dirty="0"/>
              <a:t>三点的波形。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7BC4AD5-1FB8-42AB-91B9-D1AE96053B11}"/>
                  </a:ext>
                </a:extLst>
              </p:cNvPr>
              <p:cNvSpPr/>
              <p:nvPr/>
            </p:nvSpPr>
            <p:spPr>
              <a:xfrm>
                <a:off x="691206" y="1904879"/>
                <a:ext cx="6301725" cy="44962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：由虚短第一个放大器的反向输入端电势为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0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；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由虚断有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20kΩ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上的电流等于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10kΩ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故有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当第二放大器反向输入端输入电压大于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，输出负无穷，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但被稳压在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-6V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；反之被稳压在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6V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最后一个放大器是电压跟随器，由虚断原理，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B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、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的电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压波形相同。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7BC4AD5-1FB8-42AB-91B9-D1AE96053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06" y="1904879"/>
                <a:ext cx="6301725" cy="4496231"/>
              </a:xfrm>
              <a:prstGeom prst="rect">
                <a:avLst/>
              </a:prstGeom>
              <a:blipFill>
                <a:blip r:embed="rId2"/>
                <a:stretch>
                  <a:fillRect l="-774" t="-1084" b="-10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CCC9C721-C019-4CA8-96CF-690506AC9AA4}"/>
              </a:ext>
            </a:extLst>
          </p:cNvPr>
          <p:cNvGrpSpPr/>
          <p:nvPr/>
        </p:nvGrpSpPr>
        <p:grpSpPr>
          <a:xfrm>
            <a:off x="2071510" y="3429000"/>
            <a:ext cx="2349547" cy="1604972"/>
            <a:chOff x="2071510" y="3429000"/>
            <a:chExt cx="2349547" cy="160497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597320BF-9517-42A0-8B64-DC8608BD1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71510" y="3429000"/>
              <a:ext cx="2349547" cy="1604972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53DA03D-4B7D-4FDC-9748-0DEEFBB3CC05}"/>
                </a:ext>
              </a:extLst>
            </p:cNvPr>
            <p:cNvSpPr txBox="1"/>
            <p:nvPr/>
          </p:nvSpPr>
          <p:spPr>
            <a:xfrm>
              <a:off x="2692400" y="3569110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2V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725DBCF-06CB-4B28-B75B-C94F3FB381D2}"/>
                </a:ext>
              </a:extLst>
            </p:cNvPr>
            <p:cNvSpPr txBox="1"/>
            <p:nvPr/>
          </p:nvSpPr>
          <p:spPr>
            <a:xfrm>
              <a:off x="2071510" y="4542720"/>
              <a:ext cx="5293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-2v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C074C56-F924-460F-A214-1881F5CEDCC0}"/>
              </a:ext>
            </a:extLst>
          </p:cNvPr>
          <p:cNvGrpSpPr/>
          <p:nvPr/>
        </p:nvGrpSpPr>
        <p:grpSpPr>
          <a:xfrm>
            <a:off x="7408636" y="3529670"/>
            <a:ext cx="3269523" cy="2554783"/>
            <a:chOff x="7408636" y="3529670"/>
            <a:chExt cx="3269523" cy="255478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AA3DC57-1814-4510-898F-E255239FA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08636" y="3529670"/>
              <a:ext cx="3269523" cy="2547713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10BF364-2458-40F9-8109-357E58DE8BC3}"/>
                </a:ext>
              </a:extLst>
            </p:cNvPr>
            <p:cNvSpPr txBox="1"/>
            <p:nvPr/>
          </p:nvSpPr>
          <p:spPr>
            <a:xfrm>
              <a:off x="7640320" y="3783662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6V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EA2F0C39-D270-4701-804F-6C465178F325}"/>
                </a:ext>
              </a:extLst>
            </p:cNvPr>
            <p:cNvSpPr txBox="1"/>
            <p:nvPr/>
          </p:nvSpPr>
          <p:spPr>
            <a:xfrm>
              <a:off x="8483437" y="5715121"/>
              <a:ext cx="5629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</a:rPr>
                <a:t>-6V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8D7C68B7-79D4-4C10-BAD2-8CF0DECCBB72}"/>
              </a:ext>
            </a:extLst>
          </p:cNvPr>
          <p:cNvSpPr/>
          <p:nvPr/>
        </p:nvSpPr>
        <p:spPr>
          <a:xfrm>
            <a:off x="5080337" y="3645162"/>
            <a:ext cx="203132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考试的时候把上升</a:t>
            </a:r>
            <a:endParaRPr lang="en-US" altLang="zh-CN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沿和下降沿都画直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8BFD8A6-F8EC-4601-9E52-FC97CFFA02E9}"/>
              </a:ext>
            </a:extLst>
          </p:cNvPr>
          <p:cNvGrpSpPr/>
          <p:nvPr/>
        </p:nvGrpSpPr>
        <p:grpSpPr>
          <a:xfrm>
            <a:off x="6096000" y="1142879"/>
            <a:ext cx="5729914" cy="2174482"/>
            <a:chOff x="6096000" y="1142879"/>
            <a:chExt cx="5729914" cy="2174482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FD03548-D5C3-4458-BB2B-D2E5C0F36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1142879"/>
              <a:ext cx="5729914" cy="2174482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5008E51-8FAB-424E-A2B1-87B63D9D255C}"/>
                </a:ext>
              </a:extLst>
            </p:cNvPr>
            <p:cNvSpPr txBox="1"/>
            <p:nvPr/>
          </p:nvSpPr>
          <p:spPr>
            <a:xfrm>
              <a:off x="8087878" y="1904879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A</a:t>
              </a:r>
              <a:endParaRPr lang="zh-CN" altLang="en-US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C59F74D-9019-4FF2-9AE2-32CDDDC6FDF4}"/>
                </a:ext>
              </a:extLst>
            </p:cNvPr>
            <p:cNvSpPr txBox="1"/>
            <p:nvPr/>
          </p:nvSpPr>
          <p:spPr>
            <a:xfrm>
              <a:off x="10221478" y="1808927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6352D64C-BAD7-40F1-965F-FEA9219852F1}"/>
                </a:ext>
              </a:extLst>
            </p:cNvPr>
            <p:cNvSpPr txBox="1"/>
            <p:nvPr/>
          </p:nvSpPr>
          <p:spPr>
            <a:xfrm>
              <a:off x="11260092" y="1904879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528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A32261D-8724-4601-81D5-0DD640E1C5B1}"/>
              </a:ext>
            </a:extLst>
          </p:cNvPr>
          <p:cNvSpPr/>
          <p:nvPr/>
        </p:nvSpPr>
        <p:spPr>
          <a:xfrm>
            <a:off x="465668" y="1344414"/>
            <a:ext cx="5317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10-26</a:t>
            </a:r>
            <a:r>
              <a:rPr lang="en-US" altLang="zh-CN" dirty="0"/>
              <a:t>      </a:t>
            </a:r>
            <a:r>
              <a:rPr lang="zh-CN" altLang="en-US" dirty="0"/>
              <a:t>画出图中电路的电压传输特性曲线。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BE26B60-883C-4BA0-9BD8-4ECC47F54EA9}"/>
                  </a:ext>
                </a:extLst>
              </p:cNvPr>
              <p:cNvSpPr/>
              <p:nvPr/>
            </p:nvSpPr>
            <p:spPr>
              <a:xfrm>
                <a:off x="977469" y="1836265"/>
                <a:ext cx="6340197" cy="39233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：这是一个迟滞回环比较器，找到翻转点即可画出曲线。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当输出被稳压在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6V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，由叠加定理，放大器同相端的电压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 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为：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当反向端输入电压高于此值时输出电压翻转，变为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-6V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此时又由叠加定理，同相端电压为：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−6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+10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·3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=−3</m:t>
                      </m:r>
                      <m:r>
                        <a:rPr lang="en-US" altLang="zh-CN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当反向端输入电压低于此值时输出电压翻转，变为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6V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则有：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endParaRPr lang="en-US" altLang="zh-CN" dirty="0"/>
              </a:p>
              <a:p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BE26B60-883C-4BA0-9BD8-4ECC47F54E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69" y="1836265"/>
                <a:ext cx="6340197" cy="3923382"/>
              </a:xfrm>
              <a:prstGeom prst="rect">
                <a:avLst/>
              </a:prstGeom>
              <a:blipFill>
                <a:blip r:embed="rId2"/>
                <a:stretch>
                  <a:fillRect l="-769" t="-1242" r="-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30389A65-3C25-4A4B-94D6-FA5A5FC22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647" y="1344414"/>
            <a:ext cx="4423831" cy="39286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EB671A-BB89-479A-87D0-178577C93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835" y="4761163"/>
            <a:ext cx="2672910" cy="174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20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F488844-4DC9-43CC-AB39-1278D03F5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27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10.2.2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二极管作乘除法器的题型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附加模型：二极管的电压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电流关系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BA004D-6C12-4393-8504-6D72738E182F}"/>
                  </a:ext>
                </a:extLst>
              </p:cNvPr>
              <p:cNvSpPr txBox="1"/>
              <p:nvPr/>
            </p:nvSpPr>
            <p:spPr>
              <a:xfrm>
                <a:off x="6685280" y="3447259"/>
                <a:ext cx="2287293" cy="437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1BA004D-6C12-4393-8504-6D72738E1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5280" y="3447259"/>
                <a:ext cx="2287293" cy="4373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77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C52E56D-8EEB-4A56-9366-98E34977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883" y="2112595"/>
            <a:ext cx="6124731" cy="368945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9AEDCB1-252E-4D21-83C6-8EA35DD2CC45}"/>
              </a:ext>
            </a:extLst>
          </p:cNvPr>
          <p:cNvSpPr/>
          <p:nvPr/>
        </p:nvSpPr>
        <p:spPr>
          <a:xfrm>
            <a:off x="375762" y="1399609"/>
            <a:ext cx="6340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习题</a:t>
            </a:r>
            <a:r>
              <a:rPr lang="en-US" altLang="zh-CN" dirty="0">
                <a:solidFill>
                  <a:srgbClr val="FF0000"/>
                </a:solidFill>
              </a:rPr>
              <a:t>10-23</a:t>
            </a:r>
            <a:r>
              <a:rPr lang="en-US" altLang="zh-CN" dirty="0"/>
              <a:t>      </a:t>
            </a:r>
            <a:r>
              <a:rPr lang="zh-CN" altLang="en-US" dirty="0"/>
              <a:t>设</a:t>
            </a:r>
            <a:r>
              <a:rPr lang="en-US" altLang="zh-CN" dirty="0"/>
              <a:t>D1</a:t>
            </a:r>
            <a:r>
              <a:rPr lang="zh-CN" altLang="en-US" dirty="0"/>
              <a:t>和</a:t>
            </a:r>
            <a:r>
              <a:rPr lang="en-US" altLang="zh-CN" dirty="0"/>
              <a:t>D2</a:t>
            </a:r>
            <a:r>
              <a:rPr lang="zh-CN" altLang="en-US" dirty="0"/>
              <a:t>相同，推导图中输入与输出的关系。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B9BBA4A-F424-4FFB-877E-B863720AF450}"/>
                  </a:ext>
                </a:extLst>
              </p:cNvPr>
              <p:cNvSpPr/>
              <p:nvPr/>
            </p:nvSpPr>
            <p:spPr>
              <a:xfrm>
                <a:off x="1014298" y="1927929"/>
                <a:ext cx="4900701" cy="46917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：由虚短和虚断可以推得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D1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和</a:t>
                </a:r>
                <a:r>
                  <a:rPr lang="en-US" altLang="zh-CN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D2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上的电流：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即得：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又由虚短即得输出电流：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由虚断可知，输出电压为：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𝑖𝑅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𝑙𝑛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B9BBA4A-F424-4FFB-877E-B863720AF4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98" y="1927929"/>
                <a:ext cx="4900701" cy="4691797"/>
              </a:xfrm>
              <a:prstGeom prst="rect">
                <a:avLst/>
              </a:prstGeom>
              <a:blipFill>
                <a:blip r:embed="rId3"/>
                <a:stretch>
                  <a:fillRect l="-995" t="-1039" r="-4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50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F2350A-178A-4EE7-BB74-62FA8C0DA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40" y="178491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10.2.3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二极管作单向导通用的题型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一般出题会是方波发生电路，用于调占空比（相对简单）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在其他电路中也有应用（关键在于判断二极管是否导通）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646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C53E82-A33D-4A7C-A718-9515A10DC794}"/>
              </a:ext>
            </a:extLst>
          </p:cNvPr>
          <p:cNvSpPr/>
          <p:nvPr/>
        </p:nvSpPr>
        <p:spPr>
          <a:xfrm>
            <a:off x="446862" y="1334254"/>
            <a:ext cx="5739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习题</a:t>
            </a:r>
            <a:r>
              <a:rPr lang="en-US" altLang="zh-CN"/>
              <a:t>10-33      G</a:t>
            </a:r>
            <a:r>
              <a:rPr lang="zh-CN" altLang="en-US"/>
              <a:t>设</a:t>
            </a:r>
            <a:r>
              <a:rPr lang="en-US" altLang="zh-CN" dirty="0"/>
              <a:t>R4=0.1R5</a:t>
            </a:r>
            <a:r>
              <a:rPr lang="zh-CN" altLang="en-US" dirty="0"/>
              <a:t>，画出输出波形的示意图。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3722D4-BF4E-4C9F-A4BD-DF90C2C4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70" y="1433725"/>
            <a:ext cx="4926468" cy="48643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336F5C6-5EBF-42EC-8C81-526465814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02" y="3569319"/>
            <a:ext cx="5256950" cy="25883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FBF537C-2843-4B6D-A413-9408E156B311}"/>
                  </a:ext>
                </a:extLst>
              </p:cNvPr>
              <p:cNvSpPr/>
              <p:nvPr/>
            </p:nvSpPr>
            <p:spPr>
              <a:xfrm>
                <a:off x="855394" y="1811354"/>
                <a:ext cx="5609228" cy="147732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=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  <a:sym typeface="Wingdings" panose="05000000000000000000" pitchFamily="2" charset="2"/>
                        </a:rPr>
                        <m:t>0.1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sym typeface="Wingdings" panose="05000000000000000000" pitchFamily="2" charset="2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       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D2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导通时的充电速度是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D1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导通时的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倍，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即输出为正的时间为输出位负的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1/10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由于齐纳二极管的稳压作用，波形为方波，则：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FBF537C-2843-4B6D-A413-9408E156B3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94" y="1811354"/>
                <a:ext cx="5609228" cy="1477328"/>
              </a:xfrm>
              <a:prstGeom prst="rect">
                <a:avLst/>
              </a:prstGeom>
              <a:blipFill>
                <a:blip r:embed="rId5"/>
                <a:stretch>
                  <a:fillRect l="-870" t="-3306" b="-57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28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7B9EDE2-3A59-4AA1-804A-A1F2B4DE1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819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10.3 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电路设计题型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 algn="ctr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关键：熟悉各种集成运放应用的电路图和</a:t>
            </a:r>
            <a:r>
              <a:rPr lang="zh-CN" altLang="en-US" b="1" i="1" u="sng" dirty="0">
                <a:latin typeface="楷体" panose="02010609060101010101" pitchFamily="49" charset="-122"/>
                <a:ea typeface="楷体" panose="02010609060101010101" pitchFamily="49" charset="-122"/>
              </a:rPr>
              <a:t>输入输出关系</a:t>
            </a:r>
            <a:endParaRPr lang="en-US" altLang="zh-CN" b="1" i="1" u="sng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原理：虚短、虚断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57779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5DEC6D7-2098-4829-97F1-196C3FF099EA}"/>
                  </a:ext>
                </a:extLst>
              </p:cNvPr>
              <p:cNvSpPr/>
              <p:nvPr/>
            </p:nvSpPr>
            <p:spPr>
              <a:xfrm>
                <a:off x="471971" y="1364734"/>
                <a:ext cx="82034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/>
                  <a:t>习题</a:t>
                </a:r>
                <a:r>
                  <a:rPr lang="en-US" altLang="zh-CN" dirty="0"/>
                  <a:t>10-13       </a:t>
                </a:r>
                <a:r>
                  <a:rPr lang="zh-CN" altLang="en-US" dirty="0"/>
                  <a:t>用一个运放设计一个同相加法器，使其输出为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+4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。</a:t>
                </a:r>
                <a:r>
                  <a:rPr lang="en-US" altLang="zh-CN" dirty="0"/>
                  <a:t> 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5DEC6D7-2098-4829-97F1-196C3FF099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71" y="1364734"/>
                <a:ext cx="8203400" cy="369332"/>
              </a:xfrm>
              <a:prstGeom prst="rect">
                <a:avLst/>
              </a:prstGeom>
              <a:blipFill>
                <a:blip r:embed="rId2"/>
                <a:stretch>
                  <a:fillRect l="-594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D5C6F211-5754-4C18-BAC0-36EE204FC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782" y="2419293"/>
            <a:ext cx="5397177" cy="2877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D2AE49A-AD7D-4B63-B471-2E90BA0FE8C2}"/>
                  </a:ext>
                </a:extLst>
              </p:cNvPr>
              <p:cNvSpPr/>
              <p:nvPr/>
            </p:nvSpPr>
            <p:spPr>
              <a:xfrm>
                <a:off x="855394" y="1892013"/>
                <a:ext cx="3893245" cy="41023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Cambria" panose="02040503050406030204" pitchFamily="18" charset="0"/>
                  </a:rPr>
                  <a:t>解</a:t>
                </a:r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：由虚短和虚断推出关系式：</a:t>
                </a:r>
                <a:endParaRPr lang="en-US" altLang="zh-CN" dirty="0">
                  <a:latin typeface="Cambria" panose="02040503050406030204" pitchFamily="18" charset="0"/>
                  <a:ea typeface="楷体" panose="02010609060101010101" pitchFamily="49" charset="-122"/>
                  <a:sym typeface="Wingdings" panose="05000000000000000000" pitchFamily="2" charset="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b="0" dirty="0"/>
              </a:p>
              <a:p>
                <a:r>
                  <a:rPr lang="zh-CN" altLang="en-US" dirty="0">
                    <a:latin typeface="Cambria" panose="02040503050406030204" pitchFamily="18" charset="0"/>
                    <a:ea typeface="楷体" panose="02010609060101010101" pitchFamily="49" charset="-122"/>
                    <a:sym typeface="Wingdings" panose="05000000000000000000" pitchFamily="2" charset="2"/>
                  </a:rPr>
                  <a:t>        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化简为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即得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=6      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不妨取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9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𝑓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36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4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Ω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D2AE49A-AD7D-4B63-B471-2E90BA0FE8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94" y="1892013"/>
                <a:ext cx="3893245" cy="4102341"/>
              </a:xfrm>
              <a:prstGeom prst="rect">
                <a:avLst/>
              </a:prstGeom>
              <a:blipFill>
                <a:blip r:embed="rId4"/>
                <a:stretch>
                  <a:fillRect l="-1252" t="-1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642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4C95EA-59DB-4C8F-A041-74DA0464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01761-2089-48ED-9A84-4EF2CD87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以上讲的所有内容，只适合于应试和理论计算。如果想要在模电上面有更大的提高，达到理论应用于实践的层次，请务必认真仔细的阅读模电相关的书籍，了解各类电子元件相应的参数及其意义。同时利用仿真软件，可以加快对电路的理解。最终应用到实际里，面包板是练手的最佳</a:t>
            </a:r>
            <a:r>
              <a:rPr lang="zh-CN" altLang="en-US"/>
              <a:t>伙伴</a:t>
            </a:r>
            <a:r>
              <a:rPr lang="zh-CN" altLang="en-US" strike="sngStrike"/>
              <a:t>虽然它总是</a:t>
            </a:r>
            <a:r>
              <a:rPr lang="zh-CN" altLang="en-US" strike="sngStrike" dirty="0"/>
              <a:t>间歇性抽筋</a:t>
            </a:r>
            <a:r>
              <a:rPr lang="zh-CN" altLang="en-US" dirty="0"/>
              <a:t>，练习焊接操作也是必要的。（打个广告，推荐赵二刚老师的工程训练课）</a:t>
            </a:r>
            <a:endParaRPr lang="en-US" altLang="zh-CN" dirty="0"/>
          </a:p>
          <a:p>
            <a:r>
              <a:rPr lang="zh-CN" altLang="en-US" dirty="0"/>
              <a:t>想要掌握各种模型，务必多做一些相对简单的习题，做多了自然就对模型熟悉了。也可以挑战一些比较复杂的题目，加深对模型的印象。</a:t>
            </a:r>
            <a:endParaRPr lang="en-US" altLang="zh-CN" dirty="0"/>
          </a:p>
          <a:p>
            <a:r>
              <a:rPr lang="zh-CN" altLang="en-US" dirty="0"/>
              <a:t>最后一道设计题一般都是加法器，参数上也不会有太多的要求，不会出的太难，着重看一下加法器再兼带的看一下乘法器问题应该不大。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532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2758</TotalTime>
  <Words>5240</Words>
  <Application>Microsoft Office PowerPoint</Application>
  <PresentationFormat>宽屏</PresentationFormat>
  <Paragraphs>593</Paragraphs>
  <Slides>61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0" baseType="lpstr">
      <vt:lpstr>KaiTi</vt:lpstr>
      <vt:lpstr>等线</vt:lpstr>
      <vt:lpstr>等线 Light</vt:lpstr>
      <vt:lpstr>华文行楷</vt:lpstr>
      <vt:lpstr>楷体</vt:lpstr>
      <vt:lpstr>Arial</vt:lpstr>
      <vt:lpstr>Cambria</vt:lpstr>
      <vt:lpstr>Cambria Math</vt:lpstr>
      <vt:lpstr>Office 主题​​</vt:lpstr>
      <vt:lpstr>模电习题解答</vt:lpstr>
      <vt:lpstr>一个核心思想</vt:lpstr>
      <vt:lpstr>第六章  放大器的单元电路</vt:lpstr>
      <vt:lpstr>6.1.1 计算静态工作点</vt:lpstr>
      <vt:lpstr>PowerPoint 演示文稿</vt:lpstr>
      <vt:lpstr>6.1.2 BJT的h参数模型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PowerPoint 演示文稿</vt:lpstr>
      <vt:lpstr>PowerPoint 演示文稿</vt:lpstr>
      <vt:lpstr>第七章  放大器的频率特性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第八章  模拟集成电路中的单元电路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第九章  负反馈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第十章  集成运算放大器的运用                             （习题10-4略，请自己看书上396页）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模电习题</dc:title>
  <dc:creator>RazLitt Rita</dc:creator>
  <cp:lastModifiedBy>RazLitt Rita</cp:lastModifiedBy>
  <cp:revision>209</cp:revision>
  <dcterms:created xsi:type="dcterms:W3CDTF">2018-12-22T12:47:23Z</dcterms:created>
  <dcterms:modified xsi:type="dcterms:W3CDTF">2018-12-28T09:25:11Z</dcterms:modified>
</cp:coreProperties>
</file>