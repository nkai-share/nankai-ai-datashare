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52" r:id="rId2"/>
    <p:sldMasterId id="2147484280" r:id="rId3"/>
    <p:sldMasterId id="2147484308" r:id="rId4"/>
  </p:sldMasterIdLst>
  <p:notesMasterIdLst>
    <p:notesMasterId r:id="rId14"/>
  </p:notesMasterIdLst>
  <p:sldIdLst>
    <p:sldId id="787" r:id="rId5"/>
    <p:sldId id="813" r:id="rId6"/>
    <p:sldId id="814" r:id="rId7"/>
    <p:sldId id="815" r:id="rId8"/>
    <p:sldId id="817" r:id="rId9"/>
    <p:sldId id="806" r:id="rId10"/>
    <p:sldId id="821" r:id="rId11"/>
    <p:sldId id="820" r:id="rId12"/>
    <p:sldId id="762" r:id="rId13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00FF00"/>
    <a:srgbClr val="000099"/>
    <a:srgbClr val="FF9900"/>
    <a:srgbClr val="003300"/>
    <a:srgbClr val="FFFF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12" autoAdjust="0"/>
    <p:restoredTop sz="74381" autoAdjust="0"/>
  </p:normalViewPr>
  <p:slideViewPr>
    <p:cSldViewPr>
      <p:cViewPr varScale="1">
        <p:scale>
          <a:sx n="86" d="100"/>
          <a:sy n="86" d="100"/>
        </p:scale>
        <p:origin x="160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i="0"/>
            </a:lvl1pPr>
          </a:lstStyle>
          <a:p>
            <a:pPr>
              <a:defRPr/>
            </a:pPr>
            <a:fld id="{0F5B98AC-86A1-49E4-8B07-26BA7427D4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28491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858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541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9776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60035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3666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5818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608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4676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0981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54671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600200"/>
            <a:ext cx="2057400" cy="45259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19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15489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243756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32840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82002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66208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49970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579024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40178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52822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56363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59275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600200"/>
            <a:ext cx="2057400" cy="45259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19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800014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2924876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830954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367304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868461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708540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873339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71661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460135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329541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574407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600200"/>
            <a:ext cx="2057400" cy="45259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19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947153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6"/>
          <p:cNvSpPr>
            <a:spLocks noChangeArrowheads="1"/>
          </p:cNvSpPr>
          <p:nvPr/>
        </p:nvSpPr>
        <p:spPr bwMode="auto">
          <a:xfrm>
            <a:off x="0" y="0"/>
            <a:ext cx="9144000" cy="4497388"/>
          </a:xfrm>
          <a:prstGeom prst="roundRect">
            <a:avLst>
              <a:gd name="adj" fmla="val 32"/>
            </a:avLst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1143000" y="2422525"/>
            <a:ext cx="7999413" cy="276225"/>
            <a:chOff x="720" y="1526"/>
            <a:chExt cx="5039" cy="174"/>
          </a:xfrm>
        </p:grpSpPr>
        <p:sp>
          <p:nvSpPr>
            <p:cNvPr id="6" name="Line 18"/>
            <p:cNvSpPr>
              <a:spLocks noChangeShapeType="1"/>
            </p:cNvSpPr>
            <p:nvPr/>
          </p:nvSpPr>
          <p:spPr bwMode="auto">
            <a:xfrm flipH="1">
              <a:off x="719" y="1526"/>
              <a:ext cx="5042" cy="1"/>
            </a:xfrm>
            <a:prstGeom prst="line">
              <a:avLst/>
            </a:prstGeom>
            <a:noFill/>
            <a:ln w="9360">
              <a:solidFill>
                <a:srgbClr val="BABDB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19"/>
            <p:cNvSpPr>
              <a:spLocks noChangeShapeType="1"/>
            </p:cNvSpPr>
            <p:nvPr/>
          </p:nvSpPr>
          <p:spPr bwMode="auto">
            <a:xfrm>
              <a:off x="1266" y="1528"/>
              <a:ext cx="1" cy="173"/>
            </a:xfrm>
            <a:prstGeom prst="line">
              <a:avLst/>
            </a:prstGeom>
            <a:noFill/>
            <a:ln w="9360">
              <a:solidFill>
                <a:srgbClr val="BABDB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" name="AutoShape 20"/>
          <p:cNvSpPr>
            <a:spLocks noChangeArrowheads="1"/>
          </p:cNvSpPr>
          <p:nvPr/>
        </p:nvSpPr>
        <p:spPr bwMode="auto">
          <a:xfrm>
            <a:off x="4687888" y="4486275"/>
            <a:ext cx="4456112" cy="61913"/>
          </a:xfrm>
          <a:prstGeom prst="roundRect">
            <a:avLst>
              <a:gd name="adj" fmla="val 2630"/>
            </a:avLst>
          </a:prstGeom>
          <a:solidFill>
            <a:srgbClr val="4D44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21"/>
          <p:cNvSpPr>
            <a:spLocks noChangeArrowheads="1"/>
          </p:cNvSpPr>
          <p:nvPr/>
        </p:nvSpPr>
        <p:spPr bwMode="auto">
          <a:xfrm>
            <a:off x="2014538" y="4241800"/>
            <a:ext cx="7129462" cy="165100"/>
          </a:xfrm>
          <a:prstGeom prst="roundRect">
            <a:avLst>
              <a:gd name="adj" fmla="val 958"/>
            </a:avLst>
          </a:prstGeom>
          <a:solidFill>
            <a:srgbClr val="B6C9C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22"/>
          <p:cNvSpPr>
            <a:spLocks noChangeArrowheads="1"/>
          </p:cNvSpPr>
          <p:nvPr/>
        </p:nvSpPr>
        <p:spPr bwMode="auto">
          <a:xfrm>
            <a:off x="1146175" y="4398963"/>
            <a:ext cx="7997825" cy="96837"/>
          </a:xfrm>
          <a:prstGeom prst="roundRect">
            <a:avLst>
              <a:gd name="adj" fmla="val 1667"/>
            </a:avLst>
          </a:prstGeom>
          <a:solidFill>
            <a:srgbClr val="6484A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23"/>
          <p:cNvSpPr>
            <a:spLocks noChangeShapeType="1"/>
          </p:cNvSpPr>
          <p:nvPr/>
        </p:nvSpPr>
        <p:spPr bwMode="auto">
          <a:xfrm flipH="1">
            <a:off x="1141413" y="2422525"/>
            <a:ext cx="8004175" cy="1588"/>
          </a:xfrm>
          <a:prstGeom prst="line">
            <a:avLst/>
          </a:prstGeom>
          <a:noFill/>
          <a:ln w="936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24"/>
          <p:cNvSpPr>
            <a:spLocks noChangeShapeType="1"/>
          </p:cNvSpPr>
          <p:nvPr/>
        </p:nvSpPr>
        <p:spPr bwMode="auto">
          <a:xfrm>
            <a:off x="2009775" y="2425700"/>
            <a:ext cx="1588" cy="274638"/>
          </a:xfrm>
          <a:prstGeom prst="line">
            <a:avLst/>
          </a:prstGeom>
          <a:noFill/>
          <a:ln w="936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" name="Picture 25" descr="image0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013" y="5300663"/>
            <a:ext cx="2662237" cy="82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26"/>
          <p:cNvSpPr txBox="1">
            <a:spLocks noChangeArrowheads="1"/>
          </p:cNvSpPr>
          <p:nvPr/>
        </p:nvSpPr>
        <p:spPr bwMode="auto">
          <a:xfrm>
            <a:off x="1044575" y="5345113"/>
            <a:ext cx="4105275" cy="785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</a:rPr>
              <a:t>机器人与信息自动化研究所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200" b="1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fornian FB" pitchFamily="18" charset="0"/>
              </a:rPr>
              <a:t>Institute of Robotics &amp; Automatic Information System</a:t>
            </a:r>
          </a:p>
        </p:txBody>
      </p:sp>
      <p:pic>
        <p:nvPicPr>
          <p:cNvPr id="15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5410200"/>
            <a:ext cx="54451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7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1263650" y="1125538"/>
            <a:ext cx="7772400" cy="1271587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altLang="zh-CN" noProof="0"/>
              <a:t>Click to edit the title text format</a:t>
            </a:r>
            <a:endParaRPr lang="en-US" altLang="zh-CN" noProof="0"/>
          </a:p>
        </p:txBody>
      </p:sp>
      <p:sp>
        <p:nvSpPr>
          <p:cNvPr id="45068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68538" y="2638425"/>
            <a:ext cx="6400800" cy="1295400"/>
          </a:xfrm>
        </p:spPr>
        <p:txBody>
          <a:bodyPr/>
          <a:lstStyle>
            <a:lvl1pPr marL="0" indent="0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altLang="zh-CN" noProof="0"/>
              <a:t>Click to edit the title text format</a:t>
            </a:r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8938582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106554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354571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341438"/>
            <a:ext cx="4135438" cy="47418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1688" y="1341438"/>
            <a:ext cx="4137025" cy="47418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936384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224289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176123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9970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020448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7610147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390336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4638" y="476250"/>
            <a:ext cx="2124075" cy="56070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5" y="476250"/>
            <a:ext cx="6221413" cy="56070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412361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476250"/>
            <a:ext cx="7921625" cy="711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341438"/>
            <a:ext cx="4135438" cy="474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1688" y="1341438"/>
            <a:ext cx="4137025" cy="474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29704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AutoShape 7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 sz="2400" b="1" i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Institute of Robotics and Automatic Information System</a:t>
            </a:r>
          </a:p>
        </p:txBody>
      </p:sp>
      <p:sp>
        <p:nvSpPr>
          <p:cNvPr id="2051" name="AutoShape 8"/>
          <p:cNvSpPr>
            <a:spLocks noChangeArrowheads="1"/>
          </p:cNvSpPr>
          <p:nvPr/>
        </p:nvSpPr>
        <p:spPr bwMode="auto">
          <a:xfrm>
            <a:off x="0" y="0"/>
            <a:ext cx="9144000" cy="4487863"/>
          </a:xfrm>
          <a:prstGeom prst="roundRect">
            <a:avLst>
              <a:gd name="adj" fmla="val 32"/>
            </a:avLst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63713" y="2241550"/>
            <a:ext cx="602932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the title text format</a:t>
            </a:r>
          </a:p>
        </p:txBody>
      </p:sp>
      <p:pic>
        <p:nvPicPr>
          <p:cNvPr id="2053" name="Picture 13" descr="image01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013" y="5300663"/>
            <a:ext cx="2662237" cy="82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6" name="Text Box 14"/>
          <p:cNvSpPr txBox="1">
            <a:spLocks noChangeArrowheads="1"/>
          </p:cNvSpPr>
          <p:nvPr/>
        </p:nvSpPr>
        <p:spPr bwMode="auto">
          <a:xfrm>
            <a:off x="1044575" y="5345113"/>
            <a:ext cx="4105275" cy="7858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i="0">
                <a:solidFill>
                  <a:srgbClr val="80008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Palatino Linotype" pitchFamily="18" charset="0"/>
              </a:rPr>
              <a:t>机器人与信息自动化研究所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200" b="1" i="0">
                <a:solidFill>
                  <a:srgbClr val="80008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alifornian FB" pitchFamily="18" charset="0"/>
              </a:rPr>
              <a:t>Institute of Robotics &amp; Automatic Information System</a:t>
            </a:r>
          </a:p>
        </p:txBody>
      </p:sp>
      <p:pic>
        <p:nvPicPr>
          <p:cNvPr id="2055" name="Picture 1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5410200"/>
            <a:ext cx="54451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57" r:id="rId1"/>
    <p:sldLayoutId id="2147484258" r:id="rId2"/>
    <p:sldLayoutId id="2147484259" r:id="rId3"/>
    <p:sldLayoutId id="2147484260" r:id="rId4"/>
    <p:sldLayoutId id="2147484261" r:id="rId5"/>
    <p:sldLayoutId id="2147484262" r:id="rId6"/>
    <p:sldLayoutId id="2147484263" r:id="rId7"/>
    <p:sldLayoutId id="2147484264" r:id="rId8"/>
    <p:sldLayoutId id="2147484265" r:id="rId9"/>
    <p:sldLayoutId id="2147484266" r:id="rId10"/>
    <p:sldLayoutId id="214748426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AutoShap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 sz="2400" b="1" i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Institute of Robotics and Automatic Information System</a:t>
            </a:r>
          </a:p>
        </p:txBody>
      </p:sp>
      <p:sp>
        <p:nvSpPr>
          <p:cNvPr id="3075" name="AutoShape 3"/>
          <p:cNvSpPr>
            <a:spLocks noChangeArrowheads="1"/>
          </p:cNvSpPr>
          <p:nvPr/>
        </p:nvSpPr>
        <p:spPr bwMode="auto">
          <a:xfrm>
            <a:off x="0" y="0"/>
            <a:ext cx="9144000" cy="4487863"/>
          </a:xfrm>
          <a:prstGeom prst="roundRect">
            <a:avLst>
              <a:gd name="adj" fmla="val 32"/>
            </a:avLst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763713" y="2241550"/>
            <a:ext cx="602932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9" r:id="rId2"/>
    <p:sldLayoutId id="2147484270" r:id="rId3"/>
    <p:sldLayoutId id="2147484271" r:id="rId4"/>
    <p:sldLayoutId id="2147484272" r:id="rId5"/>
    <p:sldLayoutId id="2147484273" r:id="rId6"/>
    <p:sldLayoutId id="2147484274" r:id="rId7"/>
    <p:sldLayoutId id="2147484275" r:id="rId8"/>
    <p:sldLayoutId id="2147484276" r:id="rId9"/>
    <p:sldLayoutId id="2147484277" r:id="rId10"/>
    <p:sldLayoutId id="214748427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AutoShap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 sz="2400" b="1" i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Institute of Robotics and Automatic Information System</a:t>
            </a:r>
          </a:p>
        </p:txBody>
      </p:sp>
      <p:sp>
        <p:nvSpPr>
          <p:cNvPr id="3075" name="AutoShape 3"/>
          <p:cNvSpPr>
            <a:spLocks noChangeArrowheads="1"/>
          </p:cNvSpPr>
          <p:nvPr/>
        </p:nvSpPr>
        <p:spPr bwMode="auto">
          <a:xfrm>
            <a:off x="0" y="0"/>
            <a:ext cx="9144000" cy="4487863"/>
          </a:xfrm>
          <a:prstGeom prst="roundRect">
            <a:avLst>
              <a:gd name="adj" fmla="val 32"/>
            </a:avLst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i="0">
              <a:solidFill>
                <a:srgbClr val="000000"/>
              </a:solidFill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763713" y="2241550"/>
            <a:ext cx="6029325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the title text format</a:t>
            </a:r>
          </a:p>
        </p:txBody>
      </p:sp>
    </p:spTree>
    <p:extLst>
      <p:ext uri="{BB962C8B-B14F-4D97-AF65-F5344CB8AC3E}">
        <p14:creationId xmlns:p14="http://schemas.microsoft.com/office/powerpoint/2010/main" val="3639833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1" r:id="rId1"/>
    <p:sldLayoutId id="2147484282" r:id="rId2"/>
    <p:sldLayoutId id="2147484283" r:id="rId3"/>
    <p:sldLayoutId id="2147484284" r:id="rId4"/>
    <p:sldLayoutId id="2147484285" r:id="rId5"/>
    <p:sldLayoutId id="2147484286" r:id="rId6"/>
    <p:sldLayoutId id="2147484287" r:id="rId7"/>
    <p:sldLayoutId id="2147484288" r:id="rId8"/>
    <p:sldLayoutId id="2147484289" r:id="rId9"/>
    <p:sldLayoutId id="2147484290" r:id="rId10"/>
    <p:sldLayoutId id="214748429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49" charset="-122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7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341438"/>
            <a:ext cx="8424863" cy="474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 dirty="0"/>
              <a:t>Click to edit the title text format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7" name="AutoShape 17"/>
          <p:cNvSpPr>
            <a:spLocks noChangeArrowheads="1"/>
          </p:cNvSpPr>
          <p:nvPr/>
        </p:nvSpPr>
        <p:spPr bwMode="auto">
          <a:xfrm>
            <a:off x="3175" y="0"/>
            <a:ext cx="9144000" cy="304800"/>
          </a:xfrm>
          <a:prstGeom prst="roundRect">
            <a:avLst>
              <a:gd name="adj" fmla="val 519"/>
            </a:avLst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AutoShape 18"/>
          <p:cNvSpPr>
            <a:spLocks noChangeArrowheads="1"/>
          </p:cNvSpPr>
          <p:nvPr/>
        </p:nvSpPr>
        <p:spPr bwMode="auto">
          <a:xfrm>
            <a:off x="4763" y="6721475"/>
            <a:ext cx="9144000" cy="92075"/>
          </a:xfrm>
          <a:prstGeom prst="roundRect">
            <a:avLst>
              <a:gd name="adj" fmla="val 1722"/>
            </a:avLst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9" name="AutoShape 19"/>
          <p:cNvSpPr>
            <a:spLocks noChangeArrowheads="1"/>
          </p:cNvSpPr>
          <p:nvPr/>
        </p:nvSpPr>
        <p:spPr bwMode="auto">
          <a:xfrm>
            <a:off x="550863" y="6811963"/>
            <a:ext cx="8593137" cy="46037"/>
          </a:xfrm>
          <a:prstGeom prst="roundRect">
            <a:avLst>
              <a:gd name="adj" fmla="val 3569"/>
            </a:avLst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0" name="AutoShape 20"/>
          <p:cNvSpPr>
            <a:spLocks noChangeArrowheads="1"/>
          </p:cNvSpPr>
          <p:nvPr/>
        </p:nvSpPr>
        <p:spPr bwMode="auto">
          <a:xfrm>
            <a:off x="1528763" y="6556375"/>
            <a:ext cx="7620000" cy="165100"/>
          </a:xfrm>
          <a:prstGeom prst="roundRect">
            <a:avLst>
              <a:gd name="adj" fmla="val 958"/>
            </a:avLst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031" name="Picture 21" descr="image00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888" y="404813"/>
            <a:ext cx="7874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2" name="Group 25"/>
          <p:cNvGrpSpPr>
            <a:grpSpLocks/>
          </p:cNvGrpSpPr>
          <p:nvPr/>
        </p:nvGrpSpPr>
        <p:grpSpPr bwMode="auto">
          <a:xfrm>
            <a:off x="250825" y="6165850"/>
            <a:ext cx="4105275" cy="431800"/>
            <a:chOff x="158" y="3884"/>
            <a:chExt cx="2586" cy="272"/>
          </a:xfrm>
        </p:grpSpPr>
        <p:sp>
          <p:nvSpPr>
            <p:cNvPr id="44048" name="Text Box 16"/>
            <p:cNvSpPr txBox="1">
              <a:spLocks noChangeArrowheads="1"/>
            </p:cNvSpPr>
            <p:nvPr userDrawn="1"/>
          </p:nvSpPr>
          <p:spPr bwMode="auto">
            <a:xfrm>
              <a:off x="385" y="3929"/>
              <a:ext cx="235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r>
                <a:rPr lang="zh-CN" altLang="en-US" sz="1200" b="1">
                  <a:solidFill>
                    <a:srgbClr val="80008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机器人与信息自动化研究所</a:t>
              </a:r>
              <a:endParaRPr lang="zh-CN" altLang="en-GB" sz="1200" b="1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pic>
          <p:nvPicPr>
            <p:cNvPr id="1037" name="Picture 23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" y="3884"/>
              <a:ext cx="206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33" name="Line 24"/>
          <p:cNvSpPr>
            <a:spLocks noChangeShapeType="1"/>
          </p:cNvSpPr>
          <p:nvPr/>
        </p:nvSpPr>
        <p:spPr bwMode="auto">
          <a:xfrm>
            <a:off x="323850" y="1268413"/>
            <a:ext cx="8828088" cy="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5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250825" y="476250"/>
            <a:ext cx="7921625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 dirty="0"/>
              <a:t>Click to edit the title text format</a:t>
            </a:r>
            <a:endParaRPr lang="en-US" altLang="zh-CN" dirty="0"/>
          </a:p>
        </p:txBody>
      </p:sp>
      <p:sp>
        <p:nvSpPr>
          <p:cNvPr id="1035" name="Text Box 29"/>
          <p:cNvSpPr txBox="1">
            <a:spLocks noChangeArrowheads="1"/>
          </p:cNvSpPr>
          <p:nvPr userDrawn="1"/>
        </p:nvSpPr>
        <p:spPr bwMode="auto">
          <a:xfrm>
            <a:off x="8026400" y="6165850"/>
            <a:ext cx="6492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AE7EF637-41D1-4AF8-BF51-3081E28701C7}" type="slidenum">
              <a:rPr lang="en-US" altLang="zh-CN" sz="1400" b="1" smtClean="0">
                <a:solidFill>
                  <a:schemeClr val="bg2"/>
                </a:solidFill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zh-CN" sz="1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5899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  <p:sldLayoutId id="214748432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49" charset="-122"/>
          <a:ea typeface="黑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49" charset="-122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49" charset="-122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49" charset="-122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49" charset="-122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00080"/>
        </a:buClr>
        <a:buSzPct val="70000"/>
        <a:buFont typeface="Wingdings" pitchFamily="2" charset="2"/>
        <a:buChar char="Ø"/>
        <a:defRPr sz="2800" b="1">
          <a:solidFill>
            <a:schemeClr val="bg2"/>
          </a:solidFill>
          <a:effectLst/>
          <a:latin typeface="华文中宋" pitchFamily="2" charset="-122"/>
          <a:ea typeface="华文中宋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2400" b="0" i="0">
          <a:solidFill>
            <a:schemeClr val="bg2"/>
          </a:solidFill>
          <a:effectLst/>
          <a:latin typeface="华文中宋" pitchFamily="2" charset="-122"/>
          <a:ea typeface="华文中宋" pitchFamily="2" charset="-122"/>
        </a:defRPr>
      </a:lvl2pPr>
      <a:lvl3pPr marL="1176338" indent="-2619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Ø"/>
        <a:defRPr sz="2400" b="0" i="0">
          <a:solidFill>
            <a:schemeClr val="bg2"/>
          </a:solidFill>
          <a:effectLst/>
          <a:latin typeface="华文中宋" pitchFamily="2" charset="-122"/>
          <a:ea typeface="华文中宋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2000" b="0" i="0">
          <a:solidFill>
            <a:schemeClr val="bg2"/>
          </a:solidFill>
          <a:effectLst/>
          <a:latin typeface="华文中宋" pitchFamily="2" charset="-122"/>
          <a:ea typeface="华文中宋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Ø"/>
        <a:defRPr sz="2000" b="0" i="0">
          <a:solidFill>
            <a:schemeClr val="bg2"/>
          </a:solidFill>
          <a:effectLst/>
          <a:latin typeface="华文中宋" pitchFamily="2" charset="-122"/>
          <a:ea typeface="华文中宋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Ø"/>
        <a:defRPr sz="20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Ø"/>
        <a:defRPr sz="20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Ø"/>
        <a:defRPr sz="20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Ø"/>
        <a:defRPr sz="20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68538" y="2709863"/>
            <a:ext cx="6400800" cy="12954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2800" dirty="0"/>
              <a:t>孙明竹</a:t>
            </a:r>
          </a:p>
          <a:p>
            <a:pPr algn="ctr" eaLnBrk="1" hangingPunct="1">
              <a:defRPr/>
            </a:pPr>
            <a:r>
              <a:rPr lang="en-US" altLang="zh-CN" sz="2800" b="0" dirty="0" err="1">
                <a:latin typeface="Arial" charset="0"/>
              </a:rPr>
              <a:t>sunmz@nankai.edu.cn</a:t>
            </a:r>
            <a:endParaRPr lang="en-US" altLang="zh-CN" sz="2800" b="0" dirty="0">
              <a:latin typeface="Arial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95513" y="1268413"/>
            <a:ext cx="6697662" cy="83978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800" dirty="0"/>
              <a:t>机器视觉基础</a:t>
            </a:r>
          </a:p>
        </p:txBody>
      </p:sp>
    </p:spTree>
    <p:extLst>
      <p:ext uri="{BB962C8B-B14F-4D97-AF65-F5344CB8AC3E}">
        <p14:creationId xmlns:p14="http://schemas.microsoft.com/office/powerpoint/2010/main" val="1954350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CF297-DED7-4A95-9B83-33B0D7CA4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1FD61-5835-4D0A-9D3F-947BBB9E7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平时成绩：</a:t>
            </a:r>
            <a:r>
              <a:rPr lang="en-US" altLang="zh-CN" dirty="0"/>
              <a:t>50%</a:t>
            </a:r>
          </a:p>
          <a:p>
            <a:r>
              <a:rPr lang="zh-CN" altLang="en-US" dirty="0"/>
              <a:t>期末成绩：</a:t>
            </a:r>
            <a:r>
              <a:rPr lang="en-US" altLang="zh-CN" dirty="0"/>
              <a:t>50%</a:t>
            </a:r>
          </a:p>
          <a:p>
            <a:pPr lvl="1"/>
            <a:r>
              <a:rPr lang="zh-CN" altLang="en-US" dirty="0"/>
              <a:t>选择题（</a:t>
            </a:r>
            <a:r>
              <a:rPr lang="en-US" altLang="zh-CN" dirty="0"/>
              <a:t>10</a:t>
            </a:r>
            <a:r>
              <a:rPr lang="zh-CN" altLang="en-US" dirty="0"/>
              <a:t>*</a:t>
            </a:r>
            <a:r>
              <a:rPr lang="en-US" altLang="zh-CN" dirty="0"/>
              <a:t>2</a:t>
            </a:r>
            <a:r>
              <a:rPr lang="zh-CN" altLang="en-US" dirty="0"/>
              <a:t>分）</a:t>
            </a:r>
            <a:endParaRPr lang="en-US" altLang="zh-CN" dirty="0"/>
          </a:p>
          <a:p>
            <a:pPr lvl="1"/>
            <a:r>
              <a:rPr lang="zh-CN" altLang="en-US" dirty="0"/>
              <a:t>判断题（</a:t>
            </a:r>
            <a:r>
              <a:rPr lang="en-US" altLang="zh-CN" dirty="0"/>
              <a:t>5</a:t>
            </a:r>
            <a:r>
              <a:rPr lang="zh-CN" altLang="en-US" dirty="0"/>
              <a:t>*</a:t>
            </a:r>
            <a:r>
              <a:rPr lang="en-US" altLang="zh-CN" dirty="0"/>
              <a:t>2</a:t>
            </a:r>
            <a:r>
              <a:rPr lang="zh-CN" altLang="en-US" dirty="0"/>
              <a:t>分）</a:t>
            </a:r>
            <a:endParaRPr lang="en-US" altLang="zh-CN" dirty="0"/>
          </a:p>
          <a:p>
            <a:pPr lvl="1"/>
            <a:r>
              <a:rPr lang="zh-CN" altLang="en-US" dirty="0"/>
              <a:t>简答题（</a:t>
            </a:r>
            <a:r>
              <a:rPr lang="en-US" altLang="zh-CN" dirty="0"/>
              <a:t>5</a:t>
            </a:r>
            <a:r>
              <a:rPr lang="zh-CN" altLang="en-US" dirty="0"/>
              <a:t>*</a:t>
            </a:r>
            <a:r>
              <a:rPr lang="en-US" altLang="zh-CN" dirty="0"/>
              <a:t>6</a:t>
            </a:r>
            <a:r>
              <a:rPr lang="zh-CN" altLang="en-US" dirty="0"/>
              <a:t>分）</a:t>
            </a:r>
            <a:endParaRPr lang="en-US" altLang="zh-CN" dirty="0"/>
          </a:p>
          <a:p>
            <a:pPr lvl="1"/>
            <a:r>
              <a:rPr lang="zh-CN" altLang="en-US" dirty="0"/>
              <a:t>解答题（</a:t>
            </a:r>
            <a:r>
              <a:rPr lang="en-US" altLang="zh-CN" dirty="0"/>
              <a:t>4</a:t>
            </a:r>
            <a:r>
              <a:rPr lang="zh-CN" altLang="en-US" dirty="0"/>
              <a:t>*</a:t>
            </a:r>
            <a:r>
              <a:rPr lang="en-US" altLang="zh-CN" dirty="0"/>
              <a:t>10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67252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CF297-DED7-4A95-9B83-33B0D7CA4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1FD61-5835-4D0A-9D3F-947BBB9E7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选择题（</a:t>
            </a:r>
            <a:r>
              <a:rPr lang="en-US" altLang="zh-CN" dirty="0"/>
              <a:t>10</a:t>
            </a:r>
            <a:r>
              <a:rPr lang="zh-CN" altLang="en-US" dirty="0"/>
              <a:t>*</a:t>
            </a:r>
            <a:r>
              <a:rPr lang="en-US" altLang="zh-CN" dirty="0"/>
              <a:t>2</a:t>
            </a:r>
            <a:r>
              <a:rPr lang="zh-CN" altLang="en-US" dirty="0"/>
              <a:t>分）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D91176-BB23-4A33-9864-88D15F545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071256"/>
            <a:ext cx="7441684" cy="16324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C094DA4-DF85-4E9D-84A4-7D79B1CB1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12" y="3933056"/>
            <a:ext cx="7782474" cy="125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541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CF297-DED7-4A95-9B83-33B0D7CA4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1FD61-5835-4D0A-9D3F-947BBB9E7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判断题（</a:t>
            </a:r>
            <a:r>
              <a:rPr lang="en-US" altLang="zh-CN" dirty="0"/>
              <a:t>5</a:t>
            </a:r>
            <a:r>
              <a:rPr lang="zh-CN" altLang="en-US" dirty="0"/>
              <a:t>*</a:t>
            </a:r>
            <a:r>
              <a:rPr lang="en-US" altLang="zh-CN" dirty="0"/>
              <a:t>2</a:t>
            </a:r>
            <a:r>
              <a:rPr lang="zh-CN" altLang="en-US" dirty="0"/>
              <a:t>分）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简答题（</a:t>
            </a:r>
            <a:r>
              <a:rPr lang="en-US" altLang="zh-CN" dirty="0"/>
              <a:t>5</a:t>
            </a:r>
            <a:r>
              <a:rPr lang="zh-CN" altLang="en-US" dirty="0"/>
              <a:t>*</a:t>
            </a:r>
            <a:r>
              <a:rPr lang="en-US" altLang="zh-CN" dirty="0"/>
              <a:t>6</a:t>
            </a:r>
            <a:r>
              <a:rPr lang="zh-CN" altLang="en-US" dirty="0"/>
              <a:t>分）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BA3B899-3465-409B-8A69-506B753B8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889433"/>
            <a:ext cx="5708882" cy="36478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1E7C65A-4874-436F-B3AB-A969CE7D0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354846"/>
            <a:ext cx="6524848" cy="35407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8640266-24DF-4F08-9A0B-E5C3B21CE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57" y="3432212"/>
            <a:ext cx="3110937" cy="37281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1A617B3-24E0-4DD1-A9CC-5DCE966A4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79" y="3816506"/>
            <a:ext cx="7670803" cy="257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37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CF297-DED7-4A95-9B83-33B0D7CA4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1FD61-5835-4D0A-9D3F-947BBB9E7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解答题（</a:t>
            </a:r>
            <a:r>
              <a:rPr lang="en-US" altLang="zh-CN" dirty="0"/>
              <a:t>4</a:t>
            </a:r>
            <a:r>
              <a:rPr lang="zh-CN" altLang="en-US" dirty="0"/>
              <a:t>*</a:t>
            </a:r>
            <a:r>
              <a:rPr lang="en-US" altLang="zh-CN" dirty="0"/>
              <a:t>10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F5D612-5B77-42FB-8E1C-D11BCAF17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0" y="1916832"/>
            <a:ext cx="8785671" cy="18346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5A4496B-3B91-43E2-BFD6-A0F53FE67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4144809"/>
            <a:ext cx="8402733" cy="154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38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70360-441F-4410-A224-53F14F200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课程总结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C87B1E-17C3-4979-BD4F-93185B459D00}"/>
              </a:ext>
            </a:extLst>
          </p:cNvPr>
          <p:cNvSpPr txBox="1"/>
          <p:nvPr/>
        </p:nvSpPr>
        <p:spPr>
          <a:xfrm>
            <a:off x="3162425" y="1988840"/>
            <a:ext cx="2954654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i="0" dirty="0">
                <a:solidFill>
                  <a:srgbClr val="000514"/>
                </a:solidFill>
                <a:latin typeface="华文中宋" pitchFamily="2" charset="-122"/>
                <a:ea typeface="华文中宋" pitchFamily="2" charset="-122"/>
              </a:rPr>
              <a:t>第一部分：</a:t>
            </a:r>
            <a:r>
              <a:rPr lang="zh-CN" altLang="en-US" sz="2400" b="1" i="0" dirty="0">
                <a:solidFill>
                  <a:srgbClr val="660066"/>
                </a:solidFill>
                <a:latin typeface="华文中宋" pitchFamily="2" charset="-122"/>
                <a:ea typeface="华文中宋" pitchFamily="2" charset="-122"/>
              </a:rPr>
              <a:t>绪论</a:t>
            </a:r>
          </a:p>
        </p:txBody>
      </p:sp>
      <p:sp>
        <p:nvSpPr>
          <p:cNvPr id="5" name="下箭头 3">
            <a:extLst>
              <a:ext uri="{FF2B5EF4-FFF2-40B4-BE49-F238E27FC236}">
                <a16:creationId xmlns:a16="http://schemas.microsoft.com/office/drawing/2014/main" id="{C0D04FEA-4C68-445D-8FFD-23450C702247}"/>
              </a:ext>
            </a:extLst>
          </p:cNvPr>
          <p:cNvSpPr/>
          <p:nvPr/>
        </p:nvSpPr>
        <p:spPr>
          <a:xfrm>
            <a:off x="4495736" y="2611652"/>
            <a:ext cx="28803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i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504E93-3396-494E-A0DC-44A8B667395D}"/>
              </a:ext>
            </a:extLst>
          </p:cNvPr>
          <p:cNvSpPr txBox="1"/>
          <p:nvPr/>
        </p:nvSpPr>
        <p:spPr>
          <a:xfrm>
            <a:off x="3162424" y="3225089"/>
            <a:ext cx="2954656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i="0" dirty="0">
                <a:solidFill>
                  <a:srgbClr val="000514"/>
                </a:solidFill>
                <a:latin typeface="华文中宋" pitchFamily="2" charset="-122"/>
                <a:ea typeface="华文中宋" pitchFamily="2" charset="-122"/>
              </a:rPr>
              <a:t>第二部分：</a:t>
            </a:r>
            <a:r>
              <a:rPr lang="zh-CN" altLang="en-US" sz="2400" b="1" i="0" dirty="0">
                <a:solidFill>
                  <a:srgbClr val="660066"/>
                </a:solidFill>
                <a:latin typeface="华文中宋" pitchFamily="2" charset="-122"/>
                <a:ea typeface="华文中宋" pitchFamily="2" charset="-122"/>
              </a:rPr>
              <a:t>图像处理</a:t>
            </a:r>
            <a:endParaRPr lang="zh-CN" altLang="en-US" sz="2400" b="1" i="0" dirty="0">
              <a:solidFill>
                <a:srgbClr val="000514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7" name="下箭头 9">
            <a:extLst>
              <a:ext uri="{FF2B5EF4-FFF2-40B4-BE49-F238E27FC236}">
                <a16:creationId xmlns:a16="http://schemas.microsoft.com/office/drawing/2014/main" id="{FEAE9FA5-23A9-400C-819B-F9B8CB0DED46}"/>
              </a:ext>
            </a:extLst>
          </p:cNvPr>
          <p:cNvSpPr/>
          <p:nvPr/>
        </p:nvSpPr>
        <p:spPr>
          <a:xfrm rot="2637907">
            <a:off x="4073100" y="3934131"/>
            <a:ext cx="28803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i="0">
              <a:solidFill>
                <a:srgbClr val="FFFFFF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FE03CE-C8E7-4BE2-B0D0-5B3A6A246FA2}"/>
              </a:ext>
            </a:extLst>
          </p:cNvPr>
          <p:cNvSpPr txBox="1"/>
          <p:nvPr/>
        </p:nvSpPr>
        <p:spPr>
          <a:xfrm>
            <a:off x="2946400" y="4685565"/>
            <a:ext cx="1426370" cy="83099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i="0" dirty="0">
                <a:solidFill>
                  <a:srgbClr val="000514"/>
                </a:solidFill>
                <a:latin typeface="华文中宋" pitchFamily="2" charset="-122"/>
                <a:ea typeface="华文中宋" pitchFamily="2" charset="-122"/>
              </a:rPr>
              <a:t>第三部分</a:t>
            </a:r>
            <a:r>
              <a:rPr lang="en-US" altLang="zh-CN" sz="2400" b="1" i="0" dirty="0">
                <a:solidFill>
                  <a:srgbClr val="660066"/>
                </a:solidFill>
                <a:latin typeface="华文中宋" pitchFamily="2" charset="-122"/>
                <a:ea typeface="华文中宋" pitchFamily="2" charset="-122"/>
              </a:rPr>
              <a:t>3D</a:t>
            </a:r>
            <a:r>
              <a:rPr lang="zh-CN" altLang="en-US" sz="2400" b="1" i="0" dirty="0">
                <a:solidFill>
                  <a:srgbClr val="660066"/>
                </a:solidFill>
                <a:latin typeface="华文中宋" pitchFamily="2" charset="-122"/>
                <a:ea typeface="华文中宋" pitchFamily="2" charset="-122"/>
              </a:rPr>
              <a:t>视觉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2CFE2CC-CC68-4478-BACF-760E098CC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341438"/>
            <a:ext cx="8424863" cy="585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0000"/>
              <a:buFont typeface="Wingdings" pitchFamily="2" charset="2"/>
              <a:buChar char="Ø"/>
              <a:defRPr sz="2800" b="1">
                <a:solidFill>
                  <a:schemeClr val="bg2"/>
                </a:solidFill>
                <a:effectLst/>
                <a:latin typeface="华文中宋" pitchFamily="2" charset="-122"/>
                <a:ea typeface="华文中宋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Ø"/>
              <a:defRPr sz="2400" b="0" i="0">
                <a:solidFill>
                  <a:schemeClr val="bg2"/>
                </a:solidFill>
                <a:effectLst/>
                <a:latin typeface="华文中宋" pitchFamily="2" charset="-122"/>
                <a:ea typeface="华文中宋" pitchFamily="2" charset="-122"/>
              </a:defRPr>
            </a:lvl2pPr>
            <a:lvl3pPr marL="1176338" indent="-2619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Ø"/>
              <a:defRPr sz="2400" b="0" i="0">
                <a:solidFill>
                  <a:schemeClr val="bg2"/>
                </a:solidFill>
                <a:effectLst/>
                <a:latin typeface="华文中宋" pitchFamily="2" charset="-122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Ø"/>
              <a:defRPr sz="2000" b="0" i="0">
                <a:solidFill>
                  <a:schemeClr val="bg2"/>
                </a:solidFill>
                <a:effectLst/>
                <a:latin typeface="华文中宋" pitchFamily="2" charset="-122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Ø"/>
              <a:defRPr sz="2000" b="0" i="0">
                <a:solidFill>
                  <a:schemeClr val="bg2"/>
                </a:solidFill>
                <a:effectLst/>
                <a:latin typeface="华文中宋" pitchFamily="2" charset="-122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Ø"/>
              <a:defRPr sz="20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Ø"/>
              <a:defRPr sz="20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Ø"/>
              <a:defRPr sz="20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Ø"/>
              <a:defRPr sz="20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609600" indent="-609600" eaLnBrk="1" hangingPunct="1">
              <a:lnSpc>
                <a:spcPct val="90000"/>
              </a:lnSpc>
              <a:defRPr/>
            </a:pPr>
            <a:r>
              <a:rPr lang="zh-CN" altLang="en-US" i="0" kern="0"/>
              <a:t>讲授内容</a:t>
            </a:r>
            <a:endParaRPr lang="en-US" altLang="zh-CN" i="0" kern="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B99058C-7DCC-44D6-80F6-487B2F7A625C}"/>
              </a:ext>
            </a:extLst>
          </p:cNvPr>
          <p:cNvSpPr txBox="1"/>
          <p:nvPr/>
        </p:nvSpPr>
        <p:spPr>
          <a:xfrm>
            <a:off x="5017838" y="4685565"/>
            <a:ext cx="1426370" cy="83099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i="0" dirty="0">
                <a:solidFill>
                  <a:srgbClr val="000514"/>
                </a:solidFill>
                <a:latin typeface="华文中宋" pitchFamily="2" charset="-122"/>
                <a:ea typeface="华文中宋" pitchFamily="2" charset="-122"/>
              </a:rPr>
              <a:t>第四部分</a:t>
            </a:r>
            <a:r>
              <a:rPr lang="zh-CN" altLang="en-US" sz="2400" b="1" i="0" dirty="0">
                <a:solidFill>
                  <a:srgbClr val="660066"/>
                </a:solidFill>
                <a:latin typeface="华文中宋" pitchFamily="2" charset="-122"/>
                <a:ea typeface="华文中宋" pitchFamily="2" charset="-122"/>
              </a:rPr>
              <a:t>特征提取</a:t>
            </a:r>
          </a:p>
        </p:txBody>
      </p:sp>
      <p:sp>
        <p:nvSpPr>
          <p:cNvPr id="25" name="下箭头 9">
            <a:extLst>
              <a:ext uri="{FF2B5EF4-FFF2-40B4-BE49-F238E27FC236}">
                <a16:creationId xmlns:a16="http://schemas.microsoft.com/office/drawing/2014/main" id="{A6C16FC9-8C53-4240-A2E5-0FB666978372}"/>
              </a:ext>
            </a:extLst>
          </p:cNvPr>
          <p:cNvSpPr/>
          <p:nvPr/>
        </p:nvSpPr>
        <p:spPr>
          <a:xfrm rot="19082013">
            <a:off x="5137645" y="3934130"/>
            <a:ext cx="28803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i="0">
              <a:solidFill>
                <a:srgbClr val="FFFFFF"/>
              </a:solidFill>
            </a:endParaRPr>
          </a:p>
        </p:txBody>
      </p:sp>
      <p:sp>
        <p:nvSpPr>
          <p:cNvPr id="26" name="箭头: 左右 25">
            <a:extLst>
              <a:ext uri="{FF2B5EF4-FFF2-40B4-BE49-F238E27FC236}">
                <a16:creationId xmlns:a16="http://schemas.microsoft.com/office/drawing/2014/main" id="{215CF73C-EDC9-4EE6-B14E-85DA4D98E111}"/>
              </a:ext>
            </a:extLst>
          </p:cNvPr>
          <p:cNvSpPr/>
          <p:nvPr/>
        </p:nvSpPr>
        <p:spPr>
          <a:xfrm>
            <a:off x="4405090" y="4913587"/>
            <a:ext cx="580428" cy="31561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698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AC126-B159-4097-8909-B4388A30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8DE48C-08C8-47CA-9C2A-990694AE6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200" dirty="0"/>
              <a:t>第</a:t>
            </a:r>
            <a:r>
              <a:rPr lang="en-US" altLang="zh-CN" sz="2200" dirty="0"/>
              <a:t>2</a:t>
            </a:r>
            <a:r>
              <a:rPr lang="zh-CN" altLang="en-US" sz="2200" dirty="0"/>
              <a:t>章 数字图像的概念与性质</a:t>
            </a:r>
            <a:endParaRPr lang="en-US" altLang="zh-CN" sz="22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200" dirty="0"/>
              <a:t>2.3 </a:t>
            </a:r>
            <a:r>
              <a:rPr lang="zh-CN" altLang="en-US" sz="2200" dirty="0"/>
              <a:t>数字图像的性质</a:t>
            </a:r>
            <a:endParaRPr lang="en-US" altLang="zh-CN" sz="22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200" dirty="0"/>
              <a:t>2.5 </a:t>
            </a:r>
            <a:r>
              <a:rPr lang="zh-CN" altLang="en-US" sz="2200" dirty="0"/>
              <a:t>图像分析中的数据结构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200" dirty="0"/>
              <a:t>第</a:t>
            </a:r>
            <a:r>
              <a:rPr lang="en-US" altLang="zh-CN" sz="2200" dirty="0"/>
              <a:t>3</a:t>
            </a:r>
            <a:r>
              <a:rPr lang="zh-CN" altLang="en-US" sz="2200" dirty="0"/>
              <a:t>章 图像预处理</a:t>
            </a:r>
            <a:endParaRPr lang="en-US" altLang="zh-CN" sz="22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200" dirty="0"/>
              <a:t>3.1 </a:t>
            </a:r>
            <a:r>
              <a:rPr lang="zh-CN" altLang="en-US" sz="2200" dirty="0"/>
              <a:t>像素亮度变换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200" dirty="0"/>
              <a:t>3.2 </a:t>
            </a:r>
            <a:r>
              <a:rPr lang="zh-CN" altLang="en-US" sz="2200" dirty="0"/>
              <a:t>几何变换	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200" dirty="0"/>
              <a:t>3.3 </a:t>
            </a:r>
            <a:r>
              <a:rPr lang="zh-CN" altLang="en-US" sz="2200" dirty="0"/>
              <a:t>图像平滑</a:t>
            </a:r>
            <a:endParaRPr lang="en-US" altLang="zh-CN" sz="22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200" dirty="0"/>
              <a:t>3.4 </a:t>
            </a:r>
            <a:r>
              <a:rPr lang="zh-CN" altLang="en-US" sz="2200" dirty="0"/>
              <a:t>边缘检测：</a:t>
            </a:r>
            <a:r>
              <a:rPr lang="en-US" altLang="zh-CN" sz="2200" dirty="0"/>
              <a:t> </a:t>
            </a:r>
            <a:r>
              <a:rPr lang="zh-CN" altLang="en-US" sz="2200" dirty="0">
                <a:solidFill>
                  <a:schemeClr val="accent1"/>
                </a:solidFill>
              </a:rPr>
              <a:t>滤波器</a:t>
            </a:r>
            <a:r>
              <a:rPr lang="en-US" altLang="zh-CN" sz="2200" dirty="0">
                <a:solidFill>
                  <a:schemeClr val="accent1"/>
                </a:solidFill>
              </a:rPr>
              <a:t>&amp;Canny</a:t>
            </a:r>
            <a:r>
              <a:rPr lang="zh-CN" altLang="en-US" sz="2200" dirty="0">
                <a:solidFill>
                  <a:schemeClr val="accent1"/>
                </a:solidFill>
              </a:rPr>
              <a:t>边缘检测</a:t>
            </a:r>
            <a:endParaRPr lang="en-US" altLang="zh-CN" sz="2200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200" dirty="0"/>
              <a:t>第</a:t>
            </a:r>
            <a:r>
              <a:rPr lang="en-US" altLang="zh-CN" sz="2200" dirty="0"/>
              <a:t>4</a:t>
            </a:r>
            <a:r>
              <a:rPr lang="zh-CN" altLang="en-US" sz="2200" dirty="0"/>
              <a:t>章 图像分割</a:t>
            </a:r>
            <a:endParaRPr lang="en-US" altLang="zh-CN" sz="22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200" dirty="0"/>
              <a:t>4.1 </a:t>
            </a:r>
            <a:r>
              <a:rPr lang="zh-CN" altLang="en-US" sz="2200" dirty="0"/>
              <a:t>阈值化</a:t>
            </a:r>
            <a:endParaRPr lang="en-US" altLang="zh-CN" sz="22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200" dirty="0"/>
              <a:t>4.2 </a:t>
            </a:r>
            <a:r>
              <a:rPr lang="zh-CN" altLang="en-US" sz="2200" dirty="0"/>
              <a:t>基于边缘的分割：</a:t>
            </a:r>
            <a:r>
              <a:rPr lang="zh-CN" altLang="en-US" sz="2200" dirty="0">
                <a:solidFill>
                  <a:schemeClr val="accent1"/>
                </a:solidFill>
              </a:rPr>
              <a:t>边缘图像阈值化</a:t>
            </a:r>
            <a:r>
              <a:rPr lang="en-US" altLang="zh-CN" sz="2200" dirty="0">
                <a:solidFill>
                  <a:schemeClr val="accent1"/>
                </a:solidFill>
              </a:rPr>
              <a:t>&amp;</a:t>
            </a:r>
            <a:r>
              <a:rPr lang="zh-CN" altLang="en-US" sz="2200" dirty="0">
                <a:solidFill>
                  <a:schemeClr val="accent1"/>
                </a:solidFill>
              </a:rPr>
              <a:t>边界跟踪</a:t>
            </a:r>
            <a:endParaRPr lang="en-US" altLang="zh-CN" sz="2200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200" dirty="0"/>
              <a:t>第</a:t>
            </a:r>
            <a:r>
              <a:rPr lang="en-US" altLang="zh-CN" sz="2200" dirty="0"/>
              <a:t>5</a:t>
            </a:r>
            <a:r>
              <a:rPr lang="zh-CN" altLang="en-US" sz="2200" dirty="0"/>
              <a:t>章 数学形态学</a:t>
            </a:r>
            <a:endParaRPr lang="en-US" altLang="zh-CN" sz="22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200" dirty="0"/>
              <a:t>5.2 </a:t>
            </a:r>
            <a:r>
              <a:rPr lang="zh-CN" altLang="en-US" sz="2200" dirty="0"/>
              <a:t>二值图像形态学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2522709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56656-BA9E-44A6-A554-DBAF0F7D0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F79682-AEEC-4517-81D1-423E76215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/>
              <a:t>第</a:t>
            </a:r>
            <a:r>
              <a:rPr lang="en-US" altLang="zh-CN" sz="2400" dirty="0"/>
              <a:t>6</a:t>
            </a:r>
            <a:r>
              <a:rPr lang="zh-CN" altLang="en-US" sz="2400" dirty="0"/>
              <a:t>章 摄像机标定</a:t>
            </a:r>
            <a:endParaRPr lang="en-US" altLang="zh-CN" sz="2400" dirty="0"/>
          </a:p>
          <a:p>
            <a:pPr lvl="1" eaLnBrk="1" hangingPunct="1">
              <a:defRPr/>
            </a:pPr>
            <a:r>
              <a:rPr lang="en-US" altLang="zh-CN" sz="2200" dirty="0"/>
              <a:t>6.2 </a:t>
            </a:r>
            <a:r>
              <a:rPr lang="zh-CN" altLang="en-US" sz="2200" dirty="0"/>
              <a:t>摄像机成像模型：</a:t>
            </a:r>
            <a:r>
              <a:rPr lang="zh-CN" altLang="en-US" sz="2200" dirty="0">
                <a:solidFill>
                  <a:schemeClr val="accent1"/>
                </a:solidFill>
              </a:rPr>
              <a:t>线性成像部分</a:t>
            </a:r>
          </a:p>
          <a:p>
            <a:pPr lvl="1" eaLnBrk="1" hangingPunct="1">
              <a:defRPr/>
            </a:pPr>
            <a:r>
              <a:rPr lang="en-US" altLang="zh-CN" sz="2200" dirty="0"/>
              <a:t>6.4 </a:t>
            </a:r>
            <a:r>
              <a:rPr lang="zh-CN" altLang="en-US" sz="2200" dirty="0"/>
              <a:t>张正友平面标定法</a:t>
            </a:r>
            <a:endParaRPr lang="en-US" altLang="zh-CN" sz="2200" dirty="0"/>
          </a:p>
          <a:p>
            <a:pPr eaLnBrk="1" hangingPunct="1">
              <a:defRPr/>
            </a:pPr>
            <a:r>
              <a:rPr lang="zh-CN" altLang="en-US" sz="2200" dirty="0"/>
              <a:t>第</a:t>
            </a:r>
            <a:r>
              <a:rPr lang="en-US" altLang="zh-CN" sz="2200" dirty="0"/>
              <a:t>7</a:t>
            </a:r>
            <a:r>
              <a:rPr lang="zh-CN" altLang="en-US" sz="2200" dirty="0"/>
              <a:t>章 立体视觉</a:t>
            </a:r>
            <a:endParaRPr lang="en-US" altLang="zh-CN" sz="2200" dirty="0"/>
          </a:p>
          <a:p>
            <a:pPr lvl="1" eaLnBrk="1" hangingPunct="1">
              <a:defRPr/>
            </a:pPr>
            <a:r>
              <a:rPr lang="en-US" altLang="zh-CN" sz="2200" dirty="0"/>
              <a:t>7.2</a:t>
            </a:r>
            <a:r>
              <a:rPr lang="zh-CN" altLang="en-US" sz="2200" dirty="0"/>
              <a:t> 对极几何</a:t>
            </a:r>
          </a:p>
          <a:p>
            <a:pPr lvl="1" eaLnBrk="1" hangingPunct="1">
              <a:defRPr/>
            </a:pPr>
            <a:r>
              <a:rPr lang="en-US" altLang="zh-CN" sz="2200" dirty="0"/>
              <a:t>7.4 </a:t>
            </a:r>
            <a:r>
              <a:rPr lang="zh-CN" altLang="en-US" sz="2200" dirty="0"/>
              <a:t>简单摄像机配置下的深度映射</a:t>
            </a:r>
            <a:endParaRPr lang="en-US" altLang="zh-CN" sz="2200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/>
              <a:t>第</a:t>
            </a:r>
            <a:r>
              <a:rPr lang="en-US" altLang="zh-CN" sz="2400" dirty="0"/>
              <a:t>8</a:t>
            </a:r>
            <a:r>
              <a:rPr lang="zh-CN" altLang="en-US" sz="2400" dirty="0"/>
              <a:t>章 图像特征提取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200" dirty="0"/>
              <a:t>8.1 </a:t>
            </a:r>
            <a:r>
              <a:rPr lang="zh-CN" altLang="en-US" sz="2200" dirty="0"/>
              <a:t>角点检测：</a:t>
            </a:r>
            <a:r>
              <a:rPr lang="en-US" altLang="zh-CN" sz="2200" dirty="0">
                <a:solidFill>
                  <a:schemeClr val="accent1"/>
                </a:solidFill>
              </a:rPr>
              <a:t>Harris</a:t>
            </a:r>
            <a:r>
              <a:rPr lang="zh-CN" altLang="en-US" sz="2200" dirty="0">
                <a:solidFill>
                  <a:schemeClr val="accent1"/>
                </a:solidFill>
              </a:rPr>
              <a:t>角点检测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200" dirty="0"/>
              <a:t>8.2 SIFT/SURF</a:t>
            </a:r>
            <a:r>
              <a:rPr lang="zh-CN" altLang="en-US" sz="2200" dirty="0"/>
              <a:t>特征检测：</a:t>
            </a:r>
            <a:r>
              <a:rPr lang="en-US" altLang="zh-CN" sz="2200" dirty="0">
                <a:solidFill>
                  <a:schemeClr val="accent1"/>
                </a:solidFill>
              </a:rPr>
              <a:t>SIFT</a:t>
            </a:r>
            <a:r>
              <a:rPr lang="zh-CN" altLang="en-US" sz="2200" dirty="0">
                <a:solidFill>
                  <a:schemeClr val="accent1"/>
                </a:solidFill>
              </a:rPr>
              <a:t>特征检测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200" dirty="0"/>
              <a:t>8.3 HOG</a:t>
            </a:r>
            <a:r>
              <a:rPr lang="zh-CN" altLang="en-US" sz="2200" dirty="0"/>
              <a:t>特征与行人检测：</a:t>
            </a:r>
            <a:r>
              <a:rPr lang="en-US" altLang="zh-CN" sz="2200" dirty="0">
                <a:solidFill>
                  <a:schemeClr val="accent1"/>
                </a:solidFill>
              </a:rPr>
              <a:t>HOG</a:t>
            </a:r>
            <a:r>
              <a:rPr lang="zh-CN" altLang="en-US" sz="2200" dirty="0">
                <a:solidFill>
                  <a:schemeClr val="accent1"/>
                </a:solidFill>
              </a:rPr>
              <a:t>特征</a:t>
            </a:r>
            <a:endParaRPr lang="en-US" altLang="zh-CN" sz="2200" dirty="0">
              <a:solidFill>
                <a:schemeClr val="accent1"/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200" dirty="0"/>
              <a:t>8.4 </a:t>
            </a:r>
            <a:r>
              <a:rPr lang="zh-CN" altLang="en-US" sz="2200" dirty="0"/>
              <a:t>基于</a:t>
            </a:r>
            <a:r>
              <a:rPr lang="en-US" altLang="zh-CN" sz="2200" dirty="0"/>
              <a:t>Hough</a:t>
            </a:r>
            <a:r>
              <a:rPr lang="zh-CN" altLang="en-US" sz="2200" dirty="0"/>
              <a:t>变换的线检测与圆检测：</a:t>
            </a:r>
            <a:r>
              <a:rPr lang="zh-CN" altLang="en-US" sz="2200" dirty="0">
                <a:solidFill>
                  <a:schemeClr val="accent1"/>
                </a:solidFill>
              </a:rPr>
              <a:t>线检测</a:t>
            </a:r>
            <a:endParaRPr lang="en-US" altLang="zh-CN" sz="2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893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Arial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865390163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黑体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3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660066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B8AAB8"/>
        </a:accent5>
        <a:accent6>
          <a:srgbClr val="9879CB"/>
        </a:accent6>
        <a:hlink>
          <a:srgbClr val="000066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黑体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3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660066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B8AAB8"/>
        </a:accent5>
        <a:accent6>
          <a:srgbClr val="9879CB"/>
        </a:accent6>
        <a:hlink>
          <a:srgbClr val="000066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黑体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3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660066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B8AAB8"/>
        </a:accent5>
        <a:accent6>
          <a:srgbClr val="9879CB"/>
        </a:accent6>
        <a:hlink>
          <a:srgbClr val="000066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Stream">
  <a:themeElements>
    <a:clrScheme name="Stream 10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660066"/>
      </a:accent1>
      <a:accent2>
        <a:srgbClr val="A886E0"/>
      </a:accent2>
      <a:accent3>
        <a:srgbClr val="AAADCA"/>
      </a:accent3>
      <a:accent4>
        <a:srgbClr val="DADADA"/>
      </a:accent4>
      <a:accent5>
        <a:srgbClr val="B8AAB8"/>
      </a:accent5>
      <a:accent6>
        <a:srgbClr val="9879CB"/>
      </a:accent6>
      <a:hlink>
        <a:srgbClr val="000066"/>
      </a:hlink>
      <a:folHlink>
        <a:srgbClr val="0000FF"/>
      </a:folHlink>
    </a:clrScheme>
    <a:fontScheme name="Stream">
      <a:majorFont>
        <a:latin typeface="黑体"/>
        <a:ea typeface="黑体"/>
        <a:cs typeface=""/>
      </a:majorFont>
      <a:minorFont>
        <a:latin typeface="华文仿宋"/>
        <a:ea typeface="华文仿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10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660066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B8AAB8"/>
        </a:accent5>
        <a:accent6>
          <a:srgbClr val="9879CB"/>
        </a:accent6>
        <a:hlink>
          <a:srgbClr val="000066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40012</TotalTime>
  <Words>220</Words>
  <Application>Microsoft Office PowerPoint</Application>
  <PresentationFormat>全屏显示(4:3)</PresentationFormat>
  <Paragraphs>52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黑体</vt:lpstr>
      <vt:lpstr>华文仿宋</vt:lpstr>
      <vt:lpstr>华文中宋</vt:lpstr>
      <vt:lpstr>宋体</vt:lpstr>
      <vt:lpstr>Arial</vt:lpstr>
      <vt:lpstr>Californian FB</vt:lpstr>
      <vt:lpstr>Palatino Linotype</vt:lpstr>
      <vt:lpstr>Times New Roman</vt:lpstr>
      <vt:lpstr>Wingdings</vt:lpstr>
      <vt:lpstr>自定义设计方案</vt:lpstr>
      <vt:lpstr>1_自定义设计方案</vt:lpstr>
      <vt:lpstr>2_自定义设计方案</vt:lpstr>
      <vt:lpstr>2_Stream</vt:lpstr>
      <vt:lpstr>机器视觉基础</vt:lpstr>
      <vt:lpstr>题型</vt:lpstr>
      <vt:lpstr>题型</vt:lpstr>
      <vt:lpstr>题型</vt:lpstr>
      <vt:lpstr>题型</vt:lpstr>
      <vt:lpstr>课程总结</vt:lpstr>
      <vt:lpstr>课程总结</vt:lpstr>
      <vt:lpstr>课程总结</vt:lpstr>
      <vt:lpstr>The End</vt:lpstr>
    </vt:vector>
  </TitlesOfParts>
  <Company>NKU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Chris</dc:creator>
  <cp:lastModifiedBy>Sunmz</cp:lastModifiedBy>
  <cp:revision>2664</cp:revision>
  <dcterms:created xsi:type="dcterms:W3CDTF">2009-09-01T03:33:22Z</dcterms:created>
  <dcterms:modified xsi:type="dcterms:W3CDTF">2020-08-18T23:15:34Z</dcterms:modified>
</cp:coreProperties>
</file>